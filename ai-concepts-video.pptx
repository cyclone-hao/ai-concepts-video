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从GPT、DeepSeek到OpenClaw、Hermes——一期视频打通AI底层逻辑。欢迎来到这期视频！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今天我们聊14个AI核心概念，从最底层的LLM一路讲到2026年最前沿的Agent技术。每个概念都在解决上一个概念的瓶颈。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LLM，全称Large Language Model。它的核心能力就是预测下一个词。但GPT-3.5的爆火不是新算法，而是五层因素叠加产生的质变。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2025年之后，大模型出现了两个重要进化方向：MoE混合专家架构让模型又快又省，多模态让模型不只能看文字，还能看图听声。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模型不认识字，它认识的是Token。BPE算法通过统计高频字符组合来切分文本。不同模型的Tokenizer也不一样。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Token直接决定了你的使用成本。所有API按Token计费，中文通常比英文多1.5到2倍。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Token只是编号，Embedding给编号赋予语义坐标。语义越近的词，在空间里距离越近。这是语义搜索和RAG的基础。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大模型每次对话都是失忆的——前端每轮都重发全部历史。128K窗口不代表128K信息都能被完美处理，Lost in the Middle是个坑。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同样的模型，不同问法效果差距巨大。Few-shot给几个示范就行，CoT加一句"一步步想"准确率能从17.7%飙升到78.7%。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System Prompt就是给模型设的人设和规矩。技术上和User Prompt没有本质区别，都是Token，只是优先级更高。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Context Engineering是2026年最热的技能。它不是教你怎么问问题，而是教你怎么给AI搭建信息环境——自动获取恰到好处的信息。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RAG让AI先查资料再回答。三步走：建库、检索、生成。它解决了LLM的三个硬伤：知识截止、幻觉问题、私有知识。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RAG像开卷考试，Fine-tuning像上课学习。实际项目中经常结合使用：Fine-tuning学风格，RAG提供事实。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Function Calling让模型从会说变成能做。模型输出结构化调用指令，你的程序去真正执行，结果喂回给模型。这是通过SFT训练出来的能力。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MCP是AI世界的USB-C。没有它，10个应用接20个工具需要200次适配。有了MCP，只需要30次开发。一次开发，处处运行。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Agent让AI自己决定下一步。核心是ReAct循环：观察、思考、行动、再观察。四个关键组件：规划、记忆、工具、反思。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Skill把最佳实践封装成可复用的操作手册。Prompt是即兴发言，Skill是排练过的演讲稿。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Harness Engineering是让Agent靠谱工作的关键。AI工程三次范式进化：Prompt → Context → Harness。决定Agent上限的不是模型多强，而是工作环境多好。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2026年三大前沿：OpenClaw是开源Agent运行时（35万Stars），Hermes是自我学习Agent框架，Agentic Coding让人从写代码变成做决策。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一张图打通全部13个概念。每一层都在解决上一层的瓶颈。从猜下一个字到自主完成一个项目，这不是名词堆砌，而是递进逻辑链。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理解这条链，看任何AI新闻都不再是碎片。如果有帮助记得三连，我们下期见！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0E8"/>
              </a:gs>
              <a:gs pos="100000">
                <a:srgbClr val="EDE5D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763000" y="-571500"/>
            <a:ext cx="3429000" cy="3429000"/>
          </a:xfrm>
          <a:prstGeom prst="ellipse">
            <a:avLst/>
          </a:prstGeom>
          <a:solidFill>
            <a:srgbClr val="E8A87C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381000" y="4381500"/>
            <a:ext cx="2667000" cy="2667000"/>
          </a:xfrm>
          <a:prstGeom prst="ellipse">
            <a:avLst/>
          </a:prstGeom>
          <a:solidFill>
            <a:srgbClr val="8B6F47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477500" y="4572000"/>
            <a:ext cx="1905000" cy="1905000"/>
          </a:xfrm>
          <a:prstGeom prst="ellipse">
            <a:avLst/>
          </a:prstGeom>
          <a:solidFill>
            <a:srgbClr val="C4956A">
              <a:alpha val="7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143000" y="9525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361721" y="1039178"/>
            <a:ext cx="3245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LLM</a:t>
            </a:r>
          </a:p>
        </p:txBody>
      </p:sp>
      <p:sp>
        <p:nvSpPr>
          <p:cNvPr id="9" name="Rectangle 9"/>
          <p:cNvSpPr/>
          <p:nvPr/>
        </p:nvSpPr>
        <p:spPr>
          <a:xfrm>
            <a:off x="2190750" y="809625"/>
            <a:ext cx="809625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2356062" y="896302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Token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286125" y="1000125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402166" y="1086802"/>
            <a:ext cx="8156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Embedding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715500" y="857250"/>
            <a:ext cx="714375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921748" y="94392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RAG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0620375" y="1047750"/>
            <a:ext cx="66675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0791471" y="1134428"/>
            <a:ext cx="3245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MCP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525000" y="1238250"/>
            <a:ext cx="85725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718887" y="1324928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Agent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333500" y="5334000"/>
            <a:ext cx="76200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540145" y="54206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Skill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381250" y="5476875"/>
            <a:ext cx="809625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610970" y="5563552"/>
            <a:ext cx="3406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Tool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0001250" y="5286375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0201826" y="5373052"/>
            <a:ext cx="6465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Harness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953500" y="5476875"/>
            <a:ext cx="857250" cy="3048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087005" y="5563552"/>
            <a:ext cx="5902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Prompt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53624" y="2404110"/>
            <a:ext cx="548475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从 GPT、DeepSeek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709543" y="3070860"/>
            <a:ext cx="677291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到 OpenClaw、Hermes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143500" y="3762375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92053" y="3995738"/>
            <a:ext cx="400789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一期视频打通 AI 底层逻辑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949446" y="4807268"/>
            <a:ext cx="42931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AI 概念全解析 · 14 个核心概念 · 一条完整逻辑链</a:t>
            </a:r>
          </a:p>
        </p:txBody>
      </p:sp>
      <p:sp>
        <p:nvSpPr>
          <p:cNvPr id="32" name="Rectangle 3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524500" y="590550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851127" y="6007418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612529" y="32766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今天我们聊什么</a:t>
            </a:r>
          </a:p>
        </p:txBody>
      </p:sp>
      <p:sp>
        <p:nvSpPr>
          <p:cNvPr id="5" name="Rectangle 5"/>
          <p:cNvSpPr/>
          <p:nvPr/>
        </p:nvSpPr>
        <p:spPr>
          <a:xfrm>
            <a:off x="5429250" y="742950"/>
            <a:ext cx="1333500" cy="28575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grpSp>
        <p:nvGrpSpPr>
          <p:cNvPr id="41" name="Group 41"/>
          <p:cNvGrpSpPr/>
          <p:nvPr/>
        </p:nvGrpSpPr>
        <p:grpSpPr>
          <a:xfrm>
            <a:off x="762000" y="1095375"/>
            <a:ext cx="5143500" cy="4705350"/>
            <a:chOff x="762000" y="1095375"/>
            <a:chExt cx="5143500" cy="4705350"/>
          </a:xfrm>
        </p:grpSpPr>
        <p:sp>
          <p:nvSpPr>
            <p:cNvPr id="6" name="Rectangle 6"/>
            <p:cNvSpPr/>
            <p:nvPr/>
          </p:nvSpPr>
          <p:spPr>
            <a:xfrm>
              <a:off x="762000" y="10953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95350" y="12192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9191" y="13263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3980" y="1206818"/>
              <a:ext cx="15145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LLM 大语言模型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8742" y="1447324"/>
              <a:ext cx="26306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预测下一个词 · 五层堆叠 · MoE · 多模态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7811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95350" y="19050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7626" y="20121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63980" y="1892618"/>
              <a:ext cx="19078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Token 最小阅读单位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68742" y="2133124"/>
              <a:ext cx="20539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BPE 分词 · 模型对比 · 计费实例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4669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895350" y="25908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7626" y="26979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63980" y="2578418"/>
              <a:ext cx="19389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Embedding 向量嵌入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68742" y="2818924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语义坐标 · 语义搜索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1527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95350" y="32766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7626" y="33837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63980" y="3264218"/>
              <a:ext cx="19285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Context 上下文窗口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68742" y="3504724"/>
              <a:ext cx="27374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失忆机制 · Lost in the Middle · KV Cache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38385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95350" y="39624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7626" y="40695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63980" y="3950018"/>
              <a:ext cx="14420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Prompt 提示词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68742" y="4190524"/>
              <a:ext cx="1548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Few-shot · CoT 思维链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45243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95350" y="46482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7626" y="47553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63980" y="4635818"/>
              <a:ext cx="24357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System Prompt 内部手册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68742" y="4876324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角色设定 · 行为边界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2000" y="52101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895350" y="5334000"/>
              <a:ext cx="342900" cy="3429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57626" y="54411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63980" y="5321618"/>
              <a:ext cx="20424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Context Engineering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68742" y="5562124"/>
              <a:ext cx="21109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系统化信息管理 · 2026 最热技能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286500" y="1095375"/>
            <a:ext cx="5143500" cy="4705350"/>
            <a:chOff x="6286500" y="1095375"/>
            <a:chExt cx="5143500" cy="4705350"/>
          </a:xfrm>
        </p:grpSpPr>
        <p:sp>
          <p:nvSpPr>
            <p:cNvPr id="42" name="Rectangle 42"/>
            <p:cNvSpPr/>
            <p:nvPr/>
          </p:nvSpPr>
          <p:spPr>
            <a:xfrm>
              <a:off x="6286500" y="10953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419850" y="12192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82126" y="13263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88480" y="1206818"/>
              <a:ext cx="16490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RAG + 向量数据库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93242" y="1447324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先查资料再回答 · 解决幻觉问题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86500" y="17811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419850" y="19050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82126" y="20121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88480" y="1892618"/>
              <a:ext cx="22391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Tool / Function Calling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93242" y="2133124"/>
              <a:ext cx="1605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从会说到能做 · SFT 训练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86500" y="24669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6419850" y="25908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03691" y="26979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88480" y="2578418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MCP 统一协议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93242" y="2818924"/>
              <a:ext cx="23529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AI 世界的 USB-C · 一次开发处处运行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86500" y="31527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6419850" y="32766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25256" y="3383756"/>
              <a:ext cx="1320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88480" y="3264218"/>
              <a:ext cx="1286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 智能体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93242" y="3504724"/>
              <a:ext cx="14772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自主决策 · ReAct 循环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86500" y="38385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6419850" y="39624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03691" y="40695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88480" y="3950018"/>
              <a:ext cx="15559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 Skill 技能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93242" y="4190524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可复用操作手册 · 封装最佳实践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86500" y="45243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6419850" y="4648200"/>
              <a:ext cx="342900" cy="3429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03691" y="47553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88480" y="4635818"/>
              <a:ext cx="20424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Harness Engineering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93242" y="4876324"/>
              <a:ext cx="25594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约束 + 反馈 + 审计 · 让 Agent 可靠运行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86500" y="5210175"/>
              <a:ext cx="5143500" cy="590550"/>
            </a:xfrm>
            <a:prstGeom prst="roundRect">
              <a:avLst>
                <a:gd name="adj" fmla="val 16129"/>
              </a:avLst>
            </a:prstGeom>
            <a:solidFill>
              <a:srgbClr val="E8A87C">
                <a:alpha val="15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6419850" y="5334000"/>
              <a:ext cx="342900" cy="342900"/>
            </a:xfrm>
            <a:prstGeom prst="ellipse">
              <a:avLst/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03691" y="54411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88480" y="5321618"/>
              <a:ext cx="9659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2026 前沿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93242" y="5562124"/>
              <a:ext cx="24882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OpenClaw · Hermes · Agentic Coding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3876866" y="6061710"/>
            <a:ext cx="44382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每个概念都在解决上一个概念的瓶颈 — 一条完整的递进链</a:t>
            </a:r>
          </a:p>
        </p:txBody>
      </p:sp>
      <p:sp>
        <p:nvSpPr>
          <p:cNvPr id="79" name="Rectangle 79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41" grpId="0"/>
      <p:bldP spid="77" grpId="0"/>
      <p:bldP spid="78" grpId="0"/>
      <p:bldP spid="7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281749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LLM — 大语言模型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2040" y="648652"/>
            <a:ext cx="29250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五层因素叠加，从文本续写器到对话助手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914400" y="1714500"/>
            <a:ext cx="10706100" cy="4191000"/>
            <a:chOff x="914400" y="1714500"/>
            <a:chExt cx="10706100" cy="4191000"/>
          </a:xfrm>
        </p:grpSpPr>
        <p:sp>
          <p:nvSpPr>
            <p:cNvPr id="7" name="Polygon 7"/>
            <p:cNvSpPr/>
            <p:nvPr/>
          </p:nvSpPr>
          <p:spPr>
            <a:xfrm>
              <a:off x="914400" y="5143500"/>
              <a:ext cx="5029200" cy="762000"/>
            </a:xfrm>
            <a:custGeom>
              <a:avLst/>
              <a:gdLst/>
              <a:ahLst/>
              <a:cxnLst/>
              <a:rect l="l" t="t" r="r" b="b"/>
              <a:pathLst>
                <a:path w="5029200" h="762000">
                  <a:moveTo>
                    <a:pt x="457200" y="0"/>
                  </a:moveTo>
                  <a:lnTo>
                    <a:pt x="4572000" y="0"/>
                  </a:lnTo>
                  <a:lnTo>
                    <a:pt x="50292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C4956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923996" y="54440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自回归架构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1428750" y="4286250"/>
              <a:ext cx="4000500" cy="762000"/>
            </a:xfrm>
            <a:custGeom>
              <a:avLst/>
              <a:gdLst/>
              <a:ahLst/>
              <a:cxnLst/>
              <a:rect l="l" t="t" r="r" b="b"/>
              <a:pathLst>
                <a:path w="4000500" h="762000">
                  <a:moveTo>
                    <a:pt x="457200" y="0"/>
                  </a:moveTo>
                  <a:lnTo>
                    <a:pt x="3543300" y="0"/>
                  </a:lnTo>
                  <a:lnTo>
                    <a:pt x="40005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953702" y="459486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海量预训练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1943100" y="3429000"/>
              <a:ext cx="2971800" cy="762000"/>
            </a:xfrm>
            <a:custGeom>
              <a:avLst/>
              <a:gdLst/>
              <a:ahLst/>
              <a:cxnLst/>
              <a:rect l="l" t="t" r="r" b="b"/>
              <a:pathLst>
                <a:path w="2971800" h="762000">
                  <a:moveTo>
                    <a:pt x="457200" y="0"/>
                  </a:moveTo>
                  <a:lnTo>
                    <a:pt x="2514600" y="0"/>
                  </a:lnTo>
                  <a:lnTo>
                    <a:pt x="29718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A67C5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69669" y="37457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代码训练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2457450" y="2571750"/>
              <a:ext cx="1943100" cy="762000"/>
            </a:xfrm>
            <a:custGeom>
              <a:avLst/>
              <a:gdLst/>
              <a:ahLst/>
              <a:cxnLst/>
              <a:rect l="l" t="t" r="r" b="b"/>
              <a:pathLst>
                <a:path w="1943100" h="762000">
                  <a:moveTo>
                    <a:pt x="457200" y="0"/>
                  </a:moveTo>
                  <a:lnTo>
                    <a:pt x="1485900" y="0"/>
                  </a:lnTo>
                  <a:lnTo>
                    <a:pt x="1943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97650" y="2896552"/>
              <a:ext cx="6626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SFT 微调</a:t>
              </a:r>
            </a:p>
          </p:txBody>
        </p:sp>
        <p:sp>
          <p:nvSpPr>
            <p:cNvPr id="15" name="Polygon 15"/>
            <p:cNvSpPr/>
            <p:nvPr/>
          </p:nvSpPr>
          <p:spPr>
            <a:xfrm>
              <a:off x="2971800" y="1714500"/>
              <a:ext cx="914400" cy="762000"/>
            </a:xfrm>
            <a:custGeom>
              <a:avLst/>
              <a:gdLst/>
              <a:ahLst/>
              <a:cxnLst/>
              <a:rect l="l" t="t" r="r" b="b"/>
              <a:pathLst>
                <a:path w="914400" h="762000">
                  <a:moveTo>
                    <a:pt x="457200" y="0"/>
                  </a:moveTo>
                  <a:lnTo>
                    <a:pt x="9144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D4837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52147" y="213312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RLHF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743325" y="2238375"/>
              <a:ext cx="2733675" cy="9525"/>
            </a:xfrm>
            <a:custGeom>
              <a:avLst/>
              <a:gdLst/>
              <a:ahLst/>
              <a:cxnLst/>
              <a:rect l="l" t="t" r="r" b="b"/>
              <a:pathLst>
                <a:path w="2733675" h="9525">
                  <a:moveTo>
                    <a:pt x="0" y="0"/>
                  </a:moveTo>
                  <a:lnTo>
                    <a:pt x="2733675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  <a:prstDash val="dash"/>
            </a:ln>
          </p:spPr>
        </p:sp>
        <p:sp>
          <p:nvSpPr>
            <p:cNvPr id="18" name="Line 18"/>
            <p:cNvSpPr/>
            <p:nvPr/>
          </p:nvSpPr>
          <p:spPr>
            <a:xfrm>
              <a:off x="4171950" y="3000375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  <a:prstDash val="dash"/>
            </a:ln>
          </p:spPr>
        </p:sp>
        <p:sp>
          <p:nvSpPr>
            <p:cNvPr id="19" name="Line 19"/>
            <p:cNvSpPr/>
            <p:nvPr/>
          </p:nvSpPr>
          <p:spPr>
            <a:xfrm>
              <a:off x="4686300" y="3857625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  <a:prstDash val="dash"/>
            </a:ln>
          </p:spPr>
        </p:sp>
        <p:sp>
          <p:nvSpPr>
            <p:cNvPr id="20" name="Line 20"/>
            <p:cNvSpPr/>
            <p:nvPr/>
          </p:nvSpPr>
          <p:spPr>
            <a:xfrm>
              <a:off x="5200650" y="4714875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5715000" y="55721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  <a:prstDash val="dash"/>
            </a:ln>
          </p:spPr>
        </p:sp>
        <p:sp>
          <p:nvSpPr>
            <p:cNvPr id="22" name="Ellipse 22"/>
            <p:cNvSpPr/>
            <p:nvPr/>
          </p:nvSpPr>
          <p:spPr>
            <a:xfrm>
              <a:off x="3705225" y="2200275"/>
              <a:ext cx="76200" cy="76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4837F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133850" y="2962275"/>
              <a:ext cx="76200" cy="76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E8A87C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648200" y="3819525"/>
              <a:ext cx="76200" cy="76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A67C5B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162550" y="4676775"/>
              <a:ext cx="76200" cy="76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8B6F47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676900" y="5534025"/>
              <a:ext cx="76200" cy="76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C4956A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477000" y="1885950"/>
              <a:ext cx="5143500" cy="685800"/>
              <a:chOff x="6477000" y="1885950"/>
              <a:chExt cx="5143500" cy="685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477000" y="1885950"/>
                <a:ext cx="51435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  <a:effectLst>
                <a:outerShdw blurRad="76200" dist="28575" dir="5400000" algn="ctr" rotWithShape="0">
                  <a:srgbClr val="5D4E37">
                    <a:alpha val="6000"/>
                  </a:srgbClr>
                </a:outerShdw>
              </a:effectLst>
            </p:spPr>
          </p:sp>
          <p:sp>
            <p:nvSpPr>
              <p:cNvPr id="28" name="Line 28"/>
              <p:cNvSpPr/>
              <p:nvPr/>
            </p:nvSpPr>
            <p:spPr>
              <a:xfrm>
                <a:off x="6534150" y="203835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57150" cap="rnd">
                <a:solidFill>
                  <a:srgbClr val="D4837F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699885" y="2042160"/>
                <a:ext cx="15670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RLHF — 让它说得好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702742" y="2275999"/>
                <a:ext cx="320737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人类偏好反馈 + 强化学习，回答更"像人"更"懂事"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11049000" y="203835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5F0E8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1144882" y="2180749"/>
                <a:ext cx="1892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>L5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477000" y="2647950"/>
              <a:ext cx="5143500" cy="685800"/>
              <a:chOff x="6477000" y="2647950"/>
              <a:chExt cx="5143500" cy="6858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477000" y="2647950"/>
                <a:ext cx="51435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  <a:effectLst>
                <a:outerShdw blurRad="76200" dist="28575" dir="5400000" algn="ctr" rotWithShape="0">
                  <a:srgbClr val="5D4E37">
                    <a:alpha val="6000"/>
                  </a:srgbClr>
                </a:outerShdw>
              </a:effectLst>
            </p:spPr>
          </p:sp>
          <p:sp>
            <p:nvSpPr>
              <p:cNvPr id="35" name="Line 35"/>
              <p:cNvSpPr/>
              <p:nvPr/>
            </p:nvSpPr>
            <p:spPr>
              <a:xfrm>
                <a:off x="6534150" y="280035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57150" cap="rnd">
                <a:solidFill>
                  <a:srgbClr val="E8A87C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699885" y="2804160"/>
                <a:ext cx="22571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SFT 指令微调 — 让它会对话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702742" y="3037999"/>
                <a:ext cx="318601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高质量问答数据训练，从"续写器"变成"对话助手"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11049000" y="280035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5F0E8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1144882" y="2942749"/>
                <a:ext cx="1892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L4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477000" y="3505200"/>
              <a:ext cx="5143500" cy="685800"/>
              <a:chOff x="6477000" y="3505200"/>
              <a:chExt cx="5143500" cy="6858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477000" y="3505200"/>
                <a:ext cx="51435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  <a:effectLst>
                <a:outerShdw blurRad="76200" dist="28575" dir="5400000" algn="ctr" rotWithShape="0">
                  <a:srgbClr val="5D4E37">
                    <a:alpha val="6000"/>
                  </a:srgbClr>
                </a:outerShdw>
              </a:effectLst>
            </p:spPr>
          </p:sp>
          <p:sp>
            <p:nvSpPr>
              <p:cNvPr id="42" name="Line 42"/>
              <p:cNvSpPr/>
              <p:nvPr/>
            </p:nvSpPr>
            <p:spPr>
              <a:xfrm>
                <a:off x="6534150" y="36576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57150" cap="rnd">
                <a:solidFill>
                  <a:srgbClr val="A67C5B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699885" y="3661410"/>
                <a:ext cx="226635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大量代码训练 — 让它学得深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02742" y="3895249"/>
                <a:ext cx="306497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GitHub 代码训练，隐式学会逻辑推理和条件分支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11049000" y="365760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5F0E8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1144882" y="3799999"/>
                <a:ext cx="1892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A67C5B"/>
                    </a:solidFill>
                    <a:latin typeface="Arial"/>
                    <a:ea typeface="Microsoft YaHei"/>
                    <a:cs typeface="Arial"/>
                  </a:rPr>
                  <a:t>L3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6477000" y="4362450"/>
              <a:ext cx="5143500" cy="685800"/>
              <a:chOff x="6477000" y="4362450"/>
              <a:chExt cx="5143500" cy="6858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6477000" y="4362450"/>
                <a:ext cx="51435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  <a:effectLst>
                <a:outerShdw blurRad="76200" dist="28575" dir="5400000" algn="ctr" rotWithShape="0">
                  <a:srgbClr val="5D4E37">
                    <a:alpha val="6000"/>
                  </a:srgbClr>
                </a:outerShdw>
              </a:effectLst>
            </p:spPr>
          </p:sp>
          <p:sp>
            <p:nvSpPr>
              <p:cNvPr id="49" name="Line 49"/>
              <p:cNvSpPr/>
              <p:nvPr/>
            </p:nvSpPr>
            <p:spPr>
              <a:xfrm>
                <a:off x="6534150" y="451485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57150" cap="rnd">
                <a:solidFill>
                  <a:srgbClr val="8B6F47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699885" y="4518660"/>
                <a:ext cx="263440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海量无监督预训练 — 让它学得广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702742" y="4752499"/>
                <a:ext cx="34209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4500 亿 Token 文本，隐式学到事实、常识、推理模式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11049000" y="451485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5F0E8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1144882" y="4657249"/>
                <a:ext cx="1892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L2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6477000" y="5219700"/>
              <a:ext cx="5143500" cy="685800"/>
              <a:chOff x="6477000" y="5219700"/>
              <a:chExt cx="5143500" cy="6858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6477000" y="5219700"/>
                <a:ext cx="51435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  <a:effectLst>
                <a:outerShdw blurRad="76200" dist="28575" dir="5400000" algn="ctr" rotWithShape="0">
                  <a:srgbClr val="5D4E37">
                    <a:alpha val="6000"/>
                  </a:srgbClr>
                </a:outerShdw>
              </a:effectLst>
            </p:spPr>
          </p:sp>
          <p:sp>
            <p:nvSpPr>
              <p:cNvPr id="56" name="Line 56"/>
              <p:cNvSpPr/>
              <p:nvPr/>
            </p:nvSpPr>
            <p:spPr>
              <a:xfrm>
                <a:off x="6534150" y="53721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57150" cap="rnd">
                <a:solidFill>
                  <a:srgbClr val="C4956A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699885" y="5375910"/>
                <a:ext cx="18983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自回归架构 — 让它能学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702742" y="5609749"/>
                <a:ext cx="31575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逐词预测机制，模型足够大时涌现语法和推理能力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11049000" y="537210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5F0E8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11163572" y="5514499"/>
                <a:ext cx="1518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L1</a:t>
                </a:r>
              </a:p>
            </p:txBody>
          </p:sp>
        </p:grpSp>
      </p:grpSp>
      <p:sp>
        <p:nvSpPr>
          <p:cNvPr id="63" name="TextBox 63"/>
          <p:cNvSpPr txBox="1"/>
          <p:nvPr/>
        </p:nvSpPr>
        <p:spPr>
          <a:xfrm>
            <a:off x="559118" y="6562249"/>
            <a:ext cx="34636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GPT-3.5 的爆火不是新算法，而是五层叠加产生的质变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01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62" grpId="0"/>
      <p:bldP spid="63" grpId="0"/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79230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01+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280988"/>
            <a:ext cx="393888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2025-2026 两大进化方向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71500" y="952500"/>
            <a:ext cx="5334000" cy="4953000"/>
            <a:chOff x="571500" y="952500"/>
            <a:chExt cx="5334000" cy="4953000"/>
          </a:xfrm>
        </p:grpSpPr>
        <p:sp>
          <p:nvSpPr>
            <p:cNvPr id="6" name="Rectangle 6"/>
            <p:cNvSpPr/>
            <p:nvPr/>
          </p:nvSpPr>
          <p:spPr>
            <a:xfrm>
              <a:off x="571500" y="952500"/>
              <a:ext cx="5334000" cy="4953000"/>
            </a:xfrm>
            <a:prstGeom prst="roundRect">
              <a:avLst>
                <a:gd name="adj" fmla="val 3077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366834" y="1139190"/>
              <a:ext cx="17433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MoE 混合专家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508242" y="1458278"/>
              <a:ext cx="1460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Mixture of Experts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352550" y="1924050"/>
              <a:ext cx="3105150" cy="1866900"/>
              <a:chOff x="1352550" y="1924050"/>
              <a:chExt cx="3105150" cy="186690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1352550" y="19240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2209800" y="19240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3067050" y="1924050"/>
                <a:ext cx="533400" cy="533400"/>
              </a:xfrm>
              <a:prstGeom prst="ellipse">
                <a:avLst/>
              </a:prstGeom>
              <a:solidFill>
                <a:srgbClr val="E8A87C"/>
              </a:solidFill>
              <a:ln w="28575">
                <a:solidFill>
                  <a:srgbClr val="E8A87C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196757" y="2149316"/>
                <a:ext cx="27398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激活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3924300" y="19240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1352550" y="259080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209800" y="2590800"/>
                <a:ext cx="533400" cy="533400"/>
              </a:xfrm>
              <a:prstGeom prst="ellipse">
                <a:avLst/>
              </a:prstGeom>
              <a:solidFill>
                <a:srgbClr val="E8A87C"/>
              </a:solidFill>
              <a:ln w="28575">
                <a:solidFill>
                  <a:srgbClr val="E8A87C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339507" y="2816066"/>
                <a:ext cx="27398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激活</a:t>
                </a:r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3067050" y="259080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3924300" y="259080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1352550" y="32575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2209800" y="32575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067050" y="32575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3924300" y="3257550"/>
                <a:ext cx="533400" cy="533400"/>
              </a:xfrm>
              <a:prstGeom prst="ellipse">
                <a:avLst/>
              </a:prstGeom>
              <a:solidFill>
                <a:srgbClr val="EDE5D5"/>
              </a:solidFill>
              <a:ln w="19050">
                <a:solidFill>
                  <a:srgbClr val="EDE5D5"/>
                </a:solidFill>
              </a:ln>
            </p:spPr>
          </p:sp>
        </p:grpSp>
        <p:sp>
          <p:nvSpPr>
            <p:cNvPr id="24" name="Rectangle 24"/>
            <p:cNvSpPr/>
            <p:nvPr/>
          </p:nvSpPr>
          <p:spPr>
            <a:xfrm>
              <a:off x="857250" y="4000500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848353" y="4145756"/>
              <a:ext cx="27802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100 个专家，每次只请 2-8 个来开会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91640" y="4382452"/>
              <a:ext cx="309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总参数大（知识多），激活参数小（速度快）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" y="4953000"/>
              <a:ext cx="4762500" cy="666750"/>
            </a:xfrm>
            <a:prstGeom prst="roundRect">
              <a:avLst>
                <a:gd name="adj" fmla="val 14286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91519" y="5109210"/>
              <a:ext cx="2293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DeepSeek-V3：总参数 671B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50993" y="5354002"/>
              <a:ext cx="1975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每次激活 37B → 又快又便宜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286500" y="952500"/>
            <a:ext cx="5334000" cy="4953000"/>
            <a:chOff x="6286500" y="952500"/>
            <a:chExt cx="5334000" cy="4953000"/>
          </a:xfrm>
        </p:grpSpPr>
        <p:sp>
          <p:nvSpPr>
            <p:cNvPr id="31" name="Rectangle 31"/>
            <p:cNvSpPr/>
            <p:nvPr/>
          </p:nvSpPr>
          <p:spPr>
            <a:xfrm>
              <a:off x="6286500" y="952500"/>
              <a:ext cx="5334000" cy="4953000"/>
            </a:xfrm>
            <a:prstGeom prst="roundRect">
              <a:avLst>
                <a:gd name="adj" fmla="val 3077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64394" y="1139190"/>
              <a:ext cx="23782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多模态 Multimodal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90021" y="1458278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不只文本，还有图片、语音、视频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6667500" y="1905000"/>
              <a:ext cx="1238250" cy="2333625"/>
              <a:chOff x="6667500" y="1905000"/>
              <a:chExt cx="1238250" cy="2333625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667500" y="1905000"/>
                <a:ext cx="123825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958546" y="2061210"/>
                <a:ext cx="6561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🖼️ 图片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667500" y="2524125"/>
                <a:ext cx="123825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009152" y="2680335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🎤 语音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667500" y="3143250"/>
                <a:ext cx="123825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009152" y="3299460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🎬 视频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6667500" y="3762375"/>
                <a:ext cx="123825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009152" y="3918585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📝 文本</a:t>
                </a:r>
              </a:p>
            </p:txBody>
          </p:sp>
        </p:grpSp>
        <p:sp>
          <p:nvSpPr>
            <p:cNvPr id="43" name="Rectangle 43"/>
            <p:cNvSpPr/>
            <p:nvPr/>
          </p:nvSpPr>
          <p:spPr>
            <a:xfrm>
              <a:off x="8286750" y="2190750"/>
              <a:ext cx="1143000" cy="1905000"/>
            </a:xfrm>
            <a:prstGeom prst="roundRect">
              <a:avLst>
                <a:gd name="adj" fmla="val 10000"/>
              </a:avLst>
            </a:prstGeom>
            <a:solidFill>
              <a:srgbClr val="C4956A">
                <a:alpha val="20000"/>
              </a:srgbClr>
            </a:solidFill>
            <a:ln w="19050">
              <a:solidFill>
                <a:srgbClr val="C4956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85180" y="2974181"/>
              <a:ext cx="546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翻译层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43532" y="3225641"/>
              <a:ext cx="6294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转成 Token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810750" y="2381250"/>
              <a:ext cx="1428750" cy="1524000"/>
            </a:xfrm>
            <a:prstGeom prst="roundRect">
              <a:avLst>
                <a:gd name="adj" fmla="val 8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200568" y="2916555"/>
              <a:ext cx="6491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84629" y="3312795"/>
              <a:ext cx="1080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预测下一个 Token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7905750" y="2143125"/>
              <a:ext cx="381000" cy="523875"/>
            </a:xfrm>
            <a:custGeom>
              <a:avLst/>
              <a:gdLst/>
              <a:ahLst/>
              <a:cxnLst/>
              <a:rect l="l" t="t" r="r" b="b"/>
              <a:pathLst>
                <a:path w="381000" h="523875">
                  <a:moveTo>
                    <a:pt x="0" y="0"/>
                  </a:moveTo>
                  <a:lnTo>
                    <a:pt x="381000" y="523875"/>
                  </a:lnTo>
                </a:path>
              </a:pathLst>
            </a:custGeom>
            <a:noFill/>
            <a:ln w="19050">
              <a:solidFill>
                <a:srgbClr val="C4956A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905750" y="2762250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0" y="0"/>
                  </a:moveTo>
                  <a:lnTo>
                    <a:pt x="381000" y="190500"/>
                  </a:lnTo>
                </a:path>
              </a:pathLst>
            </a:custGeom>
            <a:noFill/>
            <a:ln w="19050">
              <a:solidFill>
                <a:srgbClr val="C4956A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7905750" y="3238500"/>
              <a:ext cx="381000" cy="142875"/>
            </a:xfrm>
            <a:custGeom>
              <a:avLst/>
              <a:gdLst/>
              <a:ahLst/>
              <a:cxnLst/>
              <a:rect l="l" t="t" r="r" b="b"/>
              <a:pathLst>
                <a:path w="381000" h="142875">
                  <a:moveTo>
                    <a:pt x="0" y="142875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C4956A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7905750" y="3524250"/>
              <a:ext cx="381000" cy="476250"/>
            </a:xfrm>
            <a:custGeom>
              <a:avLst/>
              <a:gdLst/>
              <a:ahLst/>
              <a:cxnLst/>
              <a:rect l="l" t="t" r="r" b="b"/>
              <a:pathLst>
                <a:path w="381000" h="476250">
                  <a:moveTo>
                    <a:pt x="0" y="47625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C4956A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9429750" y="3143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3812">
              <a:solidFill>
                <a:srgbClr val="8B6F47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572250" y="4572000"/>
              <a:ext cx="4762500" cy="1047750"/>
            </a:xfrm>
            <a:prstGeom prst="roundRect">
              <a:avLst>
                <a:gd name="adj" fmla="val 9091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04883" y="4736306"/>
              <a:ext cx="22972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本质还是"预测下一个 Token"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79803" y="4982528"/>
              <a:ext cx="31473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只是 Token 的来源从纯文字扩展到了多种模态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66471" y="5276374"/>
              <a:ext cx="25740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GPT-4o · Qwen-VL · Claude · Gemini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04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0" grpId="0"/>
      <p:bldP spid="58" grpId="0"/>
      <p:bldP spid="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34558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Token — BPE 分词过程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554355" y="806768"/>
            <a:ext cx="4627245" cy="2503170"/>
            <a:chOff x="554355" y="806768"/>
            <a:chExt cx="4627245" cy="2503170"/>
          </a:xfrm>
        </p:grpSpPr>
        <p:sp>
          <p:nvSpPr>
            <p:cNvPr id="6" name="TextBox 6"/>
            <p:cNvSpPr txBox="1"/>
            <p:nvPr/>
          </p:nvSpPr>
          <p:spPr>
            <a:xfrm>
              <a:off x="554355" y="806768"/>
              <a:ext cx="39884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BPE 合并过程演示：「low lower lowest」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8165" y="1220152"/>
              <a:ext cx="19669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初始：每个字符一个 Token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571500" y="1428750"/>
              <a:ext cx="4610100" cy="323850"/>
              <a:chOff x="571500" y="1428750"/>
              <a:chExt cx="4610100" cy="3238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662007" y="1508760"/>
                <a:ext cx="85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l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8763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438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o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1811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30201" y="1508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08760" y="150876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16764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766907" y="1508760"/>
                <a:ext cx="85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l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9812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0487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o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2860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335101" y="1508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25908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6583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28956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29631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r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223260" y="150876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33909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481407" y="1508760"/>
                <a:ext cx="85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l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36957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7632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o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40005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049601" y="1508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3053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3728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46101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6776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s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4914900" y="1428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982404" y="1508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t</a:t>
                </a:r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558165" y="1982152"/>
              <a:ext cx="24419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第一轮：合并「lo」（出现 3 次）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571500" y="2190750"/>
              <a:ext cx="4495800" cy="323850"/>
              <a:chOff x="571500" y="2190750"/>
              <a:chExt cx="4495800" cy="3238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2190750"/>
                <a:ext cx="5334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44750" y="2270760"/>
                <a:ext cx="186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11430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192101" y="2270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470660" y="227076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1638300" y="2190750"/>
                <a:ext cx="5334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811550" y="2270760"/>
                <a:ext cx="186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22098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2258901" y="2270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25146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2582104" y="2270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28194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2886904" y="2270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r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147060" y="227076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3314700" y="2190750"/>
                <a:ext cx="5334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3487950" y="2270760"/>
                <a:ext cx="186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38862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3935301" y="2270760"/>
                <a:ext cx="1684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w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41910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4258504" y="2270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44958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4563304" y="2270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s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4800600" y="2190750"/>
                <a:ext cx="266700" cy="3048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4868104" y="22707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t</a:t>
                </a:r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558165" y="2744152"/>
              <a:ext cx="2562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第二轮：合并「low」（出现 3 次）</a:t>
              </a:r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571500" y="2952750"/>
              <a:ext cx="4267200" cy="357188"/>
              <a:chOff x="571500" y="2952750"/>
              <a:chExt cx="4267200" cy="357188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571500" y="2952750"/>
                <a:ext cx="7620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9734" y="3035618"/>
                <a:ext cx="36553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low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394460" y="305181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69" name="Rectangle 69"/>
              <p:cNvSpPr/>
              <p:nvPr/>
            </p:nvSpPr>
            <p:spPr>
              <a:xfrm>
                <a:off x="1562100" y="2952750"/>
                <a:ext cx="7620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760334" y="3035618"/>
                <a:ext cx="36553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low</a:t>
                </a:r>
              </a:p>
            </p:txBody>
          </p:sp>
          <p:sp>
            <p:nvSpPr>
              <p:cNvPr id="71" name="Rectangle 71"/>
              <p:cNvSpPr/>
              <p:nvPr/>
            </p:nvSpPr>
            <p:spPr>
              <a:xfrm>
                <a:off x="2362200" y="2952750"/>
                <a:ext cx="266700" cy="3429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2429704" y="30518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73" name="Rectangle 73"/>
              <p:cNvSpPr/>
              <p:nvPr/>
            </p:nvSpPr>
            <p:spPr>
              <a:xfrm>
                <a:off x="2667000" y="2952750"/>
                <a:ext cx="266700" cy="3429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2734504" y="30518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r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2994660" y="3051810"/>
                <a:ext cx="830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A89B8C"/>
                    </a:solidFill>
                    <a:latin typeface="Arial"/>
                    <a:ea typeface="Microsoft YaHei"/>
                    <a:cs typeface="Arial"/>
                  </a:rPr>
                  <a:t>|</a:t>
                </a: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3162300" y="2952750"/>
                <a:ext cx="7620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3360534" y="3035618"/>
                <a:ext cx="36553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low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3962400" y="2952750"/>
                <a:ext cx="266700" cy="3429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4029904" y="30518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e</a:t>
                </a:r>
              </a:p>
            </p:txBody>
          </p:sp>
          <p:sp>
            <p:nvSpPr>
              <p:cNvPr id="80" name="Rectangle 80"/>
              <p:cNvSpPr/>
              <p:nvPr/>
            </p:nvSpPr>
            <p:spPr>
              <a:xfrm>
                <a:off x="4267200" y="2952750"/>
                <a:ext cx="266700" cy="3429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4334704" y="30518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s</a:t>
                </a:r>
              </a:p>
            </p:txBody>
          </p:sp>
          <p:sp>
            <p:nvSpPr>
              <p:cNvPr id="82" name="Rectangle 82"/>
              <p:cNvSpPr/>
              <p:nvPr/>
            </p:nvSpPr>
            <p:spPr>
              <a:xfrm>
                <a:off x="4572000" y="2952750"/>
                <a:ext cx="266700" cy="342900"/>
              </a:xfrm>
              <a:prstGeom prst="roundRect">
                <a:avLst>
                  <a:gd name="adj" fmla="val 14286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4639504" y="30518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t</a:t>
                </a:r>
              </a:p>
            </p:txBody>
          </p:sp>
        </p:grpSp>
      </p:grpSp>
      <p:grpSp>
        <p:nvGrpSpPr>
          <p:cNvPr id="116" name="Group 116"/>
          <p:cNvGrpSpPr/>
          <p:nvPr/>
        </p:nvGrpSpPr>
        <p:grpSpPr>
          <a:xfrm>
            <a:off x="6269355" y="806768"/>
            <a:ext cx="5351145" cy="3860482"/>
            <a:chOff x="6269355" y="806768"/>
            <a:chExt cx="5351145" cy="3860482"/>
          </a:xfrm>
        </p:grpSpPr>
        <p:sp>
          <p:nvSpPr>
            <p:cNvPr id="86" name="TextBox 86"/>
            <p:cNvSpPr txBox="1"/>
            <p:nvPr/>
          </p:nvSpPr>
          <p:spPr>
            <a:xfrm>
              <a:off x="6269355" y="806768"/>
              <a:ext cx="25807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不同模型的 Tokenizer 对比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274118" y="10567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同一句话「我喜欢吃苹果」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286500" y="1333500"/>
              <a:ext cx="5334000" cy="381000"/>
            </a:xfrm>
            <a:prstGeom prst="roundRect">
              <a:avLst>
                <a:gd name="adj" fmla="val 15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874145" y="145827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427625" y="14582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切分方式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638502" y="1458278"/>
              <a:ext cx="6304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Token数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286500" y="1752600"/>
              <a:ext cx="5334000" cy="419100"/>
            </a:xfrm>
            <a:prstGeom prst="rect">
              <a:avLst/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809934" y="1888331"/>
              <a:ext cx="4771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Qwen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216622" y="1904524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我|喜|欢|吃|苹|果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887904" y="18802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286500" y="2209800"/>
              <a:ext cx="5334000" cy="419100"/>
            </a:xfrm>
            <a:prstGeom prst="rect">
              <a:avLst/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796995" y="2345531"/>
              <a:ext cx="5030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GPT-4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259342" y="2361724"/>
              <a:ext cx="1007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我|喜欢|吃|苹果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809694" y="2337435"/>
              <a:ext cx="2881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5 ✓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6286500" y="2667000"/>
              <a:ext cx="5334000" cy="419100"/>
            </a:xfrm>
            <a:prstGeom prst="rect">
              <a:avLst/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771117" y="2802731"/>
              <a:ext cx="5547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Claude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216622" y="2818924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我|喜|欢|吃|苹|果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887904" y="2794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269355" y="3283268"/>
              <a:ext cx="10797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特殊 Token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6286500" y="3571875"/>
              <a:ext cx="1619250" cy="419100"/>
            </a:xfrm>
            <a:prstGeom prst="roundRect">
              <a:avLst>
                <a:gd name="adj" fmla="val 18182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878154" y="3657124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&lt;bos&gt;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844665" y="38352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文本开头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8048625" y="3571875"/>
              <a:ext cx="1619250" cy="419100"/>
            </a:xfrm>
            <a:prstGeom prst="roundRect">
              <a:avLst>
                <a:gd name="adj" fmla="val 18182"/>
              </a:avLst>
            </a:prstGeom>
            <a:solidFill>
              <a:srgbClr val="D4837F">
                <a:alpha val="15000"/>
              </a:srgbClr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8640279" y="3657124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&lt;eos&gt;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245316" y="3835241"/>
              <a:ext cx="12258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文本结束（停止生成）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9810750" y="3571875"/>
              <a:ext cx="1619250" cy="419100"/>
            </a:xfrm>
            <a:prstGeom prst="roundRect">
              <a:avLst>
                <a:gd name="adj" fmla="val 18182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10402404" y="3657124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&lt;pad&gt;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368915" y="38352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补齐对齐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6286500" y="4191000"/>
              <a:ext cx="5334000" cy="476250"/>
            </a:xfrm>
            <a:prstGeom prst="roundRect">
              <a:avLst>
                <a:gd name="adj" fmla="val 2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994032" y="4355306"/>
              <a:ext cx="39189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中文 ≈ 1字/Token · 英文高频词组合合并为 1 Token</a:t>
              </a:r>
            </a:p>
          </p:txBody>
        </p:sp>
      </p:grpSp>
      <p:sp>
        <p:nvSpPr>
          <p:cNvPr id="117" name="TextBox 117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05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85" grpId="0"/>
      <p:bldP spid="116" grpId="0"/>
      <p:bldP spid="1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91882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02+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280988"/>
            <a:ext cx="352483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Token 决定了你的成本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857250"/>
            <a:ext cx="6667500" cy="5048250"/>
            <a:chOff x="571500" y="857250"/>
            <a:chExt cx="6667500" cy="5048250"/>
          </a:xfrm>
        </p:grpSpPr>
        <p:sp>
          <p:nvSpPr>
            <p:cNvPr id="6" name="Rectangle 6"/>
            <p:cNvSpPr/>
            <p:nvPr/>
          </p:nvSpPr>
          <p:spPr>
            <a:xfrm>
              <a:off x="571500" y="857250"/>
              <a:ext cx="6667500" cy="5048250"/>
            </a:xfrm>
            <a:prstGeom prst="roundRect">
              <a:avLst>
                <a:gd name="adj" fmla="val 3019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669743" y="1060132"/>
              <a:ext cx="247101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GPT-4o 调用费用计算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1428750"/>
              <a:ext cx="2857500" cy="47625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88340" y="1526381"/>
              <a:ext cx="19953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输入：$2.5 / 百万 Token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05012" y="1720691"/>
              <a:ext cx="7619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Input pricing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095750" y="1428750"/>
              <a:ext cx="2857500" cy="47625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95848" y="1526381"/>
              <a:ext cx="18573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输出：$10 / 百万 Token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83266" y="1720691"/>
              <a:ext cx="882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Output pricing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57250" y="2095500"/>
              <a:ext cx="6096000" cy="1143000"/>
            </a:xfrm>
            <a:prstGeom prst="roundRect">
              <a:avLst>
                <a:gd name="adj" fmla="val 8333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3462" y="22407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一次调用：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4415" y="2506028"/>
              <a:ext cx="26720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输入 50 Token × $2.5/1M = $0.000125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4415" y="274415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输出 500 Token × $10/1M = $0.005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47750" y="2971800"/>
              <a:ext cx="5524500" cy="19050"/>
            </a:xfrm>
            <a:prstGeom prst="rect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2510" y="3061335"/>
              <a:ext cx="2477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合计：≈ $0.005（≈ ¥0.036）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57250" y="3429000"/>
              <a:ext cx="6096000" cy="952500"/>
            </a:xfrm>
            <a:prstGeom prst="roundRect">
              <a:avLst>
                <a:gd name="adj" fmla="val 10000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63514" y="356901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放大到产品级别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27027" y="3851910"/>
              <a:ext cx="29564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每天 10 万次 × 30 天 ≈ ¥10,800 / 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14197" y="4104799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中文比英文多消耗 1.5-2 倍 Token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74053" y="4569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关键提醒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57250" y="4857750"/>
              <a:ext cx="6096000" cy="762000"/>
            </a:xfrm>
            <a:prstGeom prst="roundRect">
              <a:avLst>
                <a:gd name="adj" fmla="val 125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37781" y="5003006"/>
              <a:ext cx="19349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Token 数决定了三件事：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42109" y="5239702"/>
              <a:ext cx="49262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① 能记住多少（上下文窗口）② 花多少钱（API计费）③ 能处理多长的输入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715250" y="857250"/>
            <a:ext cx="3905250" cy="5048250"/>
            <a:chOff x="7715250" y="857250"/>
            <a:chExt cx="3905250" cy="5048250"/>
          </a:xfrm>
        </p:grpSpPr>
        <p:sp>
          <p:nvSpPr>
            <p:cNvPr id="29" name="Rectangle 29"/>
            <p:cNvSpPr/>
            <p:nvPr/>
          </p:nvSpPr>
          <p:spPr>
            <a:xfrm>
              <a:off x="7715250" y="857250"/>
              <a:ext cx="3905250" cy="5048250"/>
            </a:xfrm>
            <a:prstGeom prst="roundRect">
              <a:avLst>
                <a:gd name="adj" fmla="val 3902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803469" y="1076325"/>
              <a:ext cx="17288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省 Token 的技巧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905750" y="1476375"/>
              <a:ext cx="3524250" cy="619125"/>
            </a:xfrm>
            <a:prstGeom prst="roundRect">
              <a:avLst>
                <a:gd name="adj" fmla="val 12308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81962" y="1593056"/>
              <a:ext cx="18831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1. 精简 System Prompt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83868" y="181879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每轮对话都会重发，越短越省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905750" y="2238375"/>
              <a:ext cx="3524250" cy="619125"/>
            </a:xfrm>
            <a:prstGeom prst="roundRect">
              <a:avLst>
                <a:gd name="adj" fmla="val 12308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81962" y="2355056"/>
              <a:ext cx="16502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2. 控制历史对话轮数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83868" y="2580799"/>
              <a:ext cx="18973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只保留最近 N 轮，丢弃过旧的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905750" y="3000375"/>
              <a:ext cx="3524250" cy="619125"/>
            </a:xfrm>
            <a:prstGeom prst="roundRect">
              <a:avLst>
                <a:gd name="adj" fmla="val 12308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81962" y="3117056"/>
              <a:ext cx="18227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3. 选择性价比高的模型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83868" y="3342799"/>
              <a:ext cx="19613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DeepSeek 比 GPT-4o 便宜很多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905750" y="3762375"/>
              <a:ext cx="3524250" cy="619125"/>
            </a:xfrm>
            <a:prstGeom prst="roundRect">
              <a:avLst>
                <a:gd name="adj" fmla="val 12308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81962" y="3879056"/>
              <a:ext cx="21937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4. 英文 Prompt 更省 Token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83868" y="4104799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同样的指令，英文 Token 更少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16543" y="458533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主流模型价格对比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905750" y="4857750"/>
              <a:ext cx="3524250" cy="285750"/>
            </a:xfrm>
            <a:prstGeom prst="roundRect">
              <a:avLst>
                <a:gd name="adj" fmla="val 2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708803" y="49510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71807" y="4951095"/>
              <a:ext cx="10303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输入/百万Token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90053" y="49510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69618" y="5181124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GPT-4o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17979" y="51811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$2.5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27438" y="5181124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$10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69618" y="5419249"/>
              <a:ext cx="9293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DeepSeek-V3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78819" y="54192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$0.27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106079" y="5419249"/>
              <a:ext cx="2668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$1.1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69618" y="565737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Qwen-Max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135779" y="5657374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$1.6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070479" y="565737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$4.8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06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8" grpId="0"/>
      <p:bldP spid="57" grpId="0"/>
      <p:bldP spid="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455996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Embedding — 让文字变成坐标</a:t>
            </a:r>
          </a:p>
        </p:txBody>
      </p:sp>
      <p:sp>
        <p:nvSpPr>
          <p:cNvPr id="6" name="Line 6"/>
          <p:cNvSpPr/>
          <p:nvPr/>
        </p:nvSpPr>
        <p:spPr>
          <a:xfrm>
            <a:off x="1905000" y="1143000"/>
            <a:ext cx="9525" cy="4762500"/>
          </a:xfrm>
          <a:custGeom>
            <a:avLst/>
            <a:gdLst/>
            <a:ahLst/>
            <a:cxnLst/>
            <a:rect l="l" t="t" r="r" b="b"/>
            <a:pathLst>
              <a:path w="9525" h="4762500">
                <a:moveTo>
                  <a:pt x="0" y="47625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EDE5D5"/>
            </a:solidFill>
            <a:custDash>
              <a:ds d="300000" sp="200000"/>
            </a:custDash>
          </a:ln>
        </p:spPr>
      </p:sp>
      <p:sp>
        <p:nvSpPr>
          <p:cNvPr id="7" name="Line 7"/>
          <p:cNvSpPr/>
          <p:nvPr/>
        </p:nvSpPr>
        <p:spPr>
          <a:xfrm>
            <a:off x="1905000" y="59055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19050">
            <a:solidFill>
              <a:srgbClr val="EDE5D5"/>
            </a:solidFill>
            <a:custDash>
              <a:ds d="300000" sp="200000"/>
            </a:custDash>
          </a:ln>
        </p:spPr>
      </p:sp>
      <p:sp>
        <p:nvSpPr>
          <p:cNvPr id="8" name="Ellipse 8"/>
          <p:cNvSpPr/>
          <p:nvPr/>
        </p:nvSpPr>
        <p:spPr>
          <a:xfrm>
            <a:off x="2781300" y="1828800"/>
            <a:ext cx="533400" cy="533400"/>
          </a:xfrm>
          <a:prstGeom prst="ellipse">
            <a:avLst/>
          </a:prstGeom>
          <a:solidFill>
            <a:srgbClr val="E8A87C">
              <a:alpha val="20000"/>
            </a:srgbClr>
          </a:solidFill>
          <a:ln w="19050">
            <a:solidFill>
              <a:srgbClr val="E8A87C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848737" y="20231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水果</a:t>
            </a:r>
          </a:p>
        </p:txBody>
      </p:sp>
      <p:sp>
        <p:nvSpPr>
          <p:cNvPr id="10" name="Ellipse 10"/>
          <p:cNvSpPr/>
          <p:nvPr/>
        </p:nvSpPr>
        <p:spPr>
          <a:xfrm>
            <a:off x="2438400" y="2724150"/>
            <a:ext cx="457200" cy="457200"/>
          </a:xfrm>
          <a:prstGeom prst="ellipse">
            <a:avLst/>
          </a:prstGeom>
          <a:solidFill>
            <a:srgbClr val="E8A87C">
              <a:alpha val="15000"/>
            </a:srgbClr>
          </a:solidFill>
          <a:ln w="14288">
            <a:solidFill>
              <a:srgbClr val="E8A87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480191" y="288845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苹果</a:t>
            </a:r>
          </a:p>
        </p:txBody>
      </p:sp>
      <p:sp>
        <p:nvSpPr>
          <p:cNvPr id="12" name="Ellipse 12"/>
          <p:cNvSpPr/>
          <p:nvPr/>
        </p:nvSpPr>
        <p:spPr>
          <a:xfrm>
            <a:off x="3581400" y="2438400"/>
            <a:ext cx="457200" cy="457200"/>
          </a:xfrm>
          <a:prstGeom prst="ellipse">
            <a:avLst/>
          </a:prstGeom>
          <a:solidFill>
            <a:srgbClr val="E8A87C">
              <a:alpha val="15000"/>
            </a:srgbClr>
          </a:solidFill>
          <a:ln w="14288">
            <a:solidFill>
              <a:srgbClr val="E8A87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623191" y="26027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香蕉</a:t>
            </a:r>
          </a:p>
        </p:txBody>
      </p:sp>
      <p:sp>
        <p:nvSpPr>
          <p:cNvPr id="14" name="Ellipse 14"/>
          <p:cNvSpPr/>
          <p:nvPr/>
        </p:nvSpPr>
        <p:spPr>
          <a:xfrm>
            <a:off x="3105150" y="3390900"/>
            <a:ext cx="457200" cy="457200"/>
          </a:xfrm>
          <a:prstGeom prst="ellipse">
            <a:avLst/>
          </a:prstGeom>
          <a:solidFill>
            <a:srgbClr val="E8A87C">
              <a:alpha val="15000"/>
            </a:srgbClr>
          </a:solidFill>
          <a:ln w="14288">
            <a:solidFill>
              <a:srgbClr val="E8A87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146941" y="35552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橙子</a:t>
            </a:r>
          </a:p>
        </p:txBody>
      </p:sp>
      <p:sp>
        <p:nvSpPr>
          <p:cNvPr id="16" name="Line 16"/>
          <p:cNvSpPr/>
          <p:nvPr/>
        </p:nvSpPr>
        <p:spPr>
          <a:xfrm>
            <a:off x="2762250" y="2286000"/>
            <a:ext cx="95250" cy="476250"/>
          </a:xfrm>
          <a:custGeom>
            <a:avLst/>
            <a:gdLst/>
            <a:ahLst/>
            <a:cxnLst/>
            <a:rect l="l" t="t" r="r" b="b"/>
            <a:pathLst>
              <a:path w="95250" h="476250">
                <a:moveTo>
                  <a:pt x="9525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rgbClr val="E8A87C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17" name="Line 17"/>
          <p:cNvSpPr/>
          <p:nvPr/>
        </p:nvSpPr>
        <p:spPr>
          <a:xfrm>
            <a:off x="3238500" y="2286000"/>
            <a:ext cx="476250" cy="238125"/>
          </a:xfrm>
          <a:custGeom>
            <a:avLst/>
            <a:gdLst/>
            <a:ahLst/>
            <a:cxnLst/>
            <a:rect l="l" t="t" r="r" b="b"/>
            <a:pathLst>
              <a:path w="476250" h="238125">
                <a:moveTo>
                  <a:pt x="0" y="0"/>
                </a:moveTo>
                <a:lnTo>
                  <a:pt x="476250" y="238125"/>
                </a:lnTo>
              </a:path>
            </a:pathLst>
          </a:custGeom>
          <a:noFill/>
          <a:ln w="14288">
            <a:solidFill>
              <a:srgbClr val="E8A87C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18" name="Line 18"/>
          <p:cNvSpPr/>
          <p:nvPr/>
        </p:nvSpPr>
        <p:spPr>
          <a:xfrm>
            <a:off x="3143250" y="2333625"/>
            <a:ext cx="142875" cy="1095375"/>
          </a:xfrm>
          <a:custGeom>
            <a:avLst/>
            <a:gdLst/>
            <a:ahLst/>
            <a:cxnLst/>
            <a:rect l="l" t="t" r="r" b="b"/>
            <a:pathLst>
              <a:path w="142875" h="1095375">
                <a:moveTo>
                  <a:pt x="0" y="0"/>
                </a:moveTo>
                <a:lnTo>
                  <a:pt x="142875" y="1095375"/>
                </a:lnTo>
              </a:path>
            </a:pathLst>
          </a:custGeom>
          <a:noFill/>
          <a:ln w="14288">
            <a:solidFill>
              <a:srgbClr val="E8A87C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19" name="Ellipse 19"/>
          <p:cNvSpPr/>
          <p:nvPr/>
        </p:nvSpPr>
        <p:spPr>
          <a:xfrm>
            <a:off x="5295900" y="4343400"/>
            <a:ext cx="457200" cy="457200"/>
          </a:xfrm>
          <a:prstGeom prst="ellipse">
            <a:avLst/>
          </a:prstGeom>
          <a:solidFill>
            <a:srgbClr val="8B6F47">
              <a:alpha val="15000"/>
            </a:srgbClr>
          </a:solidFill>
          <a:ln w="14288">
            <a:solidFill>
              <a:srgbClr val="8B6F4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337691" y="45077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汽车</a:t>
            </a:r>
          </a:p>
        </p:txBody>
      </p:sp>
      <p:sp>
        <p:nvSpPr>
          <p:cNvPr id="21" name="Ellipse 21"/>
          <p:cNvSpPr/>
          <p:nvPr/>
        </p:nvSpPr>
        <p:spPr>
          <a:xfrm>
            <a:off x="4724400" y="5105400"/>
            <a:ext cx="457200" cy="457200"/>
          </a:xfrm>
          <a:prstGeom prst="ellipse">
            <a:avLst/>
          </a:prstGeom>
          <a:solidFill>
            <a:srgbClr val="8B6F47">
              <a:alpha val="15000"/>
            </a:srgbClr>
          </a:solidFill>
          <a:ln w="14288">
            <a:solidFill>
              <a:srgbClr val="8B6F47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766191" y="52697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卡车</a:t>
            </a:r>
          </a:p>
        </p:txBody>
      </p:sp>
      <p:sp>
        <p:nvSpPr>
          <p:cNvPr id="23" name="Ellipse 23"/>
          <p:cNvSpPr/>
          <p:nvPr/>
        </p:nvSpPr>
        <p:spPr>
          <a:xfrm>
            <a:off x="5962650" y="4914900"/>
            <a:ext cx="457200" cy="457200"/>
          </a:xfrm>
          <a:prstGeom prst="ellipse">
            <a:avLst/>
          </a:prstGeom>
          <a:solidFill>
            <a:srgbClr val="8B6F47">
              <a:alpha val="15000"/>
            </a:srgbClr>
          </a:solidFill>
          <a:ln w="14288">
            <a:solidFill>
              <a:srgbClr val="8B6F47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004441" y="50792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公交</a:t>
            </a:r>
          </a:p>
        </p:txBody>
      </p:sp>
      <p:sp>
        <p:nvSpPr>
          <p:cNvPr id="25" name="Line 25"/>
          <p:cNvSpPr/>
          <p:nvPr/>
        </p:nvSpPr>
        <p:spPr>
          <a:xfrm>
            <a:off x="5048250" y="4762500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428625" y="0"/>
                </a:moveTo>
                <a:lnTo>
                  <a:pt x="0" y="428625"/>
                </a:lnTo>
              </a:path>
            </a:pathLst>
          </a:custGeom>
          <a:noFill/>
          <a:ln w="14288">
            <a:solidFill>
              <a:srgbClr val="8B6F47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26" name="Line 26"/>
          <p:cNvSpPr/>
          <p:nvPr/>
        </p:nvSpPr>
        <p:spPr>
          <a:xfrm>
            <a:off x="5667375" y="4762500"/>
            <a:ext cx="428625" cy="238125"/>
          </a:xfrm>
          <a:custGeom>
            <a:avLst/>
            <a:gdLst/>
            <a:ahLst/>
            <a:cxnLst/>
            <a:rect l="l" t="t" r="r" b="b"/>
            <a:pathLst>
              <a:path w="428625" h="238125">
                <a:moveTo>
                  <a:pt x="0" y="0"/>
                </a:moveTo>
                <a:lnTo>
                  <a:pt x="428625" y="238125"/>
                </a:lnTo>
              </a:path>
            </a:pathLst>
          </a:custGeom>
          <a:noFill/>
          <a:ln w="14288">
            <a:solidFill>
              <a:srgbClr val="8B6F47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27" name="Line 27"/>
          <p:cNvSpPr/>
          <p:nvPr/>
        </p:nvSpPr>
        <p:spPr>
          <a:xfrm>
            <a:off x="5143500" y="5191125"/>
            <a:ext cx="857250" cy="142875"/>
          </a:xfrm>
          <a:custGeom>
            <a:avLst/>
            <a:gdLst/>
            <a:ahLst/>
            <a:cxnLst/>
            <a:rect l="l" t="t" r="r" b="b"/>
            <a:pathLst>
              <a:path w="857250" h="142875">
                <a:moveTo>
                  <a:pt x="0" y="142875"/>
                </a:moveTo>
                <a:lnTo>
                  <a:pt x="857250" y="0"/>
                </a:lnTo>
              </a:path>
            </a:pathLst>
          </a:custGeom>
          <a:noFill/>
          <a:ln w="14288">
            <a:solidFill>
              <a:srgbClr val="8B6F47">
                <a:alpha val="50000"/>
              </a:srgbClr>
            </a:solidFill>
            <a:custDash>
              <a:ds d="200000" sp="200000"/>
            </a:custDash>
          </a:ln>
        </p:spPr>
      </p:sp>
      <p:sp>
        <p:nvSpPr>
          <p:cNvPr id="28" name="Line 28"/>
          <p:cNvSpPr/>
          <p:nvPr/>
        </p:nvSpPr>
        <p:spPr>
          <a:xfrm>
            <a:off x="2809875" y="2333625"/>
            <a:ext cx="142875" cy="476250"/>
          </a:xfrm>
          <a:custGeom>
            <a:avLst/>
            <a:gdLst/>
            <a:ahLst/>
            <a:cxnLst/>
            <a:rect l="l" t="t" r="r" b="b"/>
            <a:pathLst>
              <a:path w="142875" h="476250">
                <a:moveTo>
                  <a:pt x="0" y="476250"/>
                </a:moveTo>
                <a:lnTo>
                  <a:pt x="142875" y="0"/>
                </a:lnTo>
              </a:path>
            </a:pathLst>
          </a:custGeom>
          <a:noFill/>
          <a:ln w="23812">
            <a:solidFill>
              <a:srgbClr val="8FBC8F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2428875" y="2457450"/>
            <a:ext cx="381000" cy="209550"/>
          </a:xfrm>
          <a:prstGeom prst="roundRect">
            <a:avLst>
              <a:gd name="adj" fmla="val 50000"/>
            </a:avLst>
          </a:prstGeom>
          <a:solidFill>
            <a:srgbClr val="8FBC8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538936" y="2503170"/>
            <a:ext cx="160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近</a:t>
            </a:r>
          </a:p>
        </p:txBody>
      </p:sp>
      <p:sp>
        <p:nvSpPr>
          <p:cNvPr id="31" name="Line 31"/>
          <p:cNvSpPr/>
          <p:nvPr/>
        </p:nvSpPr>
        <p:spPr>
          <a:xfrm>
            <a:off x="2857500" y="3095625"/>
            <a:ext cx="2476500" cy="1381125"/>
          </a:xfrm>
          <a:custGeom>
            <a:avLst/>
            <a:gdLst/>
            <a:ahLst/>
            <a:cxnLst/>
            <a:rect l="l" t="t" r="r" b="b"/>
            <a:pathLst>
              <a:path w="2476500" h="1381125">
                <a:moveTo>
                  <a:pt x="0" y="0"/>
                </a:moveTo>
                <a:lnTo>
                  <a:pt x="2476500" y="1381125"/>
                </a:lnTo>
              </a:path>
            </a:pathLst>
          </a:custGeom>
          <a:noFill/>
          <a:ln w="23812">
            <a:solidFill>
              <a:srgbClr val="D4837F"/>
            </a:solidFill>
            <a:prstDash val="lgDash"/>
          </a:ln>
        </p:spPr>
      </p:sp>
      <p:sp>
        <p:nvSpPr>
          <p:cNvPr id="32" name="Rectangle 32"/>
          <p:cNvSpPr/>
          <p:nvPr/>
        </p:nvSpPr>
        <p:spPr>
          <a:xfrm>
            <a:off x="3857625" y="3667125"/>
            <a:ext cx="381000" cy="209550"/>
          </a:xfrm>
          <a:prstGeom prst="roundRect">
            <a:avLst>
              <a:gd name="adj" fmla="val 50000"/>
            </a:avLst>
          </a:prstGeom>
          <a:solidFill>
            <a:srgbClr val="D4837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967686" y="3712845"/>
            <a:ext cx="160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远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7239000" y="1333500"/>
            <a:ext cx="4381500" cy="2857500"/>
            <a:chOff x="7239000" y="1333500"/>
            <a:chExt cx="4381500" cy="2857500"/>
          </a:xfrm>
        </p:grpSpPr>
        <p:sp>
          <p:nvSpPr>
            <p:cNvPr id="34" name="Rectangle 34"/>
            <p:cNvSpPr/>
            <p:nvPr/>
          </p:nvSpPr>
          <p:spPr>
            <a:xfrm>
              <a:off x="7239000" y="1333500"/>
              <a:ext cx="4381500" cy="952500"/>
            </a:xfrm>
            <a:prstGeom prst="roundRect">
              <a:avLst>
                <a:gd name="adj" fmla="val 12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7448550" y="14763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核心思想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53312" y="1764506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把文本映射成高维空间中的坐标点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53312" y="197405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语义越接近的词，空间距离越近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39000" y="2476500"/>
              <a:ext cx="4381500" cy="952500"/>
            </a:xfrm>
            <a:prstGeom prst="roundRect">
              <a:avLst>
                <a:gd name="adj" fmla="val 12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39" name="TextBox 39"/>
            <p:cNvSpPr txBox="1"/>
            <p:nvPr/>
          </p:nvSpPr>
          <p:spPr>
            <a:xfrm>
              <a:off x="7448550" y="26193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实际应用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53312" y="2907506"/>
              <a:ext cx="31668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语义搜索：不靠关键词匹配，靠"意思接近"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53312" y="3117056"/>
              <a:ext cx="23206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是 RAG（检索增强生成）的基础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239000" y="3619500"/>
              <a:ext cx="4381500" cy="5715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53312" y="3736181"/>
              <a:ext cx="23576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实际维度：1536 维（OpenAI）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55218" y="3942874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这里简化为 2 维方便理解</a:t>
              </a:r>
            </a:p>
          </p:txBody>
        </p:sp>
      </p:grpSp>
      <p:sp>
        <p:nvSpPr>
          <p:cNvPr id="46" name="Rectangle 46"/>
          <p:cNvSpPr/>
          <p:nvPr/>
        </p:nvSpPr>
        <p:spPr>
          <a:xfrm>
            <a:off x="7239000" y="4762500"/>
            <a:ext cx="4381500" cy="762000"/>
          </a:xfrm>
          <a:prstGeom prst="roundRect">
            <a:avLst>
              <a:gd name="adj" fmla="val 15000"/>
            </a:avLst>
          </a:prstGeom>
          <a:solidFill>
            <a:srgbClr val="8B6F47"/>
          </a:solidFill>
          <a:ln>
            <a:noFill/>
          </a:ln>
          <a:effectLst>
            <a:outerShdw blurRad="76200" dist="28575" dir="5400000" algn="ctr" rotWithShape="0">
              <a:srgbClr val="5D4E37">
                <a:alpha val="6000"/>
              </a:srgbClr>
            </a:outerShdw>
          </a:effectLst>
        </p:spPr>
      </p:sp>
      <p:sp>
        <p:nvSpPr>
          <p:cNvPr id="47" name="TextBox 47"/>
          <p:cNvSpPr txBox="1"/>
          <p:nvPr/>
        </p:nvSpPr>
        <p:spPr>
          <a:xfrm>
            <a:off x="8225747" y="4958239"/>
            <a:ext cx="24080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Token 是识别文字的"编号"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820033" y="5215414"/>
            <a:ext cx="321943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Embedding 是给编号赋予"语义坐标"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07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419766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Context — 大模型没有记忆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54355" y="759142"/>
            <a:ext cx="4779645" cy="5098733"/>
            <a:chOff x="554355" y="759142"/>
            <a:chExt cx="4779645" cy="5098733"/>
          </a:xfrm>
        </p:grpSpPr>
        <p:sp>
          <p:nvSpPr>
            <p:cNvPr id="6" name="TextBox 6"/>
            <p:cNvSpPr txBox="1"/>
            <p:nvPr/>
          </p:nvSpPr>
          <p:spPr>
            <a:xfrm>
              <a:off x="554355" y="759142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每轮对话，前端都重发全部历史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095375"/>
              <a:ext cx="4762500" cy="1047750"/>
            </a:xfrm>
            <a:prstGeom prst="roundRect">
              <a:avLst>
                <a:gd name="adj" fmla="val 9091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1992" y="119967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第一轮请求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14375" y="1381125"/>
              <a:ext cx="4476750" cy="285750"/>
            </a:xfrm>
            <a:prstGeom prst="roundRect">
              <a:avLst>
                <a:gd name="adj" fmla="val 16667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74470"/>
              <a:ext cx="23165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user: "帮我写一个Python的快速排序"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2286000"/>
              <a:ext cx="4762500" cy="1524000"/>
            </a:xfrm>
            <a:prstGeom prst="roundRect">
              <a:avLst>
                <a:gd name="adj" fmla="val 625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1992" y="23902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第二轮请求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14375" y="2571750"/>
              <a:ext cx="4476750" cy="266700"/>
            </a:xfrm>
            <a:prstGeom prst="roundRect">
              <a:avLst>
                <a:gd name="adj" fmla="val 1785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9148" y="2654141"/>
              <a:ext cx="17439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user: "帮我写快速排序" ← 重发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14375" y="2876550"/>
              <a:ext cx="4476750" cy="266700"/>
            </a:xfrm>
            <a:prstGeom prst="roundRect">
              <a:avLst>
                <a:gd name="adj" fmla="val 1785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9148" y="2958941"/>
              <a:ext cx="226811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assistant: "def quick_sort..." ← 重发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14375" y="3181350"/>
              <a:ext cx="4476750" cy="266700"/>
            </a:xfrm>
            <a:prstGeom prst="roundRect">
              <a:avLst>
                <a:gd name="adj" fmla="val 17857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8195" y="3255645"/>
              <a:ext cx="21654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user: "把它改成降序排列" ← 新消息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" y="3952875"/>
              <a:ext cx="4762500" cy="1905000"/>
            </a:xfrm>
            <a:prstGeom prst="roundRect">
              <a:avLst>
                <a:gd name="adj" fmla="val 5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1992" y="4057174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第三轮请求（更长）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14375" y="4238625"/>
              <a:ext cx="4476750" cy="228600"/>
            </a:xfrm>
            <a:prstGeom prst="roundRect">
              <a:avLst>
                <a:gd name="adj" fmla="val 1666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0100" y="4310062"/>
              <a:ext cx="158543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user: "帮我写快速排序" ← 重发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14375" y="4505325"/>
              <a:ext cx="4476750" cy="228600"/>
            </a:xfrm>
            <a:prstGeom prst="roundRect">
              <a:avLst>
                <a:gd name="adj" fmla="val 1666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0100" y="4576762"/>
              <a:ext cx="20619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assistant: "def quick_sort..." ← 重发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14375" y="4772025"/>
              <a:ext cx="4476750" cy="228600"/>
            </a:xfrm>
            <a:prstGeom prst="roundRect">
              <a:avLst>
                <a:gd name="adj" fmla="val 1666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0100" y="4843462"/>
              <a:ext cx="12568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user: "改成降序" ← 重发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14375" y="5038725"/>
              <a:ext cx="4476750" cy="228600"/>
            </a:xfrm>
            <a:prstGeom prst="roundRect">
              <a:avLst>
                <a:gd name="adj" fmla="val 1666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0100" y="5110162"/>
              <a:ext cx="193047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A89B8C"/>
                  </a:solidFill>
                  <a:latin typeface="Consolas"/>
                  <a:ea typeface="Microsoft YaHei"/>
                  <a:cs typeface="Consolas"/>
                </a:rPr>
                <a:t>assistant: "改为降序版本..." ← 重发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14375" y="5305425"/>
              <a:ext cx="4476750" cy="228600"/>
            </a:xfrm>
            <a:prstGeom prst="roundRect">
              <a:avLst>
                <a:gd name="adj" fmla="val 16667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9148" y="5368766"/>
              <a:ext cx="18644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user: "再加个去重功能" ← 新消息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905500" y="904875"/>
            <a:ext cx="5715000" cy="1909763"/>
            <a:chOff x="5905500" y="904875"/>
            <a:chExt cx="5715000" cy="1909763"/>
          </a:xfrm>
        </p:grpSpPr>
        <p:sp>
          <p:nvSpPr>
            <p:cNvPr id="32" name="Rectangle 32"/>
            <p:cNvSpPr/>
            <p:nvPr/>
          </p:nvSpPr>
          <p:spPr>
            <a:xfrm>
              <a:off x="5905500" y="904875"/>
              <a:ext cx="5715000" cy="1905000"/>
            </a:xfrm>
            <a:prstGeom prst="roundRect">
              <a:avLst>
                <a:gd name="adj" fmla="val 8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60265" y="1076325"/>
              <a:ext cx="30054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Context Window 上下文窗口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41693" y="1343978"/>
              <a:ext cx="22426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模型一次能"读"的最大 Token 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96000" y="1619250"/>
              <a:ext cx="1666875" cy="523875"/>
            </a:xfrm>
            <a:prstGeom prst="roundRect">
              <a:avLst>
                <a:gd name="adj" fmla="val 14545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17918" y="1733074"/>
              <a:ext cx="413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Qwen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05680" y="1902142"/>
              <a:ext cx="4379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128K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924800" y="1619250"/>
              <a:ext cx="1666875" cy="523875"/>
            </a:xfrm>
            <a:prstGeom prst="roundRect">
              <a:avLst>
                <a:gd name="adj" fmla="val 14545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03912" y="1733074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GPT-4o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44005" y="1902142"/>
              <a:ext cx="4379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128K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763125" y="1619250"/>
              <a:ext cx="1666875" cy="523875"/>
            </a:xfrm>
            <a:prstGeom prst="roundRect">
              <a:avLst>
                <a:gd name="adj" fmla="val 14545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351402" y="173307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Claude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46927" y="1902142"/>
              <a:ext cx="4897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200K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39464" y="2391728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128K Token ≈ 10万汉字（但中间部分会被忽略）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17424" y="2601278"/>
              <a:ext cx="38911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⚠️ Lost in the Middle：开头结尾记得清，中间容易忘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905500" y="2952750"/>
            <a:ext cx="5715000" cy="2857500"/>
            <a:chOff x="5905500" y="2952750"/>
            <a:chExt cx="5715000" cy="2857500"/>
          </a:xfrm>
        </p:grpSpPr>
        <p:sp>
          <p:nvSpPr>
            <p:cNvPr id="47" name="Rectangle 47"/>
            <p:cNvSpPr/>
            <p:nvPr/>
          </p:nvSpPr>
          <p:spPr>
            <a:xfrm>
              <a:off x="5905500" y="2952750"/>
              <a:ext cx="5715000" cy="2857500"/>
            </a:xfrm>
            <a:prstGeom prst="roundRect">
              <a:avLst>
                <a:gd name="adj" fmla="val 5333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14259" y="3124200"/>
              <a:ext cx="30974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KV Cache — 为什么越聊越慢？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6465570" y="3339941"/>
              <a:ext cx="3630930" cy="2263140"/>
              <a:chOff x="6465570" y="3339941"/>
              <a:chExt cx="3630930" cy="2263140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6465570" y="3379470"/>
                <a:ext cx="57492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显存占用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6858000" y="5000625"/>
                <a:ext cx="4762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962295" y="4863941"/>
                <a:ext cx="26766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~1GB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947083" y="5435441"/>
                <a:ext cx="29808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第1轮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7524750" y="4619625"/>
                <a:ext cx="476250" cy="762000"/>
              </a:xfrm>
              <a:prstGeom prst="roundRect">
                <a:avLst>
                  <a:gd name="adj" fmla="val 8000"/>
                </a:avLst>
              </a:prstGeom>
              <a:solidFill>
                <a:srgbClr val="E8A87C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613230" y="4482941"/>
                <a:ext cx="29929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~3GB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598771" y="5435441"/>
                <a:ext cx="32820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第3轮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8191500" y="4143375"/>
                <a:ext cx="476250" cy="1238250"/>
              </a:xfrm>
              <a:prstGeom prst="roundRect">
                <a:avLst>
                  <a:gd name="adj" fmla="val 8000"/>
                </a:avLst>
              </a:prstGeom>
              <a:solidFill>
                <a:srgbClr val="E8A87C">
                  <a:alpha val="60000"/>
                </a:srgbClr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279980" y="4006691"/>
                <a:ext cx="29929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~8GB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265521" y="5435441"/>
                <a:ext cx="32820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第5轮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8858250" y="3762375"/>
                <a:ext cx="476250" cy="1619250"/>
              </a:xfrm>
              <a:prstGeom prst="roundRect">
                <a:avLst>
                  <a:gd name="adj" fmla="val 8000"/>
                </a:avLst>
              </a:prstGeom>
              <a:solidFill>
                <a:srgbClr val="E8A87C">
                  <a:alpha val="80000"/>
                </a:srgbClr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927753" y="3625691"/>
                <a:ext cx="3372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~15GB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932271" y="5435441"/>
                <a:ext cx="32820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第8轮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9525000" y="3476625"/>
                <a:ext cx="476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D4837F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9578688" y="3339941"/>
                <a:ext cx="36887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>20GB+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572362" y="5435441"/>
                <a:ext cx="38152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第10轮</a:t>
                </a:r>
              </a:p>
            </p:txBody>
          </p:sp>
          <p:sp>
            <p:nvSpPr>
              <p:cNvPr id="65" name="Line 65"/>
              <p:cNvSpPr/>
              <p:nvPr/>
            </p:nvSpPr>
            <p:spPr>
              <a:xfrm>
                <a:off x="6762750" y="5381625"/>
                <a:ext cx="3333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9525">
                    <a:moveTo>
                      <a:pt x="0" y="0"/>
                    </a:moveTo>
                    <a:lnTo>
                      <a:pt x="3333750" y="0"/>
                    </a:lnTo>
                  </a:path>
                </a:pathLst>
              </a:custGeom>
              <a:noFill/>
              <a:ln w="14288">
                <a:solidFill>
                  <a:srgbClr val="EDE5D5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077432" y="5562124"/>
              <a:ext cx="33711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70B 模型 + 128K Context → KV Cache 占几十 GB 显存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0896124" y="65622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08-09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1" grpId="0"/>
      <p:bldP spid="46" grpId="0"/>
      <p:bldP spid="68" grpId="0"/>
      <p:bldP spid="6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545707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Prompt — 你怎么问，决定它怎么答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71500" y="904875"/>
            <a:ext cx="3429000" cy="5048250"/>
            <a:chOff x="571500" y="904875"/>
            <a:chExt cx="3429000" cy="5048250"/>
          </a:xfrm>
        </p:grpSpPr>
        <p:sp>
          <p:nvSpPr>
            <p:cNvPr id="6" name="Rectangle 6"/>
            <p:cNvSpPr/>
            <p:nvPr/>
          </p:nvSpPr>
          <p:spPr>
            <a:xfrm>
              <a:off x="571500" y="904875"/>
              <a:ext cx="3429000" cy="5048250"/>
            </a:xfrm>
            <a:prstGeom prst="roundRect">
              <a:avLst>
                <a:gd name="adj" fmla="val 3889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78831" y="1092518"/>
              <a:ext cx="1214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模糊 vs 精确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14375" y="1428750"/>
              <a:ext cx="3143250" cy="1047750"/>
            </a:xfrm>
            <a:prstGeom prst="roundRect">
              <a:avLst>
                <a:gd name="adj" fmla="val 7273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4868" y="1542574"/>
              <a:ext cx="4508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❌ 模糊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915" y="1744028"/>
              <a:ext cx="1422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"帮我写个排序算法"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5820" y="1998345"/>
              <a:ext cx="19748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B8C"/>
                  </a:solidFill>
                  <a:latin typeface="Arial"/>
                  <a:ea typeface="Microsoft YaHei"/>
                  <a:cs typeface="Arial"/>
                </a:rPr>
                <a:t>→ 冒泡？插入？解释什么是排序？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5820" y="218884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B8C"/>
                  </a:solidFill>
                  <a:latin typeface="Arial"/>
                  <a:ea typeface="Microsoft YaHei"/>
                  <a:cs typeface="Arial"/>
                </a:rPr>
                <a:t>→ 不确定，看它心情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14375" y="2619375"/>
              <a:ext cx="3143250" cy="1238250"/>
            </a:xfrm>
            <a:prstGeom prst="roundRect">
              <a:avLst>
                <a:gd name="adj" fmla="val 6154"/>
              </a:avLst>
            </a:prstGeom>
            <a:solidFill>
              <a:srgbClr val="8FBC8F">
                <a:alpha val="12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4868" y="2733199"/>
              <a:ext cx="4508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✅ 精确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2963228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"用 Python 实现快速排序"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3172778"/>
              <a:ext cx="1975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"输入整数列表，原地排序"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915" y="3382328"/>
              <a:ext cx="18059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"返回升序，O(n log n)"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5820" y="3636645"/>
              <a:ext cx="17119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→ 约束条件越多，结果越确定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4375" y="4048125"/>
              <a:ext cx="3143250" cy="571500"/>
            </a:xfrm>
            <a:prstGeom prst="roundRect">
              <a:avLst>
                <a:gd name="adj" fmla="val 133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19896" y="4172902"/>
              <a:ext cx="15322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Prompt Engineering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0178" y="439864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把需求说得更精确、更结构化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286250" y="904875"/>
            <a:ext cx="3429000" cy="5048250"/>
            <a:chOff x="4286250" y="904875"/>
            <a:chExt cx="3429000" cy="5048250"/>
          </a:xfrm>
        </p:grpSpPr>
        <p:sp>
          <p:nvSpPr>
            <p:cNvPr id="23" name="Rectangle 23"/>
            <p:cNvSpPr/>
            <p:nvPr/>
          </p:nvSpPr>
          <p:spPr>
            <a:xfrm>
              <a:off x="4286250" y="904875"/>
              <a:ext cx="3429000" cy="5048250"/>
            </a:xfrm>
            <a:prstGeom prst="roundRect">
              <a:avLst>
                <a:gd name="adj" fmla="val 3889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58827" y="1092518"/>
              <a:ext cx="20838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Few-shot 少样本学习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33975" y="13234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给几个示范，它就能照着来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429125" y="1619250"/>
              <a:ext cx="3143250" cy="1714500"/>
            </a:xfrm>
            <a:prstGeom prst="roundRect">
              <a:avLst>
                <a:gd name="adj" fmla="val 4444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59618" y="1752124"/>
              <a:ext cx="16481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中文：你好 → 英文：Hello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59618" y="2018824"/>
              <a:ext cx="19969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中文：谢谢 → 英文：Thank you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524375" y="2238375"/>
              <a:ext cx="2952750" cy="9525"/>
            </a:xfrm>
            <a:prstGeom prst="rect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58665" y="2363152"/>
              <a:ext cx="15000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中文：再见 → 英文：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56760" y="2632710"/>
              <a:ext cx="8953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Goodbye 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60570" y="295084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模型看到模式，自动补全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429125" y="3524250"/>
              <a:ext cx="3143250" cy="476250"/>
            </a:xfrm>
            <a:prstGeom prst="roundRect">
              <a:avLst>
                <a:gd name="adj" fmla="val 16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186340" y="3629978"/>
              <a:ext cx="1628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0 个例子 = Zero-shot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14518" y="3801428"/>
              <a:ext cx="15724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N 个例子 = Few-shot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429125" y="4191000"/>
              <a:ext cx="3143250" cy="476250"/>
            </a:xfrm>
            <a:prstGeom prst="roundRect">
              <a:avLst>
                <a:gd name="adj" fmla="val 16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42058" y="4371499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无需训练，只需在 Prompt 里给示例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001000" y="904875"/>
            <a:ext cx="3619500" cy="5048250"/>
            <a:chOff x="8001000" y="904875"/>
            <a:chExt cx="3619500" cy="5048250"/>
          </a:xfrm>
        </p:grpSpPr>
        <p:sp>
          <p:nvSpPr>
            <p:cNvPr id="39" name="Rectangle 39"/>
            <p:cNvSpPr/>
            <p:nvPr/>
          </p:nvSpPr>
          <p:spPr>
            <a:xfrm>
              <a:off x="8001000" y="904875"/>
              <a:ext cx="3619500" cy="5048250"/>
            </a:xfrm>
            <a:prstGeom prst="roundRect">
              <a:avLst>
                <a:gd name="adj" fmla="val 3684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81216" y="1092518"/>
              <a:ext cx="10590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CoT 思维链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21653" y="1323499"/>
              <a:ext cx="11781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让模型"一步步想"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143875" y="1619250"/>
              <a:ext cx="3333750" cy="762000"/>
            </a:xfrm>
            <a:prstGeom prst="roundRect">
              <a:avLst>
                <a:gd name="adj" fmla="val 1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74368" y="1733074"/>
              <a:ext cx="6004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❌ 直接问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74368" y="1942624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"30人班级，男比女多6，男几人？"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75320" y="2141220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B8C"/>
                  </a:solidFill>
                  <a:latin typeface="Arial"/>
                  <a:ea typeface="Microsoft YaHei"/>
                  <a:cs typeface="Arial"/>
                </a:rPr>
                <a:t>→ 模型直接猜一个数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143875" y="2524125"/>
              <a:ext cx="3333750" cy="1524000"/>
            </a:xfrm>
            <a:prstGeom prst="roundRect">
              <a:avLst>
                <a:gd name="adj" fmla="val 5000"/>
              </a:avLst>
            </a:prstGeom>
            <a:solidFill>
              <a:srgbClr val="8FBC8F">
                <a:alpha val="1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74368" y="2637949"/>
              <a:ext cx="16619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✅ 加一句"请一步步思考"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75320" y="2884170"/>
              <a:ext cx="10481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设女生 x，男 x+6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75320" y="3074670"/>
              <a:ext cx="903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x + (x+6) = 30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75320" y="3265170"/>
              <a:ext cx="9101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2x = 24, x = 12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74368" y="3447574"/>
              <a:ext cx="749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男生 = 18 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75320" y="376047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推理比猜测容易得多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143875" y="4238625"/>
              <a:ext cx="3333750" cy="666750"/>
            </a:xfrm>
            <a:prstGeom prst="roundRect">
              <a:avLst>
                <a:gd name="adj" fmla="val 11429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29030" y="4297680"/>
              <a:ext cx="8584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17.7%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11981" y="4425315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93775" y="4297680"/>
              <a:ext cx="93895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78.7%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06790" y="46734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直接回答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02158" y="4673441"/>
              <a:ext cx="3221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+ CoT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82755" y="4911566"/>
              <a:ext cx="12559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GSM8K 数学推理数据集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10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2" grpId="0"/>
      <p:bldP spid="38" grpId="0"/>
      <p:bldP spid="60" grpId="0"/>
      <p:bldP spid="6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75755" y="1358265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C4956A">
                    <a:alphaMod val="15000"/>
                  </a:srgbClr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50421" y="2089785"/>
            <a:ext cx="309115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System Prompt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97235" y="2584132"/>
            <a:ext cx="25975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给模型一份"内部手册"</a:t>
            </a:r>
          </a:p>
        </p:txBody>
      </p:sp>
      <p:sp>
        <p:nvSpPr>
          <p:cNvPr id="7" name="Rectangle 7"/>
          <p:cNvSpPr/>
          <p:nvPr/>
        </p:nvSpPr>
        <p:spPr>
          <a:xfrm>
            <a:off x="5334000" y="2905125"/>
            <a:ext cx="1524000" cy="28575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890296" y="3378518"/>
            <a:ext cx="4411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在 messages 数组最前面，设定模型的角色和规矩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02931" y="3664268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用户看不到，但模型每次回答都会遵守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238500" y="4095750"/>
            <a:ext cx="5715000" cy="1238250"/>
          </a:xfrm>
          <a:prstGeom prst="roundRect">
            <a:avLst>
              <a:gd name="adj" fmla="val 9231"/>
            </a:avLst>
          </a:prstGeom>
          <a:solidFill>
            <a:srgbClr val="FAF7F2"/>
          </a:solidFill>
          <a:ln w="14288">
            <a:solidFill>
              <a:srgbClr val="EDE5D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416618" y="42571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7D6B"/>
                </a:solidFill>
                <a:latin typeface="Consolas"/>
                <a:ea typeface="Microsoft YaHei"/>
                <a:cs typeface="Consolas"/>
              </a:rPr>
              <a:t>messages: [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07118" y="4466749"/>
            <a:ext cx="13405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E8A87C"/>
                </a:solidFill>
                <a:latin typeface="Consolas"/>
                <a:ea typeface="Microsoft YaHei"/>
                <a:cs typeface="Consolas"/>
              </a:rPr>
              <a:t>{ role: "system",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97618" y="4657249"/>
            <a:ext cx="18617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4E37"/>
                </a:solidFill>
                <a:latin typeface="Consolas"/>
                <a:ea typeface="Microsoft YaHei"/>
                <a:cs typeface="Consolas"/>
              </a:rPr>
              <a:t>content: "你是智能客服...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97618" y="4847749"/>
            <a:ext cx="23102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D4E37"/>
                </a:solidFill>
                <a:latin typeface="Consolas"/>
                <a:ea typeface="Microsoft YaHei"/>
                <a:cs typeface="Consolas"/>
              </a:rPr>
              <a:t>规则：语气友好、不讨论竞品..." }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07118" y="5085874"/>
            <a:ext cx="23173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7D6B"/>
                </a:solidFill>
                <a:latin typeface="Consolas"/>
                <a:ea typeface="Microsoft YaHei"/>
                <a:cs typeface="Consolas"/>
              </a:rPr>
              <a:t>{ role: "user", content: "..." }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238500" y="5619750"/>
            <a:ext cx="5715000" cy="523875"/>
          </a:xfrm>
          <a:prstGeom prst="roundRect">
            <a:avLst>
              <a:gd name="adj" fmla="val 18182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762070" y="5728335"/>
            <a:ext cx="4667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技术上：System Prompt 和 User Prompt 没有本质区别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39564" y="5954078"/>
            <a:ext cx="43128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DE5D5"/>
                </a:solidFill>
                <a:latin typeface="Arial"/>
                <a:ea typeface="Microsoft YaHei"/>
                <a:cs typeface="Arial"/>
              </a:rPr>
              <a:t>都是 Token，都进入同一个 Context Window，只是优先级更高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02281" y="656224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11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638869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Context Engineering — 2026 年最热技能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952500"/>
            <a:ext cx="5143500" cy="4572000"/>
            <a:chOff x="571500" y="952500"/>
            <a:chExt cx="5143500" cy="4572000"/>
          </a:xfrm>
        </p:grpSpPr>
        <p:sp>
          <p:nvSpPr>
            <p:cNvPr id="6" name="Rectangle 6"/>
            <p:cNvSpPr/>
            <p:nvPr/>
          </p:nvSpPr>
          <p:spPr>
            <a:xfrm>
              <a:off x="571500" y="952500"/>
              <a:ext cx="5143500" cy="4572000"/>
            </a:xfrm>
            <a:prstGeom prst="roundRect">
              <a:avLst>
                <a:gd name="adj" fmla="val 3333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39372" y="1155382"/>
              <a:ext cx="24077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Prompt Engineering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39829" y="145827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手动想好怎么问问题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57250" y="1809750"/>
              <a:ext cx="4572000" cy="476250"/>
            </a:xfrm>
            <a:prstGeom prst="roundRect">
              <a:avLst>
                <a:gd name="adj" fmla="val 16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00914" y="1974056"/>
              <a:ext cx="30846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你手动写："请帮我 Review 这段代码..."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57250" y="2428875"/>
              <a:ext cx="4572000" cy="476250"/>
            </a:xfrm>
            <a:prstGeom prst="roundRect">
              <a:avLst>
                <a:gd name="adj" fmla="val 16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88450" y="2593181"/>
              <a:ext cx="25095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你手动复制代码粘贴到 Prompt 里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57250" y="3048000"/>
              <a:ext cx="4572000" cy="476250"/>
            </a:xfrm>
            <a:prstGeom prst="roundRect">
              <a:avLst>
                <a:gd name="adj" fmla="val 16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254032" y="3212306"/>
              <a:ext cx="17784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你手动附加编码规范...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" y="3810000"/>
              <a:ext cx="4572000" cy="571500"/>
            </a:xfrm>
            <a:prstGeom prst="roundRect">
              <a:avLst>
                <a:gd name="adj" fmla="val 13333"/>
              </a:avLst>
            </a:prstGeom>
            <a:solidFill>
              <a:srgbClr val="D4837F">
                <a:alpha val="1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60129" y="3926681"/>
              <a:ext cx="23662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整个代码仓库塞不进 128K 窗口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91678" y="415242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塞进去了，模型也关注不到关键部分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7250" y="4667250"/>
              <a:ext cx="4572000" cy="476250"/>
            </a:xfrm>
            <a:prstGeom prst="roundRect">
              <a:avLst>
                <a:gd name="adj" fmla="val 16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451815" y="4831556"/>
              <a:ext cx="13828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= 教你怎么问问题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86500" y="952500"/>
            <a:ext cx="5334000" cy="4572000"/>
            <a:chOff x="6286500" y="952500"/>
            <a:chExt cx="5334000" cy="4572000"/>
          </a:xfrm>
        </p:grpSpPr>
        <p:sp>
          <p:nvSpPr>
            <p:cNvPr id="21" name="Rectangle 21"/>
            <p:cNvSpPr/>
            <p:nvPr/>
          </p:nvSpPr>
          <p:spPr>
            <a:xfrm>
              <a:off x="6286500" y="952500"/>
              <a:ext cx="5334000" cy="4572000"/>
            </a:xfrm>
            <a:prstGeom prst="roundRect">
              <a:avLst>
                <a:gd name="adj" fmla="val 3333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05342" y="1155382"/>
              <a:ext cx="24963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Context Engineering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78841" y="1458278"/>
              <a:ext cx="25493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设计系统，自动给 AI 恰好够用的信息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572250" y="1809750"/>
              <a:ext cx="4762500" cy="457200"/>
            </a:xfrm>
            <a:prstGeom prst="roundRect">
              <a:avLst>
                <a:gd name="adj" fmla="val 16667"/>
              </a:avLst>
            </a:prstGeom>
            <a:solidFill>
              <a:srgbClr val="8FBC8F">
                <a:alpha val="12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97040" y="1972628"/>
              <a:ext cx="20474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① 自动检测 PR 改了哪些文件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572250" y="2381250"/>
              <a:ext cx="4762500" cy="457200"/>
            </a:xfrm>
            <a:prstGeom prst="roundRect">
              <a:avLst>
                <a:gd name="adj" fmla="val 16667"/>
              </a:avLst>
            </a:prstGeom>
            <a:solidFill>
              <a:srgbClr val="8FBC8F">
                <a:alpha val="12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97040" y="2544128"/>
              <a:ext cx="17737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② 只拉取这些文件的内容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72250" y="2952750"/>
              <a:ext cx="4762500" cy="457200"/>
            </a:xfrm>
            <a:prstGeom prst="roundRect">
              <a:avLst>
                <a:gd name="adj" fmla="val 16667"/>
              </a:avLst>
            </a:prstGeom>
            <a:solidFill>
              <a:srgbClr val="8FBC8F">
                <a:alpha val="12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97040" y="3115628"/>
              <a:ext cx="1451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③ 附上项目编码规范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72250" y="3524250"/>
              <a:ext cx="4762500" cy="457200"/>
            </a:xfrm>
            <a:prstGeom prst="roundRect">
              <a:avLst>
                <a:gd name="adj" fmla="val 16667"/>
              </a:avLst>
            </a:prstGeom>
            <a:solidFill>
              <a:srgbClr val="8FBC8F">
                <a:alpha val="12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97040" y="3687128"/>
              <a:ext cx="20716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④ 加上相关历史 Review 记录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72250" y="4191000"/>
              <a:ext cx="4762500" cy="476250"/>
            </a:xfrm>
            <a:prstGeom prst="roundRect">
              <a:avLst>
                <a:gd name="adj" fmla="val 16000"/>
              </a:avLst>
            </a:prstGeom>
            <a:solidFill>
              <a:srgbClr val="E8A87C">
                <a:alpha val="15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03283" y="4355306"/>
              <a:ext cx="19004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不多也不少，恰好够用 ✓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72250" y="4857750"/>
              <a:ext cx="4762500" cy="476250"/>
            </a:xfrm>
            <a:prstGeom prst="roundRect">
              <a:avLst>
                <a:gd name="adj" fmla="val 16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91944" y="5022056"/>
              <a:ext cx="23231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= 教你怎么给 AI 搭建信息环境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12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0" grpId="0"/>
      <p:bldP spid="36" grpId="0"/>
      <p:bldP spid="3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274848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RAG + 向量数据库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2040" y="648652"/>
            <a:ext cx="44225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让 AI 先查资料，再回答 · Retrieval-Augmented Generation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71500" y="1143000"/>
            <a:ext cx="3238500" cy="4191000"/>
            <a:chOff x="571500" y="1143000"/>
            <a:chExt cx="3238500" cy="4191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3238500" cy="4191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8" name="Ellipse 8"/>
            <p:cNvSpPr/>
            <p:nvPr/>
          </p:nvSpPr>
          <p:spPr>
            <a:xfrm>
              <a:off x="1962150" y="1295400"/>
              <a:ext cx="457200" cy="4572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137196" y="1428750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16763" y="1774508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建库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57250" y="21907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58098" y="2345531"/>
              <a:ext cx="8653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📄 收集文档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57250" y="27432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28394" y="2897981"/>
              <a:ext cx="21247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✂️ 切成小段（~500字/段）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" y="32956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95802" y="3450431"/>
              <a:ext cx="15898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🔢 Embedding 转向量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7250" y="38481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E8A87C">
                <a:alpha val="15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51872" y="4002881"/>
              <a:ext cx="14777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🗄️ 存入向量数据库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6740" y="4474845"/>
              <a:ext cx="2448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Pinecone · Milvus · Weaviate · Chroma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57250" y="4762500"/>
              <a:ext cx="2667000" cy="38100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5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56977" y="4895374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靠向量距离搜索，不靠关键词匹配</a:t>
              </a:r>
            </a:p>
          </p:txBody>
        </p:sp>
      </p:grpSp>
      <p:sp>
        <p:nvSpPr>
          <p:cNvPr id="23" name="Line 23"/>
          <p:cNvSpPr/>
          <p:nvPr/>
        </p:nvSpPr>
        <p:spPr>
          <a:xfrm>
            <a:off x="4000500" y="3238500"/>
            <a:ext cx="381000" cy="1"/>
          </a:xfrm>
          <a:prstGeom prst="line">
            <a:avLst/>
          </a:prstGeom>
          <a:noFill/>
          <a:ln w="28575">
            <a:solidFill>
              <a:srgbClr val="E8A87C"/>
            </a:solidFill>
            <a:tailEnd type="triangle" w="lg" len="lg"/>
          </a:ln>
        </p:spPr>
      </p:sp>
      <p:grpSp>
        <p:nvGrpSpPr>
          <p:cNvPr id="39" name="Group 39"/>
          <p:cNvGrpSpPr/>
          <p:nvPr/>
        </p:nvGrpSpPr>
        <p:grpSpPr>
          <a:xfrm>
            <a:off x="4476750" y="1143000"/>
            <a:ext cx="3238500" cy="4191000"/>
            <a:chOff x="4476750" y="1143000"/>
            <a:chExt cx="3238500" cy="4191000"/>
          </a:xfrm>
        </p:grpSpPr>
        <p:sp>
          <p:nvSpPr>
            <p:cNvPr id="24" name="Rectangle 24"/>
            <p:cNvSpPr/>
            <p:nvPr/>
          </p:nvSpPr>
          <p:spPr>
            <a:xfrm>
              <a:off x="4476750" y="1143000"/>
              <a:ext cx="3238500" cy="4191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25" name="Ellipse 25"/>
            <p:cNvSpPr/>
            <p:nvPr/>
          </p:nvSpPr>
          <p:spPr>
            <a:xfrm>
              <a:off x="5867400" y="1295400"/>
              <a:ext cx="457200" cy="4572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13692" y="142875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22013" y="1774508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762500" y="21907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63348" y="2345531"/>
              <a:ext cx="8653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❓ 用户提问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762500" y="27432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90826" y="2897981"/>
              <a:ext cx="12103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🔢 问题也转向量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762500" y="32956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04565" y="3450431"/>
              <a:ext cx="13828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🔍 在向量库中搜索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762500" y="38481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E8A87C">
                <a:alpha val="15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01853" y="4002881"/>
              <a:ext cx="17882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📑 返回 Top-K 相关文档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762500" y="4476750"/>
              <a:ext cx="2667000" cy="666750"/>
            </a:xfrm>
            <a:prstGeom prst="roundRect">
              <a:avLst>
                <a:gd name="adj" fmla="val 11429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93945" y="4598670"/>
              <a:ext cx="11664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"Q3 退货率是多少"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93945" y="4808220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→ 语义匹配 → 找到相关段落</a:t>
              </a:r>
            </a:p>
          </p:txBody>
        </p:sp>
      </p:grpSp>
      <p:sp>
        <p:nvSpPr>
          <p:cNvPr id="40" name="Line 40"/>
          <p:cNvSpPr/>
          <p:nvPr/>
        </p:nvSpPr>
        <p:spPr>
          <a:xfrm>
            <a:off x="7905750" y="3238500"/>
            <a:ext cx="381000" cy="1"/>
          </a:xfrm>
          <a:prstGeom prst="line">
            <a:avLst/>
          </a:prstGeom>
          <a:noFill/>
          <a:ln w="28575">
            <a:solidFill>
              <a:srgbClr val="E8A87C"/>
            </a:solidFill>
            <a:tailEnd type="triangle" w="lg" len="lg"/>
          </a:ln>
        </p:spPr>
      </p:sp>
      <p:grpSp>
        <p:nvGrpSpPr>
          <p:cNvPr id="56" name="Group 56"/>
          <p:cNvGrpSpPr/>
          <p:nvPr/>
        </p:nvGrpSpPr>
        <p:grpSpPr>
          <a:xfrm>
            <a:off x="8382000" y="1143000"/>
            <a:ext cx="3238500" cy="4191000"/>
            <a:chOff x="8382000" y="1143000"/>
            <a:chExt cx="3238500" cy="4191000"/>
          </a:xfrm>
        </p:grpSpPr>
        <p:sp>
          <p:nvSpPr>
            <p:cNvPr id="41" name="Rectangle 41"/>
            <p:cNvSpPr/>
            <p:nvPr/>
          </p:nvSpPr>
          <p:spPr>
            <a:xfrm>
              <a:off x="8382000" y="1143000"/>
              <a:ext cx="3238500" cy="4191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42" name="Ellipse 42"/>
            <p:cNvSpPr/>
            <p:nvPr/>
          </p:nvSpPr>
          <p:spPr>
            <a:xfrm>
              <a:off x="9772650" y="1295400"/>
              <a:ext cx="457200" cy="4572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918942" y="142875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27263" y="1774508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生成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667750" y="21907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23555" y="2345531"/>
              <a:ext cx="15553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📑 检索文档 + ❓ 问题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667750" y="27432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83137" y="2897981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🤖 一起发给 LLM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667750" y="32956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F5F0E8"/>
            </a:solidFill>
            <a:ln w="9525">
              <a:solidFill>
                <a:srgbClr val="EDE5D5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23555" y="3450431"/>
              <a:ext cx="15553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📝 基于参考资料回答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667750" y="38481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8FBC8F">
                <a:alpha val="15000"/>
              </a:srgbClr>
            </a:solidFill>
            <a:ln w="14288">
              <a:solidFill>
                <a:srgbClr val="8FBC8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051033" y="4002881"/>
              <a:ext cx="19004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💬 准确、有据可查的回答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667750" y="4476750"/>
              <a:ext cx="2667000" cy="666750"/>
            </a:xfrm>
            <a:prstGeom prst="roundRect">
              <a:avLst>
                <a:gd name="adj" fmla="val 11429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106330" y="4601528"/>
              <a:ext cx="1789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RAG = 搜索引擎 + 大模型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69705" y="4836795"/>
              <a:ext cx="1863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搜索找资料，大模型翻译成人话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5619750"/>
            <a:ext cx="3333750" cy="476250"/>
            <a:chOff x="571500" y="5619750"/>
            <a:chExt cx="3333750" cy="476250"/>
          </a:xfrm>
        </p:grpSpPr>
        <p:sp>
          <p:nvSpPr>
            <p:cNvPr id="57" name="Rectangle 57"/>
            <p:cNvSpPr/>
            <p:nvPr/>
          </p:nvSpPr>
          <p:spPr>
            <a:xfrm>
              <a:off x="571500" y="5619750"/>
              <a:ext cx="3333750" cy="4762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673546" y="5715952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解决知识截止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685687" y="591169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可实时检索最新信息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191000" y="5619750"/>
            <a:ext cx="3333750" cy="476250"/>
            <a:chOff x="4191000" y="5619750"/>
            <a:chExt cx="3333750" cy="476250"/>
          </a:xfrm>
        </p:grpSpPr>
        <p:sp>
          <p:nvSpPr>
            <p:cNvPr id="61" name="Rectangle 61"/>
            <p:cNvSpPr/>
            <p:nvPr/>
          </p:nvSpPr>
          <p:spPr>
            <a:xfrm>
              <a:off x="4191000" y="5619750"/>
              <a:ext cx="3333750" cy="4762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454066" y="5715952"/>
              <a:ext cx="8076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减少幻觉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124450" y="591169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基于真实文档回答，不编造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810500" y="5619750"/>
            <a:ext cx="3810000" cy="476250"/>
            <a:chOff x="7810500" y="5619750"/>
            <a:chExt cx="3810000" cy="476250"/>
          </a:xfrm>
        </p:grpSpPr>
        <p:sp>
          <p:nvSpPr>
            <p:cNvPr id="65" name="Rectangle 65"/>
            <p:cNvSpPr/>
            <p:nvPr/>
          </p:nvSpPr>
          <p:spPr>
            <a:xfrm>
              <a:off x="7810500" y="5619750"/>
              <a:ext cx="3810000" cy="4762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50671" y="5715952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注入私有知识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075456" y="5911691"/>
              <a:ext cx="128008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企业文档变成 AI 知识库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13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91882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08+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9675" y="280988"/>
            <a:ext cx="312803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RAG vs Fine-tuning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857250"/>
            <a:ext cx="5143500" cy="5048250"/>
            <a:chOff x="571500" y="857250"/>
            <a:chExt cx="5143500" cy="5048250"/>
          </a:xfrm>
        </p:grpSpPr>
        <p:sp>
          <p:nvSpPr>
            <p:cNvPr id="6" name="Rectangle 6"/>
            <p:cNvSpPr/>
            <p:nvPr/>
          </p:nvSpPr>
          <p:spPr>
            <a:xfrm>
              <a:off x="571500" y="857250"/>
              <a:ext cx="5143500" cy="5048250"/>
            </a:xfrm>
            <a:prstGeom prst="roundRect">
              <a:avLst>
                <a:gd name="adj" fmla="val 3019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857250"/>
              <a:ext cx="5143500" cy="571500"/>
            </a:xfrm>
            <a:prstGeom prst="roundRect">
              <a:avLst>
                <a:gd name="adj" fmla="val 26667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143500" cy="190500"/>
            </a:xfrm>
            <a:prstGeom prst="rect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92662" y="1024890"/>
              <a:ext cx="50117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RAG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89511" y="1438275"/>
              <a:ext cx="230747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📖 开卷考试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87463" y="20450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给你参考资料，照着回答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2476500"/>
              <a:ext cx="4572000" cy="1524000"/>
            </a:xfrm>
            <a:prstGeom prst="roundRect">
              <a:avLst>
                <a:gd name="adj" fmla="val 6250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32510" y="26327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优点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3462" y="2907506"/>
              <a:ext cx="21809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成本低（不需要 GPU 训练）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3462" y="3164681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随时更新资料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462" y="342185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有引用来源，可追溯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679031"/>
              <a:ext cx="8254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减少幻觉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7250" y="4143375"/>
              <a:ext cx="4572000" cy="762000"/>
            </a:xfrm>
            <a:prstGeom prst="roundRect">
              <a:avLst>
                <a:gd name="adj" fmla="val 12500"/>
              </a:avLst>
            </a:prstGeom>
            <a:solidFill>
              <a:srgbClr val="D4837F">
                <a:alpha val="8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2510" y="42519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缺点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462" y="4526756"/>
              <a:ext cx="20659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⚠️ 回答稍慢（需要先检索）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4736306"/>
              <a:ext cx="19016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⚠️ 检索质量影响回答质量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7250" y="5143500"/>
              <a:ext cx="4572000" cy="4762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74668" y="5307806"/>
              <a:ext cx="27371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2025-2026 企业 AI 落地最多的场景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86500" y="857250"/>
            <a:ext cx="5143500" cy="5048250"/>
            <a:chOff x="6286500" y="857250"/>
            <a:chExt cx="5143500" cy="5048250"/>
          </a:xfrm>
        </p:grpSpPr>
        <p:sp>
          <p:nvSpPr>
            <p:cNvPr id="25" name="Rectangle 25"/>
            <p:cNvSpPr/>
            <p:nvPr/>
          </p:nvSpPr>
          <p:spPr>
            <a:xfrm>
              <a:off x="6286500" y="857250"/>
              <a:ext cx="5143500" cy="5048250"/>
            </a:xfrm>
            <a:prstGeom prst="roundRect">
              <a:avLst>
                <a:gd name="adj" fmla="val 3019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86500" y="857250"/>
              <a:ext cx="5143500" cy="571500"/>
            </a:xfrm>
            <a:prstGeom prst="roundRect">
              <a:avLst>
                <a:gd name="adj" fmla="val 26667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1238250"/>
              <a:ext cx="5143500" cy="190500"/>
            </a:xfrm>
            <a:prstGeom prst="rect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69394" y="1024890"/>
              <a:ext cx="157771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Fine-tuning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04511" y="1438275"/>
              <a:ext cx="230747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🎓 上课学习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91924" y="2045018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用你的数据训练，知识烧进权重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72250" y="2476500"/>
              <a:ext cx="4572000" cy="1143000"/>
            </a:xfrm>
            <a:prstGeom prst="roundRect">
              <a:avLst>
                <a:gd name="adj" fmla="val 8333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47510" y="26327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优点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48462" y="2907506"/>
              <a:ext cx="13183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回答更快更自然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48462" y="3164681"/>
              <a:ext cx="1975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学会行业术语和表达风格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48462" y="3421856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模型内化知识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72250" y="3762375"/>
              <a:ext cx="4572000" cy="1143000"/>
            </a:xfrm>
            <a:prstGeom prst="roundRect">
              <a:avLst>
                <a:gd name="adj" fmla="val 8333"/>
              </a:avLst>
            </a:prstGeom>
            <a:solidFill>
              <a:srgbClr val="D4837F">
                <a:alpha val="8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47510" y="38709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缺点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8462" y="4145756"/>
              <a:ext cx="21070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⚠️ 成本高（需要 GPU 训练）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48462" y="4402931"/>
              <a:ext cx="1737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⚠️ 更新知识得重新训练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48462" y="4660106"/>
              <a:ext cx="10801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⚠️ 可能过拟合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3429000" y="6096000"/>
            <a:ext cx="5334000" cy="428625"/>
          </a:xfrm>
          <a:prstGeom prst="roundRect">
            <a:avLst>
              <a:gd name="adj" fmla="val 22222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4153119" y="6233160"/>
            <a:ext cx="38857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实际项目：Fine-tuning 学风格 + RAG 提供事实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14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619891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Tool / Function Calling — 从会说到能做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71500" y="857250"/>
            <a:ext cx="11334750" cy="2667000"/>
            <a:chOff x="571500" y="857250"/>
            <a:chExt cx="11334750" cy="2667000"/>
          </a:xfrm>
        </p:grpSpPr>
        <p:sp>
          <p:nvSpPr>
            <p:cNvPr id="6" name="Rectangle 6"/>
            <p:cNvSpPr/>
            <p:nvPr/>
          </p:nvSpPr>
          <p:spPr>
            <a:xfrm>
              <a:off x="571500" y="857250"/>
              <a:ext cx="2476500" cy="2667000"/>
            </a:xfrm>
            <a:prstGeom prst="roundRect">
              <a:avLst>
                <a:gd name="adj" fmla="val 5385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600200" y="981075"/>
              <a:ext cx="419100" cy="4191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61551" y="1111568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6464" y="1442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用户提问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14375" y="1714500"/>
              <a:ext cx="2190750" cy="762000"/>
            </a:xfrm>
            <a:prstGeom prst="roundRect">
              <a:avLst>
                <a:gd name="adj" fmla="val 75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17583" y="1855470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user: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7057" y="2037874"/>
              <a:ext cx="1385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"北京今天多少度？"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14375" y="2571750"/>
              <a:ext cx="2190750" cy="666750"/>
            </a:xfrm>
            <a:prstGeom prst="roundRect">
              <a:avLst>
                <a:gd name="adj" fmla="val 8571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31179" y="2720816"/>
              <a:ext cx="5571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tools: [{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60669" y="2882741"/>
              <a:ext cx="12981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name: "get_weather"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33002" y="3044666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}]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143250" y="2190750"/>
              <a:ext cx="285750" cy="1"/>
            </a:xfrm>
            <a:prstGeom prst="line">
              <a:avLst/>
            </a:prstGeom>
            <a:noFill/>
            <a:ln w="28575">
              <a:solidFill>
                <a:srgbClr val="E8A87C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524250" y="857250"/>
              <a:ext cx="2476500" cy="2667000"/>
            </a:xfrm>
            <a:prstGeom prst="roundRect">
              <a:avLst>
                <a:gd name="adj" fmla="val 5385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552950" y="981075"/>
              <a:ext cx="419100" cy="4191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8423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87202" y="14420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模型调工具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67125" y="1714500"/>
              <a:ext cx="2190750" cy="1524000"/>
            </a:xfrm>
            <a:prstGeom prst="roundRect">
              <a:avLst>
                <a:gd name="adj" fmla="val 375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10729" y="1855470"/>
              <a:ext cx="903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tool_calls: [{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57668" y="2085499"/>
              <a:ext cx="16096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name: "get_weather"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21214" y="2323624"/>
              <a:ext cx="14825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args: {city:"北京"}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78775" y="25698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}]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29992" y="2998470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输出结构化调用指令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68010" y="3188970"/>
              <a:ext cx="988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不是文字回答！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096000" y="2190750"/>
              <a:ext cx="285750" cy="1"/>
            </a:xfrm>
            <a:prstGeom prst="line">
              <a:avLst/>
            </a:prstGeom>
            <a:noFill/>
            <a:ln w="28575">
              <a:solidFill>
                <a:srgbClr val="E8A87C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7000" y="857250"/>
              <a:ext cx="2476500" cy="2667000"/>
            </a:xfrm>
            <a:prstGeom prst="roundRect">
              <a:avLst>
                <a:gd name="adj" fmla="val 5385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505700" y="981075"/>
              <a:ext cx="419100" cy="4191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41173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31964" y="1442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程序执行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19875" y="1714500"/>
              <a:ext cx="2190750" cy="952500"/>
            </a:xfrm>
            <a:prstGeom prst="roundRect">
              <a:avLst>
                <a:gd name="adj" fmla="val 6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35152" y="18869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你的程序真正去查天气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41150" y="2188845"/>
              <a:ext cx="1948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→ {temp:28, condition:"晴"}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19875" y="2762250"/>
              <a:ext cx="2190750" cy="476250"/>
            </a:xfrm>
            <a:prstGeom prst="roundRect">
              <a:avLst>
                <a:gd name="adj" fmla="val 12000"/>
              </a:avLst>
            </a:prstGeom>
            <a:solidFill>
              <a:srgbClr val="8FBC8F">
                <a:alpha val="15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79552" y="2942749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结果喂回给模型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9048750" y="2190750"/>
              <a:ext cx="285750" cy="1"/>
            </a:xfrm>
            <a:prstGeom prst="line">
              <a:avLst/>
            </a:prstGeom>
            <a:noFill/>
            <a:ln w="28575">
              <a:solidFill>
                <a:srgbClr val="E8A87C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429750" y="857250"/>
              <a:ext cx="2476500" cy="2667000"/>
            </a:xfrm>
            <a:prstGeom prst="roundRect">
              <a:avLst>
                <a:gd name="adj" fmla="val 5385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0458450" y="981075"/>
              <a:ext cx="419100" cy="4191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593923" y="11115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84714" y="1442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生成回答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572625" y="1714500"/>
              <a:ext cx="2190750" cy="952500"/>
            </a:xfrm>
            <a:prstGeom prst="roundRect">
              <a:avLst>
                <a:gd name="adj" fmla="val 6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959313" y="1926431"/>
              <a:ext cx="14173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"北京今天 28°C，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22409" y="21455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天气晴朗，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79278" y="2364581"/>
              <a:ext cx="9774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湿度 45%。"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14823" y="29427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基于真实数据的回答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71500" y="3905250"/>
            <a:ext cx="10858500" cy="2000250"/>
            <a:chOff x="571500" y="3905250"/>
            <a:chExt cx="10858500" cy="2000250"/>
          </a:xfrm>
        </p:grpSpPr>
        <p:sp>
          <p:nvSpPr>
            <p:cNvPr id="50" name="Rectangle 50"/>
            <p:cNvSpPr/>
            <p:nvPr/>
          </p:nvSpPr>
          <p:spPr>
            <a:xfrm>
              <a:off x="571500" y="3905250"/>
              <a:ext cx="10858500" cy="2000250"/>
            </a:xfrm>
            <a:prstGeom prst="roundRect">
              <a:avLst>
                <a:gd name="adj" fmla="val 6667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049458" y="4076700"/>
              <a:ext cx="39025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模型怎么学会调工具？→ SFT 指令微调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57250" y="4429125"/>
              <a:ext cx="4953000" cy="1238250"/>
            </a:xfrm>
            <a:prstGeom prst="roundRect">
              <a:avLst>
                <a:gd name="adj" fmla="val 6154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723293" y="454294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训练数据格式示例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272" y="4768691"/>
              <a:ext cx="18463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user: "北京和上海温度差多少？"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7272" y="4940141"/>
              <a:ext cx="28928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assistant: tool_calls: [get_weather("北京"),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7272" y="5111591"/>
              <a:ext cx="14126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get_weather("上海")]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7272" y="5283041"/>
              <a:ext cx="20391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tool: {temp:28}, tool: {temp:32}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37272" y="5454491"/>
              <a:ext cx="17319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assistant: "上海比北京高4度"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096000" y="4429125"/>
              <a:ext cx="5048250" cy="1238250"/>
            </a:xfrm>
            <a:prstGeom prst="roundRect">
              <a:avLst>
                <a:gd name="adj" fmla="val 6154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549143" y="4545806"/>
              <a:ext cx="21419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模型通过 SFT 学会三件事：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62712" y="4831556"/>
              <a:ext cx="15553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① 什么时候该调工具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02742" y="50572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（而不是自己瞎编）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62712" y="5260181"/>
              <a:ext cx="12103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② 该调哪个工具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702742" y="548592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（从候选列表里选最合适的）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15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49" grpId="0"/>
      <p:bldP spid="65" grpId="0"/>
      <p:bldP spid="6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357659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MCP — AI 世界的 USB-C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71500" y="857250"/>
            <a:ext cx="5048250" cy="4762500"/>
            <a:chOff x="571500" y="857250"/>
            <a:chExt cx="5048250" cy="4762500"/>
          </a:xfrm>
        </p:grpSpPr>
        <p:sp>
          <p:nvSpPr>
            <p:cNvPr id="6" name="Rectangle 6"/>
            <p:cNvSpPr/>
            <p:nvPr/>
          </p:nvSpPr>
          <p:spPr>
            <a:xfrm>
              <a:off x="571500" y="857250"/>
              <a:ext cx="5048250" cy="4762500"/>
            </a:xfrm>
            <a:prstGeom prst="roundRect">
              <a:avLst>
                <a:gd name="adj" fmla="val 3200"/>
              </a:avLst>
            </a:prstGeom>
            <a:solidFill>
              <a:srgbClr val="FAF7F2"/>
            </a:solidFill>
            <a:ln w="19050">
              <a:solidFill>
                <a:srgbClr val="D4837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79150" y="1028700"/>
              <a:ext cx="28329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❌ 没有 MCP：N×M 适配地狱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25868" y="1418749"/>
              <a:ext cx="4957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AI 应用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16192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1137" y="1712595"/>
              <a:ext cx="554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ChatGPT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8120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6344" y="2074545"/>
              <a:ext cx="443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Claude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3431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5704" y="2436495"/>
              <a:ext cx="2850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Kimi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70510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7398" y="2798445"/>
              <a:ext cx="3817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Qwen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0670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12956" y="3160395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...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809750" y="1771650"/>
              <a:ext cx="2381250" cy="38100"/>
            </a:xfrm>
            <a:custGeom>
              <a:avLst/>
              <a:gdLst/>
              <a:ahLst/>
              <a:cxnLst/>
              <a:rect l="l" t="t" r="r" b="b"/>
              <a:pathLst>
                <a:path w="2381250" h="38100">
                  <a:moveTo>
                    <a:pt x="0" y="0"/>
                  </a:moveTo>
                  <a:lnTo>
                    <a:pt x="2381250" y="381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809750" y="1771650"/>
              <a:ext cx="2381250" cy="419100"/>
            </a:xfrm>
            <a:custGeom>
              <a:avLst/>
              <a:gdLst/>
              <a:ahLst/>
              <a:cxnLst/>
              <a:rect l="l" t="t" r="r" b="b"/>
              <a:pathLst>
                <a:path w="2381250" h="419100">
                  <a:moveTo>
                    <a:pt x="0" y="0"/>
                  </a:moveTo>
                  <a:lnTo>
                    <a:pt x="2381250" y="4191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809750" y="1771650"/>
              <a:ext cx="2381250" cy="800100"/>
            </a:xfrm>
            <a:custGeom>
              <a:avLst/>
              <a:gdLst/>
              <a:ahLst/>
              <a:cxnLst/>
              <a:rect l="l" t="t" r="r" b="b"/>
              <a:pathLst>
                <a:path w="2381250" h="800100">
                  <a:moveTo>
                    <a:pt x="0" y="0"/>
                  </a:moveTo>
                  <a:lnTo>
                    <a:pt x="2381250" y="8001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809750" y="1809750"/>
              <a:ext cx="2381250" cy="323850"/>
            </a:xfrm>
            <a:custGeom>
              <a:avLst/>
              <a:gdLst/>
              <a:ahLst/>
              <a:cxnLst/>
              <a:rect l="l" t="t" r="r" b="b"/>
              <a:pathLst>
                <a:path w="2381250" h="323850">
                  <a:moveTo>
                    <a:pt x="0" y="32385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809750" y="2133600"/>
              <a:ext cx="2381250" cy="57150"/>
            </a:xfrm>
            <a:custGeom>
              <a:avLst/>
              <a:gdLst/>
              <a:ahLst/>
              <a:cxnLst/>
              <a:rect l="l" t="t" r="r" b="b"/>
              <a:pathLst>
                <a:path w="2381250" h="57150">
                  <a:moveTo>
                    <a:pt x="0" y="0"/>
                  </a:moveTo>
                  <a:lnTo>
                    <a:pt x="2381250" y="5715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809750" y="2133600"/>
              <a:ext cx="2381250" cy="819150"/>
            </a:xfrm>
            <a:custGeom>
              <a:avLst/>
              <a:gdLst/>
              <a:ahLst/>
              <a:cxnLst/>
              <a:rect l="l" t="t" r="r" b="b"/>
              <a:pathLst>
                <a:path w="2381250" h="819150">
                  <a:moveTo>
                    <a:pt x="0" y="0"/>
                  </a:moveTo>
                  <a:lnTo>
                    <a:pt x="2381250" y="81915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809750" y="1809750"/>
              <a:ext cx="2381250" cy="685800"/>
            </a:xfrm>
            <a:custGeom>
              <a:avLst/>
              <a:gdLst/>
              <a:ahLst/>
              <a:cxnLst/>
              <a:rect l="l" t="t" r="r" b="b"/>
              <a:pathLst>
                <a:path w="2381250" h="685800">
                  <a:moveTo>
                    <a:pt x="0" y="68580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09750" y="249555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0" y="0"/>
                  </a:moveTo>
                  <a:lnTo>
                    <a:pt x="2381250" y="762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809750" y="2190750"/>
              <a:ext cx="2381250" cy="666750"/>
            </a:xfrm>
            <a:custGeom>
              <a:avLst/>
              <a:gdLst/>
              <a:ahLst/>
              <a:cxnLst/>
              <a:rect l="l" t="t" r="r" b="b"/>
              <a:pathLst>
                <a:path w="2381250" h="666750">
                  <a:moveTo>
                    <a:pt x="0" y="66675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809750" y="2857500"/>
              <a:ext cx="2381250" cy="95250"/>
            </a:xfrm>
            <a:custGeom>
              <a:avLst/>
              <a:gdLst/>
              <a:ahLst/>
              <a:cxnLst/>
              <a:rect l="l" t="t" r="r" b="b"/>
              <a:pathLst>
                <a:path w="2381250" h="95250">
                  <a:moveTo>
                    <a:pt x="0" y="0"/>
                  </a:moveTo>
                  <a:lnTo>
                    <a:pt x="2381250" y="9525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54868" y="141874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工具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191000" y="16192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517803" y="17125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天气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191000" y="198120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17803" y="207454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日历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191000" y="23431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48794" y="243649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191000" y="270510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517803" y="279844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邮件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191000" y="30670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541956" y="3160395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...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7250" y="3619500"/>
              <a:ext cx="4476750" cy="476250"/>
            </a:xfrm>
            <a:prstGeom prst="roundRect">
              <a:avLst>
                <a:gd name="adj" fmla="val 16000"/>
              </a:avLst>
            </a:prstGeom>
            <a:solidFill>
              <a:srgbClr val="D4837F">
                <a:alpha val="1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126161" y="3711892"/>
              <a:ext cx="19389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10 × 20 = 200 次适配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46289" y="3922395"/>
              <a:ext cx="30986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每家格式还不一样：function / tool / 参数格式不同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045256" y="4347210"/>
              <a:ext cx="21007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就像 USB 接口混乱的年代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78794" y="4601528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每个手机一个充电口，出门得带一堆线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286500" y="857250"/>
            <a:ext cx="5334000" cy="4762500"/>
            <a:chOff x="6286500" y="857250"/>
            <a:chExt cx="5334000" cy="4762500"/>
          </a:xfrm>
        </p:grpSpPr>
        <p:sp>
          <p:nvSpPr>
            <p:cNvPr id="46" name="Rectangle 46"/>
            <p:cNvSpPr/>
            <p:nvPr/>
          </p:nvSpPr>
          <p:spPr>
            <a:xfrm>
              <a:off x="6286500" y="857250"/>
              <a:ext cx="5334000" cy="4762500"/>
            </a:xfrm>
            <a:prstGeom prst="roundRect">
              <a:avLst>
                <a:gd name="adj" fmla="val 3200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37025" y="1028700"/>
              <a:ext cx="28329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✅ 有了 MCP：N+M 星型拓扑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77000" y="1619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76137" y="1712595"/>
              <a:ext cx="554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ChatGPT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77000" y="2000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1344" y="2093595"/>
              <a:ext cx="443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Claude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77000" y="2381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10704" y="2474595"/>
              <a:ext cx="2850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Kimi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77000" y="2762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2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62398" y="2855595"/>
              <a:ext cx="3817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Qwen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7524750" y="1762125"/>
              <a:ext cx="857250" cy="571500"/>
            </a:xfrm>
            <a:custGeom>
              <a:avLst/>
              <a:gdLst/>
              <a:ahLst/>
              <a:cxnLst/>
              <a:rect l="l" t="t" r="r" b="b"/>
              <a:pathLst>
                <a:path w="857250" h="571500">
                  <a:moveTo>
                    <a:pt x="0" y="0"/>
                  </a:moveTo>
                  <a:lnTo>
                    <a:pt x="857250" y="57150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524750" y="2143125"/>
              <a:ext cx="857250" cy="190500"/>
            </a:xfrm>
            <a:custGeom>
              <a:avLst/>
              <a:gdLst/>
              <a:ahLst/>
              <a:cxnLst/>
              <a:rect l="l" t="t" r="r" b="b"/>
              <a:pathLst>
                <a:path w="857250" h="190500">
                  <a:moveTo>
                    <a:pt x="0" y="0"/>
                  </a:moveTo>
                  <a:lnTo>
                    <a:pt x="857250" y="19050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7524750" y="2333625"/>
              <a:ext cx="857250" cy="190500"/>
            </a:xfrm>
            <a:custGeom>
              <a:avLst/>
              <a:gdLst/>
              <a:ahLst/>
              <a:cxnLst/>
              <a:rect l="l" t="t" r="r" b="b"/>
              <a:pathLst>
                <a:path w="857250" h="190500">
                  <a:moveTo>
                    <a:pt x="0" y="190500"/>
                  </a:moveTo>
                  <a:lnTo>
                    <a:pt x="857250" y="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7524750" y="2333625"/>
              <a:ext cx="857250" cy="571500"/>
            </a:xfrm>
            <a:custGeom>
              <a:avLst/>
              <a:gdLst/>
              <a:ahLst/>
              <a:cxnLst/>
              <a:rect l="l" t="t" r="r" b="b"/>
              <a:pathLst>
                <a:path w="857250" h="571500">
                  <a:moveTo>
                    <a:pt x="0" y="571500"/>
                  </a:moveTo>
                  <a:lnTo>
                    <a:pt x="857250" y="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8429625" y="1809750"/>
              <a:ext cx="1047750" cy="104775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744856" y="2121218"/>
              <a:ext cx="4172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MCP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02040" y="23874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统一协议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9525000" y="1762125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571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9525000" y="2143125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9525000" y="2333625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0"/>
                  </a:moveTo>
                  <a:lnTo>
                    <a:pt x="762000" y="19050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9525000" y="2333625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0"/>
                  </a:moveTo>
                  <a:lnTo>
                    <a:pt x="762000" y="57150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287000" y="1619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613803" y="17125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天气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287000" y="2000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613803" y="20935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日历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287000" y="2381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544794" y="247459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0287000" y="2762250"/>
              <a:ext cx="952500" cy="285750"/>
            </a:xfrm>
            <a:prstGeom prst="roundRect">
              <a:avLst>
                <a:gd name="adj" fmla="val 20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613803" y="28555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邮件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572250" y="3333750"/>
              <a:ext cx="4762500" cy="47625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15000"/>
              </a:srgbClr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040968" y="3473768"/>
              <a:ext cx="18250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10 + 20 = 30 次开发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570214" y="39662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三层架构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572250" y="4238625"/>
              <a:ext cx="142875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937825" y="4371499"/>
              <a:ext cx="6975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Host 应用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191500" y="4238625"/>
              <a:ext cx="142875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512220" y="4371499"/>
              <a:ext cx="787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Client 连接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810750" y="4238625"/>
              <a:ext cx="142875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094090" y="4371499"/>
              <a:ext cx="862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Server 工具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215574" y="483965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一次开发，处处运行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683484" y="5093970"/>
              <a:ext cx="2540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Claude · ChatGPT · Qwen · Kimi 都已支持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16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45" grpId="0"/>
      <p:bldP spid="86" grpId="0"/>
      <p:bldP spid="8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38745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466347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Agent — 让 AI 自己决定下一步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571625" y="1381125"/>
            <a:ext cx="4476750" cy="4476750"/>
            <a:chOff x="1571625" y="1381125"/>
            <a:chExt cx="4476750" cy="4476750"/>
          </a:xfrm>
        </p:grpSpPr>
        <p:sp>
          <p:nvSpPr>
            <p:cNvPr id="6" name="Ellipse 6"/>
            <p:cNvSpPr/>
            <p:nvPr/>
          </p:nvSpPr>
          <p:spPr>
            <a:xfrm>
              <a:off x="3333750" y="3143250"/>
              <a:ext cx="952500" cy="9525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3508194" y="3426142"/>
              <a:ext cx="603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ReAct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673007" y="3673316"/>
              <a:ext cx="2739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循环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3286125" y="1381125"/>
              <a:ext cx="1047750" cy="1047750"/>
            </a:xfrm>
            <a:prstGeom prst="ellipse">
              <a:avLst/>
            </a:prstGeom>
            <a:solidFill>
              <a:srgbClr val="E8A87C">
                <a:alpha val="20000"/>
              </a:srgbClr>
            </a:solidFill>
            <a:ln w="28575">
              <a:solidFill>
                <a:srgbClr val="E8A87C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3486521" y="1699260"/>
              <a:ext cx="6469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🧠 Think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48099" y="191404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思考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000625" y="3095625"/>
              <a:ext cx="1047750" cy="1047750"/>
            </a:xfrm>
            <a:prstGeom prst="ellipse">
              <a:avLst/>
            </a:prstGeom>
            <a:solidFill>
              <a:srgbClr val="E8A87C">
                <a:alpha val="20000"/>
              </a:srgbClr>
            </a:solidFill>
            <a:ln w="28575">
              <a:solidFill>
                <a:srgbClr val="E8A87C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5279231" y="3413760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⚡ Act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62599" y="36475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行动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3286125" y="4810125"/>
              <a:ext cx="1047750" cy="1047750"/>
            </a:xfrm>
            <a:prstGeom prst="ellipse">
              <a:avLst/>
            </a:prstGeom>
            <a:solidFill>
              <a:srgbClr val="E8A87C">
                <a:alpha val="20000"/>
              </a:srgbClr>
            </a:solidFill>
            <a:ln w="28575">
              <a:solidFill>
                <a:srgbClr val="E8A87C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3343904" y="5128260"/>
              <a:ext cx="9321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👁 Observe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8099" y="53620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观察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1571625" y="3095625"/>
              <a:ext cx="1047750" cy="1047750"/>
            </a:xfrm>
            <a:prstGeom prst="ellipse">
              <a:avLst/>
            </a:prstGeom>
            <a:solidFill>
              <a:srgbClr val="E8A87C">
                <a:alpha val="20000"/>
              </a:srgbClr>
            </a:solidFill>
            <a:ln w="28575">
              <a:solidFill>
                <a:srgbClr val="E8A87C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1822628" y="3413760"/>
              <a:ext cx="5457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📋 Plan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33599" y="36475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规划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4238625" y="2143125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0" y="0"/>
                  </a:moveTo>
                  <a:cubicBezTo>
                    <a:pt x="539750" y="158750"/>
                    <a:pt x="889000" y="508000"/>
                    <a:pt x="1047750" y="1047750"/>
                  </a:cubicBezTo>
                </a:path>
              </a:pathLst>
            </a:cu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22" name="Freeform 22"/>
            <p:cNvSpPr/>
            <p:nvPr/>
          </p:nvSpPr>
          <p:spPr>
            <a:xfrm>
              <a:off x="4238625" y="4048125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1047750" y="0"/>
                  </a:moveTo>
                  <a:cubicBezTo>
                    <a:pt x="889000" y="539750"/>
                    <a:pt x="539750" y="889000"/>
                    <a:pt x="0" y="1047750"/>
                  </a:cubicBezTo>
                </a:path>
              </a:pathLst>
            </a:cu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23" name="Freeform 23"/>
            <p:cNvSpPr/>
            <p:nvPr/>
          </p:nvSpPr>
          <p:spPr>
            <a:xfrm>
              <a:off x="2333625" y="4048125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1047750" y="1047750"/>
                  </a:moveTo>
                  <a:cubicBezTo>
                    <a:pt x="508000" y="889000"/>
                    <a:pt x="158750" y="539750"/>
                    <a:pt x="0" y="0"/>
                  </a:cubicBezTo>
                </a:path>
              </a:pathLst>
            </a:cu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24" name="Freeform 24"/>
            <p:cNvSpPr/>
            <p:nvPr/>
          </p:nvSpPr>
          <p:spPr>
            <a:xfrm>
              <a:off x="2333625" y="2143125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0" y="1047750"/>
                  </a:moveTo>
                  <a:cubicBezTo>
                    <a:pt x="158750" y="508000"/>
                    <a:pt x="508000" y="158750"/>
                    <a:pt x="1047750" y="0"/>
                  </a:cubicBezTo>
                </a:path>
              </a:pathLst>
            </a:cu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925509" y="1076325"/>
            <a:ext cx="5008482" cy="5495925"/>
            <a:chOff x="6925509" y="1076325"/>
            <a:chExt cx="5008482" cy="5495925"/>
          </a:xfrm>
        </p:grpSpPr>
        <p:sp>
          <p:nvSpPr>
            <p:cNvPr id="26" name="TextBox 26"/>
            <p:cNvSpPr txBox="1"/>
            <p:nvPr/>
          </p:nvSpPr>
          <p:spPr>
            <a:xfrm>
              <a:off x="7219950" y="10763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四个关键组件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39000" y="1476375"/>
              <a:ext cx="4381500" cy="571500"/>
            </a:xfrm>
            <a:prstGeom prst="roundRect">
              <a:avLst>
                <a:gd name="adj" fmla="val 1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28" name="Rectangle 28"/>
            <p:cNvSpPr/>
            <p:nvPr/>
          </p:nvSpPr>
          <p:spPr>
            <a:xfrm>
              <a:off x="7353300" y="1571625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28560" y="1604010"/>
              <a:ext cx="11714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Planning 规划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31418" y="1818799"/>
              <a:ext cx="26306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把大任务拆成小步骤 — 像项目经理做 WBS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239000" y="2190750"/>
              <a:ext cx="4381500" cy="571500"/>
            </a:xfrm>
            <a:prstGeom prst="roundRect">
              <a:avLst>
                <a:gd name="adj" fmla="val 1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32" name="Rectangle 32"/>
            <p:cNvSpPr/>
            <p:nvPr/>
          </p:nvSpPr>
          <p:spPr>
            <a:xfrm>
              <a:off x="7353300" y="2286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28560" y="23183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Memory 记忆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31418" y="2533174"/>
              <a:ext cx="2858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短期靠 Context Window，长期靠向量数据库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239000" y="2905125"/>
              <a:ext cx="4381500" cy="571500"/>
            </a:xfrm>
            <a:prstGeom prst="roundRect">
              <a:avLst>
                <a:gd name="adj" fmla="val 1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7353300" y="3000375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28560" y="3032760"/>
              <a:ext cx="11714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Tool Use 工具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31418" y="3247549"/>
              <a:ext cx="27873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Function Calling — 搜索、数据库、API 调用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0" y="3619500"/>
              <a:ext cx="4381500" cy="571500"/>
            </a:xfrm>
            <a:prstGeom prst="roundRect">
              <a:avLst>
                <a:gd name="adj" fmla="val 1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7353300" y="371475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28560" y="3747135"/>
              <a:ext cx="13738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Reflection 反思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31418" y="396192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检查结果对不对，不对就重来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239000" y="4476750"/>
              <a:ext cx="4381500" cy="523875"/>
            </a:xfrm>
            <a:prstGeom prst="roundRect">
              <a:avLst>
                <a:gd name="adj" fmla="val 18182"/>
              </a:avLst>
            </a:prstGeom>
            <a:solidFill>
              <a:srgbClr val="8B6F47"/>
            </a:solidFill>
            <a:ln>
              <a:noFill/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44" name="TextBox 44"/>
            <p:cNvSpPr txBox="1"/>
            <p:nvPr/>
          </p:nvSpPr>
          <p:spPr>
            <a:xfrm>
              <a:off x="6925509" y="4653439"/>
              <a:ext cx="50084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Agent = LLM + Planning + Memory + Tools + Reflection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239000" y="5238750"/>
              <a:ext cx="4381500" cy="1333500"/>
            </a:xfrm>
            <a:prstGeom prst="roundRect">
              <a:avLst>
                <a:gd name="adj" fmla="val 7143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  <a:effectLst>
              <a:outerShdw blurRad="76200" dist="28575" dir="5400000" algn="ctr" rotWithShape="0">
                <a:srgbClr val="5D4E37">
                  <a:alpha val="6000"/>
                </a:srgbClr>
              </a:outerShdw>
            </a:effectLst>
          </p:spPr>
        </p:sp>
        <p:sp>
          <p:nvSpPr>
            <p:cNvPr id="46" name="TextBox 46"/>
            <p:cNvSpPr txBox="1"/>
            <p:nvPr/>
          </p:nvSpPr>
          <p:spPr>
            <a:xfrm>
              <a:off x="7378065" y="539210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实际执行示例：调研竞品定价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79970" y="5636895"/>
              <a:ext cx="1665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1. Think: 需要搜索竞品官网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79970" y="5827395"/>
              <a:ext cx="20996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2. Act: web_search("竞品定价")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79970" y="6017895"/>
              <a:ext cx="16199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3. Observe: 5 个搜索结果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79970" y="6208395"/>
              <a:ext cx="24414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4. Think: 还需要打开官网看具体价格...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79970" y="6379845"/>
              <a:ext cx="22518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循环继续，直到信息充分 → 生成报告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17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5" grpId="0"/>
      <p:bldP spid="52" grpId="0"/>
      <p:bldP spid="5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839013" y="1263015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C4956A">
                    <a:alphaMod val="15000"/>
                  </a:srgbClr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28781" y="1994535"/>
            <a:ext cx="613443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Agent Skill — 给 AI 一本操作手册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0" y="2428875"/>
            <a:ext cx="2286000" cy="28575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467011" y="2664142"/>
            <a:ext cx="32579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封装最佳实践，让 Agent 有经验可用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43000" y="3143250"/>
            <a:ext cx="4191000" cy="2286000"/>
            <a:chOff x="1143000" y="3143250"/>
            <a:chExt cx="4191000" cy="2286000"/>
          </a:xfrm>
        </p:grpSpPr>
        <p:sp>
          <p:nvSpPr>
            <p:cNvPr id="8" name="Rectangle 8"/>
            <p:cNvSpPr/>
            <p:nvPr/>
          </p:nvSpPr>
          <p:spPr>
            <a:xfrm>
              <a:off x="1143000" y="3143250"/>
              <a:ext cx="4191000" cy="2286000"/>
            </a:xfrm>
            <a:prstGeom prst="roundRect">
              <a:avLst>
                <a:gd name="adj" fmla="val 5833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11482" y="329850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即兴发言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15268" y="3601402"/>
              <a:ext cx="10464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= 零散 Prompt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3905250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193727" y="4009549"/>
              <a:ext cx="20895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"帮我看下这个PR有没有bug..."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333500" y="4333875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03123" y="4438174"/>
              <a:ext cx="12707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"还有命名规范..."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4762500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60724" y="4866799"/>
              <a:ext cx="1555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"对了还有性能问题..."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03765" y="5181124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每次都从头想，每次都写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980769" y="405955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8A87C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68038" y="4411028"/>
            <a:ext cx="8559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A87C"/>
                </a:solidFill>
                <a:latin typeface="Arial"/>
                <a:ea typeface="Microsoft YaHei"/>
                <a:cs typeface="Arial"/>
              </a:rPr>
              <a:t>封装 + 复用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858000" y="3143250"/>
            <a:ext cx="4191000" cy="2286000"/>
            <a:chOff x="6858000" y="3143250"/>
            <a:chExt cx="4191000" cy="2286000"/>
          </a:xfrm>
        </p:grpSpPr>
        <p:sp>
          <p:nvSpPr>
            <p:cNvPr id="21" name="Rectangle 21"/>
            <p:cNvSpPr/>
            <p:nvPr/>
          </p:nvSpPr>
          <p:spPr>
            <a:xfrm>
              <a:off x="6858000" y="3143250"/>
              <a:ext cx="4191000" cy="2286000"/>
            </a:xfrm>
            <a:prstGeom prst="roundRect">
              <a:avLst>
                <a:gd name="adj" fmla="val 5833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6934" y="3298508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排练过的演讲稿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68606" y="3601402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= 结构化 Skill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048500" y="3905250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27570" y="4017645"/>
              <a:ext cx="18239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触发：用户请求 Code Review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048500" y="4305300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27570" y="4417695"/>
              <a:ext cx="2272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流程：读文件→查bug→查命名→查性能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048500" y="4705350"/>
              <a:ext cx="3810000" cy="333375"/>
            </a:xfrm>
            <a:prstGeom prst="roundRect">
              <a:avLst>
                <a:gd name="adj" fmla="val 17143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27570" y="4817745"/>
              <a:ext cx="25071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输出：Critical / Warning / Suggestion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19727" y="5181124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有经验的老员工，翻手册按流程走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18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702702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Harness Engineering — 让 Agent 靠谱地工作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1500" y="952500"/>
            <a:ext cx="3333750" cy="1905000"/>
            <a:chOff x="571500" y="952500"/>
            <a:chExt cx="3333750" cy="1905000"/>
          </a:xfrm>
        </p:grpSpPr>
        <p:sp>
          <p:nvSpPr>
            <p:cNvPr id="6" name="Rectangle 6"/>
            <p:cNvSpPr/>
            <p:nvPr/>
          </p:nvSpPr>
          <p:spPr>
            <a:xfrm>
              <a:off x="571500" y="952500"/>
              <a:ext cx="3333750" cy="1905000"/>
            </a:xfrm>
            <a:prstGeom prst="roundRect">
              <a:avLst>
                <a:gd name="adj" fmla="val 7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952500"/>
              <a:ext cx="3333750" cy="476250"/>
            </a:xfrm>
            <a:prstGeom prst="roundRect">
              <a:avLst>
                <a:gd name="adj" fmla="val 28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3333750" cy="190500"/>
            </a:xfrm>
            <a:prstGeom prst="rect">
              <a:avLst/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78209" y="1153478"/>
              <a:ext cx="9203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2023 — 2024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941" y="1552575"/>
              <a:ext cx="21888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Prompt Engineering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2095" y="1918335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怎么写好一条指令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286000"/>
              <a:ext cx="295275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56397" y="24188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手动优化每次提问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4048125" y="1905000"/>
            <a:ext cx="333375" cy="9525"/>
          </a:xfrm>
          <a:custGeom>
            <a:avLst/>
            <a:gdLst/>
            <a:ahLst/>
            <a:cxnLst/>
            <a:rect l="l" t="t" r="r" b="b"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8575">
            <a:solidFill>
              <a:srgbClr val="E8A87C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4381500" y="1847850"/>
            <a:ext cx="142875" cy="114300"/>
          </a:xfrm>
          <a:custGeom>
            <a:avLst/>
            <a:gdLst/>
            <a:ahLst/>
            <a:cxnLst/>
            <a:rect l="l" t="t" r="r" b="b"/>
            <a:pathLst>
              <a:path w="142875" h="114300">
                <a:moveTo>
                  <a:pt x="0" y="0"/>
                </a:moveTo>
                <a:lnTo>
                  <a:pt x="142875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E8A87C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4572000" y="952500"/>
            <a:ext cx="3333750" cy="1905000"/>
            <a:chOff x="4572000" y="952500"/>
            <a:chExt cx="3333750" cy="1905000"/>
          </a:xfrm>
        </p:grpSpPr>
        <p:sp>
          <p:nvSpPr>
            <p:cNvPr id="17" name="Rectangle 17"/>
            <p:cNvSpPr/>
            <p:nvPr/>
          </p:nvSpPr>
          <p:spPr>
            <a:xfrm>
              <a:off x="4572000" y="952500"/>
              <a:ext cx="3333750" cy="1905000"/>
            </a:xfrm>
            <a:prstGeom prst="roundRect">
              <a:avLst>
                <a:gd name="adj" fmla="val 7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572000" y="952500"/>
              <a:ext cx="3333750" cy="476250"/>
            </a:xfrm>
            <a:prstGeom prst="roundRect">
              <a:avLst>
                <a:gd name="adj" fmla="val 28000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72000" y="1238250"/>
              <a:ext cx="3333750" cy="190500"/>
            </a:xfrm>
            <a:prstGeom prst="rect">
              <a:avLst/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78709" y="1153478"/>
              <a:ext cx="9203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2024 — 2025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04186" y="1552575"/>
              <a:ext cx="22693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Context Engineering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20271" y="1918335"/>
              <a:ext cx="20372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怎么给 AI 恰好够用的信息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762500" y="2286000"/>
              <a:ext cx="295275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28097" y="2418874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系统化信息管理</a:t>
              </a:r>
            </a:p>
          </p:txBody>
        </p:sp>
      </p:grpSp>
      <p:sp>
        <p:nvSpPr>
          <p:cNvPr id="26" name="Line 26"/>
          <p:cNvSpPr/>
          <p:nvPr/>
        </p:nvSpPr>
        <p:spPr>
          <a:xfrm>
            <a:off x="8048625" y="1905000"/>
            <a:ext cx="333375" cy="9525"/>
          </a:xfrm>
          <a:custGeom>
            <a:avLst/>
            <a:gdLst/>
            <a:ahLst/>
            <a:cxnLst/>
            <a:rect l="l" t="t" r="r" b="b"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8575">
            <a:solidFill>
              <a:srgbClr val="E8A87C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8382000" y="1847850"/>
            <a:ext cx="142875" cy="114300"/>
          </a:xfrm>
          <a:custGeom>
            <a:avLst/>
            <a:gdLst/>
            <a:ahLst/>
            <a:cxnLst/>
            <a:rect l="l" t="t" r="r" b="b"/>
            <a:pathLst>
              <a:path w="142875" h="114300">
                <a:moveTo>
                  <a:pt x="0" y="0"/>
                </a:moveTo>
                <a:lnTo>
                  <a:pt x="142875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E8A87C"/>
          </a:solidFill>
          <a:ln>
            <a:noFill/>
          </a:ln>
        </p:spPr>
      </p:sp>
      <p:grpSp>
        <p:nvGrpSpPr>
          <p:cNvPr id="36" name="Group 36"/>
          <p:cNvGrpSpPr/>
          <p:nvPr/>
        </p:nvGrpSpPr>
        <p:grpSpPr>
          <a:xfrm>
            <a:off x="8572500" y="952500"/>
            <a:ext cx="3333750" cy="1905000"/>
            <a:chOff x="8572500" y="952500"/>
            <a:chExt cx="3333750" cy="1905000"/>
          </a:xfrm>
        </p:grpSpPr>
        <p:sp>
          <p:nvSpPr>
            <p:cNvPr id="28" name="Rectangle 28"/>
            <p:cNvSpPr/>
            <p:nvPr/>
          </p:nvSpPr>
          <p:spPr>
            <a:xfrm>
              <a:off x="8572500" y="952500"/>
              <a:ext cx="3333750" cy="1905000"/>
            </a:xfrm>
            <a:prstGeom prst="roundRect">
              <a:avLst>
                <a:gd name="adj" fmla="val 7000"/>
              </a:avLst>
            </a:prstGeom>
            <a:solidFill>
              <a:srgbClr val="FAF7F2"/>
            </a:solidFill>
            <a:ln w="28575">
              <a:solidFill>
                <a:srgbClr val="8B6F47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572500" y="952500"/>
              <a:ext cx="3333750" cy="476250"/>
            </a:xfrm>
            <a:prstGeom prst="roundRect">
              <a:avLst>
                <a:gd name="adj" fmla="val 28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572500" y="1238250"/>
              <a:ext cx="3333750" cy="190500"/>
            </a:xfrm>
            <a:prstGeom prst="rect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980484" y="1153478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2026 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04686" y="1552575"/>
              <a:ext cx="22693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Harness Engineering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20772" y="1918335"/>
              <a:ext cx="20372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怎么搭系统让 AI 可靠运行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763000" y="2286000"/>
              <a:ext cx="295275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70998" y="2418874"/>
              <a:ext cx="17367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约束 + 反馈 + 审计 + 降级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3076575"/>
            <a:ext cx="10858500" cy="1543050"/>
            <a:chOff x="571500" y="3076575"/>
            <a:chExt cx="10858500" cy="1543050"/>
          </a:xfrm>
        </p:grpSpPr>
        <p:sp>
          <p:nvSpPr>
            <p:cNvPr id="37" name="TextBox 37"/>
            <p:cNvSpPr txBox="1"/>
            <p:nvPr/>
          </p:nvSpPr>
          <p:spPr>
            <a:xfrm>
              <a:off x="4699290" y="3076575"/>
              <a:ext cx="26029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Harness 的四个核心组件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71500" y="3476625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6750" y="3571875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2010" y="3680460"/>
              <a:ext cx="17418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Guardrails 安全围栏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4868" y="394287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永远不能执行删除操作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4868" y="4133374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单次预算不超过 10 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5820" y="43795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89B8C"/>
                  </a:solidFill>
                  <a:latin typeface="Arial"/>
                  <a:ea typeface="Microsoft YaHei"/>
                  <a:cs typeface="Arial"/>
                </a:rPr>
                <a:t>给马套上缰绳和围栏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333750" y="3476625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3429000" y="3571875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604260" y="3680460"/>
              <a:ext cx="2091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Feedback Loop 反馈回路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607118" y="39428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每步输出自动验证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607118" y="413337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不对就拦截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96000" y="3476625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191250" y="3571875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66510" y="3680460"/>
              <a:ext cx="17510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Audit Trail 审计日志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69368" y="394287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记录每步思考和决策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69368" y="4133374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出问题可以回溯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858250" y="3476625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953500" y="3571875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28760" y="3680460"/>
              <a:ext cx="15394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Fallback 降级机制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131618" y="3942874"/>
              <a:ext cx="9005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连续失败 3 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31618" y="413337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自动转人工</a:t>
              </a:r>
            </a:p>
          </p:txBody>
        </p:sp>
      </p:grpSp>
      <p:sp>
        <p:nvSpPr>
          <p:cNvPr id="60" name="Rectangle 60"/>
          <p:cNvSpPr/>
          <p:nvPr/>
        </p:nvSpPr>
        <p:spPr>
          <a:xfrm>
            <a:off x="2857500" y="4953000"/>
            <a:ext cx="6477000" cy="571500"/>
          </a:xfrm>
          <a:prstGeom prst="roundRect">
            <a:avLst>
              <a:gd name="adj" fmla="val 20000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4386418" y="5073968"/>
            <a:ext cx="34191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决定 Agent 上限的，不是模型有多强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629674" y="5302568"/>
            <a:ext cx="29326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AF7F2"/>
                </a:solidFill>
                <a:latin typeface="Arial"/>
                <a:ea typeface="Microsoft YaHei"/>
                <a:cs typeface="Arial"/>
              </a:rPr>
              <a:t>而是你给它搭的工作环境有多好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19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167640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C4956A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280988"/>
            <a:ext cx="160984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2026 前沿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71500" y="904875"/>
            <a:ext cx="3429000" cy="4953000"/>
            <a:chOff x="571500" y="904875"/>
            <a:chExt cx="3429000" cy="4953000"/>
          </a:xfrm>
        </p:grpSpPr>
        <p:sp>
          <p:nvSpPr>
            <p:cNvPr id="6" name="Rectangle 6"/>
            <p:cNvSpPr/>
            <p:nvPr/>
          </p:nvSpPr>
          <p:spPr>
            <a:xfrm>
              <a:off x="571500" y="904875"/>
              <a:ext cx="3429000" cy="49530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904875"/>
              <a:ext cx="3429000" cy="523875"/>
            </a:xfrm>
            <a:prstGeom prst="roundRect">
              <a:avLst>
                <a:gd name="adj" fmla="val 29091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3429000" cy="190500"/>
            </a:xfrm>
            <a:prstGeom prst="rect">
              <a:avLst/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81860" y="1088708"/>
              <a:ext cx="140828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🦞 OpenClaw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02464" y="1584960"/>
              <a:ext cx="15670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开源 Agent 运行时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0500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5175" y="2029778"/>
              <a:ext cx="25416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自选模型：Claude / GPT / DeepSeek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38125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29226" y="2506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在你电脑上执行真实操作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85750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16762" y="2982278"/>
              <a:ext cx="11384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接 50+ 聊天平台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476625"/>
              <a:ext cx="3048000" cy="523875"/>
            </a:xfrm>
            <a:prstGeom prst="roundRect">
              <a:avLst>
                <a:gd name="adj" fmla="val 18182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16525" y="3488055"/>
              <a:ext cx="93895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350K+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74625" y="3808095"/>
              <a:ext cx="14227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GitHub Stars（5个月）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4191000"/>
              <a:ext cx="3048000" cy="47625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83029" y="4268152"/>
              <a:ext cx="18059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 从 Demo 到生产力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48790" y="447484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这条路已经走通了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286250" y="904875"/>
            <a:ext cx="3429000" cy="4953000"/>
            <a:chOff x="4286250" y="904875"/>
            <a:chExt cx="3429000" cy="4953000"/>
          </a:xfrm>
        </p:grpSpPr>
        <p:sp>
          <p:nvSpPr>
            <p:cNvPr id="24" name="Rectangle 24"/>
            <p:cNvSpPr/>
            <p:nvPr/>
          </p:nvSpPr>
          <p:spPr>
            <a:xfrm>
              <a:off x="4286250" y="904875"/>
              <a:ext cx="3429000" cy="49530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286250" y="904875"/>
              <a:ext cx="3429000" cy="523875"/>
            </a:xfrm>
            <a:prstGeom prst="roundRect">
              <a:avLst>
                <a:gd name="adj" fmla="val 29091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286250" y="1238250"/>
              <a:ext cx="3429000" cy="190500"/>
            </a:xfrm>
            <a:prstGeom prst="rect">
              <a:avLst/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29451" y="1088708"/>
              <a:ext cx="11425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🧠 Hermes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25202" y="1584960"/>
              <a:ext cx="17510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自我学习 Agent 框架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76750" y="190500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81994" y="2029778"/>
              <a:ext cx="14375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Nous Research 开源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76750" y="238125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055799" y="2506028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混合推理：快速 + 深度思考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476750" y="2857500"/>
              <a:ext cx="3048000" cy="523875"/>
            </a:xfrm>
            <a:prstGeom prst="roundRect">
              <a:avLst>
                <a:gd name="adj" fmla="val 14545"/>
              </a:avLst>
            </a:prstGeom>
            <a:solidFill>
              <a:srgbClr val="E8A87C">
                <a:alpha val="1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504355" y="296322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自我学习循环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46656" y="3169920"/>
              <a:ext cx="15081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执行任务中自动生成 Skill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476750" y="3571875"/>
              <a:ext cx="3048000" cy="523875"/>
            </a:xfrm>
            <a:prstGeom prst="roundRect">
              <a:avLst>
                <a:gd name="adj" fmla="val 18182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08397" y="3583305"/>
              <a:ext cx="5847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7K+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48526" y="3903345"/>
              <a:ext cx="1304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Stars（上线第一天）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476750" y="4286250"/>
              <a:ext cx="3048000" cy="47625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12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178289" y="4363402"/>
              <a:ext cx="16449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 不只是执行任务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88413" y="4570095"/>
              <a:ext cx="8246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它还在"成长"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001000" y="904875"/>
            <a:ext cx="3619500" cy="4953000"/>
            <a:chOff x="8001000" y="904875"/>
            <a:chExt cx="3619500" cy="4953000"/>
          </a:xfrm>
        </p:grpSpPr>
        <p:sp>
          <p:nvSpPr>
            <p:cNvPr id="43" name="Rectangle 43"/>
            <p:cNvSpPr/>
            <p:nvPr/>
          </p:nvSpPr>
          <p:spPr>
            <a:xfrm>
              <a:off x="8001000" y="904875"/>
              <a:ext cx="3619500" cy="4953000"/>
            </a:xfrm>
            <a:prstGeom prst="roundRect">
              <a:avLst>
                <a:gd name="adj" fmla="val 4211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001000" y="904875"/>
              <a:ext cx="3619500" cy="523875"/>
            </a:xfrm>
            <a:prstGeom prst="roundRect">
              <a:avLst>
                <a:gd name="adj" fmla="val 29091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001000" y="1238250"/>
              <a:ext cx="3619500" cy="190500"/>
            </a:xfrm>
            <a:prstGeom prst="rect">
              <a:avLst/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802972" y="1088708"/>
              <a:ext cx="20155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⚡ Agentic Coding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60631" y="1584960"/>
              <a:ext cx="13002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Karpathy 2026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191500" y="1905000"/>
              <a:ext cx="3238500" cy="666750"/>
            </a:xfrm>
            <a:prstGeom prst="roundRect">
              <a:avLst>
                <a:gd name="adj" fmla="val 11429"/>
              </a:avLst>
            </a:prstGeom>
            <a:solidFill>
              <a:srgbClr val="D4837F">
                <a:alpha val="1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956085" y="2029778"/>
              <a:ext cx="17093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Vibe Coding = 玩具阶段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12520" y="2284095"/>
              <a:ext cx="13964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用嘴说需求让 AI 写代码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20211" y="267938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↓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191500" y="3000375"/>
              <a:ext cx="3238500" cy="857250"/>
            </a:xfrm>
            <a:prstGeom prst="roundRect">
              <a:avLst>
                <a:gd name="adj" fmla="val 8889"/>
              </a:avLst>
            </a:prstGeom>
            <a:solidFill>
              <a:srgbClr val="8FBC8F">
                <a:alpha val="12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74182" y="3137535"/>
              <a:ext cx="20731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Agentic Coding = 生产级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25213" y="3418999"/>
              <a:ext cx="11710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Agent 自主完成：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26496" y="360949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需求分析→架构设计→编码→部署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191500" y="4048125"/>
              <a:ext cx="3238500" cy="571500"/>
            </a:xfrm>
            <a:prstGeom prst="roundRect">
              <a:avLst>
                <a:gd name="adj" fmla="val 133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77570" y="4185285"/>
              <a:ext cx="22663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人：写代码 → 做决策和审核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76372" y="44272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角色从执行者变成管理者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20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3" grpId="0"/>
      <p:bldP spid="42" grpId="0"/>
      <p:bldP spid="59" grpId="0"/>
      <p:bldP spid="6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802037" y="217170"/>
            <a:ext cx="458792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一张图打通全局 — 13 层递进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552450"/>
            <a:ext cx="1524000" cy="28575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381000" y="762000"/>
            <a:ext cx="2000250" cy="457200"/>
            <a:chOff x="381000" y="762000"/>
            <a:chExt cx="2000250" cy="457200"/>
          </a:xfrm>
        </p:grpSpPr>
        <p:sp>
          <p:nvSpPr>
            <p:cNvPr id="6" name="Rectangle 6"/>
            <p:cNvSpPr/>
            <p:nvPr/>
          </p:nvSpPr>
          <p:spPr>
            <a:xfrm>
              <a:off x="381000" y="762000"/>
              <a:ext cx="2000250" cy="457200"/>
            </a:xfrm>
            <a:prstGeom prst="roundRect">
              <a:avLst>
                <a:gd name="adj" fmla="val 208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18846" y="83915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33450" y="1042988"/>
              <a:ext cx="8953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只会预测下一个词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2476500" y="990600"/>
            <a:ext cx="19050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14" name="Group 14"/>
          <p:cNvGrpSpPr/>
          <p:nvPr/>
        </p:nvGrpSpPr>
        <p:grpSpPr>
          <a:xfrm>
            <a:off x="2762250" y="762000"/>
            <a:ext cx="2000250" cy="457200"/>
            <a:chOff x="2762250" y="762000"/>
            <a:chExt cx="2000250" cy="457200"/>
          </a:xfrm>
        </p:grpSpPr>
        <p:sp>
          <p:nvSpPr>
            <p:cNvPr id="11" name="Rectangle 11"/>
            <p:cNvSpPr/>
            <p:nvPr/>
          </p:nvSpPr>
          <p:spPr>
            <a:xfrm>
              <a:off x="2762250" y="762000"/>
              <a:ext cx="2000250" cy="457200"/>
            </a:xfrm>
            <a:prstGeom prst="roundRect">
              <a:avLst>
                <a:gd name="adj" fmla="val 208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527637" y="8391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Token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59931" y="1042988"/>
              <a:ext cx="100488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模型阅读的最小单位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4857750" y="990600"/>
            <a:ext cx="19050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19" name="Group 19"/>
          <p:cNvGrpSpPr/>
          <p:nvPr/>
        </p:nvGrpSpPr>
        <p:grpSpPr>
          <a:xfrm>
            <a:off x="5143500" y="762000"/>
            <a:ext cx="2000250" cy="457200"/>
            <a:chOff x="5143500" y="762000"/>
            <a:chExt cx="2000250" cy="457200"/>
          </a:xfrm>
        </p:grpSpPr>
        <p:sp>
          <p:nvSpPr>
            <p:cNvPr id="16" name="Rectangle 16"/>
            <p:cNvSpPr/>
            <p:nvPr/>
          </p:nvSpPr>
          <p:spPr>
            <a:xfrm>
              <a:off x="5143500" y="762000"/>
              <a:ext cx="2000250" cy="457200"/>
            </a:xfrm>
            <a:prstGeom prst="roundRect">
              <a:avLst>
                <a:gd name="adj" fmla="val 208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35791" y="839152"/>
              <a:ext cx="8156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Embedding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67243" y="1042988"/>
              <a:ext cx="115276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给 Token 赋予语义坐标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7239000" y="990600"/>
            <a:ext cx="19050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24" name="Group 24"/>
          <p:cNvGrpSpPr/>
          <p:nvPr/>
        </p:nvGrpSpPr>
        <p:grpSpPr>
          <a:xfrm>
            <a:off x="7524750" y="762000"/>
            <a:ext cx="2000250" cy="457200"/>
            <a:chOff x="7524750" y="762000"/>
            <a:chExt cx="2000250" cy="457200"/>
          </a:xfrm>
        </p:grpSpPr>
        <p:sp>
          <p:nvSpPr>
            <p:cNvPr id="21" name="Rectangle 21"/>
            <p:cNvSpPr/>
            <p:nvPr/>
          </p:nvSpPr>
          <p:spPr>
            <a:xfrm>
              <a:off x="7524750" y="762000"/>
              <a:ext cx="2000250" cy="457200"/>
            </a:xfrm>
            <a:prstGeom prst="roundRect">
              <a:avLst>
                <a:gd name="adj" fmla="val 208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99664" y="839152"/>
              <a:ext cx="12504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Context Window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16954" y="1042988"/>
              <a:ext cx="10158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能"看到"的信息上限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9620250" y="990600"/>
            <a:ext cx="19050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29" name="Group 29"/>
          <p:cNvGrpSpPr/>
          <p:nvPr/>
        </p:nvGrpSpPr>
        <p:grpSpPr>
          <a:xfrm>
            <a:off x="9906000" y="762000"/>
            <a:ext cx="2000250" cy="457200"/>
            <a:chOff x="9906000" y="762000"/>
            <a:chExt cx="2000250" cy="457200"/>
          </a:xfrm>
        </p:grpSpPr>
        <p:sp>
          <p:nvSpPr>
            <p:cNvPr id="26" name="Rectangle 26"/>
            <p:cNvSpPr/>
            <p:nvPr/>
          </p:nvSpPr>
          <p:spPr>
            <a:xfrm>
              <a:off x="9906000" y="762000"/>
              <a:ext cx="2000250" cy="457200"/>
            </a:xfrm>
            <a:prstGeom prst="roundRect">
              <a:avLst>
                <a:gd name="adj" fmla="val 208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611005" y="839152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Prompt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58450" y="1042988"/>
              <a:ext cx="8953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你往窗口里放什么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81000" y="1619250"/>
            <a:ext cx="2476500" cy="457200"/>
            <a:chOff x="381000" y="1619250"/>
            <a:chExt cx="2476500" cy="457200"/>
          </a:xfrm>
        </p:grpSpPr>
        <p:sp>
          <p:nvSpPr>
            <p:cNvPr id="30" name="Rectangle 30"/>
            <p:cNvSpPr/>
            <p:nvPr/>
          </p:nvSpPr>
          <p:spPr>
            <a:xfrm>
              <a:off x="381000" y="1619250"/>
              <a:ext cx="2476500" cy="457200"/>
            </a:xfrm>
            <a:prstGeom prst="roundRect">
              <a:avLst>
                <a:gd name="adj" fmla="val 20833"/>
              </a:avLst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4967" y="1696402"/>
              <a:ext cx="1588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Context Engineering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71575" y="1900238"/>
              <a:ext cx="8953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系统化地管理信息</a:t>
              </a:r>
            </a:p>
          </p:txBody>
        </p:sp>
      </p:grpSp>
      <p:sp>
        <p:nvSpPr>
          <p:cNvPr id="34" name="Line 34"/>
          <p:cNvSpPr/>
          <p:nvPr/>
        </p:nvSpPr>
        <p:spPr>
          <a:xfrm>
            <a:off x="2952750" y="1847850"/>
            <a:ext cx="28575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38" name="Group 38"/>
          <p:cNvGrpSpPr/>
          <p:nvPr/>
        </p:nvGrpSpPr>
        <p:grpSpPr>
          <a:xfrm>
            <a:off x="3333750" y="1619250"/>
            <a:ext cx="2476500" cy="457200"/>
            <a:chOff x="3333750" y="1619250"/>
            <a:chExt cx="2476500" cy="457200"/>
          </a:xfrm>
        </p:grpSpPr>
        <p:sp>
          <p:nvSpPr>
            <p:cNvPr id="35" name="Rectangle 35"/>
            <p:cNvSpPr/>
            <p:nvPr/>
          </p:nvSpPr>
          <p:spPr>
            <a:xfrm>
              <a:off x="3333750" y="1619250"/>
              <a:ext cx="2476500" cy="457200"/>
            </a:xfrm>
            <a:prstGeom prst="roundRect">
              <a:avLst>
                <a:gd name="adj" fmla="val 20833"/>
              </a:avLst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930687" y="1696402"/>
              <a:ext cx="12826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RAG + 向量数据库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79094" y="1900238"/>
              <a:ext cx="7858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先查资料再回答</a:t>
              </a:r>
            </a:p>
          </p:txBody>
        </p:sp>
      </p:grpSp>
      <p:sp>
        <p:nvSpPr>
          <p:cNvPr id="39" name="Line 39"/>
          <p:cNvSpPr/>
          <p:nvPr/>
        </p:nvSpPr>
        <p:spPr>
          <a:xfrm>
            <a:off x="5905500" y="1847850"/>
            <a:ext cx="28575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43" name="Group 43"/>
          <p:cNvGrpSpPr/>
          <p:nvPr/>
        </p:nvGrpSpPr>
        <p:grpSpPr>
          <a:xfrm>
            <a:off x="6286500" y="1619250"/>
            <a:ext cx="2476500" cy="457200"/>
            <a:chOff x="6286500" y="1619250"/>
            <a:chExt cx="2476500" cy="457200"/>
          </a:xfrm>
        </p:grpSpPr>
        <p:sp>
          <p:nvSpPr>
            <p:cNvPr id="40" name="Rectangle 40"/>
            <p:cNvSpPr/>
            <p:nvPr/>
          </p:nvSpPr>
          <p:spPr>
            <a:xfrm>
              <a:off x="6286500" y="1619250"/>
              <a:ext cx="2476500" cy="457200"/>
            </a:xfrm>
            <a:prstGeom prst="roundRect">
              <a:avLst>
                <a:gd name="adj" fmla="val 20833"/>
              </a:avLst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03564" y="1696402"/>
              <a:ext cx="12423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Function Calling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31844" y="1900238"/>
              <a:ext cx="7858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让模型能调工具</a:t>
              </a:r>
            </a:p>
          </p:txBody>
        </p:sp>
      </p:grpSp>
      <p:sp>
        <p:nvSpPr>
          <p:cNvPr id="44" name="Line 44"/>
          <p:cNvSpPr/>
          <p:nvPr/>
        </p:nvSpPr>
        <p:spPr>
          <a:xfrm>
            <a:off x="8858250" y="1847850"/>
            <a:ext cx="28575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48" name="Group 48"/>
          <p:cNvGrpSpPr/>
          <p:nvPr/>
        </p:nvGrpSpPr>
        <p:grpSpPr>
          <a:xfrm>
            <a:off x="9239250" y="1619250"/>
            <a:ext cx="2667000" cy="457200"/>
            <a:chOff x="9239250" y="1619250"/>
            <a:chExt cx="2667000" cy="457200"/>
          </a:xfrm>
        </p:grpSpPr>
        <p:sp>
          <p:nvSpPr>
            <p:cNvPr id="45" name="Rectangle 45"/>
            <p:cNvSpPr/>
            <p:nvPr/>
          </p:nvSpPr>
          <p:spPr>
            <a:xfrm>
              <a:off x="9239250" y="1619250"/>
              <a:ext cx="2667000" cy="457200"/>
            </a:xfrm>
            <a:prstGeom prst="roundRect">
              <a:avLst>
                <a:gd name="adj" fmla="val 20833"/>
              </a:avLst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410471" y="169640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MCP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25075" y="1900238"/>
              <a:ext cx="8953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统一工具接口标准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81000" y="2476500"/>
            <a:ext cx="2476500" cy="457200"/>
            <a:chOff x="381000" y="2476500"/>
            <a:chExt cx="2476500" cy="457200"/>
          </a:xfrm>
        </p:grpSpPr>
        <p:sp>
          <p:nvSpPr>
            <p:cNvPr id="49" name="Rectangle 49"/>
            <p:cNvSpPr/>
            <p:nvPr/>
          </p:nvSpPr>
          <p:spPr>
            <a:xfrm>
              <a:off x="381000" y="2476500"/>
              <a:ext cx="2476500" cy="457200"/>
            </a:xfrm>
            <a:prstGeom prst="roundRect">
              <a:avLst>
                <a:gd name="adj" fmla="val 20833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384512" y="25536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81112" y="2757488"/>
              <a:ext cx="67627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自主决策循环</a:t>
              </a:r>
            </a:p>
          </p:txBody>
        </p:sp>
      </p:grpSp>
      <p:sp>
        <p:nvSpPr>
          <p:cNvPr id="53" name="Line 53"/>
          <p:cNvSpPr/>
          <p:nvPr/>
        </p:nvSpPr>
        <p:spPr>
          <a:xfrm>
            <a:off x="2952750" y="2705100"/>
            <a:ext cx="28575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57" name="Group 57"/>
          <p:cNvGrpSpPr/>
          <p:nvPr/>
        </p:nvGrpSpPr>
        <p:grpSpPr>
          <a:xfrm>
            <a:off x="3333750" y="2476500"/>
            <a:ext cx="2476500" cy="457200"/>
            <a:chOff x="3333750" y="2476500"/>
            <a:chExt cx="2476500" cy="457200"/>
          </a:xfrm>
        </p:grpSpPr>
        <p:sp>
          <p:nvSpPr>
            <p:cNvPr id="54" name="Rectangle 54"/>
            <p:cNvSpPr/>
            <p:nvPr/>
          </p:nvSpPr>
          <p:spPr>
            <a:xfrm>
              <a:off x="3333750" y="2476500"/>
              <a:ext cx="2476500" cy="457200"/>
            </a:xfrm>
            <a:prstGeom prst="roundRect">
              <a:avLst>
                <a:gd name="adj" fmla="val 20833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152089" y="2553652"/>
              <a:ext cx="839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Agent Skill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124325" y="2757488"/>
              <a:ext cx="8953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封装最佳实践经验</a:t>
              </a:r>
            </a:p>
          </p:txBody>
        </p:sp>
      </p:grpSp>
      <p:sp>
        <p:nvSpPr>
          <p:cNvPr id="58" name="Line 58"/>
          <p:cNvSpPr/>
          <p:nvPr/>
        </p:nvSpPr>
        <p:spPr>
          <a:xfrm>
            <a:off x="5905500" y="2705100"/>
            <a:ext cx="28575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62" name="Group 62"/>
          <p:cNvGrpSpPr/>
          <p:nvPr/>
        </p:nvGrpSpPr>
        <p:grpSpPr>
          <a:xfrm>
            <a:off x="6286500" y="2476500"/>
            <a:ext cx="2476500" cy="457200"/>
            <a:chOff x="6286500" y="2476500"/>
            <a:chExt cx="2476500" cy="457200"/>
          </a:xfrm>
        </p:grpSpPr>
        <p:sp>
          <p:nvSpPr>
            <p:cNvPr id="59" name="Rectangle 59"/>
            <p:cNvSpPr/>
            <p:nvPr/>
          </p:nvSpPr>
          <p:spPr>
            <a:xfrm>
              <a:off x="6286500" y="2476500"/>
              <a:ext cx="2476500" cy="457200"/>
            </a:xfrm>
            <a:prstGeom prst="roundRect">
              <a:avLst>
                <a:gd name="adj" fmla="val 20833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30467" y="2553652"/>
              <a:ext cx="1588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Harness Engineering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26367" y="2757488"/>
              <a:ext cx="79676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约束+反馈+审计</a:t>
              </a:r>
            </a:p>
          </p:txBody>
        </p:sp>
      </p:grpSp>
      <p:sp>
        <p:nvSpPr>
          <p:cNvPr id="63" name="Line 63"/>
          <p:cNvSpPr/>
          <p:nvPr/>
        </p:nvSpPr>
        <p:spPr>
          <a:xfrm>
            <a:off x="8858250" y="2705100"/>
            <a:ext cx="285750" cy="1"/>
          </a:xfrm>
          <a:prstGeom prst="line">
            <a:avLst/>
          </a:prstGeom>
          <a:noFill/>
          <a:ln w="19050">
            <a:solidFill>
              <a:srgbClr val="C4956A"/>
            </a:solidFill>
            <a:tailEnd type="triangle" w="lg" len="lg"/>
          </a:ln>
        </p:spPr>
      </p:sp>
      <p:grpSp>
        <p:nvGrpSpPr>
          <p:cNvPr id="67" name="Group 67"/>
          <p:cNvGrpSpPr/>
          <p:nvPr/>
        </p:nvGrpSpPr>
        <p:grpSpPr>
          <a:xfrm>
            <a:off x="9239250" y="2476500"/>
            <a:ext cx="2667000" cy="457200"/>
            <a:chOff x="9239250" y="2476500"/>
            <a:chExt cx="2667000" cy="457200"/>
          </a:xfrm>
        </p:grpSpPr>
        <p:sp>
          <p:nvSpPr>
            <p:cNvPr id="64" name="Rectangle 64"/>
            <p:cNvSpPr/>
            <p:nvPr/>
          </p:nvSpPr>
          <p:spPr>
            <a:xfrm>
              <a:off x="9239250" y="2476500"/>
              <a:ext cx="2667000" cy="457200"/>
            </a:xfrm>
            <a:prstGeom prst="roundRect">
              <a:avLst>
                <a:gd name="adj" fmla="val 20833"/>
              </a:avLst>
            </a:prstGeom>
            <a:solidFill>
              <a:srgbClr val="D4837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197120" y="2553652"/>
              <a:ext cx="7512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2026 前沿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177105" y="2757488"/>
              <a:ext cx="79128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Agent 走进现实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381000" y="3238500"/>
            <a:ext cx="11430000" cy="2952750"/>
            <a:chOff x="381000" y="3238500"/>
            <a:chExt cx="11430000" cy="2952750"/>
          </a:xfrm>
        </p:grpSpPr>
        <p:sp>
          <p:nvSpPr>
            <p:cNvPr id="68" name="Rectangle 68"/>
            <p:cNvSpPr/>
            <p:nvPr/>
          </p:nvSpPr>
          <p:spPr>
            <a:xfrm>
              <a:off x="381000" y="3238500"/>
              <a:ext cx="11430000" cy="2952750"/>
            </a:xfrm>
            <a:prstGeom prst="roundRect">
              <a:avLst>
                <a:gd name="adj" fmla="val 4516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733187" y="337851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每一层都在解决上一层的瓶颈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4368" y="3752374"/>
              <a:ext cx="5222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LLM 只会猜词 → 需要 Token 定义粒度 → Token 没语义 → 需要 Embedding 赋予含义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54368" y="3971449"/>
              <a:ext cx="58631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能看的信息有限 → 需要 Context Engineering 优化质量 → 外部知识太多 → 需要 RAG 按需检索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4368" y="4190524"/>
              <a:ext cx="50158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模型只会说话 → 需要 Function Calling 调工具 → 接口太乱 → 需要 MCP 统一标准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4368" y="4409599"/>
              <a:ext cx="46384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单轮不够 → 需要 Agent 自主循环 → 每次从零太浪费 → 需要 Skill 封装经验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4368" y="4628674"/>
              <a:ext cx="38695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Agent 不稳定 → 需要 Harness 约束 → 最终 → Agent 走进现实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66750" y="4953000"/>
              <a:ext cx="10858500" cy="952500"/>
            </a:xfrm>
            <a:prstGeom prst="roundRect">
              <a:avLst>
                <a:gd name="adj" fmla="val 1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098703" y="5124450"/>
              <a:ext cx="39945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从"猜下一个字"到"自主完成一个项目"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043726" y="5426392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这不是一堆名词的堆砌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112109" y="5664518"/>
              <a:ext cx="39677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而是每一层都在解决上一层解决不了的问题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166681" y="656224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21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0E8"/>
              </a:gs>
              <a:gs pos="100000">
                <a:srgbClr val="EDE5D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62000" y="285750"/>
            <a:ext cx="2286000" cy="2286000"/>
          </a:xfrm>
          <a:prstGeom prst="ellipse">
            <a:avLst/>
          </a:prstGeom>
          <a:solidFill>
            <a:srgbClr val="E8A87C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858250" y="3810000"/>
            <a:ext cx="2857500" cy="2857500"/>
          </a:xfrm>
          <a:prstGeom prst="ellipse">
            <a:avLst/>
          </a:prstGeom>
          <a:solidFill>
            <a:srgbClr val="8B6F47">
              <a:alpha val="5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967168" y="2073592"/>
            <a:ext cx="225766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理解这条链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39140" y="2645092"/>
            <a:ext cx="551372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5D4E37"/>
                </a:solidFill>
                <a:latin typeface="Arial"/>
                <a:ea typeface="Microsoft YaHei"/>
                <a:cs typeface="Arial"/>
              </a:rPr>
              <a:t>看任何 AI 新闻都不再是碎片</a:t>
            </a:r>
          </a:p>
        </p:txBody>
      </p:sp>
      <p:sp>
        <p:nvSpPr>
          <p:cNvPr id="8" name="Rectangle 8"/>
          <p:cNvSpPr/>
          <p:nvPr/>
        </p:nvSpPr>
        <p:spPr>
          <a:xfrm>
            <a:off x="5143500" y="3190875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E8A87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683371" y="3631882"/>
            <a:ext cx="28252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如果这期内容对你有帮助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095750" y="4095750"/>
            <a:ext cx="1143000" cy="476250"/>
            <a:chOff x="4095750" y="4095750"/>
            <a:chExt cx="1143000" cy="476250"/>
          </a:xfrm>
        </p:grpSpPr>
        <p:sp>
          <p:nvSpPr>
            <p:cNvPr id="10" name="Rectangle 10"/>
            <p:cNvSpPr/>
            <p:nvPr/>
          </p:nvSpPr>
          <p:spPr>
            <a:xfrm>
              <a:off x="4095750" y="4095750"/>
              <a:ext cx="1143000" cy="4762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355093" y="4254818"/>
              <a:ext cx="624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👍 点赞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29250" y="4095750"/>
            <a:ext cx="1143000" cy="476250"/>
            <a:chOff x="5429250" y="4095750"/>
            <a:chExt cx="1143000" cy="476250"/>
          </a:xfrm>
        </p:grpSpPr>
        <p:sp>
          <p:nvSpPr>
            <p:cNvPr id="13" name="Rectangle 13"/>
            <p:cNvSpPr/>
            <p:nvPr/>
          </p:nvSpPr>
          <p:spPr>
            <a:xfrm>
              <a:off x="5429250" y="4095750"/>
              <a:ext cx="1143000" cy="4762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88593" y="4254818"/>
              <a:ext cx="624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⭐ 收藏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62750" y="4095750"/>
            <a:ext cx="1143000" cy="476250"/>
            <a:chOff x="6762750" y="4095750"/>
            <a:chExt cx="1143000" cy="476250"/>
          </a:xfrm>
        </p:grpSpPr>
        <p:sp>
          <p:nvSpPr>
            <p:cNvPr id="16" name="Rectangle 16"/>
            <p:cNvSpPr/>
            <p:nvPr/>
          </p:nvSpPr>
          <p:spPr>
            <a:xfrm>
              <a:off x="6762750" y="4095750"/>
              <a:ext cx="1143000" cy="4762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22093" y="4254818"/>
              <a:ext cx="624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🔄 转发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386864" y="50768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我们下期见！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619500" y="561975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9525">
            <a:solidFill>
              <a:srgbClr val="EDE5D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909029" y="5703570"/>
            <a:ext cx="2781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LLM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619625" y="561975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9525">
            <a:solidFill>
              <a:srgbClr val="EDE5D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847046" y="5703570"/>
            <a:ext cx="4024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Token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619750" y="561975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9525">
            <a:solidFill>
              <a:srgbClr val="EDE5D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847171" y="5703570"/>
            <a:ext cx="4024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Agent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619875" y="561975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9525">
            <a:solidFill>
              <a:srgbClr val="EDE5D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909404" y="5703570"/>
            <a:ext cx="2781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MCP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0" y="561975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FAF7F2"/>
          </a:solidFill>
          <a:ln w="9525">
            <a:solidFill>
              <a:srgbClr val="EDE5D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970956" y="5703570"/>
            <a:ext cx="250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RAG</a:t>
            </a:r>
          </a:p>
        </p:txBody>
      </p:sp>
      <p:sp>
        <p:nvSpPr>
          <p:cNvPr id="30" name="Rectangle 30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8B6F4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1131082" y="6562249"/>
            <a:ext cx="501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9B8C"/>
                </a:solidFill>
                <a:latin typeface="Arial"/>
                <a:ea typeface="Microsoft YaHei"/>
                <a:cs typeface="Arial"/>
              </a:rPr>
              <a:t>22 / 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