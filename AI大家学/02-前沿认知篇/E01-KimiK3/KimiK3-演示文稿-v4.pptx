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3657600" cy="36576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8B6F47"/>
                </a:solidFill>
                <a:latin typeface="Georgia"/>
              </a:defRPr>
            </a:pPr>
            <a:r>
              <a:t>Kimi K3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5D4E37"/>
                </a:solidFill>
                <a:latin typeface="微软雅黑"/>
              </a:defRPr>
            </a:pPr>
            <a:r>
              <a:t>当开源模型第一次逼到闭源喉咙口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B7D6B"/>
                </a:solidFill>
                <a:latin typeface="微软雅黑"/>
              </a:defRPr>
            </a:pPr>
            <a:r>
              <a:t>AI大家学 · 前沿AI认知篇</a:t>
            </a:r>
          </a:p>
        </p:txBody>
      </p:sp>
      <p:sp>
        <p:nvSpPr>
          <p:cNvPr id="6" name="Oval 5"/>
          <p:cNvSpPr/>
          <p:nvPr/>
        </p:nvSpPr>
        <p:spPr>
          <a:xfrm>
            <a:off x="8686800" y="914400"/>
            <a:ext cx="3200400" cy="3200400"/>
          </a:xfrm>
          <a:prstGeom prst="ellipse">
            <a:avLst/>
          </a:prstGeom>
          <a:solidFill>
            <a:srgbClr val="FAF7F2"/>
          </a:solidFill>
          <a:ln w="1905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A87C"/>
                </a:solidFill>
                <a:latin typeface="Georgia"/>
              </a:defRPr>
            </a:pPr>
            <a:r>
              <a:t>2.8T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560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B7D6B"/>
                </a:solidFill>
                <a:latin typeface="微软雅黑"/>
              </a:defRPr>
            </a:pPr>
            <a:r>
              <a:t>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数据来源：Artificial Analysis · Frontend Code Arena · 月之暗面官方技术报告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8" dur="8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1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8B6F47"/>
                </a:solidFill>
                <a:latin typeface="Georgia"/>
              </a:defRPr>
            </a:pPr>
            <a:r>
              <a:t>72小时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7315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C25B56"/>
                </a:solidFill>
                <a:latin typeface="Georgia"/>
              </a:defRPr>
            </a:pPr>
            <a:r>
              <a:t>-$4,700 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D4E37"/>
                </a:solidFill>
                <a:latin typeface="微软雅黑"/>
              </a:defRPr>
            </a:pPr>
            <a:r>
              <a:t>全球科技股市值蒸发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B7D6B"/>
                </a:solidFill>
                <a:latin typeface="微软雅黑"/>
              </a:rPr>
              <a:t>7月16日  </a:t>
            </a:r>
            <a:r>
              <a:rPr sz="1400" b="1">
                <a:solidFill>
                  <a:srgbClr val="8B6F47"/>
                </a:solidFill>
                <a:latin typeface="微软雅黑"/>
              </a:rPr>
              <a:t>月之暗面发布 Kimi K3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B7D6B"/>
                </a:solidFill>
                <a:latin typeface="微软雅黑"/>
              </a:rPr>
              <a:t>7月19日  </a:t>
            </a:r>
            <a:r>
              <a:rPr sz="1400" b="1">
                <a:solidFill>
                  <a:srgbClr val="8B6F47"/>
                </a:solidFill>
                <a:latin typeface="微软雅黑"/>
              </a:rPr>
              <a:t>华尔街称之为"Kimi时刻"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据多家财经媒体统计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5" dur="indefinite" restart="never" nodeType="tmRoot">
          <p:childTnLst>
            <p:seq concurrent="1" nextAc="seek">
              <p:cTn id="26" dur="indefinite" nodeType="mainSeq"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0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3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36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5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它有多强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2.8万亿参数 · MoE 896专家 · 100万Token上下文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MoE 混合专家架构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知识储备极大，单次推理只调用 1.8% 的专家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总参数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Georgia"/>
              </a:defRPr>
            </a:pPr>
            <a:r>
              <a:t>2.8万亿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专家总数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BA7A7"/>
                </a:solidFill>
                <a:latin typeface="Georgia"/>
              </a:defRPr>
            </a:pPr>
            <a:r>
              <a:t>896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每次激活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A87C"/>
                </a:solidFill>
                <a:latin typeface="Georgia"/>
              </a:defRPr>
            </a:pPr>
            <a:r>
              <a:t>16个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560320" cy="14630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783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激活比例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9456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A87C"/>
                </a:solidFill>
                <a:latin typeface="Georgia"/>
              </a:defRPr>
            </a:pPr>
            <a:r>
              <a:t>1.8%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0725912" cy="25603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118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翻译成人话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D4E37"/>
                </a:solidFill>
                <a:latin typeface="微软雅黑"/>
              </a:defRPr>
            </a:pPr>
            <a:r>
              <a:t>896个专家随时待命，但每次推理只叫16个出来干活。</a:t>
            </a:r>
            <a:br/>
            <a:br/>
            <a:r>
              <a:t>就像一家有896个专科医生的医院，你每次看病只需要挂16个相关科室。</a:t>
            </a:r>
            <a:br/>
            <a:br/>
            <a:r>
              <a:t>→ 知识储备极大，但单次成本很低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来源：月之暗面官方技术报告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46" dur="indefinite" restart="never" nodeType="tmRoot">
          <p:childTnLst>
            <p:seq concurrent="1" nextAc="seek">
              <p:cTn id="47" dur="indefinite" nodeType="mainSeq"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1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4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0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3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9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2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8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1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84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8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0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93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6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99" dur="8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成绩单 — 硬指标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1005840"/>
          </a:xfrm>
          <a:prstGeom prst="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Frontend Code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前端代码能力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1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7BA7A7"/>
                </a:solidFill>
                <a:latin typeface="Georgia"/>
              </a:defRPr>
            </a:pPr>
            <a:r>
              <a:t>1679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508760"/>
            <a:ext cx="822960" cy="45720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50876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554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全球第一 · 开源首次登顶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73152" cy="10058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60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AA Intelligence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智能指数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A87C"/>
                </a:solidFill>
                <a:latin typeface="Georgia"/>
              </a:defRPr>
            </a:pPr>
            <a:r>
              <a:t>57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697480"/>
            <a:ext cx="822960" cy="45720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69748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7432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仅次 Fable 5 (60) 和 GPT-5.6 Sol (59)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73152" cy="1005840"/>
          </a:xfrm>
          <a:prstGeom prst="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749039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BrowseComp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长周期检索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7BA7"/>
                </a:solidFill>
                <a:latin typeface="Georgia"/>
              </a:defRPr>
            </a:pPr>
            <a:r>
              <a:t>91.2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886200"/>
            <a:ext cx="822960" cy="457200"/>
          </a:xfrm>
          <a:prstGeom prst="round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88620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9319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全球第一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46320"/>
            <a:ext cx="10725912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846320"/>
            <a:ext cx="73152" cy="100584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7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D4E37"/>
                </a:solidFill>
                <a:latin typeface="Georgia"/>
              </a:defRPr>
            </a:pPr>
            <a:r>
              <a:t>GDPval-AA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03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真实经济任务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8348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Georgia"/>
              </a:defRPr>
            </a:pPr>
            <a:r>
              <a:t>1668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5074920"/>
            <a:ext cx="822960" cy="457200"/>
          </a:xfrm>
          <a:prstGeom prst="round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507492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#4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5120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开源模型最高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Artificial Analysis · Frontend Code Arena · 月之暗面技术报告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0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11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4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17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0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1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23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6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29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32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3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3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38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1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44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5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47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0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53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56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7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59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62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65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68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9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71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74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77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8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80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1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183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86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89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92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3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195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198" dur="3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01" dur="3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三模型对比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5912" cy="914400"/>
          </a:xfrm>
          <a:prstGeom prst="round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19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对比维度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1731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Georgia"/>
              </a:defRPr>
            </a:pPr>
            <a:r>
              <a:t>Code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41731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Georgia"/>
              </a:defRPr>
            </a:pPr>
            <a:r>
              <a:t>AA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417319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开源/闭源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39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599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BA7A7"/>
                </a:solidFill>
                <a:latin typeface="微软雅黑"/>
              </a:defRPr>
            </a:pPr>
            <a:r>
              <a:t>Kimi K3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1459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1679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51459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514599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BA7A7"/>
                </a:solidFill>
                <a:latin typeface="微软雅黑"/>
              </a:defRPr>
            </a:pPr>
            <a:r>
              <a:t>开源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79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Claude Fable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11879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1631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1187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611879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A87C"/>
                </a:solidFill>
                <a:latin typeface="微软雅黑"/>
              </a:defRPr>
            </a:pPr>
            <a:r>
              <a:t>闭源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725912" cy="9144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5B56"/>
                </a:solidFill>
                <a:latin typeface="微软雅黑"/>
              </a:defRPr>
            </a:pPr>
            <a:r>
              <a:t>GPT-5.6 Sol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916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1618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70916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D4E37"/>
                </a:solidFill>
                <a:latin typeface="Georgia"/>
              </a:defRPr>
            </a:pPr>
            <a:r>
              <a:t>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709160"/>
            <a:ext cx="15819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25B56"/>
                </a:solidFill>
                <a:latin typeface="微软雅黑"/>
              </a:defRPr>
            </a:pPr>
            <a:r>
              <a:t>闭源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725912" cy="64008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7259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开源第一，综合第三，性价比维度几乎没有对手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02" dur="indefinite" restart="never" nodeType="tmRoot">
          <p:childTnLst>
            <p:seq concurrent="1" nextAc="seek">
              <p:cTn id="203" dur="indefinite" nodeType="mainSeq"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0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8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1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13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16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19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22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3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25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28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31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34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3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8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40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43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4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49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52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3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55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58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61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64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6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8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70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73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6F47"/>
                </a:solidFill>
                <a:latin typeface="微软雅黑"/>
              </a:defRPr>
            </a:pPr>
            <a:r>
              <a:t>真实生产力 — I-Love-Q 中子星研究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457200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4864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Kimi K3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7BA7A7"/>
                </a:solidFill>
                <a:latin typeface="Georgia"/>
              </a:defRPr>
            </a:pPr>
            <a:r>
              <a:t>~2 小时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2976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4E37"/>
                </a:solidFill>
                <a:latin typeface="微软雅黑"/>
              </a:defRPr>
            </a:pPr>
            <a:r>
              <a:t>自主阅读 20+ 篇论文</a:t>
            </a:r>
            <a:br/>
            <a:r>
              <a:t>评估 300+ 种状态方程</a:t>
            </a:r>
            <a:br/>
            <a:r>
              <a:t>生成 3000+ 行 Python</a:t>
            </a:r>
            <a:br/>
            <a:r>
              <a:t>马斯克评价："Impressive"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20040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7D6B"/>
                </a:solidFill>
                <a:latin typeface="Georgia"/>
              </a:defRPr>
            </a:pPr>
            <a: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029200" cy="457200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029200" cy="54864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9844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资深研究人员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E8A87C"/>
                </a:solidFill>
                <a:latin typeface="Georgia"/>
              </a:defRPr>
            </a:pPr>
            <a:r>
              <a:t>1-2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91840"/>
            <a:ext cx="42976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4E37"/>
                </a:solidFill>
                <a:latin typeface="微软雅黑"/>
              </a:defRPr>
            </a:pPr>
            <a:r>
              <a:t>需要领域专业知识积累</a:t>
            </a:r>
            <a:br/>
            <a:r>
              <a:t>手动检索和筛选文献</a:t>
            </a:r>
            <a:br/>
            <a:r>
              <a:t>编写和调试计算代码</a:t>
            </a:r>
            <a:br/>
            <a:r>
              <a:t>反复验证状态方程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来源：月之暗面官方演示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74" dur="indefinite" restart="never" nodeType="tmRoot">
          <p:childTnLst>
            <p:seq concurrent="1" nextAc="seek">
              <p:cTn id="275" dur="indefinite" nodeType="mainSeq"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79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0" presetID="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282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3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285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88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9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291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294" dur="8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5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297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8" presetID="2" presetClass="entr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300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1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0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06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7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309" dur="6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12" dur="8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怎么做到的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不是堆参数，是改地基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三项自研底层技术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B7D6B"/>
                </a:solidFill>
                <a:latin typeface="微软雅黑"/>
              </a:defRPr>
            </a:pPr>
            <a:r>
              <a:t>对沿用近十年的 AI 基础机制做系统性重写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41148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502920"/>
          </a:xfrm>
          <a:prstGeom prst="roundRect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KDA 混合线性注意力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不同通道 × 不同衰减速率</a:t>
            </a:r>
            <a:br/>
            <a:r>
              <a:t>管理长序列记忆</a:t>
            </a:r>
            <a:br/>
            <a:r>
              <a:t>+ Attention Residuals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389120"/>
            <a:ext cx="2926080" cy="18288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A7A7"/>
                </a:solidFill>
                <a:latin typeface="微软雅黑"/>
              </a:defRPr>
            </a:pPr>
            <a:r>
              <a:t>推理效率 ↑ ~25%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474720" cy="41148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474720" cy="50292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Kimi Linear 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37744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自研线性注意力机制</a:t>
            </a:r>
            <a:br/>
            <a:r>
              <a:t>解决超长任务性能衰减</a:t>
            </a:r>
            <a:br/>
            <a:r>
              <a:t>上下文窗口 ×10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79" y="4389120"/>
            <a:ext cx="2926080" cy="18288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457200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微软雅黑"/>
              </a:defRPr>
            </a:pPr>
            <a:r>
              <a:t>长上下文的工程底气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74720" cy="41148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474720" cy="502920"/>
          </a:xfrm>
          <a:prstGeom prst="roundRect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727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Moon Clip 二阶优化器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7744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首次用于大模型训练</a:t>
            </a:r>
            <a:br/>
            <a:r>
              <a:t>20T 数据跑出 40T 效果</a:t>
            </a:r>
            <a:br/>
            <a:r>
              <a:t>训练成本和算力功耗减半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389120"/>
            <a:ext cx="2926080" cy="18288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57200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7BA7"/>
                </a:solidFill>
                <a:latin typeface="微软雅黑"/>
              </a:defRPr>
            </a:pPr>
            <a:r>
              <a:t>训练效率翻倍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852160"/>
            <a:ext cx="8531352" cy="54864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870448"/>
            <a:ext cx="853135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三项叠加 → 整体扩展效率提升 ~2.5 倍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313" dur="indefinite" restart="never" nodeType="tmRoot">
          <p:childTnLst>
            <p:seq concurrent="1" nextAc="seek">
              <p:cTn id="314" dur="indefinite" nodeType="mainSeq"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18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2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2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24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5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27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30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33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36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39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0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42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3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45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48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51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54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5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8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60" dur="6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1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63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66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69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72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75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6" presetID="22" presetClass="entr" presetSubtype="2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3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78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81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为什么全球都紧张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算力挤兑 · 蒸馏争议 · 从卡芯片到卡算法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蒸馏争议 — 三条反驳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725912" cy="82296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C25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25B56"/>
                </a:solidFill>
                <a:latin typeface="微软雅黑"/>
              </a:defRPr>
            </a:pPr>
            <a:r>
              <a:t>白宫指控：月之暗面蒸馏了 Anthropic 的 Fable 模型，财长威胁制裁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5912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560320"/>
            <a:ext cx="640080" cy="640080"/>
          </a:xfrm>
          <a:prstGeom prst="ellipse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14600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D4E37"/>
                </a:solidFill>
                <a:latin typeface="微软雅黑"/>
              </a:defRPr>
            </a:pPr>
            <a:r>
              <a:t>性能无法靠蒸馏获得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92608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K3 排全球第二/第三/前端第一，仅靠蒸馏不可能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60604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BA7A7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725912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840480"/>
            <a:ext cx="640080" cy="64008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94760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D4E37"/>
                </a:solidFill>
                <a:latin typeface="微软雅黑"/>
              </a:defRPr>
            </a:pPr>
            <a:r>
              <a:t>开源技术报告可复核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0624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开放权重 + 全公开架构，蒸馏出来的是别人的架构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88620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8A87C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725912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120640"/>
            <a:ext cx="640080" cy="640080"/>
          </a:xfrm>
          <a:prstGeom prst="ellipse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074920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D4E37"/>
                </a:solidFill>
                <a:latin typeface="微软雅黑"/>
              </a:defRPr>
            </a:pPr>
            <a:r>
              <a:t>时间线对不上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48640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D6B"/>
                </a:solidFill>
                <a:latin typeface="微软雅黑"/>
              </a:defRPr>
            </a:pPr>
            <a:r>
              <a:t>Fable 发布到 K3 训练完成之间不够走完蒸馏流程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516636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7BA7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来源：Nathan Lambert · TechCrunch · BBC中文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382" dur="indefinite" restart="never" nodeType="tmRoot">
          <p:childTnLst>
            <p:seq concurrent="1" nextAc="seek">
              <p:cTn id="383" dur="indefinite" nodeType="mainSeq"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8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8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90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393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4" presetID="22" presetClass="entr" presetSubtype="4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39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7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399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02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0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08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9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11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5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17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20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23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2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7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29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32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3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35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38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41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44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5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47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从"卡芯片"到"卡算法"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9445752" cy="27432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56032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5B56"/>
                </a:solidFill>
                <a:latin typeface="微软雅黑"/>
              </a:defRPr>
            </a:pPr>
            <a:r>
              <a:t>卡芯片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2022-2024</a:t>
            </a:r>
          </a:p>
        </p:txBody>
      </p:sp>
      <p:sp>
        <p:nvSpPr>
          <p:cNvPr id="7" name="Oval 6"/>
          <p:cNvSpPr/>
          <p:nvPr/>
        </p:nvSpPr>
        <p:spPr>
          <a:xfrm>
            <a:off x="1920240" y="2606040"/>
            <a:ext cx="274320" cy="274320"/>
          </a:xfrm>
          <a:prstGeom prst="ellipse">
            <a:avLst/>
          </a:prstGeom>
          <a:solidFill>
            <a:srgbClr val="C2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禁运高端GPU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256032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指控蒸馏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2025-2026</a:t>
            </a:r>
          </a:p>
        </p:txBody>
      </p:sp>
      <p:sp>
        <p:nvSpPr>
          <p:cNvPr id="12" name="Oval 11"/>
          <p:cNvSpPr/>
          <p:nvPr/>
        </p:nvSpPr>
        <p:spPr>
          <a:xfrm>
            <a:off x="4937759" y="260604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108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DeepSeek + K3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371600"/>
            <a:ext cx="256032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417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5B56"/>
                </a:solidFill>
                <a:latin typeface="微软雅黑"/>
              </a:defRPr>
            </a:pPr>
            <a:r>
              <a:t>实体清单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2606040"/>
            <a:ext cx="274320" cy="274320"/>
          </a:xfrm>
          <a:prstGeom prst="ellipse">
            <a:avLst/>
          </a:prstGeom>
          <a:solidFill>
            <a:srgbClr val="C25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108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威胁制裁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59" y="1371600"/>
            <a:ext cx="2560320" cy="10972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9" y="1417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7BA7"/>
                </a:solidFill>
                <a:latin typeface="微软雅黑"/>
              </a:defRPr>
            </a:pPr>
            <a:r>
              <a:t>下一步？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1828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</a:p>
        </p:txBody>
      </p:sp>
      <p:sp>
        <p:nvSpPr>
          <p:cNvPr id="22" name="Oval 21"/>
          <p:cNvSpPr/>
          <p:nvPr/>
        </p:nvSpPr>
        <p:spPr>
          <a:xfrm>
            <a:off x="10972799" y="2606040"/>
            <a:ext cx="274320" cy="274320"/>
          </a:xfrm>
          <a:prstGeom prst="ellipse">
            <a:avLst/>
          </a:prstGeom>
          <a:solidFill>
            <a:srgbClr val="8B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9" y="3108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全面封锁？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10725912" cy="201168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微软雅黑"/>
              </a:defRPr>
            </a:pPr>
            <a:r>
              <a:t>Pattern：你强了，就说你偷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0916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D4E37"/>
                </a:solidFill>
                <a:latin typeface="微软雅黑"/>
              </a:defRPr>
            </a:pPr>
            <a:r>
              <a:t>• 6月：Anthropic 指控阿里巴巴"蒸馏攻击"</a:t>
            </a:r>
            <a:br/>
            <a:r>
              <a:t>• 7月：白宫指控月之暗面蒸馏 Fable</a:t>
            </a:r>
            <a:br/>
            <a:r>
              <a:t>• 专家反驳：性能无法靠蒸馏获得，KDA 架构完全原创</a:t>
            </a:r>
            <a:br/>
            <a:br/>
            <a:r>
              <a:t>中国商务部：美方"缺乏事实依据、双重标准，是典型的 AI 霸权主义"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448" dur="indefinite" restart="never" nodeType="tmRoot">
          <p:childTnLst>
            <p:seq concurrent="1" nextAc="seek">
              <p:cTn id="449" dur="indefinite" nodeType="mainSeq"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53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5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7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5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62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65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6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68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71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2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74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7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80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81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83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8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86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87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489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92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495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6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498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01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2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04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0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10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1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513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16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7" presetID="22" presetClass="entr" presetSubtype="2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19" dur="6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22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25" dur="8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为什么重要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趋势信号 · 开源突围 · 资本定价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6F47"/>
                </a:solidFill>
                <a:latin typeface="微软雅黑"/>
              </a:defRPr>
            </a:pPr>
            <a:r>
              <a:t>中国AI突破密度 — 不是偶然，是趋势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0725912" cy="27432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2560320" cy="13716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Georgia"/>
              </a:defRPr>
            </a:pPr>
            <a:r>
              <a:t>DeepSeek 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推理模型</a:t>
            </a:r>
            <a:br/>
            <a:r>
              <a:t>震惊华尔街</a:t>
            </a:r>
          </a:p>
        </p:txBody>
      </p:sp>
      <p:sp>
        <p:nvSpPr>
          <p:cNvPr id="8" name="Oval 7"/>
          <p:cNvSpPr/>
          <p:nvPr/>
        </p:nvSpPr>
        <p:spPr>
          <a:xfrm>
            <a:off x="1828800" y="288036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1371600"/>
            <a:ext cx="2560320" cy="13716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41732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7C"/>
                </a:solidFill>
                <a:latin typeface="Georgia"/>
              </a:defRPr>
            </a:pPr>
            <a:r>
              <a:t>DeepSeek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83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2025年中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0312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开源基座</a:t>
            </a:r>
            <a:br/>
            <a:r>
              <a:t>逼近GPT-4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88036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0" y="1371600"/>
            <a:ext cx="2560320" cy="13716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41732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A7A7"/>
                </a:solidFill>
                <a:latin typeface="Georgia"/>
              </a:defRPr>
            </a:pPr>
            <a:r>
              <a:t>Kimi 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7830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2025年底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0312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MoE架构</a:t>
            </a:r>
            <a:br/>
            <a:r>
              <a:t>1万亿参数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0" y="2880360"/>
            <a:ext cx="274320" cy="274320"/>
          </a:xfrm>
          <a:prstGeom prst="ellipse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0" y="1097280"/>
            <a:ext cx="2560320" cy="1645920"/>
          </a:xfrm>
          <a:prstGeom prst="roundRect">
            <a:avLst/>
          </a:prstGeom>
          <a:solidFill>
            <a:srgbClr val="FAF7F2"/>
          </a:solidFill>
          <a:ln w="2540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14300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BA7A7"/>
                </a:solidFill>
                <a:latin typeface="Georgia"/>
              </a:defRPr>
            </a:pPr>
            <a:r>
              <a:t>Kimi K3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5087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2026.07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82880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D4E37"/>
                </a:solidFill>
                <a:latin typeface="微软雅黑"/>
              </a:defRPr>
            </a:pPr>
            <a:r>
              <a:t>2.8万亿</a:t>
            </a:r>
            <a:br/>
            <a:r>
              <a:t>全球第三</a:t>
            </a:r>
          </a:p>
        </p:txBody>
      </p:sp>
      <p:sp>
        <p:nvSpPr>
          <p:cNvPr id="23" name="Oval 22"/>
          <p:cNvSpPr/>
          <p:nvPr/>
        </p:nvSpPr>
        <p:spPr>
          <a:xfrm>
            <a:off x="10332720" y="2880360"/>
            <a:ext cx="274320" cy="274320"/>
          </a:xfrm>
          <a:prstGeom prst="ellipse">
            <a:avLst/>
          </a:prstGeom>
          <a:solidFill>
            <a:srgbClr val="7B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3657600"/>
            <a:ext cx="9445752" cy="228600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DE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9904" y="3749039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微软雅黑"/>
              </a:defRPr>
            </a:pPr>
            <a:r>
              <a:t>关键判断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251960"/>
            <a:ext cx="8531352" cy="1554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4E37"/>
                </a:solidFill>
                <a:latin typeface="微软雅黑"/>
              </a:defRPr>
            </a:pPr>
            <a:r>
              <a:t>DeepSeek 出来时，有人说是灵光一现。K3 出来，你不能再这么说了。</a:t>
            </a:r>
            <a:br/>
            <a:br/>
            <a:r>
              <a:t>中国AI公司正在系统性逼近、甚至局部超越美国顶级实验室。</a:t>
            </a:r>
            <a:br/>
            <a:r>
              <a:t>不是一次，是一种趋势。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526" dur="indefinite" restart="never" nodeType="tmRoot">
          <p:childTnLst>
            <p:seq concurrent="1" nextAc="seek">
              <p:cTn id="527" dur="indefinite" nodeType="mainSeq">
                <p:childTnLst>
                  <p:par>
                    <p:cTn id="528" fill="hold">
                      <p:stCondLst>
                        <p:cond delay="0"/>
                      </p:stCondLst>
                      <p:childTnLst>
                        <p:par>
                          <p:cTn id="52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31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34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5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3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40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4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43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4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46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47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549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0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5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55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58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61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2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564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5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67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70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73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76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7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579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0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8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85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88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591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2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594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5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597" dur="6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00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03" dur="8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6F47"/>
                </a:solidFill>
                <a:latin typeface="微软雅黑"/>
              </a:defRPr>
            </a:pPr>
            <a:r>
              <a:t>中国AI基础设施闭环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70248" y="13716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C25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70248" y="1508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5B56"/>
                </a:solidFill>
                <a:latin typeface="微软雅黑"/>
              </a:defRPr>
            </a:pPr>
            <a:r>
              <a:t>国产芯片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0248" y="19659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华为昇腾 · 沐曦 · 燧原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2004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7B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33375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BA7A7"/>
                </a:solidFill>
                <a:latin typeface="微软雅黑"/>
              </a:defRPr>
            </a:pPr>
            <a:r>
              <a:t>开源模型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794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Kimi K3 · DeepSeek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50292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51663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7C"/>
                </a:solidFill>
                <a:latin typeface="微软雅黑"/>
              </a:defRPr>
            </a:pPr>
            <a:r>
              <a:t>部署框架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5623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vLLM · SGLang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657600" cy="118872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8B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7BA7"/>
                </a:solidFill>
                <a:latin typeface="微软雅黑"/>
              </a:defRPr>
            </a:pPr>
            <a:r>
              <a:t>应用生态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D6B"/>
                </a:solidFill>
                <a:latin typeface="微软雅黑"/>
              </a:defRPr>
            </a:pPr>
            <a:r>
              <a:t>企业应用 · 开发者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01752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6F47"/>
                </a:solidFill>
                <a:latin typeface="微软雅黑"/>
              </a:defRPr>
            </a:pPr>
            <a:r>
              <a:t>自主可控</a:t>
            </a:r>
            <a:br/>
            <a:r>
              <a:t>完整闭环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华为昇腾、沐曦、燧原已适配 K3 · vLLM 提供生产级支持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604" dur="indefinite" restart="never" nodeType="tmRoot">
          <p:childTnLst>
            <p:seq concurrent="1" nextAc="seek">
              <p:cTn id="605" dur="indefinite" nodeType="mainSeq">
                <p:childTnLst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09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" presetID="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6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1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18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9" presetID="2" presetClass="entr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621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24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27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8" presetID="2" presetClass="entr" presetSubtype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630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3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33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3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36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37" presetID="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">
                                <p:cBhvr>
                                  <p:cTn id="639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42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45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6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48" dur="6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8B6F47"/>
                </a:solidFill>
                <a:latin typeface="微软雅黑"/>
              </a:defRPr>
            </a:pPr>
            <a:r>
              <a:t>估值飙升 — 真金白银的市场定价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200400"/>
            <a:ext cx="9601200" cy="27432"/>
          </a:xfrm>
          <a:prstGeom prst="rect">
            <a:avLst/>
          </a:prstGeom>
          <a:solidFill>
            <a:srgbClr val="E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8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Georgia"/>
              </a:defRPr>
            </a:pPr>
            <a:r>
              <a:t>$33亿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2024.08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28600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Georgia"/>
              </a:defRPr>
            </a:pPr>
            <a:r>
              <a:t>$43亿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4747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2025.12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8600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Georgia"/>
              </a:defRPr>
            </a:pPr>
            <a:r>
              <a:t>$100亿+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4747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2026.01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3063240"/>
            <a:ext cx="274320" cy="274320"/>
          </a:xfrm>
          <a:prstGeom prst="ellipse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28600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6F47"/>
                </a:solidFill>
                <a:latin typeface="Georgia"/>
              </a:defRPr>
            </a:pPr>
            <a:r>
              <a:t>$200亿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747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2026.05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0" y="3063240"/>
            <a:ext cx="274320" cy="274320"/>
          </a:xfrm>
          <a:prstGeom prst="ellipse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286000"/>
            <a:ext cx="14630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8A87C"/>
                </a:solidFill>
                <a:latin typeface="Georgia"/>
              </a:defRPr>
            </a:pPr>
            <a:r>
              <a:t>$315亿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4747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Georgia"/>
              </a:defRPr>
            </a:pPr>
            <a:r>
              <a:t>2026.07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371600"/>
            <a:ext cx="2286000" cy="13716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8B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4630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7BA7"/>
                </a:solidFill>
                <a:latin typeface="Georgia"/>
              </a:defRPr>
            </a:pPr>
            <a:r>
              <a:t>$500亿?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D6B"/>
                </a:solidFill>
                <a:latin typeface="微软雅黑"/>
              </a:defRPr>
            </a:pPr>
            <a:r>
              <a:t>Pre-IPO</a:t>
            </a:r>
            <a:br/>
            <a:r>
              <a:t>中金+高盛 · 港股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389120"/>
            <a:ext cx="8531352" cy="13716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480560"/>
            <a:ext cx="8531352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7C"/>
                </a:solidFill>
                <a:latin typeface="微软雅黑"/>
              </a:defRPr>
            </a:pPr>
            <a:r>
              <a:t>从 $33亿 到 $315亿</a:t>
            </a:r>
            <a:br/>
            <a:r>
              <a:t>冲刺港股 IPO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7D6B"/>
                </a:solidFill>
                <a:latin typeface="微软雅黑"/>
              </a:defRPr>
            </a:pPr>
            <a:r>
              <a:t>Bloomberg · TechCrunch · The Decoder · 电子工程专辑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649" dur="indefinite" restart="never" nodeType="tmRoot">
          <p:childTnLst>
            <p:seq concurrent="1" nextAc="seek">
              <p:cTn id="650" dur="indefinite" nodeType="mainSeq"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5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5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65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8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60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6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63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6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66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67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69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72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75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6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78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81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84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5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87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8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90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1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9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4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696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699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02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3" presetID="22" presetClass="entr" presetSubtype="4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7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05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6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08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9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11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2" presetID="22" presetClass="entr" presetSubtype="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1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5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17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DE5D5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914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8B6F47"/>
                </a:solidFill>
                <a:latin typeface="微软雅黑"/>
              </a:defRPr>
            </a:pPr>
            <a:r>
              <a:t>我的判断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B7D6B"/>
                </a:solidFill>
                <a:latin typeface="微软雅黑"/>
              </a:defRPr>
            </a:pPr>
            <a:r>
              <a:t>中国团队可以在最前沿的底层机制上做原创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77440"/>
            <a:ext cx="2743200" cy="2743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2286000"/>
            <a:ext cx="4572000" cy="36576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57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8B6F47"/>
                </a:solidFill>
                <a:latin typeface="微软雅黑"/>
              </a:defRPr>
            </a:pPr>
            <a:r>
              <a:t>关注 AI大家学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457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B7D6B"/>
                </a:solidFill>
                <a:latin typeface="微软雅黑"/>
              </a:defRPr>
            </a:pPr>
            <a:r>
              <a:t>AI 世界快人一步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57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A87C"/>
                </a:solidFill>
                <a:latin typeface="微软雅黑"/>
              </a:defRPr>
            </a:pPr>
            <a:r>
              <a:t>开源 vs 闭源，你站哪边？评论区聊聊 👇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718" dur="indefinite" restart="never" nodeType="tmRoot">
          <p:childTnLst>
            <p:seq concurrent="1" nextAc="seek">
              <p:cTn id="719" dur="indefinite" nodeType="mainSeq">
                <p:childTnLst>
                  <p:par>
                    <p:cTn id="720" fill="hold">
                      <p:stCondLst>
                        <p:cond delay="0"/>
                      </p:stCondLst>
                      <p:childTnLst>
                        <p:par>
                          <p:cTn id="721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22">
                                <p:cBhvr>
                                  <p:cTn id="723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24" presetID="53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53">
                                <p:cBhvr>
                                  <p:cTn id="726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27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29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0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preset=10">
                                <p:cBhvr>
                                  <p:cTn id="73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