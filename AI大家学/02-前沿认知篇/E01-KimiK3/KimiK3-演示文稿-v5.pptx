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365760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8B6F47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5D4E37"/>
                </a:solidFill>
                <a:latin typeface="微软雅黑"/>
              </a:defRPr>
            </a:pPr>
            <a:r>
              <a:t>当开源模型第一次逼到闭源喉咙口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B7D6B"/>
                </a:solidFill>
                <a:latin typeface="微软雅黑"/>
              </a:defRPr>
            </a:pPr>
            <a:r>
              <a:t>AI大家学 · 前沿AI认知篇 · 2026年8月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914400"/>
            <a:ext cx="3200400" cy="3200400"/>
          </a:xfrm>
          <a:prstGeom prst="ellipse">
            <a:avLst/>
          </a:prstGeom>
          <a:solidFill>
            <a:srgbClr val="FAF7F2"/>
          </a:solidFill>
          <a:ln w="1905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A87C"/>
                </a:solidFill>
                <a:latin typeface="Georgia"/>
              </a:defRPr>
            </a:pPr>
            <a:r>
              <a:t>2.8T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B7D6B"/>
                </a:solidFill>
                <a:latin typeface="微软雅黑"/>
              </a:defRPr>
            </a:pPr>
            <a:r>
              <a:t>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数据来源：Artificial Analysis · Frontend Code Arena · 月之暗面官方技术报告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8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6F47"/>
                </a:solidFill>
                <a:latin typeface="Georgia"/>
              </a:defRPr>
            </a:pPr>
            <a:r>
              <a:t>72小时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737360"/>
            <a:ext cx="7315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C25B56"/>
                </a:solidFill>
                <a:latin typeface="Georgia"/>
              </a:defRPr>
            </a:pPr>
            <a:r>
              <a:t>-$4,700 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D4E37"/>
                </a:solidFill>
                <a:latin typeface="微软雅黑"/>
              </a:defRPr>
            </a:pPr>
            <a:r>
              <a:t>全球科技股市值蒸发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B7D6B"/>
                </a:solidFill>
                <a:latin typeface="微软雅黑"/>
              </a:rPr>
              <a:t>7月16日  </a:t>
            </a:r>
            <a:r>
              <a:rPr sz="1300" b="1">
                <a:solidFill>
                  <a:srgbClr val="8B6F47"/>
                </a:solidFill>
                <a:latin typeface="微软雅黑"/>
              </a:rPr>
              <a:t>月之暗面发布 Kimi K3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B7D6B"/>
                </a:solidFill>
                <a:latin typeface="微软雅黑"/>
              </a:rPr>
              <a:t>7月22日  </a:t>
            </a:r>
            <a:r>
              <a:rPr sz="1300" b="1">
                <a:solidFill>
                  <a:srgbClr val="C25B56"/>
                </a:solidFill>
                <a:latin typeface="微软雅黑"/>
              </a:rPr>
              <a:t>白宫指控蒸馏 · 商务部调查 · 200家硅谷公司反对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B7D6B"/>
                </a:solidFill>
                <a:latin typeface="微软雅黑"/>
              </a:rPr>
              <a:t>7月27日  </a:t>
            </a:r>
            <a:r>
              <a:rPr sz="1300" b="1">
                <a:solidFill>
                  <a:srgbClr val="7BA7A7"/>
                </a:solidFill>
                <a:latin typeface="微软雅黑"/>
              </a:rPr>
              <a:t>开源权重上线 · 30分钟登顶 Hugging 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B7D6B"/>
                </a:solidFill>
                <a:latin typeface="微软雅黑"/>
              </a:rPr>
              <a:t>7月30日  </a:t>
            </a:r>
            <a:r>
              <a:rPr sz="1300" b="1">
                <a:solidFill>
                  <a:srgbClr val="E8A87C"/>
                </a:solidFill>
                <a:latin typeface="微软雅黑"/>
              </a:rPr>
              <a:t>F轮融资 $35亿 · 估值飙至 $350亿 · 冲刺港股IPO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据多家财经媒体统计 · Bloomberg · 36氪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5" dur="indefinite" restart="never" nodeType="tmRoot">
          <p:childTnLst>
            <p:seq concurrent="1" nextAc="seek">
              <p:cTn id="26" dur="indefinite" nodeType="mainSeq"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0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3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6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5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它有多强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2.8万亿参数 · MoE 896专家 · 100万Token上下文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MoE 混合专家架构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知识储备极大，单次推理只调用 1.8% 的专家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总参数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Georgia"/>
              </a:defRPr>
            </a:pPr>
            <a:r>
              <a:t>2.8万亿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专家总数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BA7A7"/>
                </a:solidFill>
                <a:latin typeface="Georgia"/>
              </a:defRPr>
            </a:pPr>
            <a:r>
              <a:t>896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每次激活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16个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激活比例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1.8%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725912" cy="25603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翻译成人话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D4E37"/>
                </a:solidFill>
                <a:latin typeface="微软雅黑"/>
              </a:defRPr>
            </a:pPr>
            <a:r>
              <a:t>896个专家随时待命，但每次推理只叫16个出来干活。</a:t>
            </a:r>
            <a:br/>
            <a:br/>
            <a:r>
              <a:t>就像一家有896个专科医生的医院，你每次看病只需要挂16个相关科室。</a:t>
            </a:r>
            <a:br/>
            <a:br/>
            <a:r>
              <a:t>→ 知识储备极大，但单次成本很低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来源：月之暗面官方技术报告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52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3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6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1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9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2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5" dur="8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成绩单 — 硬指标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Frontend Code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前端代码能力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1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BA7A7"/>
                </a:solidFill>
                <a:latin typeface="Georgia"/>
              </a:defRPr>
            </a:pPr>
            <a:r>
              <a:t>1679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508760"/>
            <a:ext cx="822960" cy="45720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50876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554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全球第一 · 开源首次登顶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AA Intelligence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智能指数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57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697480"/>
            <a:ext cx="822960" cy="45720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69748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仅次 Fable 5 (60) 和 GPT-5.6 Sol (59)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39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BrowseComp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长周期检索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7BA7"/>
                </a:solidFill>
                <a:latin typeface="Georgia"/>
              </a:defRPr>
            </a:pPr>
            <a:r>
              <a:t>91.2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886200"/>
            <a:ext cx="822960" cy="45720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88620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931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全球第一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73152" cy="100584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GDPval-AA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真实经济任务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83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Georgia"/>
              </a:defRPr>
            </a:pPr>
            <a:r>
              <a:t>1668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5074920"/>
            <a:ext cx="822960" cy="4572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07492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开源模型最高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Artificial Analysis · Frontend Code Arena · 月之暗面技术报告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06" dur="indefinite" restart="never" nodeType="tmRoot">
          <p:childTnLst>
            <p:seq concurrent="1" nextAc="seek">
              <p:cTn id="107" dur="indefinite" nodeType="mainSeq"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1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4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7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3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6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29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2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5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38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41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4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0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53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6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9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6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65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8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71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74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77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80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83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86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89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92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95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9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201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04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07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三模型对比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5912" cy="9144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1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对比维度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1731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Georgia"/>
              </a:defRPr>
            </a:pPr>
            <a:r>
              <a:t>Code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1731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Georgia"/>
              </a:defRPr>
            </a:pPr>
            <a:r>
              <a:t>AA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41731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开源/闭源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39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59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微软雅黑"/>
              </a:defRPr>
            </a:pPr>
            <a:r>
              <a:t>Kimi K3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1459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1459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51459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BA7A7"/>
                </a:solidFill>
                <a:latin typeface="微软雅黑"/>
              </a:defRPr>
            </a:pPr>
            <a:r>
              <a:t>开源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7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Claude Fable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1187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1187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61187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A87C"/>
                </a:solidFill>
                <a:latin typeface="微软雅黑"/>
              </a:defRPr>
            </a:pPr>
            <a:r>
              <a:t>闭源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GPT-5.6 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70916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709160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25B56"/>
                </a:solidFill>
                <a:latin typeface="微软雅黑"/>
              </a:defRPr>
            </a:pPr>
            <a:r>
              <a:t>闭源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725912" cy="64008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259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开源第一，综合第三，性价比维度几乎没有对手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08" dur="indefinite" restart="never" nodeType="tmRoot">
          <p:childTnLst>
            <p:seq concurrent="1" nextAc="seek">
              <p:cTn id="209" dur="indefinite" nodeType="mainSeq"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1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9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22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25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2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3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34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3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3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4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9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5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55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58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61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64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6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7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73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7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79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真实生产力 — I-Love-Q 中子星研究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5720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4864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BA7A7"/>
                </a:solidFill>
                <a:latin typeface="Georgia"/>
              </a:defRPr>
            </a:pPr>
            <a:r>
              <a:t>~2 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2976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自主阅读 20+ 篇论文</a:t>
            </a:r>
            <a:br/>
            <a:r>
              <a:t>评估 300+ 种状态方程</a:t>
            </a:r>
            <a:br/>
            <a:r>
              <a:t>生成 3000+ 行 Python</a:t>
            </a:r>
            <a:br/>
            <a:r>
              <a:t>马斯克评价："Impressive"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20040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D6B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45720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029200" cy="54864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资深研究人员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8A87C"/>
                </a:solidFill>
                <a:latin typeface="Georgia"/>
              </a:defRPr>
            </a:pPr>
            <a:r>
              <a:t>1-2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91840"/>
            <a:ext cx="42976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需要领域专业知识积累</a:t>
            </a:r>
            <a:br/>
            <a:r>
              <a:t>手动检索和筛选文献</a:t>
            </a:r>
            <a:br/>
            <a:r>
              <a:t>编写和调试计算代码</a:t>
            </a:r>
            <a:br/>
            <a:r>
              <a:t>反复验证状态方程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来源：月之暗面官方演示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80" dur="indefinite" restart="never" nodeType="tmRoot">
          <p:childTnLst>
            <p:seq concurrent="1" nextAc="seek">
              <p:cTn id="281" dur="indefinite" nodeType="mainSeq"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8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6" presetID="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28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91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94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29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00" dur="8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0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4" presetID="2" presetClass="entr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306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7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09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12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15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18" dur="8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怎么做到的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不是堆参数，是改地基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三项自研底层技术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对沿用近十年的 AI 基础机制做系统性重写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50292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KDA 混合线性注意力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不同通道 × 不同衰减速率</a:t>
            </a:r>
            <a:br/>
            <a:r>
              <a:t>管理长序列记忆</a:t>
            </a:r>
            <a:br/>
            <a:r>
              <a:t>+ Attention Residuals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微软雅黑"/>
              </a:defRPr>
            </a:pPr>
            <a:r>
              <a:t>推理效率 ↑ ~25%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50292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Kimi Linear 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自研线性注意力机制</a:t>
            </a:r>
            <a:br/>
            <a:r>
              <a:t>解决超长任务性能衰减</a:t>
            </a:r>
            <a:br/>
            <a:r>
              <a:t>上下文窗口 ×10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微软雅黑"/>
              </a:defRPr>
            </a:pPr>
            <a:r>
              <a:t>长上下文的工程底气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474720" cy="50292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Moon Clip 二阶优化器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首次用于大模型训练</a:t>
            </a:r>
            <a:br/>
            <a:r>
              <a:t>20T 数据跑出 40T 效果</a:t>
            </a:r>
            <a:br/>
            <a:r>
              <a:t>训练成本和算力功耗减半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BA7"/>
                </a:solidFill>
                <a:latin typeface="微软雅黑"/>
              </a:defRPr>
            </a:pPr>
            <a:r>
              <a:t>训练效率翻倍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52160"/>
            <a:ext cx="8531352" cy="5486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870448"/>
            <a:ext cx="85313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三项叠加 → 整体扩展效率提升 ~2.5 倍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319" dur="indefinite" restart="never" nodeType="tmRoot">
          <p:childTnLst>
            <p:seq concurrent="1" nextAc="seek">
              <p:cTn id="320" dur="indefinite" nodeType="mainSeq"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2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2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8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30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33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6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42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45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6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48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51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5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5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63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66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7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69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72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75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78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81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2" presetID="22" presetClass="entr" presetSubtype="2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3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87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为什么全球都紧张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算力挤兑 · 蒸馏争议 · 从卡芯片到卡算法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蒸馏争议 — 三条反驳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5912" cy="100584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25B56"/>
                </a:solidFill>
                <a:latin typeface="微软雅黑"/>
              </a:defRPr>
            </a:pPr>
            <a:r>
              <a:t>白宫指控：月之暗面蒸馏了 Anthropic 的 Fable 模型</a:t>
            </a:r>
            <a:br/>
            <a:r>
              <a:t>财长威胁制裁 · 商务部 BIS 确认调查 · 截至8月初尚未列入实体清单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606040"/>
            <a:ext cx="548640" cy="54864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603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D4E37"/>
                </a:solidFill>
                <a:latin typeface="微软雅黑"/>
              </a:defRPr>
            </a:pPr>
            <a:r>
              <a:t>性能无法靠蒸馏获得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9260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K3 排全球第二/第三/前端第一，仅靠蒸馏不可能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65176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BA7A7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703320"/>
            <a:ext cx="548640" cy="54864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57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D4E37"/>
                </a:solidFill>
                <a:latin typeface="微软雅黑"/>
              </a:defRPr>
            </a:pPr>
            <a:r>
              <a:t>开源技术报告可复核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0233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开放权重 + 全公开架构，蒸馏出来的是别人的架构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7490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A87C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800600"/>
            <a:ext cx="548640" cy="548640"/>
          </a:xfrm>
          <a:prstGeom prst="ellipse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754879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D4E37"/>
                </a:solidFill>
                <a:latin typeface="微软雅黑"/>
              </a:defRPr>
            </a:pPr>
            <a:r>
              <a:t>时间线对不上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1206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Fable 发布到 K3 训练完成之间不够走完蒸馏流程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84632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B7BA7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20"/>
            <a:ext cx="10725912" cy="5486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88152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BA7A7"/>
                </a:solidFill>
                <a:latin typeface="微软雅黑"/>
              </a:defRPr>
            </a:pPr>
            <a:r>
              <a:t>反转：近200家硅谷公司联名反对制裁 · 中国商务部反控美方也在蒸馏中国模型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来源：Nathan Lambert · BBC中文 · 电子工程专辑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388" dur="indefinite" restart="never" nodeType="tmRoot">
          <p:childTnLst>
            <p:seq concurrent="1" nextAc="seek">
              <p:cTn id="389" dur="indefinite" nodeType="mainSeq">
                <p:childTnLst>
                  <p:par>
                    <p:cTn id="390" fill="hold">
                      <p:stCondLst>
                        <p:cond delay="0"/>
                      </p:stCondLst>
                      <p:childTnLst>
                        <p:par>
                          <p:cTn id="39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9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9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9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0" presetID="22" presetClass="entr" presetSubtype="4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4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0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05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08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11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14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17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2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23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6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9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3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35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38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41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4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5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53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4" presetID="22" presetClass="entr" presetSubtype="2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5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59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从"卡芯片"到"卡算法"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1109167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5B56"/>
                </a:solidFill>
                <a:latin typeface="微软雅黑"/>
              </a:defRPr>
            </a:pPr>
            <a:r>
              <a:t>禁运GPU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2022-24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C2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切断高端</a:t>
            </a:r>
            <a:br/>
            <a:r>
              <a:t>芯片供应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01168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173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微软雅黑"/>
              </a:defRPr>
            </a:pPr>
            <a:r>
              <a:t>指控蒸馏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7830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2025-26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260604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DeepSeek</a:t>
            </a:r>
            <a:br/>
            <a:r>
              <a:t>+ Kimi K3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371600"/>
            <a:ext cx="201168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5B56"/>
                </a:solidFill>
                <a:latin typeface="微软雅黑"/>
              </a:defRPr>
            </a:pPr>
            <a:r>
              <a:t>商务部调查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830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17" name="Oval 16"/>
          <p:cNvSpPr/>
          <p:nvPr/>
        </p:nvSpPr>
        <p:spPr>
          <a:xfrm>
            <a:off x="5577840" y="2606040"/>
            <a:ext cx="274320" cy="274320"/>
          </a:xfrm>
          <a:prstGeom prst="ellipse">
            <a:avLst/>
          </a:prstGeom>
          <a:solidFill>
            <a:srgbClr val="C2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01752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BIS确认</a:t>
            </a:r>
            <a:br/>
            <a:r>
              <a:t>调查GB300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371600"/>
            <a:ext cx="201168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4173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微软雅黑"/>
              </a:defRPr>
            </a:pPr>
            <a:r>
              <a:t>硅谷反对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7830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260604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01752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200家公司</a:t>
            </a:r>
            <a:br/>
            <a:r>
              <a:t>联名反对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371600"/>
            <a:ext cx="201168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4173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BA7"/>
                </a:solidFill>
                <a:latin typeface="微软雅黑"/>
              </a:defRPr>
            </a:pPr>
            <a:r>
              <a:t>中方反控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7830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27" name="Oval 26"/>
          <p:cNvSpPr/>
          <p:nvPr/>
        </p:nvSpPr>
        <p:spPr>
          <a:xfrm>
            <a:off x="10149840" y="2606040"/>
            <a:ext cx="274320" cy="274320"/>
          </a:xfrm>
          <a:prstGeom prst="ellipse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01752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美方也在</a:t>
            </a:r>
            <a:br/>
            <a:r>
              <a:t>蒸馏中国模型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10725912" cy="22860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微软雅黑"/>
              </a:defRPr>
            </a:pPr>
            <a:r>
              <a:t>Pattern：你强了，就说你偷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26280"/>
            <a:ext cx="100584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• 6月：Anthropic 指控阿里巴巴"蒸馏攻击"</a:t>
            </a:r>
            <a:br/>
            <a:r>
              <a:t>• 7月：白宫指控月之暗面蒸馏 Fable · BIS 展开调查</a:t>
            </a:r>
            <a:br/>
            <a:r>
              <a:t>• 同日：近200家硅谷公司联名反对制裁中国AI模型</a:t>
            </a:r>
            <a:br/>
            <a:r>
              <a:t>• 中方反控：美国AI企业也在蒸馏中国模型</a:t>
            </a:r>
            <a:br/>
            <a:br/>
            <a:r>
              <a:t>连硅谷自己人都不买账 — 制裁开源只会把全球开发者推向中国生态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460" dur="indefinite" restart="never" nodeType="tmRoot">
          <p:childTnLst>
            <p:seq concurrent="1" nextAc="seek">
              <p:cTn id="461" dur="indefinite" nodeType="mainSeq"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6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68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71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74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77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80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83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86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89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92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9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98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01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04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07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10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3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1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9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22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25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28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31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34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37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40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3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4" presetID="22" presetClass="entr" presetSubtype="2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5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46" dur="6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9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52" dur="8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为什么重要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趋势信号 · 开源突围 · 商业数据 · 资本定价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中国AI突破密度 — 不是偶然，是趋势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Georgia"/>
              </a:defRPr>
            </a:pPr>
            <a:r>
              <a:t>DeepSeek 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推理模型</a:t>
            </a:r>
            <a:br/>
            <a:r>
              <a:t>震惊华尔街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288036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Georgia"/>
              </a:defRPr>
            </a:pPr>
            <a:r>
              <a:t>DeepSeek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2025年中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开源基座</a:t>
            </a:r>
            <a:br/>
            <a:r>
              <a:t>逼近GPT-4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88036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Georgia"/>
              </a:defRPr>
            </a:pPr>
            <a:r>
              <a:t>Kimi 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2025年底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MoE架构</a:t>
            </a:r>
            <a:br/>
            <a:r>
              <a:t>1万亿参数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0" y="288036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1097280"/>
            <a:ext cx="2560320" cy="164592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14300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5087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82880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2.8万亿</a:t>
            </a:r>
            <a:br/>
            <a:r>
              <a:t>全球第三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20" y="288036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3657600"/>
            <a:ext cx="9445752" cy="22860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3749039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微软雅黑"/>
              </a:defRPr>
            </a:pPr>
            <a:r>
              <a:t>关键判断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251960"/>
            <a:ext cx="8531352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DeepSeek 出来时，有人说是灵光一现。K3 出来，你不能再这么说了。</a:t>
            </a:r>
            <a:br/>
            <a:br/>
            <a:r>
              <a:t>中国AI公司正在系统性逼近、甚至局部超越美国顶级实验室。</a:t>
            </a:r>
            <a:br/>
            <a:r>
              <a:t>不是一次，是一种趋势。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553" dur="indefinite" restart="never" nodeType="tmRoot">
          <p:childTnLst>
            <p:seq concurrent="1" nextAc="seek">
              <p:cTn id="554" dur="indefinite" nodeType="mainSeq"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58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61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6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67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0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3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76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79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82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85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88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91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94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9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0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3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06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09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12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15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18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21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24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2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30" dur="8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开源不只是模型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给了菜谱，还给了整套厨房设备 — 模型 + 训练基础设施全链条开源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200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50292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MoonEP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A7A7"/>
                </a:solidFill>
                <a:latin typeface="微软雅黑"/>
              </a:defRPr>
            </a:pPr>
            <a:r>
              <a:t>高性能通信库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解决大规模 MoE 模型</a:t>
            </a:r>
            <a:br/>
            <a:r>
              <a:t>训练中的分布式</a:t>
            </a:r>
            <a:br/>
            <a:r>
              <a:t>通信瓶颈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114800"/>
            <a:ext cx="1280160" cy="32004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通信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3200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474720" cy="50292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FlashKDA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8A87C"/>
                </a:solidFill>
                <a:latin typeface="微软雅黑"/>
              </a:defRPr>
            </a:pPr>
            <a:r>
              <a:t>高性能注意力算子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4320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为 KDA 提供计算内核</a:t>
            </a:r>
            <a:br/>
            <a:r>
              <a:t>Prefill 提速</a:t>
            </a:r>
            <a:br/>
            <a:r>
              <a:t>1.7 - 2.2 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4114800"/>
            <a:ext cx="1280160" cy="32004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114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算子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474720" cy="3200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554480"/>
            <a:ext cx="3474720" cy="50292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AgentEnv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7BA7"/>
                </a:solidFill>
                <a:latin typeface="微软雅黑"/>
              </a:defRPr>
            </a:pPr>
            <a:r>
              <a:t>Agent训练沙箱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74320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分布式强化学习环境</a:t>
            </a:r>
            <a:br/>
            <a:r>
              <a:t>降低大规模 Agent</a:t>
            </a:r>
            <a:br/>
            <a:r>
              <a:t>RL 训练开销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114800"/>
            <a:ext cx="1280160" cy="32004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4114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沙箱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10725912" cy="10058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166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BA7A7"/>
                </a:solidFill>
                <a:latin typeface="Georgia"/>
              </a:defRPr>
            </a:pPr>
            <a:r>
              <a:t>30分钟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登顶HF趋势榜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166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7C"/>
                </a:solidFill>
                <a:latin typeface="Georgia"/>
              </a:defRPr>
            </a:pPr>
            <a:r>
              <a:t>113万+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HuggingFace下载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66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7BA7"/>
                </a:solidFill>
                <a:latin typeface="Georgia"/>
              </a:defRPr>
            </a:pPr>
            <a:r>
              <a:t>MIT许可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免费商用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166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6F47"/>
                </a:solidFill>
                <a:latin typeface="Georgia"/>
              </a:defRPr>
            </a:pPr>
            <a:r>
              <a:t>Day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华为/阿里/vLLM适配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来源：Hugging Face · vLLM · 华为昇腾 · 财联社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631" dur="indefinite" restart="never" nodeType="tmRoot">
          <p:childTnLst>
            <p:seq concurrent="1" nextAc="seek">
              <p:cTn id="632" dur="indefinite" nodeType="mainSeq"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3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3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3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4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4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4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5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5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5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6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1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63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6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69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7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7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7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8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84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5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8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0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9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0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05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08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11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14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1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20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23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26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29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中国AI基础设施闭环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70248" y="13716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70248" y="1508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国产芯片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8" y="1965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华为昇腾 · 沐曦 · 燧原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2004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337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微软雅黑"/>
              </a:defRPr>
            </a:pPr>
            <a:r>
              <a:t>开源模型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794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Kimi K3 · DeepSeek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50292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51663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部署框架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vLLM · SGLang · GPUStack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8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7BA7"/>
                </a:solidFill>
                <a:latin typeface="微软雅黑"/>
              </a:defRPr>
            </a:pPr>
            <a:r>
              <a:t>应用生态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企业应用 · 开发者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0175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6F47"/>
                </a:solidFill>
                <a:latin typeface="微软雅黑"/>
              </a:defRPr>
            </a:pPr>
            <a:r>
              <a:t>自主可控</a:t>
            </a:r>
            <a:br/>
            <a:r>
              <a:t>完整闭环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华为昇腾、阿里云已Day 0适配 K3 · vLLM 提供生产级支持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730" dur="indefinite" restart="never" nodeType="tmRoot">
          <p:childTnLst>
            <p:seq concurrent="1" nextAc="seek">
              <p:cTn id="731" dur="indefinite" nodeType="mainSeq"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3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6" presetID="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73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41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44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5" presetID="2" presetClass="entr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74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50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53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4" presetID="2" presetClass="entr" presetSubtype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756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59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62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3" presetID="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765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6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71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2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774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K3 发布后的商业数据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日销售额环比增长至少6倍 · K3上线次日ARR创历史最大单日增幅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7432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C25B56"/>
                </a:solidFill>
                <a:latin typeface="Georgia"/>
              </a:defRPr>
            </a:pPr>
            <a:r>
              <a:t>×6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微软雅黑"/>
              </a:defRPr>
            </a:pPr>
            <a:r>
              <a:t>日销售额增长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K3发布后环比暴增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474720" cy="27432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7373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7BA7A7"/>
                </a:solidFill>
                <a:latin typeface="Georgia"/>
              </a:defRPr>
            </a:pPr>
            <a:r>
              <a:t>$3亿+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6060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微软雅黑"/>
              </a:defRPr>
            </a:pPr>
            <a:r>
              <a:t>年化收入(ARR)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0175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6月中旬已突破</a:t>
            </a:r>
            <a:br/>
            <a:r>
              <a:t>API占比超70%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474720" cy="27432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E8A87C"/>
                </a:solidFill>
                <a:latin typeface="Georgia"/>
              </a:defRPr>
            </a:pPr>
            <a:r>
              <a:t>70%+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微软雅黑"/>
              </a:defRPr>
            </a:pPr>
            <a:r>
              <a:t>API收入占比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海外收入已超国内</a:t>
            </a:r>
            <a:br/>
            <a:r>
              <a:t>B端规模化变现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725912" cy="128016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F轮超额融资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原定目标 $10-20亿 → 实际超募 $35亿（近3倍）· 提前关闭</a:t>
            </a:r>
            <a:br/>
            <a:r>
              <a:t>投后估值从 $315亿 跳至 $350亿 · 拆除VIE · 冲刺港股IPO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来源：IT之家（张予彤发言）· 36氪 · 财联社 · 中国风投网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775" dur="indefinite" restart="never" nodeType="tmRoot">
          <p:childTnLst>
            <p:seq concurrent="1" nextAc="seek">
              <p:cTn id="776" dur="indefinite" nodeType="mainSeq"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80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83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8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78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92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95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6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98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0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04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07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8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10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1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16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1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2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25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2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估值飙升 — 真金白银的市场定价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109167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6F47"/>
                </a:solidFill>
                <a:latin typeface="Georgia"/>
              </a:defRPr>
            </a:pPr>
            <a:r>
              <a:t>$33亿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2024.08</a:t>
            </a:r>
          </a:p>
        </p:txBody>
      </p:sp>
      <p:sp>
        <p:nvSpPr>
          <p:cNvPr id="7" name="Oval 6"/>
          <p:cNvSpPr/>
          <p:nvPr/>
        </p:nvSpPr>
        <p:spPr>
          <a:xfrm>
            <a:off x="288036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6F47"/>
                </a:solidFill>
                <a:latin typeface="Georgia"/>
              </a:defRPr>
            </a:pPr>
            <a:r>
              <a:t>$43亿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2025.12</a:t>
            </a:r>
          </a:p>
        </p:txBody>
      </p:sp>
      <p:sp>
        <p:nvSpPr>
          <p:cNvPr id="10" name="Oval 9"/>
          <p:cNvSpPr/>
          <p:nvPr/>
        </p:nvSpPr>
        <p:spPr>
          <a:xfrm>
            <a:off x="489204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6F47"/>
                </a:solidFill>
                <a:latin typeface="Georgia"/>
              </a:defRPr>
            </a:pPr>
            <a:r>
              <a:t>$100亿+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2026.01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6F47"/>
                </a:solidFill>
                <a:latin typeface="Georgia"/>
              </a:defRPr>
            </a:pPr>
            <a:r>
              <a:t>$200亿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2026.05</a:t>
            </a:r>
          </a:p>
        </p:txBody>
      </p:sp>
      <p:sp>
        <p:nvSpPr>
          <p:cNvPr id="16" name="Oval 15"/>
          <p:cNvSpPr/>
          <p:nvPr/>
        </p:nvSpPr>
        <p:spPr>
          <a:xfrm>
            <a:off x="8732519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6F47"/>
                </a:solidFill>
                <a:latin typeface="Georgia"/>
              </a:defRPr>
            </a:pPr>
            <a:r>
              <a:t>$315亿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2026.06</a:t>
            </a:r>
          </a:p>
        </p:txBody>
      </p:sp>
      <p:sp>
        <p:nvSpPr>
          <p:cNvPr id="19" name="Oval 18"/>
          <p:cNvSpPr/>
          <p:nvPr/>
        </p:nvSpPr>
        <p:spPr>
          <a:xfrm>
            <a:off x="10561319" y="306324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22860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7C"/>
                </a:solidFill>
                <a:latin typeface="Georgia"/>
              </a:defRPr>
            </a:pPr>
            <a:r>
              <a:t>$350亿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188720"/>
            <a:ext cx="2286000" cy="13716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8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2801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BA7"/>
                </a:solidFill>
                <a:latin typeface="Georgia"/>
              </a:defRPr>
            </a:pPr>
            <a:r>
              <a:t>$500亿?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Pre-IPO目标</a:t>
            </a:r>
            <a:br/>
            <a:r>
              <a:t>中金+高盛 · 港股</a:t>
            </a:r>
            <a:br/>
            <a:r>
              <a:t>拆除VIE架构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389120"/>
            <a:ext cx="8531352" cy="16459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480560"/>
            <a:ext cx="8531352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从 $33亿 到 $350亿 · 半年涨约八倍</a:t>
            </a:r>
            <a:br/>
            <a:r>
              <a:t>F轮超募3倍 · 冲刺港股IPO</a:t>
            </a:r>
            <a:br/>
            <a:r>
              <a:t>"不该被贴上低价标签" — 从便宜到敢定价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Bloomberg · 36氪 · 财联社 · 电子工程专辑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829" dur="indefinite" restart="never" nodeType="tmRoot">
          <p:childTnLst>
            <p:seq concurrent="1" nextAc="seek">
              <p:cTn id="830" dur="indefinite" nodeType="mainSeq"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3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5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3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40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43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46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49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52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55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58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61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64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67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70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7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76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79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82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85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88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91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2" presetID="22" presetClass="entr" presetSubtype="4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8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9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9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00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1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03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0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本地部署到底要多少钱？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64卡超节点 · 8×B300 · 显存分析 · 成本评估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本地部署 — 官方推荐 vs 单机最优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模型权重 1560 GB · vLLM推理需要 ~1680 GB 显存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50292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64卡超节点（官方推荐）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6F47"/>
                </a:solidFill>
                <a:latin typeface="Georgia"/>
              </a:defRPr>
            </a:pPr>
            <a:r>
              <a:t>8台 × 8卡 H200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D4E37"/>
                </a:solidFill>
                <a:latin typeface="Georgia"/>
              </a:defRPr>
            </a:pPr>
            <a:r>
              <a:t>聚合显存 5,120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2976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✓ 充裕的KV缓存空间</a:t>
            </a:r>
            <a:br/>
            <a:r>
              <a:t>✓ 支持长上下文并发</a:t>
            </a:r>
            <a:br/>
            <a:r>
              <a:t>✓ 生产级稳定服务</a:t>
            </a:r>
            <a:br/>
            <a:br/>
            <a:r>
              <a:t>采购价 ~3000万人民币</a:t>
            </a:r>
            <a:br/>
            <a:r>
              <a:t>+网络运维 ≈ 4000万+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20040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D6B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5029200" cy="50292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8×B300 单机（最优解）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BA7A7"/>
                </a:solidFill>
                <a:latin typeface="Georgia"/>
              </a:defRPr>
            </a:pPr>
            <a:r>
              <a:t>8 × 288 GB HBM3e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D4E37"/>
                </a:solidFill>
                <a:latin typeface="Georgia"/>
              </a:defRPr>
            </a:pPr>
            <a:r>
              <a:t>合计显存 2,304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657600"/>
            <a:ext cx="42976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✓ 1560GB权重 + 740GB缓存</a:t>
            </a:r>
            <a:br/>
            <a:r>
              <a:t>✓ 同一NVSwitch域（零跨节点）</a:t>
            </a:r>
            <a:br/>
            <a:r>
              <a:t>✓ FP4/FP8双精度硬件加速</a:t>
            </a:r>
            <a:br/>
            <a:br/>
            <a:r>
              <a:t>美国市场 ~300-400万人民币</a:t>
            </a:r>
            <a:br/>
            <a:r>
              <a:t>中国市场 ~700万+（出口管制溢价）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来源：vLLM · NVIDIA DGX B300 · Reuters · SegmentFault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07" dur="indefinite" restart="never" nodeType="tmRoot">
          <p:childTnLst>
            <p:seq concurrent="1" nextAc="seek">
              <p:cTn id="908" dur="indefinite" nodeType="mainSeq"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12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15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6" presetID="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918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21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2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24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2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27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2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30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33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9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7" presetID="2" presetClass="entr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939" dur="7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42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45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48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51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5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54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8×B300 显存分配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Blackwell Ultra 架构 · 单卡 288GB HBM3e · NVLink 5.0 (1800 GB/s)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5752" cy="1371600"/>
          </a:xfrm>
          <a:prstGeom prst="roundRect">
            <a:avLst/>
          </a:prstGeom>
          <a:solidFill>
            <a:srgbClr val="F0EBE0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94457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8×B300 总显存：2,304 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6400800" cy="82296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模型权重 1,560 GB (MXFP4)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044952" cy="82296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044952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KV缓存</a:t>
            </a:r>
            <a:br/>
            <a:r>
              <a:t>+ 开销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2560320" cy="11887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BA7A7"/>
                </a:solidFill>
                <a:latin typeface="Georgia"/>
              </a:defRPr>
            </a:pPr>
            <a:r>
              <a:t>288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单卡 HBM3e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474720"/>
            <a:ext cx="2560320" cy="11887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B6F47"/>
                </a:solidFill>
                <a:latin typeface="Georgia"/>
              </a:defRPr>
            </a:pPr>
            <a:r>
              <a:t>2,304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8卡合计显存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474720"/>
            <a:ext cx="2560320" cy="11887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BA7A7"/>
                </a:solidFill>
                <a:latin typeface="Georgia"/>
              </a:defRPr>
            </a:pPr>
            <a:r>
              <a:t>1,560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MXFP4 权重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474720"/>
            <a:ext cx="2560320" cy="11887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566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A87C"/>
                </a:solidFill>
                <a:latin typeface="Georgia"/>
              </a:defRPr>
            </a:pPr>
            <a:r>
              <a:t>~740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23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KV缓存+开销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10725912" cy="109728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7492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A87C"/>
                </a:solidFill>
                <a:latin typeface="微软雅黑"/>
              </a:defRPr>
            </a:pPr>
            <a:r>
              <a:t>B300 核心优势：FP4/FP8 双精度硬件加速 · NVLink 5.0 带宽 1800 GB/s</a:t>
            </a:r>
            <a:br/>
            <a:r>
              <a:t>8卡全部在同一 NVSwitch 域内 → 避免跨节点通信开销 → 单机部署最优解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来源：NVIDIA DGX B300 · vLLM Blog · GPUStack 实测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55" dur="indefinite" restart="never" nodeType="tmRoot">
          <p:childTnLst>
            <p:seq concurrent="1" nextAc="seek">
              <p:cTn id="956" dur="indefinite" nodeType="mainSeq">
                <p:childTnLst>
                  <p:par>
                    <p:cTn id="957" fill="hold">
                      <p:stCondLst>
                        <p:cond delay="0"/>
                      </p:stCondLst>
                      <p:childTnLst>
                        <p:par>
                          <p:cTn id="95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60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63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6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69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72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75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7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81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8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84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8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8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8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90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1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9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96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99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0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05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08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1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1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14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1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17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18" presetID="22" presetClass="entr" presetSubtype="2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0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20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23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部署方案正在多元化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开源的意义不只是"免费用"，而是让部署选择权回到用户手里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50292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NVIDIA B300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Georgia"/>
              </a:defRPr>
            </a:pPr>
            <a:r>
              <a:t>Blackwell Ultra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单机8卡最优性能</a:t>
            </a:r>
            <a:br/>
            <a:r>
              <a:t>FP4/FP8硬件加速</a:t>
            </a:r>
            <a:br/>
            <a:r>
              <a:t>NVLink 1800GB/s</a:t>
            </a:r>
            <a:br/>
            <a:br/>
            <a:r>
              <a:t>~300-700万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4846320"/>
            <a:ext cx="1645920" cy="36576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最强性能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474720" cy="50292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AMD MI355X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86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Georgia"/>
              </a:defRPr>
            </a:pPr>
            <a:r>
              <a:t>Instinct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43200"/>
            <a:ext cx="292608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单机8卡可跑K3</a:t>
            </a:r>
            <a:br/>
            <a:r>
              <a:t>性价比反超B300</a:t>
            </a:r>
            <a:br/>
            <a:r>
              <a:t>ROCm生态持续追赶</a:t>
            </a:r>
            <a:br/>
            <a:br/>
            <a:r>
              <a:t>成本更低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4846320"/>
            <a:ext cx="1645920" cy="36576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48463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性价比之选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474720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554480"/>
            <a:ext cx="3474720" cy="50292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华为昇腾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Georgia"/>
              </a:defRPr>
            </a:pPr>
            <a:r>
              <a:t>Ascend 950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743200"/>
            <a:ext cx="292608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Day 0 完成适配</a:t>
            </a:r>
            <a:br/>
            <a:r>
              <a:t>CANN 全系列支持</a:t>
            </a:r>
            <a:br/>
            <a:r>
              <a:t>国产替代方案</a:t>
            </a:r>
            <a:br/>
            <a:br/>
            <a:r>
              <a:t>自主可控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846320"/>
            <a:ext cx="1645920" cy="36576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48463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国产替代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760720"/>
            <a:ext cx="8531352" cy="5486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779008"/>
            <a:ext cx="85313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微软雅黑"/>
              </a:defRPr>
            </a:pPr>
            <a:r>
              <a:t>不被任何一家闭源厂商锁死 — 竞争越激烈，你用的AI越便宜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来源：GPUStack · 知乎 · 华为昇腾公告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024" dur="indefinite" restart="never" nodeType="tmRoot">
          <p:childTnLst>
            <p:seq concurrent="1" nextAc="seek">
              <p:cTn id="1025" dur="indefinite" nodeType="mainSeq"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29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3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3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35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38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41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4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44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4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4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4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050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5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5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56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57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59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62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65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6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071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7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74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75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77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7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80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8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83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8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86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8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89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0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092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95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6" presetID="22" presetClass="entr" presetSubtype="2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0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98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01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我的判断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中国团队可以在最前沿的底层机制上做原创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2286000"/>
            <a:ext cx="457200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8B6F47"/>
                </a:solidFill>
                <a:latin typeface="微软雅黑"/>
              </a:defRPr>
            </a:pPr>
            <a:r>
              <a:t>关注 AI大家学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B7D6B"/>
                </a:solidFill>
                <a:latin typeface="微软雅黑"/>
              </a:defRPr>
            </a:pPr>
            <a:r>
              <a:t>AI 世界快人一步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A87C"/>
                </a:solidFill>
                <a:latin typeface="微软雅黑"/>
              </a:defRPr>
            </a:pPr>
            <a:r>
              <a:t>开源 vs 闭源，你站哪边？评论区聊聊 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457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港股上市 · 美国调查 · 开源生态 — 三条线持续跟进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102" dur="indefinite" restart="never" nodeType="tmRoot">
          <p:childTnLst>
            <p:seq concurrent="1" nextAc="seek">
              <p:cTn id="1103" dur="indefinite" nodeType="mainSeq">
                <p:childTnLst>
                  <p:par>
                    <p:cTn id="1104" fill="hold">
                      <p:stCondLst>
                        <p:cond delay="0"/>
                      </p:stCondLst>
                      <p:childTnLst>
                        <p:par>
                          <p:cTn id="1105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0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0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110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1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13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1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1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1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