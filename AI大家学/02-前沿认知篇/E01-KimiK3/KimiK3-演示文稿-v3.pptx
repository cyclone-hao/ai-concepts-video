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36576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8B6F4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5D4E37"/>
                </a:solidFill>
                <a:latin typeface="微软雅黑"/>
              </a:defRPr>
            </a:pPr>
            <a:r>
              <a:t>当开源模型第一次逼到闭源喉咙口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AI大家学 · 前沿AI认知篇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914400"/>
            <a:ext cx="3200400" cy="3200400"/>
          </a:xfrm>
          <a:prstGeom prst="ellipse">
            <a:avLst/>
          </a:prstGeom>
          <a:solidFill>
            <a:srgbClr val="FAF7F2"/>
          </a:solidFill>
          <a:ln w="1905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A87C"/>
                </a:solidFill>
                <a:latin typeface="Georgia"/>
              </a:defRPr>
            </a:pPr>
            <a:r>
              <a:t>2.8T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数据来源：Artificial Analysis · Frontend Code Arena · 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22" presetClass="entr" presetSubtype="right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0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53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7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6F47"/>
                </a:solidFill>
                <a:latin typeface="Georgia"/>
              </a:defRPr>
            </a:pPr>
            <a:r>
              <a:t>72小时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7315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C25B56"/>
                </a:solidFill>
                <a:latin typeface="Georgia"/>
              </a:defRPr>
            </a:pPr>
            <a:r>
              <a:t>-$4,700 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D4E37"/>
                </a:solidFill>
                <a:latin typeface="微软雅黑"/>
              </a:defRPr>
            </a:pPr>
            <a:r>
              <a:t>全球科技股市值蒸发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B7D6B"/>
                </a:solidFill>
                <a:latin typeface="微软雅黑"/>
              </a:rPr>
              <a:t>7月16日  </a:t>
            </a:r>
            <a:r>
              <a:rPr sz="1400" b="1">
                <a:solidFill>
                  <a:srgbClr val="8B6F47"/>
                </a:solidFill>
                <a:latin typeface="微软雅黑"/>
              </a:rPr>
              <a:t>月之暗面发布 Kimi K3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B7D6B"/>
                </a:solidFill>
                <a:latin typeface="微软雅黑"/>
              </a:rPr>
              <a:t>7月19日  </a:t>
            </a:r>
            <a:r>
              <a:rPr sz="1400" b="1">
                <a:solidFill>
                  <a:srgbClr val="8B6F47"/>
                </a:solidFill>
                <a:latin typeface="微软雅黑"/>
              </a:rPr>
              <a:t>华尔街称之为"Kimi时刻"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据多家财经媒体统计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52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22" presetClass="entr" presetSubtype="right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0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right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53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74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presetID="10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5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它有多强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2.8万亿参数 · MoE 896专家 · 100万Token上下文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MoE 混合专家架构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知识储备极大，单次推理只调用 1.8% 的专家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总参数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2.8万亿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专家总数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896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每次激活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16个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激活比例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725912" cy="25603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翻译成人话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D4E37"/>
                </a:solidFill>
                <a:latin typeface="微软雅黑"/>
              </a:defRPr>
            </a:pPr>
            <a:r>
              <a:t>896个专家随时待命，但每次推理只叫16个出来干活。</a:t>
            </a:r>
            <a:br/>
            <a:br/>
            <a:r>
              <a:t>就像一家有896个专科医生的医院，你每次看病只需要挂16个相关科室。</a:t>
            </a:r>
            <a:br/>
            <a:br/>
            <a:r>
              <a:t>→ 知识储备极大，但单次成本很低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" dur="indefinite" restart="never" nodeType="tmRoot">
          <p:childTnLst>
            <p:seq concurrent="1" nextAc="seek">
              <p:cTn id="97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presetID="22" presetClass="entr" presetSubtype="down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2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presetID="22" presetClass="entr" presetSubtype="down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6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3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2" presetClass="entr" presetSubtype="down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6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7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presetID="22" presetClass="entr" presetSubtype="down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1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8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88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5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presetID="22" presetClass="entr" presetSubtype="down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2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02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presetID="10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2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09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6" dur="8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成绩单 — 硬指标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Frontend 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前端代码能力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08760"/>
            <a:ext cx="822960" cy="45720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554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 · 开源首次登顶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AA Intelligence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智能指数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697480"/>
            <a:ext cx="822960" cy="45720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69748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仅次 Fable 5 (60) 和 GPT-5.6 Sol (59)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BrowseComp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长周期检索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7BA7"/>
                </a:solidFill>
                <a:latin typeface="Georgia"/>
              </a:defRPr>
            </a:pPr>
            <a:r>
              <a:t>91.2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886200"/>
            <a:ext cx="822960" cy="45720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88620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31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73152" cy="100584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GDPval-AA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真实经济任务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1668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5074920"/>
            <a:ext cx="822960" cy="4572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07492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开源模型最高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Artificial Analysis · Frontend Code Arena · 月之暗面技术报告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17" dur="indefinite" restart="never" nodeType="tmRoot">
          <p:childTnLst>
            <p:seq concurrent="1" nextAc="seek">
              <p:cTn id="218" dur="indefinite" nodeType="mainSeq"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presetID="22" presetClass="entr" presetSubtype="righ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3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presetID="22" presetClass="entr" presetSubtype="down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39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6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0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presetID="53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267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4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81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presetID="22" presetClass="entr" presetSubtype="right" fill="hold" nodeType="withEffect">
                            <p:stCondLst>
                              <p:cond delay="899"/>
                            </p:stCondLst>
                            <p:childTnLst>
                              <p:set>
                                <p:cBhvr>
                                  <p:cTn id="2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8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presetID="22" presetClass="entr" presetSubtype="down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9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02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presetID="10" presetClass="entr" presetSubtype="0" fill="hold" nodeType="withEffect">
                            <p:stCondLst>
                              <p:cond delay="1299"/>
                            </p:stCondLst>
                            <p:childTnLst>
                              <p:set>
                                <p:cBhvr>
                                  <p:cTn id="3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09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1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0"/>
                      </p:stCondLst>
                      <p:childTnLst>
                        <p:par>
                          <p:cTn id="321" presetID="53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3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23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0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7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presetID="22" presetClass="entr" presetSubtype="right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3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4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presetID="22" presetClass="entr" presetSubtype="down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3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51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0"/>
                      </p:stCondLst>
                      <p:childTnLst>
                        <p:par>
                          <p:cTn id="356" presetID="10" presetClass="entr" presetSubtype="0" fill="hold" nodeType="withEffect">
                            <p:stCondLst>
                              <p:cond delay="1799"/>
                            </p:stCondLst>
                            <p:childTnLst>
                              <p:set>
                                <p:cBhvr>
                                  <p:cTn id="3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58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3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65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3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72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presetID="53" presetClass="entr" presetSubtype="0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3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79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presetID="10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86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presetID="10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3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presetID="22" presetClass="entr" presetSubtype="right" fill="hold" nodeType="withEffect">
                            <p:stCondLst>
                              <p:cond delay="2099"/>
                            </p:stCondLst>
                            <p:childTnLst>
                              <p:set>
                                <p:cBhvr>
                                  <p:cTn id="3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0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presetID="22" presetClass="entr" presetSubtype="down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4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07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presetID="10" presetClass="entr" presetSubtype="0" fill="hold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4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14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presetID="10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4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1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presetID="10" presetClass="entr" presetSubtype="0" fill="hold" nodeType="withEffect">
                            <p:stCondLst>
                              <p:cond delay="2599"/>
                            </p:stCondLst>
                            <p:childTnLst>
                              <p:set>
                                <p:cBhvr>
                                  <p:cTn id="4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8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presetID="53" presetClass="entr" presetSubtype="0" fill="hold" nodeType="withEffect">
                            <p:stCondLst>
                              <p:cond delay="2699"/>
                            </p:stCondLst>
                            <p:childTnLst>
                              <p:set>
                                <p:cBhvr>
                                  <p:cTn id="4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35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4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2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4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9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三模型对比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9144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1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1731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AA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41731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开源/闭源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59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Kimi K3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59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1459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1459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BA7A7"/>
                </a:solidFill>
                <a:latin typeface="微软雅黑"/>
              </a:defRPr>
            </a:pPr>
            <a:r>
              <a:t>开源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7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Claude Fable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7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1187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61187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GPT-5.6 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70916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709160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25B56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5912" cy="64008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259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开源第一，综合第三，性价比维度几乎没有对手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450" dur="indefinite" restart="never" nodeType="tmRoot">
          <p:childTnLst>
            <p:seq concurrent="1" nextAc="seek">
              <p:cTn id="451" dur="indefinite" nodeType="mainSeq"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8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presetID="22" presetClass="entr" presetSubtype="right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65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4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9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6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93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presetID="22" presetClass="entr" presetSubtype="right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00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5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0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4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5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1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8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presetID="22" presetClass="entr" presetSubtype="right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5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9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5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56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5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63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presetID="22" presetClass="entr" presetSubtype="right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5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70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5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presetID="10" presetClass="entr" presetSubtype="0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91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presetID="10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5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98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presetID="22" presetClass="entr" presetSubtype="down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6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05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6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真实生产力 — I-Love-Q 中子星研究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4864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BA7A7"/>
                </a:solidFill>
                <a:latin typeface="Georgia"/>
              </a:defRPr>
            </a:pPr>
            <a:r>
              <a:t>~2 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自主阅读 20+ 篇论文</a:t>
            </a:r>
            <a:br/>
            <a:r>
              <a:t>评估 300+ 种状态方程</a:t>
            </a:r>
            <a:br/>
            <a:r>
              <a:t>生成 3000+ 行 Python</a:t>
            </a:r>
            <a:br/>
            <a:r>
              <a:t>马斯克评价："Impressive"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20040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6B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029200" cy="54864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资深研究人员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8A87C"/>
                </a:solidFill>
                <a:latin typeface="Georgia"/>
              </a:defRPr>
            </a:pPr>
            <a:r>
              <a:t>1-2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需要领域专业知识积累</a:t>
            </a:r>
            <a:br/>
            <a:r>
              <a:t>手动检索和筛选文献</a:t>
            </a:r>
            <a:br/>
            <a:r>
              <a:t>编写和调试计算代码</a:t>
            </a:r>
            <a:br/>
            <a:r>
              <a:t>反复验证状态方程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来源：月之暗面官方演示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613" dur="indefinite" restart="never" nodeType="tmRoot">
          <p:childTnLst>
            <p:seq concurrent="1" nextAc="seek">
              <p:cTn id="614" dur="indefinite" nodeType="mainSeq"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21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0"/>
                      </p:stCondLst>
                      <p:childTnLst>
                        <p:par>
                          <p:cTn id="626" presetID="2" presetClass="entr" presetSubtype="lef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6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28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presetID="22" presetClass="entr" presetSubtype="right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6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35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6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42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presetID="53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6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49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6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56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presetID="53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6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presetID="2" presetClass="entr" presetSubtype="right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6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70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presetID="22" presetClass="entr" presetSubtype="right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6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77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presetID="10" presetClass="entr" presetSubtype="0" fill="hold" nodeType="withEffect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6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8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>
                      <p:stCondLst>
                        <p:cond delay="0"/>
                      </p:stCondLst>
                      <p:childTnLst>
                        <p:par>
                          <p:cTn id="689" presetID="53" presetClass="entr" presetSubtype="0" fill="hold" nodeType="withEffect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6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91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presetID="10" presetClass="entr" presetSubtype="0" fill="hold" nodeType="withEffect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6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8" dur="8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怎么做到的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不是堆参数，是改地基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三项自研底层技术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对沿用近十年的 AI 基础机制做系统性重写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KDA 混合线性注意力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不同通道 × 不同衰减速率</a:t>
            </a:r>
            <a:br/>
            <a:r>
              <a:t>管理长序列记忆</a:t>
            </a:r>
            <a:br/>
            <a:r>
              <a:t>+ Attention Residuals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微软雅黑"/>
              </a:defRPr>
            </a:pPr>
            <a:r>
              <a:t>推理效率 ↑ ~25%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50292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Kimi Linear 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自研线性注意力机制</a:t>
            </a:r>
            <a:br/>
            <a:r>
              <a:t>解决超长任务性能衰减</a:t>
            </a:r>
            <a:br/>
            <a:r>
              <a:t>上下文窗口 ×10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微软雅黑"/>
              </a:defRPr>
            </a:pPr>
            <a:r>
              <a:t>长上下文的工程底气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Moon Clip 二阶优化器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首次用于大模型训练</a:t>
            </a:r>
            <a:br/>
            <a:r>
              <a:t>20T 数据跑出 40T 效果</a:t>
            </a:r>
            <a:br/>
            <a:r>
              <a:t>训练成本和算力功耗减半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BA7"/>
                </a:solidFill>
                <a:latin typeface="微软雅黑"/>
              </a:defRPr>
            </a:pPr>
            <a:r>
              <a:t>训练效率翻倍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52160"/>
            <a:ext cx="8531352" cy="5486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85313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三项叠加 → 整体扩展效率提升 ~2.5 倍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699" dur="indefinite" restart="never" nodeType="tmRoot">
          <p:childTnLst>
            <p:seq concurrent="1" nextAc="seek">
              <p:cTn id="700" dur="indefinite" nodeType="mainSeq">
                <p:childTnLst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7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4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0"/>
                      </p:stCondLst>
                      <p:childTnLst>
                        <p:par>
                          <p:cTn id="719" presetID="22" presetClass="entr" presetSubtype="down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21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5" fill="hold">
                      <p:stCondLst>
                        <p:cond delay="0"/>
                      </p:stCondLst>
                      <p:childTnLst>
                        <p:par>
                          <p:cTn id="726" presetID="22" presetClass="entr" presetSubtype="right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7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28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7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35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7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4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presetID="22" presetClass="entr" presetSubtype="right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7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49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56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0" fill="hold">
                      <p:stCondLst>
                        <p:cond delay="0"/>
                      </p:stCondLst>
                      <p:childTnLst>
                        <p:par>
                          <p:cTn id="761" presetID="22" presetClass="entr" presetSubtype="down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7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63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presetID="22" presetClass="entr" presetSubtype="right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70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7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7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7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84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8" fill="hold">
                      <p:stCondLst>
                        <p:cond delay="0"/>
                      </p:stCondLst>
                      <p:childTnLst>
                        <p:par>
                          <p:cTn id="789" presetID="22" presetClass="entr" presetSubtype="right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7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91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presetID="10" presetClass="entr" presetSubtype="0" fill="hold" nodeType="withEffect">
                            <p:stCondLst>
                              <p:cond delay="2099"/>
                            </p:stCondLst>
                            <p:childTnLst>
                              <p:set>
                                <p:cBhvr>
                                  <p:cTn id="7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98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presetID="22" presetClass="entr" presetSubtype="down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8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05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presetID="22" presetClass="entr" presetSubtype="right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8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12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presetID="10" presetClass="entr" presetSubtype="0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8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19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0"/>
                      </p:stCondLst>
                      <p:childTnLst>
                        <p:par>
                          <p:cTn id="824" presetID="10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8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2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0"/>
                      </p:stCondLst>
                      <p:childTnLst>
                        <p:par>
                          <p:cTn id="831" presetID="22" presetClass="entr" presetSubtype="right" fill="hold" nodeType="withEffect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8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33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8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40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presetID="22" presetClass="entr" presetSubtype="down" fill="hold" nodeType="withEffect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8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4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presetID="10" presetClass="entr" presetSubtype="0" fill="hold" nodeType="withEffect">
                            <p:stCondLst>
                              <p:cond delay="4100"/>
                            </p:stCondLst>
                            <p:childTnLst>
                              <p:set>
                                <p:cBhvr>
                                  <p:cTn id="8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54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为什么全球都紧张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算力挤兑 · 蒸馏争议 · 从卡芯片到卡算法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蒸馏争议 — 三条反驳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5912" cy="82296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25B56"/>
                </a:solidFill>
                <a:latin typeface="微软雅黑"/>
              </a:defRPr>
            </a:pPr>
            <a:r>
              <a:t>白宫指控：月之暗面蒸馏了 Anthropic 的 Fable 模型，财长威胁制裁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性能无法靠蒸馏获得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260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K3 排全球第二/第三/前端第一，仅靠蒸馏不可能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60604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BA7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840480"/>
            <a:ext cx="640080" cy="64008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9476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开源技术报告可复核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开放权重 + 全公开架构，蒸馏出来的是别人的架构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88620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A87C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120640"/>
            <a:ext cx="640080" cy="64008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7492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时间线对不上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864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Fable 发布到 K3 训练完成之间不够走完蒸馏流程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516636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7B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来源：Nathan Lambert · TechCrunch · BBC中文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855" dur="indefinite" restart="never" nodeType="tmRoot">
          <p:childTnLst>
            <p:seq concurrent="1" nextAc="seek">
              <p:cTn id="856" dur="indefinite" nodeType="mainSeq">
                <p:childTnLst>
                  <p:par>
                    <p:cTn id="860" fill="hold">
                      <p:stCondLst>
                        <p:cond delay="0"/>
                      </p:stCondLst>
                      <p:childTnLst>
                        <p:par>
                          <p:cTn id="86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6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presetID="22" presetClass="entr" presetSubtype="righ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7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presetID="22" presetClass="entr" presetSubtype="right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8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84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presetID="53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8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891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0"/>
                      </p:stCondLst>
                      <p:childTnLst>
                        <p:par>
                          <p:cTn id="896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8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98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2" fill="hold">
                      <p:stCondLst>
                        <p:cond delay="0"/>
                      </p:stCondLst>
                      <p:childTnLst>
                        <p:par>
                          <p:cTn id="903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9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0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9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12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presetID="53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919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0"/>
                      </p:stCondLst>
                      <p:childTnLst>
                        <p:par>
                          <p:cTn id="924" presetID="22" presetClass="entr" presetSubtype="right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9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2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presetID="53" presetClass="entr" presetSubtype="0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9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933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presetID="10" presetClass="entr" presetSubtype="0" fill="hold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9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40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4" fill="hold">
                      <p:stCondLst>
                        <p:cond delay="0"/>
                      </p:stCondLst>
                      <p:childTnLst>
                        <p:par>
                          <p:cTn id="945" presetID="10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9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4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presetID="10" presetClass="entr" presetSubtype="0" fill="hold" nodeType="withEffect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9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54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8" fill="hold">
                      <p:stCondLst>
                        <p:cond delay="0"/>
                      </p:stCondLst>
                      <p:childTnLst>
                        <p:par>
                          <p:cTn id="959" presetID="53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9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961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5" fill="hold">
                      <p:stCondLst>
                        <p:cond delay="0"/>
                      </p:stCondLst>
                      <p:childTnLst>
                        <p:par>
                          <p:cTn id="966" presetID="22" presetClass="entr" presetSubtype="right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9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6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presetID="53" presetClass="entr" presetSubtype="0" fill="hold" nodeType="withEffect">
                            <p:stCondLst>
                              <p:cond delay="3100"/>
                            </p:stCondLst>
                            <p:childTnLst>
                              <p:set>
                                <p:cBhvr>
                                  <p:cTn id="9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975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9" fill="hold">
                      <p:stCondLst>
                        <p:cond delay="0"/>
                      </p:stCondLst>
                      <p:childTnLst>
                        <p:par>
                          <p:cTn id="980" presetID="10" presetClass="entr" presetSubtype="0" fill="hold" nodeType="withEffect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9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82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presetID="10" presetClass="entr" presetSubtype="0" fill="hold" nodeType="with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9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89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presetID="10" presetClass="entr" presetSubtype="0" fill="hold" nodeType="withEffect">
                            <p:stCondLst>
                              <p:cond delay="3400"/>
                            </p:stCondLst>
                            <p:childTnLst>
                              <p:set>
                                <p:cBhvr>
                                  <p:cTn id="9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96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presetID="53" presetClass="entr" presetSubtype="0" fill="hold" nodeType="withEffect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10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03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从"卡芯片"到"卡算法"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944575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卡芯片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2022-2024</a:t>
            </a:r>
          </a:p>
        </p:txBody>
      </p:sp>
      <p:sp>
        <p:nvSpPr>
          <p:cNvPr id="7" name="Oval 6"/>
          <p:cNvSpPr/>
          <p:nvPr/>
        </p:nvSpPr>
        <p:spPr>
          <a:xfrm>
            <a:off x="1920240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禁运高端GPU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指控蒸馏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2025-2026</a:t>
            </a:r>
          </a:p>
        </p:txBody>
      </p:sp>
      <p:sp>
        <p:nvSpPr>
          <p:cNvPr id="12" name="Oval 11"/>
          <p:cNvSpPr/>
          <p:nvPr/>
        </p:nvSpPr>
        <p:spPr>
          <a:xfrm>
            <a:off x="4937759" y="26060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DeepSeek + K3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实体清单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威胁制裁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59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7BA7"/>
                </a:solidFill>
                <a:latin typeface="微软雅黑"/>
              </a:defRPr>
            </a:pPr>
            <a:r>
              <a:t>下一步？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</a:p>
        </p:txBody>
      </p:sp>
      <p:sp>
        <p:nvSpPr>
          <p:cNvPr id="22" name="Oval 21"/>
          <p:cNvSpPr/>
          <p:nvPr/>
        </p:nvSpPr>
        <p:spPr>
          <a:xfrm>
            <a:off x="10972799" y="2606040"/>
            <a:ext cx="274320" cy="27432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9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全面封锁？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10725912" cy="20116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Pattern：你强了，就说你偷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• 6月：Anthropic 指控阿里巴巴"蒸馏攻击"</a:t>
            </a:r>
            <a:br/>
            <a:r>
              <a:t>• 7月：白宫指控月之暗面蒸馏 Fable</a:t>
            </a:r>
            <a:br/>
            <a:r>
              <a:t>• 专家反驳：性能无法靠蒸馏获得，KDA 架构完全原创</a:t>
            </a:r>
            <a:br/>
            <a:br/>
            <a:r>
              <a:t>中国商务部：美方"缺乏事实依据、双重标准，是典型的 AI 霸权主义"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004" dur="indefinite" restart="never" nodeType="tmRoot">
          <p:childTnLst>
            <p:seq concurrent="1" nextAc="seek">
              <p:cTn id="1005" dur="indefinite" nodeType="mainSeq">
                <p:childTnLst>
                  <p:par>
                    <p:cTn id="1009" fill="hold">
                      <p:stCondLst>
                        <p:cond delay="0"/>
                      </p:stCondLst>
                      <p:childTnLst>
                        <p:par>
                          <p:cTn id="10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12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presetID="22" presetClass="entr" presetSubtype="righ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1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presetID="22" presetClass="entr" presetSubtype="down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2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0"/>
                      </p:stCondLst>
                      <p:childTnLst>
                        <p:par>
                          <p:cTn id="1031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0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33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0"/>
                      </p:stCondLst>
                      <p:childTnLst>
                        <p:par>
                          <p:cTn id="103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0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40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4" fill="hold">
                      <p:stCondLst>
                        <p:cond delay="0"/>
                      </p:stCondLst>
                      <p:childTnLst>
                        <p:par>
                          <p:cTn id="1045" presetID="53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0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47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1" fill="hold">
                      <p:stCondLst>
                        <p:cond delay="0"/>
                      </p:stCondLst>
                      <p:childTnLst>
                        <p:par>
                          <p:cTn id="105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0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5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8" fill="hold">
                      <p:stCondLst>
                        <p:cond delay="0"/>
                      </p:stCondLst>
                      <p:childTnLst>
                        <p:par>
                          <p:cTn id="1059" presetID="22" presetClass="entr" presetSubtype="down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0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6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presetID="10" presetClass="entr" presetSubtype="0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0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68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2" fill="hold">
                      <p:stCondLst>
                        <p:cond delay="0"/>
                      </p:stCondLst>
                      <p:childTnLst>
                        <p:par>
                          <p:cTn id="1073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0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75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>
                      <p:stCondLst>
                        <p:cond delay="0"/>
                      </p:stCondLst>
                      <p:childTnLst>
                        <p:par>
                          <p:cTn id="1080" presetID="53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0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082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6" fill="hold">
                      <p:stCondLst>
                        <p:cond delay="0"/>
                      </p:stCondLst>
                      <p:childTnLst>
                        <p:par>
                          <p:cTn id="1087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0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8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3" fill="hold">
                      <p:stCondLst>
                        <p:cond delay="0"/>
                      </p:stCondLst>
                      <p:childTnLst>
                        <p:par>
                          <p:cTn id="1094" presetID="22" presetClass="entr" presetSubtype="down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0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9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0"/>
                      </p:stCondLst>
                      <p:childTnLst>
                        <p:par>
                          <p:cTn id="1101" presetID="10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1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03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1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10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4" fill="hold">
                      <p:stCondLst>
                        <p:cond delay="0"/>
                      </p:stCondLst>
                      <p:childTnLst>
                        <p:par>
                          <p:cTn id="1115" presetID="53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117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>
                      <p:stCondLst>
                        <p:cond delay="0"/>
                      </p:stCondLst>
                      <p:childTnLst>
                        <p:par>
                          <p:cTn id="1122" presetID="10" presetClass="entr" presetSubtype="0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1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2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presetID="22" presetClass="entr" presetSubtype="down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1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3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5" fill="hold">
                      <p:stCondLst>
                        <p:cond delay="0"/>
                      </p:stCondLst>
                      <p:childTnLst>
                        <p:par>
                          <p:cTn id="1136" presetID="10" presetClass="entr" presetSubtype="0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1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38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2" fill="hold">
                      <p:stCondLst>
                        <p:cond delay="0"/>
                      </p:stCondLst>
                      <p:childTnLst>
                        <p:par>
                          <p:cTn id="1143" presetID="10" presetClass="entr" presetSubtype="0" fill="hold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1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45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presetID="53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1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152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6" fill="hold">
                      <p:stCondLst>
                        <p:cond delay="0"/>
                      </p:stCondLst>
                      <p:childTnLst>
                        <p:par>
                          <p:cTn id="1157" presetID="10" presetClass="entr" presetSubtype="0" fill="hold" nodeType="withEffect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1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5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>
                      <p:stCondLst>
                        <p:cond delay="0"/>
                      </p:stCondLst>
                      <p:childTnLst>
                        <p:par>
                          <p:cTn id="1164" presetID="22" presetClass="entr" presetSubtype="down" fill="hold" nodeType="withEffect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11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66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0"/>
                      </p:stCondLst>
                      <p:childTnLst>
                        <p:par>
                          <p:cTn id="1171" presetID="10" presetClass="entr" presetSubtype="0" fill="hold" nodeType="with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11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73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7" fill="hold">
                      <p:stCondLst>
                        <p:cond delay="0"/>
                      </p:stCondLst>
                      <p:childTnLst>
                        <p:par>
                          <p:cTn id="1178" presetID="10" presetClass="entr" presetSubtype="0" fill="hold" nodeType="withEffect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1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80" dur="8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趋势信号 · 开源突围 · 资本定价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中国AI突破密度 — 不是偶然，是趋势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推理模型</a:t>
            </a:r>
            <a:br/>
            <a:r>
              <a:t>震惊华尔街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开源基座</a:t>
            </a:r>
            <a:br/>
            <a:r>
              <a:t>逼近GPT-4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Georgia"/>
              </a:defRPr>
            </a:pPr>
            <a:r>
              <a:t>Kimi 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MoE架构</a:t>
            </a:r>
            <a:br/>
            <a:r>
              <a:t>1万亿参数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1097280"/>
            <a:ext cx="2560320" cy="164592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14300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5087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82880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2.8万亿</a:t>
            </a:r>
            <a:br/>
            <a:r>
              <a:t>全球第三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3657600"/>
            <a:ext cx="9445752" cy="22860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3749039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关键判断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251960"/>
            <a:ext cx="8531352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DeepSeek 出来时，有人说是灵光一现。K3 出来，你不能再这么说了。</a:t>
            </a:r>
            <a:br/>
            <a:br/>
            <a:r>
              <a:t>中国AI公司正在系统性逼近、甚至局部超越美国顶级实验室。</a:t>
            </a:r>
            <a:br/>
            <a:r>
              <a:t>不是一次，是一种趋势。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181" dur="indefinite" restart="never" nodeType="tmRoot">
          <p:childTnLst>
            <p:seq concurrent="1" nextAc="seek">
              <p:cTn id="1182" dur="indefinite" nodeType="mainSeq">
                <p:childTnLst>
                  <p:par>
                    <p:cTn id="1186" fill="hold">
                      <p:stCondLst>
                        <p:cond delay="0"/>
                      </p:stCondLst>
                      <p:childTnLst>
                        <p:par>
                          <p:cTn id="118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8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>
                      <p:stCondLst>
                        <p:cond delay="0"/>
                      </p:stCondLst>
                      <p:childTnLst>
                        <p:par>
                          <p:cTn id="1194" presetID="22" presetClass="entr" presetSubtype="righ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96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presetID="22" presetClass="entr" presetSubtype="down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2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203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7" fill="hold">
                      <p:stCondLst>
                        <p:cond delay="0"/>
                      </p:stCondLst>
                      <p:childTnLst>
                        <p:par>
                          <p:cTn id="1208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4" fill="hold">
                      <p:stCondLst>
                        <p:cond delay="0"/>
                      </p:stCondLst>
                      <p:childTnLst>
                        <p:par>
                          <p:cTn id="1215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17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2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2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8" fill="hold">
                      <p:stCondLst>
                        <p:cond delay="0"/>
                      </p:stCondLst>
                      <p:childTnLst>
                        <p:par>
                          <p:cTn id="1229" presetID="53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231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>
                      <p:stCondLst>
                        <p:cond delay="0"/>
                      </p:stCondLst>
                      <p:childTnLst>
                        <p:par>
                          <p:cTn id="1236" presetID="22" presetClass="entr" presetSubtype="down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12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23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presetID="10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2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45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9" fill="hold">
                      <p:stCondLst>
                        <p:cond delay="0"/>
                      </p:stCondLst>
                      <p:childTnLst>
                        <p:par>
                          <p:cTn id="1250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2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52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6" fill="hold">
                      <p:stCondLst>
                        <p:cond delay="0"/>
                      </p:stCondLst>
                      <p:childTnLst>
                        <p:par>
                          <p:cTn id="1257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2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59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presetID="53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12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266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0" fill="hold">
                      <p:stCondLst>
                        <p:cond delay="0"/>
                      </p:stCondLst>
                      <p:childTnLst>
                        <p:par>
                          <p:cTn id="1271" presetID="22" presetClass="entr" presetSubtype="down" fill="hold" nodeType="withEffect">
                            <p:stCondLst>
                              <p:cond delay="1799"/>
                            </p:stCondLst>
                            <p:childTnLst>
                              <p:set>
                                <p:cBhvr>
                                  <p:cTn id="12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27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7" fill="hold">
                      <p:stCondLst>
                        <p:cond delay="0"/>
                      </p:stCondLst>
                      <p:childTnLst>
                        <p:par>
                          <p:cTn id="1278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2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80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presetID="10" presetClass="entr" presetSubtype="0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1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87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1" fill="hold">
                      <p:stCondLst>
                        <p:cond delay="0"/>
                      </p:stCondLst>
                      <p:childTnLst>
                        <p:par>
                          <p:cTn id="1292" presetID="10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12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94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8" fill="hold">
                      <p:stCondLst>
                        <p:cond delay="0"/>
                      </p:stCondLst>
                      <p:childTnLst>
                        <p:par>
                          <p:cTn id="1299" presetID="53" presetClass="entr" presetSubtype="0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13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301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presetID="22" presetClass="entr" presetSubtype="down" fill="hold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13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0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12" fill="hold">
                      <p:stCondLst>
                        <p:cond delay="0"/>
                      </p:stCondLst>
                      <p:childTnLst>
                        <p:par>
                          <p:cTn id="1313" presetID="10" presetClass="entr" presetSubtype="0" fill="hold" nodeType="withEffect">
                            <p:stCondLst>
                              <p:cond delay="2599"/>
                            </p:stCondLst>
                            <p:childTnLst>
                              <p:set>
                                <p:cBhvr>
                                  <p:cTn id="13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15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19" fill="hold">
                      <p:stCondLst>
                        <p:cond delay="0"/>
                      </p:stCondLst>
                      <p:childTnLst>
                        <p:par>
                          <p:cTn id="1320" presetID="10" presetClass="entr" presetSubtype="0" fill="hold" nodeType="withEffect">
                            <p:stCondLst>
                              <p:cond delay="2699"/>
                            </p:stCondLst>
                            <p:childTnLst>
                              <p:set>
                                <p:cBhvr>
                                  <p:cTn id="13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22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presetID="10" presetClass="entr" presetSubtype="0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13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29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3" fill="hold">
                      <p:stCondLst>
                        <p:cond delay="0"/>
                      </p:stCondLst>
                      <p:childTnLst>
                        <p:par>
                          <p:cTn id="1334" presetID="53" presetClass="entr" presetSubtype="0" fill="hold" nodeType="withEffect">
                            <p:stCondLst>
                              <p:cond delay="2900"/>
                            </p:stCondLst>
                            <p:childTnLst>
                              <p:set>
                                <p:cBhvr>
                                  <p:cTn id="13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336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0" fill="hold">
                      <p:stCondLst>
                        <p:cond delay="0"/>
                      </p:stCondLst>
                      <p:childTnLst>
                        <p:par>
                          <p:cTn id="1341" presetID="22" presetClass="entr" presetSubtype="down" fill="hold" nodeType="withEffect">
                            <p:stCondLst>
                              <p:cond delay="3200"/>
                            </p:stCondLst>
                            <p:childTnLst>
                              <p:set>
                                <p:cBhvr>
                                  <p:cTn id="13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43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presetID="10" presetClass="entr" presetSubtype="0" fill="hold" nodeType="with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13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50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4" fill="hold">
                      <p:stCondLst>
                        <p:cond delay="0"/>
                      </p:stCondLst>
                      <p:childTnLst>
                        <p:par>
                          <p:cTn id="1355" presetID="10" presetClass="entr" presetSubtype="0" fill="hold" nodeType="withEffect">
                            <p:stCondLst>
                              <p:cond delay="3800"/>
                            </p:stCondLst>
                            <p:childTnLst>
                              <p:set>
                                <p:cBhvr>
                                  <p:cTn id="1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57" dur="8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中国AI基础设施闭环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70248" y="13716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70248" y="1508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国产芯片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1965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华为昇腾 · 沐曦 · 燧原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开源模型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Kimi K3 · DeepSeek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50292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5166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部署框架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vLLM · SGLang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7BA7"/>
                </a:solidFill>
                <a:latin typeface="微软雅黑"/>
              </a:defRPr>
            </a:pPr>
            <a:r>
              <a:t>应用生态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企业应用 · 开发者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0175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6F47"/>
                </a:solidFill>
                <a:latin typeface="微软雅黑"/>
              </a:defRPr>
            </a:pPr>
            <a:r>
              <a:t>自主可控</a:t>
            </a:r>
            <a:br/>
            <a:r>
              <a:t>完整闭环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华为昇腾、沐曦、燧原已适配 K3 · vLLM 提供生产级支持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358" dur="indefinite" restart="never" nodeType="tmRoot">
          <p:childTnLst>
            <p:seq concurrent="1" nextAc="seek">
              <p:cTn id="1359" dur="indefinite" nodeType="mainSeq">
                <p:childTnLst>
                  <p:par>
                    <p:cTn id="1363" fill="hold">
                      <p:stCondLst>
                        <p:cond delay="0"/>
                      </p:stCondLst>
                      <p:childTnLst>
                        <p:par>
                          <p:cTn id="13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6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0" fill="hold">
                      <p:stCondLst>
                        <p:cond delay="0"/>
                      </p:stCondLst>
                      <p:childTnLst>
                        <p:par>
                          <p:cTn id="1371" presetID="2" presetClass="entr" presetSubtype="top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1373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7" fill="hold">
                      <p:stCondLst>
                        <p:cond delay="0"/>
                      </p:stCondLst>
                      <p:childTnLst>
                        <p:par>
                          <p:cTn id="137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80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84" fill="hold">
                      <p:stCondLst>
                        <p:cond delay="0"/>
                      </p:stCondLst>
                      <p:childTnLst>
                        <p:par>
                          <p:cTn id="1385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8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91" fill="hold">
                      <p:stCondLst>
                        <p:cond delay="0"/>
                      </p:stCondLst>
                      <p:childTnLst>
                        <p:par>
                          <p:cTn id="1392" presetID="2" presetClass="entr" presetSubtype="right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3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1394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98" fill="hold">
                      <p:stCondLst>
                        <p:cond delay="0"/>
                      </p:stCondLst>
                      <p:childTnLst>
                        <p:par>
                          <p:cTn id="1399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4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0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5" fill="hold">
                      <p:stCondLst>
                        <p:cond delay="0"/>
                      </p:stCondLst>
                      <p:childTnLst>
                        <p:par>
                          <p:cTn id="1406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14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08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2" fill="hold">
                      <p:stCondLst>
                        <p:cond delay="0"/>
                      </p:stCondLst>
                      <p:childTnLst>
                        <p:par>
                          <p:cTn id="1413" presetID="2" presetClass="entr" presetSubtype="bottom" fill="hold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4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141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4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22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6" fill="hold">
                      <p:stCondLst>
                        <p:cond delay="0"/>
                      </p:stCondLst>
                      <p:childTnLst>
                        <p:par>
                          <p:cTn id="1427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14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29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33" fill="hold">
                      <p:stCondLst>
                        <p:cond delay="0"/>
                      </p:stCondLst>
                      <p:childTnLst>
                        <p:par>
                          <p:cTn id="1434" presetID="2" presetClass="entr" presetSubtype="left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14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143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0" fill="hold">
                      <p:stCondLst>
                        <p:cond delay="0"/>
                      </p:stCondLst>
                      <p:childTnLst>
                        <p:par>
                          <p:cTn id="1441" presetID="10" presetClass="entr" presetSubtype="0" fill="hold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14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43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7" fill="hold">
                      <p:stCondLst>
                        <p:cond delay="0"/>
                      </p:stCondLst>
                      <p:childTnLst>
                        <p:par>
                          <p:cTn id="1448" presetID="10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14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50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4" fill="hold">
                      <p:stCondLst>
                        <p:cond delay="0"/>
                      </p:stCondLst>
                      <p:childTnLst>
                        <p:par>
                          <p:cTn id="1455" presetID="53" presetClass="entr" presetSubtype="0" fill="hold" nodeType="withEffect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14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457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估值飙升 — 真金白银的市场定价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00400"/>
            <a:ext cx="9601200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$33亿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2024.08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$43亿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2025.12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$100亿+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2026.01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$200亿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2026.05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30632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7C"/>
                </a:solidFill>
                <a:latin typeface="Georgia"/>
              </a:defRPr>
            </a:pPr>
            <a:r>
              <a:t>$315亿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286000" cy="13716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BA7"/>
                </a:solidFill>
                <a:latin typeface="Georgia"/>
              </a:defRPr>
            </a:pPr>
            <a:r>
              <a:t>$500亿?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Pre-IPO</a:t>
            </a:r>
            <a:br/>
            <a:r>
              <a:t>中金+高盛 · 港股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389120"/>
            <a:ext cx="8531352" cy="13716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853135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7C"/>
                </a:solidFill>
                <a:latin typeface="微软雅黑"/>
              </a:defRPr>
            </a:pPr>
            <a:r>
              <a:t>从 $33亿 到 $315亿</a:t>
            </a:r>
            <a:br/>
            <a:r>
              <a:t>冲刺港股 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Bloomberg · TechCrunch · The Decoder · 电子工程专辑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458" dur="indefinite" restart="never" nodeType="tmRoot">
          <p:childTnLst>
            <p:seq concurrent="1" nextAc="seek">
              <p:cTn id="1459" dur="indefinite" nodeType="mainSeq">
                <p:childTnLst>
                  <p:par>
                    <p:cTn id="1463" fill="hold">
                      <p:stCondLst>
                        <p:cond delay="0"/>
                      </p:stCondLst>
                      <p:childTnLst>
                        <p:par>
                          <p:cTn id="14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6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0" fill="hold">
                      <p:stCondLst>
                        <p:cond delay="0"/>
                      </p:stCondLst>
                      <p:childTnLst>
                        <p:par>
                          <p:cTn id="1471" presetID="22" presetClass="entr" presetSubtype="right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473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7" fill="hold">
                      <p:stCondLst>
                        <p:cond delay="0"/>
                      </p:stCondLst>
                      <p:childTnLst>
                        <p:par>
                          <p:cTn id="1478" presetID="53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4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480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84" fill="hold">
                      <p:stCondLst>
                        <p:cond delay="0"/>
                      </p:stCondLst>
                      <p:childTnLst>
                        <p:par>
                          <p:cTn id="1485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4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87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4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94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8" fill="hold">
                      <p:stCondLst>
                        <p:cond delay="0"/>
                      </p:stCondLst>
                      <p:childTnLst>
                        <p:par>
                          <p:cTn id="1499" presetID="53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50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5" fill="hold">
                      <p:stCondLst>
                        <p:cond delay="0"/>
                      </p:stCondLst>
                      <p:childTnLst>
                        <p:par>
                          <p:cTn id="1506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5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08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12" fill="hold">
                      <p:stCondLst>
                        <p:cond delay="0"/>
                      </p:stCondLst>
                      <p:childTnLst>
                        <p:par>
                          <p:cTn id="1513" presetID="10" presetClass="entr" presetSubtype="0" fill="hold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15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1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19" fill="hold">
                      <p:stCondLst>
                        <p:cond delay="0"/>
                      </p:stCondLst>
                      <p:childTnLst>
                        <p:par>
                          <p:cTn id="1520" presetID="53" presetClass="entr" presetSubtype="0" fill="hold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5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522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6" fill="hold">
                      <p:stCondLst>
                        <p:cond delay="0"/>
                      </p:stCondLst>
                      <p:childTnLst>
                        <p:par>
                          <p:cTn id="1527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5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29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3" fill="hold">
                      <p:stCondLst>
                        <p:cond delay="0"/>
                      </p:stCondLst>
                      <p:childTnLst>
                        <p:par>
                          <p:cTn id="1534" presetID="10" presetClass="entr" presetSubtype="0" fill="hold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5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0" fill="hold">
                      <p:stCondLst>
                        <p:cond delay="0"/>
                      </p:stCondLst>
                      <p:childTnLst>
                        <p:par>
                          <p:cTn id="1541" presetID="53" presetClass="entr" presetSubtype="0" fill="hold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15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543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7" fill="hold">
                      <p:stCondLst>
                        <p:cond delay="0"/>
                      </p:stCondLst>
                      <p:childTnLst>
                        <p:par>
                          <p:cTn id="1548" presetID="10" presetClass="entr" presetSubtype="0" fill="hold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15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50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54" fill="hold">
                      <p:stCondLst>
                        <p:cond delay="0"/>
                      </p:stCondLst>
                      <p:childTnLst>
                        <p:par>
                          <p:cTn id="1555" presetID="10" presetClass="entr" presetSubtype="0" fill="hold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15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57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1" fill="hold">
                      <p:stCondLst>
                        <p:cond delay="0"/>
                      </p:stCondLst>
                      <p:childTnLst>
                        <p:par>
                          <p:cTn id="1562" presetID="53" presetClass="entr" presetSubtype="0" fill="hold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15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564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8" fill="hold">
                      <p:stCondLst>
                        <p:cond delay="0"/>
                      </p:stCondLst>
                      <p:childTnLst>
                        <p:par>
                          <p:cTn id="1569" presetID="10" presetClass="entr" presetSubtype="0" fill="hold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15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71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5" fill="hold">
                      <p:stCondLst>
                        <p:cond delay="0"/>
                      </p:stCondLst>
                      <p:childTnLst>
                        <p:par>
                          <p:cTn id="1576" presetID="10" presetClass="entr" presetSubtype="0" fill="hold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15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78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82" fill="hold">
                      <p:stCondLst>
                        <p:cond delay="0"/>
                      </p:stCondLst>
                      <p:childTnLst>
                        <p:par>
                          <p:cTn id="1583" presetID="22" presetClass="entr" presetSubtype="right" fill="hold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15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585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89" fill="hold">
                      <p:stCondLst>
                        <p:cond delay="0"/>
                      </p:stCondLst>
                      <p:childTnLst>
                        <p:par>
                          <p:cTn id="1590" presetID="10" presetClass="entr" presetSubtype="0" fill="hold" nodeType="withEffect">
                            <p:stCondLst>
                              <p:cond delay="3100"/>
                            </p:stCondLst>
                            <p:childTnLst>
                              <p:set>
                                <p:cBhvr>
                                  <p:cTn id="15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9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96" fill="hold">
                      <p:stCondLst>
                        <p:cond delay="0"/>
                      </p:stCondLst>
                      <p:childTnLst>
                        <p:par>
                          <p:cTn id="1597" presetID="10" presetClass="entr" presetSubtype="0" fill="hold" nodeType="with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15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99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3" fill="hold">
                      <p:stCondLst>
                        <p:cond delay="0"/>
                      </p:stCondLst>
                      <p:childTnLst>
                        <p:par>
                          <p:cTn id="1604" presetID="22" presetClass="entr" presetSubtype="down" fill="hold" nodeType="withEffect">
                            <p:stCondLst>
                              <p:cond delay="3600"/>
                            </p:stCondLst>
                            <p:childTnLst>
                              <p:set>
                                <p:cBhvr>
                                  <p:cTn id="16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60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0" fill="hold">
                      <p:stCondLst>
                        <p:cond delay="0"/>
                      </p:stCondLst>
                      <p:childTnLst>
                        <p:par>
                          <p:cTn id="1611" presetID="10" presetClass="entr" presetSubtype="0" fill="hold" nodeType="withEffect">
                            <p:stCondLst>
                              <p:cond delay="3900"/>
                            </p:stCondLst>
                            <p:childTnLst>
                              <p:set>
                                <p:cBhvr>
                                  <p:cTn id="16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13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我的判断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中国团队可以在最前沿的底层机制上做原创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2286000"/>
            <a:ext cx="45720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8B6F47"/>
                </a:solidFill>
                <a:latin typeface="微软雅黑"/>
              </a:defRPr>
            </a:pPr>
            <a:r>
              <a:t>关注 AI大家学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B7D6B"/>
                </a:solidFill>
                <a:latin typeface="微软雅黑"/>
              </a:defRPr>
            </a:pPr>
            <a:r>
              <a:t>AI 世界快人一步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开源 vs 闭源，你站哪边？评论区聊聊 👇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614" dur="indefinite" restart="never" nodeType="tmRoot">
          <p:childTnLst>
            <p:seq concurrent="1" nextAc="seek">
              <p:cTn id="1615" dur="indefinite" nodeType="mainSeq">
                <p:childTnLst>
                  <p:par>
                    <p:cTn id="1619" fill="hold">
                      <p:stCondLst>
                        <p:cond delay="0"/>
                      </p:stCondLst>
                      <p:childTnLst>
                        <p:par>
                          <p:cTn id="1620" presetID="22" presetClass="entr" presetSubtype="right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622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6" fill="hold">
                      <p:stCondLst>
                        <p:cond delay="0"/>
                      </p:stCondLst>
                      <p:childTnLst>
                        <p:par>
                          <p:cTn id="1627" presetID="53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62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33" fill="hold">
                      <p:stCondLst>
                        <p:cond delay="0"/>
                      </p:stCondLst>
                      <p:childTnLst>
                        <p:par>
                          <p:cTn id="163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6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3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0" fill="hold">
                      <p:stCondLst>
                        <p:cond delay="0"/>
                      </p:stCondLst>
                      <p:childTnLst>
                        <p:par>
                          <p:cTn id="1641" presetID="10" presetClass="entr" presetSubtype="0" fill="hold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6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4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