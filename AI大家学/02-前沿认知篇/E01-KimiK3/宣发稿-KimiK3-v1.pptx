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72小时，全球4700亿次下载。这不是一个美国公司的产品发布——这是中国的Kimi K3。2026年7月，一款来自中国的大模型彻底改写了全球AI的格局。今天我们就来聊聊，这到底是怎么回事。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先看一组数据：K3开源版本上线后的72小时内，全球下载量突破了4700亿次。什么概念？这意味着全球每16个人中就有一个人下载了K3。这个速度，连OpenAI的GPT系列都望尘莫及。K3的发布直接引爆了整个AI圈。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Kimi K3的硬参数：2.8万亿参数的MoE架构，896个专家，每次推理激活16个。上下文窗口100万Token。2.5小时训练完成。训练成本只要460万美元。同等水平的美国模型，训练成本是它的2到3倍。这些数字摆在一起，K3是当之无愧的开源之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来看各大权威基准测试的成绩单。在多个核心基准上，K3稳居全球第三，仅次于GPT-5.3和Claude Opus 4.6。在所有开源模型中排名第一，没有争议。特别是在数学推理和代码生成方面，K3甚至超过了一些闭源模型。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个真实案例：天体物理学研究任务。K3用了2个小时，自主阅读了20多篇论文，评估了300多种状态方程，生成了3000多行Python代码。而同样水平的资深研究人员，完成同样的工作需要1到2周。效率提升了84到168倍。连马斯克都在推特上点了赞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K3最强的技术突破是KDA——Kimi Delta Attention注意力机制。这是9年来首次有人系统性地重写Transformer的底层注意力机制。核心思路是3比1混合架构：75%的KDA线性注意力加25%的完整注意力。不同通道使用不同衰减速率管理记忆，关键位置精细处理，不关键位置快速扫过。训练成本只要460万美元，美国同类模型要千万甚至上亿美元。同样的效果，不是靠钱，是靠工程能力。黄仁勋都发推说开源模型实现了AI主权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但是，K3火了之后，风波也来了。白宫科技政策办公室主任Michael Kratsios公开指控，说月之暗面通过蒸馏Anthropic的Claude模型来获取K3的能力。美财长贝森特甚至声称检出了美方大模型的水印，威胁制裁。CNN、CNBC、BBC轮番报道，中国AI偷技术的叙事铺天盖地。但是——事情很快反转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echCrunch做了深度调查，多位独立研究者站出来反驳。第一，时间线对不上——Fable模型发布时间到K3训练完成之间，根本不够走完蒸馏、训练、发布这个完整流程。第二，架构是原创的——896专家MoE加KDA注意力机制，在Anthropic的任何模型里都找不到。第三，蒸馏能走捷径，但走不出原创性的架构创新。还记得DeepSeek出来时同样的作弊指控吗？结果也证实是原创。每次中国AI突破，第一反应都是你作弊了，但每次都证明是自己做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资本市场。月之暗面的估值从2024年8月的约30亿美元，到2026年1月的48亿，再到2026年上半年的200亿到350亿连续四轮融资。半年涨了7倍。2026年7月F轮融资35亿美元，超募3倍，估值达到350亿。而现在正在筹备Pre-IPO，目标估值500亿美元，中金和高盛联合承销，拟募资30亿美元。8个月翻了超过10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IPO已经箭在弦上。月之暗面预计年底前登陆港股，目标募资约30亿美元。关键业务数据：年化经常性收入超过3亿美元，Kimi AI月活4000万用户排名中国第一，收入同比增长10倍。最重要的是护城河——自研Kimi K3基座模型，不依赖任何第三方模型。如果成功上市，这将是中国AI浪潮的标杆性事件。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3的开源对全球AI生态带来三重冲击。第一，主权AI不再依赖美国——过去各国要部署顶级AI必须依赖美国云服务和模型API，K3开源加可本地部署等于任何国家都能拥有自己的顶级AI。第二，开源生态的范式转移——以往开源模型是美国公司的施舍，K3证明中国团队可以从零做出世界级模型并免费分享给全世界。第三，倒逼美国巨头加速——OpenAI、Google、Meta被迫加快开源节奏，AI不再是美国独大的游戏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3补上了中国AI完整闭环的最后一块拼图。国产算力——K3主要在国产GPU上训练，证明芯片禁令挡不住。原创研究——KDA等原创技术，9年来首次重写Transformer底层。人才聚集——清华系加全球顶级研究者，650人团队。资本支持——腾讯、阿里、IDG、红杉中国，累计融资超48亿美元。硬件、研究、人才、资本形成正循环，越转越快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客观来说，K3很强但还不完美。值得骄傲的：开源模型全球第一没有争议，KDA是真正的技术突破，成本效率远超美国同类模型，中国AI从追赶者变成竞争者，蒸馏指控已被彻底反驳。需要正视的差距：综合排名仍落后GPT-5.3和Claude Opus 4.6，复杂推理和长文创作还有差距，国产GPU算力仍受限，商业化落地仍在早期。但从追赶到竞争只用了两年——这个速度本身就是最值得关注的信号。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3的真正意义，不在于它是不是全球第一。而在于它证明了——顶级AI不再是美国巨头的专利，来自中国的团队同样可以创造出世界级的模型，并且开源给全世界使用。AI竞赛的未来，不是美国对世界，而是开放对封闭的路线之争。关注AI大家学，我们一起持续追踪AI最前沿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A87C">
                    <a:alpha val="20000"/>
                  </a:srgbClr>
                </a:gs>
                <a:gs pos="100000">
                  <a:srgbClr val="E8A87C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572500" y="-762000"/>
            <a:ext cx="3810000" cy="3810000"/>
            <a:chOff x="8572500" y="-762000"/>
            <a:chExt cx="3810000" cy="3810000"/>
          </a:xfrm>
        </p:grpSpPr>
        <p:sp>
          <p:nvSpPr>
            <p:cNvPr id="5" name="Ellipse 5"/>
            <p:cNvSpPr/>
            <p:nvPr/>
          </p:nvSpPr>
          <p:spPr>
            <a:xfrm>
              <a:off x="8572500" y="-762000"/>
              <a:ext cx="3810000" cy="3810000"/>
            </a:xfrm>
            <a:prstGeom prst="ellipse">
              <a:avLst/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810750" y="-381000"/>
              <a:ext cx="2286000" cy="2286000"/>
            </a:xfrm>
            <a:prstGeom prst="ellipse">
              <a:avLst/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90500" y="4191000"/>
            <a:ext cx="3048000" cy="3048000"/>
            <a:chOff x="190500" y="4191000"/>
            <a:chExt cx="3048000" cy="3048000"/>
          </a:xfrm>
        </p:grpSpPr>
        <p:sp>
          <p:nvSpPr>
            <p:cNvPr id="8" name="Ellipse 8"/>
            <p:cNvSpPr/>
            <p:nvPr/>
          </p:nvSpPr>
          <p:spPr>
            <a:xfrm>
              <a:off x="190500" y="4191000"/>
              <a:ext cx="3048000" cy="3048000"/>
            </a:xfrm>
            <a:prstGeom prst="ellipse">
              <a:avLst/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90500" y="5524500"/>
              <a:ext cx="1524000" cy="1524000"/>
            </a:xfrm>
            <a:prstGeom prst="ellipse">
              <a:avLst/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571500"/>
            <a:ext cx="2095500" cy="342900"/>
            <a:chOff x="571500" y="571500"/>
            <a:chExt cx="2095500" cy="342900"/>
          </a:xfrm>
        </p:grpSpPr>
        <p:sp>
          <p:nvSpPr>
            <p:cNvPr id="11" name="Rectangle 11"/>
            <p:cNvSpPr/>
            <p:nvPr/>
          </p:nvSpPr>
          <p:spPr>
            <a:xfrm>
              <a:off x="571500" y="571500"/>
              <a:ext cx="2095500" cy="342900"/>
            </a:xfrm>
            <a:prstGeom prst="roundRect">
              <a:avLst>
                <a:gd name="adj" fmla="val 50000"/>
              </a:avLst>
            </a:prstGeom>
            <a:solidFill>
              <a:srgbClr val="8B6F47">
                <a:alpha val="12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2355" y="669131"/>
              <a:ext cx="17537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AI大家学 · 前沿认知篇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82732" y="1889760"/>
            <a:ext cx="3826535" cy="1463040"/>
            <a:chOff x="4182732" y="1889760"/>
            <a:chExt cx="3826535" cy="1463040"/>
          </a:xfrm>
        </p:grpSpPr>
        <p:sp>
          <p:nvSpPr>
            <p:cNvPr id="14" name="TextBox 14"/>
            <p:cNvSpPr txBox="1"/>
            <p:nvPr/>
          </p:nvSpPr>
          <p:spPr>
            <a:xfrm>
              <a:off x="4182732" y="1889760"/>
              <a:ext cx="3826535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Kimi K3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91000" y="2952750"/>
            <a:ext cx="3810000" cy="38100"/>
            <a:chOff x="4191000" y="2952750"/>
            <a:chExt cx="3810000" cy="38100"/>
          </a:xfrm>
        </p:grpSpPr>
        <p:sp>
          <p:nvSpPr>
            <p:cNvPr id="16" name="Rectangle 16"/>
            <p:cNvSpPr/>
            <p:nvPr/>
          </p:nvSpPr>
          <p:spPr>
            <a:xfrm>
              <a:off x="4191000" y="2952750"/>
              <a:ext cx="3810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E8A87C"/>
                </a:gs>
                <a:gs pos="50000">
                  <a:srgbClr val="C9A96E"/>
                </a:gs>
                <a:gs pos="100000">
                  <a:srgbClr val="8B6F47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4424362" y="3281362"/>
            <a:ext cx="3343275" cy="885826"/>
            <a:chOff x="4424362" y="3281362"/>
            <a:chExt cx="3343275" cy="885826"/>
          </a:xfrm>
        </p:grpSpPr>
        <p:sp>
          <p:nvSpPr>
            <p:cNvPr id="18" name="TextBox 18"/>
            <p:cNvSpPr txBox="1"/>
            <p:nvPr/>
          </p:nvSpPr>
          <p:spPr>
            <a:xfrm>
              <a:off x="4596884" y="3281362"/>
              <a:ext cx="299823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5D4E37"/>
                  </a:solidFill>
                  <a:latin typeface="Georgia"/>
                  <a:ea typeface="KaiTi"/>
                  <a:cs typeface="Georgia"/>
                </a:rPr>
                <a:t>一个中国90后造的AI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24362" y="3709988"/>
              <a:ext cx="33432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5D4E37"/>
                  </a:solidFill>
                  <a:latin typeface="Georgia"/>
                  <a:ea typeface="KaiTi"/>
                  <a:cs typeface="Georgia"/>
                </a:rPr>
                <a:t>正在改写全球科技格局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286000" y="4476750"/>
            <a:ext cx="7715250" cy="666750"/>
            <a:chOff x="2286000" y="4476750"/>
            <a:chExt cx="7715250" cy="666750"/>
          </a:xfrm>
        </p:grpSpPr>
        <p:sp>
          <p:nvSpPr>
            <p:cNvPr id="21" name="Rectangle 21"/>
            <p:cNvSpPr/>
            <p:nvPr/>
          </p:nvSpPr>
          <p:spPr>
            <a:xfrm>
              <a:off x="2286000" y="4476750"/>
              <a:ext cx="1714500" cy="666750"/>
            </a:xfrm>
            <a:prstGeom prst="roundRect">
              <a:avLst>
                <a:gd name="adj" fmla="val 1714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72742" y="4571048"/>
              <a:ext cx="114101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2.8万亿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46070" y="49239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参数规模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286250" y="4476750"/>
              <a:ext cx="1714500" cy="666750"/>
            </a:xfrm>
            <a:prstGeom prst="roundRect">
              <a:avLst>
                <a:gd name="adj" fmla="val 1714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20660" y="45710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全球第三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46320" y="49239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综合排名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86500" y="4476750"/>
              <a:ext cx="1714500" cy="666750"/>
            </a:xfrm>
            <a:prstGeom prst="roundRect">
              <a:avLst>
                <a:gd name="adj" fmla="val 1714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20910" y="45710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开源第一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46570" y="49239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同类模型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286750" y="4476750"/>
              <a:ext cx="1714500" cy="666750"/>
            </a:xfrm>
            <a:prstGeom prst="roundRect">
              <a:avLst>
                <a:gd name="adj" fmla="val 1714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40775" y="4571048"/>
              <a:ext cx="100645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350亿$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04421" y="49239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估值（美元）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78848" y="5775960"/>
            <a:ext cx="2434304" cy="610552"/>
            <a:chOff x="4878848" y="5775960"/>
            <a:chExt cx="2434304" cy="610552"/>
          </a:xfrm>
        </p:grpSpPr>
        <p:sp>
          <p:nvSpPr>
            <p:cNvPr id="34" name="TextBox 34"/>
            <p:cNvSpPr txBox="1"/>
            <p:nvPr/>
          </p:nvSpPr>
          <p:spPr>
            <a:xfrm>
              <a:off x="5226367" y="5775960"/>
              <a:ext cx="17392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2026.08 | 频道宣传稿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78848" y="6173152"/>
              <a:ext cx="24343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89B8A"/>
                  </a:solidFill>
                  <a:latin typeface="Arial"/>
                  <a:ea typeface="Microsoft YaHei"/>
                  <a:cs typeface="Arial"/>
                </a:rPr>
                <a:t>关注「AI大家学」，AI世界快人一步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234452" y="65227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01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20" grpId="0"/>
      <p:bldP spid="3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75C3A">
                    <a:alpha val="8000"/>
                  </a:srgbClr>
                </a:gs>
                <a:gs pos="100000">
                  <a:srgbClr val="C75C3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842433" y="1202055"/>
            <a:ext cx="4507135" cy="2569845"/>
            <a:chOff x="3842433" y="1202055"/>
            <a:chExt cx="4507135" cy="2569845"/>
          </a:xfrm>
        </p:grpSpPr>
        <p:sp>
          <p:nvSpPr>
            <p:cNvPr id="5" name="TextBox 5"/>
            <p:cNvSpPr txBox="1"/>
            <p:nvPr/>
          </p:nvSpPr>
          <p:spPr>
            <a:xfrm>
              <a:off x="4321112" y="1202055"/>
              <a:ext cx="354977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8B7D6B"/>
                  </a:solidFill>
                  <a:latin typeface="Georgia"/>
                  <a:ea typeface="KaiTi"/>
                  <a:cs typeface="Georgia"/>
                </a:rPr>
                <a:t>2026年7月17日 — 7月20日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42433" y="1695450"/>
              <a:ext cx="4507135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C75C3A"/>
                  </a:solidFill>
                  <a:latin typeface="Georgia"/>
                  <a:ea typeface="KaiTi"/>
                  <a:cs typeface="Georgia"/>
                </a:rPr>
                <a:t>72小时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062832" y="3040380"/>
              <a:ext cx="4066337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4700亿美元</a:t>
              </a:r>
              <a:r>
                <a:rPr lang="zh-CN" sz="36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蒸发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91000" y="3810000"/>
            <a:ext cx="3810000" cy="9525"/>
            <a:chOff x="4191000" y="3810000"/>
            <a:chExt cx="3810000" cy="9525"/>
          </a:xfrm>
        </p:grpSpPr>
        <p:sp>
          <p:nvSpPr>
            <p:cNvPr id="9" name="Line 9"/>
            <p:cNvSpPr/>
            <p:nvPr/>
          </p:nvSpPr>
          <p:spPr>
            <a:xfrm>
              <a:off x="4191000" y="3810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2867501" y="4124325"/>
            <a:ext cx="6456998" cy="304800"/>
            <a:chOff x="2867501" y="4124325"/>
            <a:chExt cx="6456998" cy="304800"/>
          </a:xfrm>
        </p:grpSpPr>
        <p:sp>
          <p:nvSpPr>
            <p:cNvPr id="11" name="TextBox 11"/>
            <p:cNvSpPr txBox="1"/>
            <p:nvPr/>
          </p:nvSpPr>
          <p:spPr>
            <a:xfrm>
              <a:off x="2867501" y="4124325"/>
              <a:ext cx="64569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上海世界人工智能大会 → 全球科技股集体跳水 → 白宫亲自下场指控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19500" y="4667250"/>
            <a:ext cx="4953000" cy="762000"/>
            <a:chOff x="3619500" y="4667250"/>
            <a:chExt cx="4953000" cy="762000"/>
          </a:xfrm>
        </p:grpSpPr>
        <p:sp>
          <p:nvSpPr>
            <p:cNvPr id="13" name="Rectangle 13"/>
            <p:cNvSpPr/>
            <p:nvPr/>
          </p:nvSpPr>
          <p:spPr>
            <a:xfrm>
              <a:off x="3619500" y="4667250"/>
              <a:ext cx="4953000" cy="762000"/>
            </a:xfrm>
            <a:prstGeom prst="roundRect">
              <a:avLst>
                <a:gd name="adj" fmla="val 15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935492" y="4838700"/>
              <a:ext cx="43210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杨植麟</a:t>
              </a:r>
              <a:r>
                <a:rPr lang="zh-CN" sz="15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 xml:space="preserve"> · 92年 · 清华本科 · 卡内基梅隆博士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24745" y="5140642"/>
              <a:ext cx="29425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月之暗面（Moonshot AI）创始人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266394" y="5822632"/>
            <a:ext cx="5659212" cy="335280"/>
            <a:chOff x="3266394" y="5822632"/>
            <a:chExt cx="5659212" cy="335280"/>
          </a:xfrm>
        </p:grpSpPr>
        <p:sp>
          <p:nvSpPr>
            <p:cNvPr id="17" name="TextBox 17"/>
            <p:cNvSpPr txBox="1"/>
            <p:nvPr/>
          </p:nvSpPr>
          <p:spPr>
            <a:xfrm>
              <a:off x="3266394" y="5822632"/>
              <a:ext cx="56592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这不是科幻小说，这是2026年夏天真实发生的事。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02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6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26720"/>
            <a:ext cx="3735172" cy="632936"/>
            <a:chOff x="571500" y="426720"/>
            <a:chExt cx="3735172" cy="632936"/>
          </a:xfrm>
        </p:grpSpPr>
        <p:sp>
          <p:nvSpPr>
            <p:cNvPr id="3" name="Rectangle 3"/>
            <p:cNvSpPr/>
            <p:nvPr/>
          </p:nvSpPr>
          <p:spPr>
            <a:xfrm>
              <a:off x="571500" y="457200"/>
              <a:ext cx="38100" cy="419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2470" y="426720"/>
              <a:ext cx="359420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Kimi K3 到底强在哪？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8662" y="8310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硬参数：全球开源模型之王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238250"/>
            <a:ext cx="5334000" cy="2381250"/>
            <a:chOff x="571500" y="1238250"/>
            <a:chExt cx="5334000" cy="2381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334000" cy="2381250"/>
            </a:xfrm>
            <a:prstGeom prst="roundRect">
              <a:avLst>
                <a:gd name="adj" fmla="val 48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95350" y="1514508"/>
              <a:ext cx="228600" cy="304767"/>
            </a:xfrm>
            <a:custGeom>
              <a:avLst/>
              <a:gdLst/>
              <a:ahLst/>
              <a:cxnLst/>
              <a:rect l="l" t="t" r="r" b="b"/>
              <a:pathLst>
                <a:path w="228600" h="304767">
                  <a:moveTo>
                    <a:pt x="85725" y="19017"/>
                  </a:moveTo>
                  <a:cubicBezTo>
                    <a:pt x="85725" y="6444"/>
                    <a:pt x="100813" y="0"/>
                    <a:pt x="109899" y="8701"/>
                  </a:cubicBezTo>
                  <a:cubicBezTo>
                    <a:pt x="137874" y="35504"/>
                    <a:pt x="154134" y="94355"/>
                    <a:pt x="134903" y="139003"/>
                  </a:cubicBezTo>
                  <a:lnTo>
                    <a:pt x="133760" y="141489"/>
                  </a:lnTo>
                  <a:lnTo>
                    <a:pt x="133931" y="141532"/>
                  </a:lnTo>
                  <a:cubicBezTo>
                    <a:pt x="142861" y="143432"/>
                    <a:pt x="151119" y="135388"/>
                    <a:pt x="166835" y="110485"/>
                  </a:cubicBezTo>
                  <a:lnTo>
                    <a:pt x="168835" y="107285"/>
                  </a:lnTo>
                  <a:cubicBezTo>
                    <a:pt x="171185" y="103502"/>
                    <a:pt x="175164" y="101032"/>
                    <a:pt x="179596" y="100603"/>
                  </a:cubicBezTo>
                  <a:cubicBezTo>
                    <a:pt x="184029" y="100174"/>
                    <a:pt x="188407" y="101837"/>
                    <a:pt x="191438" y="105099"/>
                  </a:cubicBezTo>
                  <a:cubicBezTo>
                    <a:pt x="210498" y="125601"/>
                    <a:pt x="228600" y="167635"/>
                    <a:pt x="228600" y="194681"/>
                  </a:cubicBezTo>
                  <a:cubicBezTo>
                    <a:pt x="228600" y="255618"/>
                    <a:pt x="177294" y="304767"/>
                    <a:pt x="114300" y="304767"/>
                  </a:cubicBezTo>
                  <a:cubicBezTo>
                    <a:pt x="51306" y="304767"/>
                    <a:pt x="0" y="255618"/>
                    <a:pt x="0" y="194667"/>
                  </a:cubicBezTo>
                  <a:cubicBezTo>
                    <a:pt x="0" y="162492"/>
                    <a:pt x="14602" y="127287"/>
                    <a:pt x="37605" y="104642"/>
                  </a:cubicBezTo>
                  <a:lnTo>
                    <a:pt x="46249" y="96226"/>
                  </a:lnTo>
                  <a:cubicBezTo>
                    <a:pt x="49692" y="92854"/>
                    <a:pt x="52449" y="90083"/>
                    <a:pt x="55078" y="87311"/>
                  </a:cubicBezTo>
                  <a:cubicBezTo>
                    <a:pt x="75509" y="65708"/>
                    <a:pt x="85725" y="45534"/>
                    <a:pt x="85725" y="19017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76350" y="1581150"/>
              <a:ext cx="13377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2.8万亿参数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1055" y="194976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全球参数最大的开源模型，没有之一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3912" y="2259806"/>
              <a:ext cx="29039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稀疏混合专家架构（MoE），896个专家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3912" y="2526506"/>
              <a:ext cx="18112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每次推理仅激活16个专家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905125"/>
              <a:ext cx="1905000" cy="304800"/>
            </a:xfrm>
            <a:prstGeom prst="roundRect">
              <a:avLst>
                <a:gd name="adj" fmla="val 25000"/>
              </a:avLst>
            </a:prstGeom>
            <a:solidFill>
              <a:srgbClr val="8B6F47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6290" y="3001328"/>
              <a:ext cx="1628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实际干活约1000亿参数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86500" y="1238250"/>
            <a:ext cx="5334000" cy="2381250"/>
            <a:chOff x="6286500" y="1238250"/>
            <a:chExt cx="5334000" cy="2381250"/>
          </a:xfrm>
        </p:grpSpPr>
        <p:sp>
          <p:nvSpPr>
            <p:cNvPr id="16" name="Rectangle 16"/>
            <p:cNvSpPr/>
            <p:nvPr/>
          </p:nvSpPr>
          <p:spPr>
            <a:xfrm>
              <a:off x="6286500" y="1238250"/>
              <a:ext cx="5334000" cy="2381250"/>
            </a:xfrm>
            <a:prstGeom prst="roundRect">
              <a:avLst>
                <a:gd name="adj" fmla="val 48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609703" y="153352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91350" y="1581150"/>
              <a:ext cx="20508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100万 Token 上下文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36055" y="19497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一口气读完七八本中篇小说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38912" y="225980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还能记住第一页写了什么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38912" y="252650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超长文本理解和处理能力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553200" y="2905125"/>
              <a:ext cx="1714500" cy="304800"/>
            </a:xfrm>
            <a:prstGeom prst="roundRect">
              <a:avLst>
                <a:gd name="adj" fmla="val 25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61723" y="3001328"/>
              <a:ext cx="10974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约750万字容量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3905250"/>
            <a:ext cx="5334000" cy="2381250"/>
            <a:chOff x="571500" y="3905250"/>
            <a:chExt cx="5334000" cy="2381250"/>
          </a:xfrm>
        </p:grpSpPr>
        <p:sp>
          <p:nvSpPr>
            <p:cNvPr id="25" name="Rectangle 25"/>
            <p:cNvSpPr/>
            <p:nvPr/>
          </p:nvSpPr>
          <p:spPr>
            <a:xfrm>
              <a:off x="571500" y="3905250"/>
              <a:ext cx="5334000" cy="2381250"/>
            </a:xfrm>
            <a:prstGeom prst="roundRect">
              <a:avLst>
                <a:gd name="adj" fmla="val 48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66773" y="4194125"/>
              <a:ext cx="300850" cy="302024"/>
            </a:xfrm>
            <a:custGeom>
              <a:avLst/>
              <a:gdLst/>
              <a:ahLst/>
              <a:cxnLst/>
              <a:rect l="l" t="t" r="r" b="b"/>
              <a:pathLst>
                <a:path w="300850" h="302024">
                  <a:moveTo>
                    <a:pt x="214314" y="25545"/>
                  </a:moveTo>
                  <a:cubicBezTo>
                    <a:pt x="274362" y="60214"/>
                    <a:pt x="300850" y="132991"/>
                    <a:pt x="277135" y="198146"/>
                  </a:cubicBezTo>
                  <a:cubicBezTo>
                    <a:pt x="253420" y="263301"/>
                    <a:pt x="186348" y="302024"/>
                    <a:pt x="118064" y="289983"/>
                  </a:cubicBezTo>
                  <a:cubicBezTo>
                    <a:pt x="49781" y="277941"/>
                    <a:pt x="0" y="218612"/>
                    <a:pt x="2" y="149275"/>
                  </a:cubicBezTo>
                  <a:lnTo>
                    <a:pt x="73" y="144646"/>
                  </a:lnTo>
                  <a:cubicBezTo>
                    <a:pt x="1701" y="94454"/>
                    <a:pt x="29560" y="48801"/>
                    <a:pt x="73452" y="24400"/>
                  </a:cubicBezTo>
                  <a:cubicBezTo>
                    <a:pt x="117344" y="0"/>
                    <a:pt x="170824" y="435"/>
                    <a:pt x="214314" y="25545"/>
                  </a:cubicBezTo>
                  <a:close/>
                  <a:moveTo>
                    <a:pt x="193669" y="80238"/>
                  </a:moveTo>
                  <a:cubicBezTo>
                    <a:pt x="190516" y="78134"/>
                    <a:pt x="186657" y="77369"/>
                    <a:pt x="182941" y="78112"/>
                  </a:cubicBezTo>
                  <a:cubicBezTo>
                    <a:pt x="179224" y="78854"/>
                    <a:pt x="175955" y="81042"/>
                    <a:pt x="173852" y="84195"/>
                  </a:cubicBezTo>
                  <a:lnTo>
                    <a:pt x="142877" y="130644"/>
                  </a:lnTo>
                  <a:lnTo>
                    <a:pt x="111901" y="84210"/>
                  </a:lnTo>
                  <a:cubicBezTo>
                    <a:pt x="107885" y="78177"/>
                    <a:pt x="99987" y="76107"/>
                    <a:pt x="93528" y="79395"/>
                  </a:cubicBezTo>
                  <a:lnTo>
                    <a:pt x="92099" y="80238"/>
                  </a:lnTo>
                  <a:cubicBezTo>
                    <a:pt x="88944" y="82338"/>
                    <a:pt x="86752" y="85607"/>
                    <a:pt x="86007" y="89323"/>
                  </a:cubicBezTo>
                  <a:cubicBezTo>
                    <a:pt x="85262" y="93040"/>
                    <a:pt x="86025" y="96900"/>
                    <a:pt x="88127" y="100054"/>
                  </a:cubicBezTo>
                  <a:lnTo>
                    <a:pt x="120931" y="149275"/>
                  </a:lnTo>
                  <a:lnTo>
                    <a:pt x="100014" y="149275"/>
                  </a:lnTo>
                  <a:cubicBezTo>
                    <a:pt x="92771" y="149276"/>
                    <a:pt x="86674" y="154697"/>
                    <a:pt x="85827" y="161891"/>
                  </a:cubicBezTo>
                  <a:lnTo>
                    <a:pt x="85727" y="163562"/>
                  </a:lnTo>
                  <a:cubicBezTo>
                    <a:pt x="85727" y="171453"/>
                    <a:pt x="92123" y="177850"/>
                    <a:pt x="100014" y="177850"/>
                  </a:cubicBezTo>
                  <a:lnTo>
                    <a:pt x="128589" y="177850"/>
                  </a:lnTo>
                  <a:lnTo>
                    <a:pt x="128589" y="220712"/>
                  </a:lnTo>
                  <a:cubicBezTo>
                    <a:pt x="128590" y="227956"/>
                    <a:pt x="134011" y="234052"/>
                    <a:pt x="141205" y="234900"/>
                  </a:cubicBezTo>
                  <a:lnTo>
                    <a:pt x="142877" y="235000"/>
                  </a:lnTo>
                  <a:lnTo>
                    <a:pt x="144548" y="234900"/>
                  </a:lnTo>
                  <a:cubicBezTo>
                    <a:pt x="151742" y="234052"/>
                    <a:pt x="157163" y="227956"/>
                    <a:pt x="157164" y="220712"/>
                  </a:cubicBezTo>
                  <a:lnTo>
                    <a:pt x="157164" y="177850"/>
                  </a:lnTo>
                  <a:lnTo>
                    <a:pt x="185739" y="177850"/>
                  </a:lnTo>
                  <a:cubicBezTo>
                    <a:pt x="192983" y="177849"/>
                    <a:pt x="199079" y="172428"/>
                    <a:pt x="199927" y="165234"/>
                  </a:cubicBezTo>
                  <a:lnTo>
                    <a:pt x="200027" y="163562"/>
                  </a:lnTo>
                  <a:cubicBezTo>
                    <a:pt x="200027" y="155672"/>
                    <a:pt x="193630" y="149275"/>
                    <a:pt x="185739" y="149275"/>
                  </a:cubicBezTo>
                  <a:lnTo>
                    <a:pt x="164808" y="149275"/>
                  </a:lnTo>
                  <a:lnTo>
                    <a:pt x="197626" y="100054"/>
                  </a:lnTo>
                  <a:cubicBezTo>
                    <a:pt x="201652" y="94024"/>
                    <a:pt x="200521" y="85934"/>
                    <a:pt x="194998" y="81238"/>
                  </a:cubicBezTo>
                  <a:lnTo>
                    <a:pt x="193669" y="80238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76350" y="4248150"/>
              <a:ext cx="23038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~$15 / 百万Token输出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1055" y="4616768"/>
              <a:ext cx="27059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比 Claude、GPT 便宜约 2-3 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3912" y="4926806"/>
              <a:ext cx="2139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MoE架构让每次推理成本极低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3912" y="519350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知识储备极大，但干活成本很低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5572125"/>
              <a:ext cx="2286000" cy="304800"/>
            </a:xfrm>
            <a:prstGeom prst="roundRect">
              <a:avLst>
                <a:gd name="adj" fmla="val 25000"/>
              </a:avLst>
            </a:prstGeom>
            <a:solidFill>
              <a:srgbClr val="6B8E5A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43274" y="566832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8E5A"/>
                  </a:solidFill>
                  <a:latin typeface="Arial"/>
                  <a:ea typeface="Microsoft YaHei"/>
                  <a:cs typeface="Arial"/>
                </a:rPr>
                <a:t>性价比几乎没有对手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3905250"/>
            <a:ext cx="5334000" cy="2381250"/>
            <a:chOff x="6286500" y="3905250"/>
            <a:chExt cx="5334000" cy="2381250"/>
          </a:xfrm>
        </p:grpSpPr>
        <p:sp>
          <p:nvSpPr>
            <p:cNvPr id="34" name="Rectangle 34"/>
            <p:cNvSpPr/>
            <p:nvPr/>
          </p:nvSpPr>
          <p:spPr>
            <a:xfrm>
              <a:off x="6286500" y="3905250"/>
              <a:ext cx="5334000" cy="2381250"/>
            </a:xfrm>
            <a:prstGeom prst="roundRect">
              <a:avLst>
                <a:gd name="adj" fmla="val 4800"/>
              </a:avLst>
            </a:prstGeom>
            <a:solidFill>
              <a:srgbClr val="8B6F47">
                <a:alpha val="6000"/>
              </a:srgbClr>
            </a:solidFill>
            <a:ln w="14288">
              <a:solidFill>
                <a:srgbClr val="8B6F47">
                  <a:alpha val="3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40554" y="428244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一句话总结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001000" y="4667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E8A87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13420" y="4869180"/>
              <a:ext cx="12801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D4E37"/>
                  </a:solidFill>
                  <a:latin typeface="Georgia"/>
                  <a:ea typeface="KaiTi"/>
                  <a:cs typeface="Georgia"/>
                </a:rPr>
                <a:t>开源模型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06715" y="5250180"/>
              <a:ext cx="18935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D4E37"/>
                  </a:solidFill>
                  <a:latin typeface="Georgia"/>
                  <a:ea typeface="KaiTi"/>
                  <a:cs typeface="Georgia"/>
                </a:rPr>
                <a:t>打败了大部分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91106" y="5566410"/>
              <a:ext cx="172478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闭源模型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03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3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426720"/>
            <a:ext cx="10901949" cy="632936"/>
            <a:chOff x="571500" y="426720"/>
            <a:chExt cx="10901949" cy="632936"/>
          </a:xfrm>
        </p:grpSpPr>
        <p:sp>
          <p:nvSpPr>
            <p:cNvPr id="3" name="Rectangle 3"/>
            <p:cNvSpPr/>
            <p:nvPr/>
          </p:nvSpPr>
          <p:spPr>
            <a:xfrm>
              <a:off x="571500" y="457200"/>
              <a:ext cx="38100" cy="419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2470" y="426720"/>
              <a:ext cx="33733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全球第三，开源第一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8662" y="8310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多项权威基准测试成绩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1157794" y="538192"/>
              <a:ext cx="315655" cy="300843"/>
            </a:xfrm>
            <a:custGeom>
              <a:avLst/>
              <a:gdLst/>
              <a:ahLst/>
              <a:cxnLst/>
              <a:rect l="l" t="t" r="r" b="b"/>
              <a:pathLst>
                <a:path w="315655" h="300843">
                  <a:moveTo>
                    <a:pt x="104228" y="90554"/>
                  </a:moveTo>
                  <a:lnTo>
                    <a:pt x="13073" y="103770"/>
                  </a:lnTo>
                  <a:lnTo>
                    <a:pt x="11459" y="104098"/>
                  </a:lnTo>
                  <a:cubicBezTo>
                    <a:pt x="6483" y="105419"/>
                    <a:pt x="2603" y="109315"/>
                    <a:pt x="1301" y="114296"/>
                  </a:cubicBezTo>
                  <a:cubicBezTo>
                    <a:pt x="0" y="119277"/>
                    <a:pt x="1479" y="124572"/>
                    <a:pt x="5172" y="128158"/>
                  </a:cubicBezTo>
                  <a:lnTo>
                    <a:pt x="71209" y="192438"/>
                  </a:lnTo>
                  <a:lnTo>
                    <a:pt x="55636" y="283235"/>
                  </a:lnTo>
                  <a:lnTo>
                    <a:pt x="55450" y="284807"/>
                  </a:lnTo>
                  <a:cubicBezTo>
                    <a:pt x="55146" y="289953"/>
                    <a:pt x="57637" y="294865"/>
                    <a:pt x="61970" y="297658"/>
                  </a:cubicBezTo>
                  <a:cubicBezTo>
                    <a:pt x="66303" y="300452"/>
                    <a:pt x="71805" y="300695"/>
                    <a:pt x="76367" y="298294"/>
                  </a:cubicBezTo>
                  <a:lnTo>
                    <a:pt x="157892" y="255431"/>
                  </a:lnTo>
                  <a:lnTo>
                    <a:pt x="239230" y="298294"/>
                  </a:lnTo>
                  <a:lnTo>
                    <a:pt x="240659" y="298951"/>
                  </a:lnTo>
                  <a:cubicBezTo>
                    <a:pt x="245461" y="300843"/>
                    <a:pt x="250909" y="299997"/>
                    <a:pt x="254912" y="296740"/>
                  </a:cubicBezTo>
                  <a:cubicBezTo>
                    <a:pt x="258915" y="293484"/>
                    <a:pt x="260851" y="288321"/>
                    <a:pt x="259976" y="283235"/>
                  </a:cubicBezTo>
                  <a:lnTo>
                    <a:pt x="244388" y="192438"/>
                  </a:lnTo>
                  <a:lnTo>
                    <a:pt x="310453" y="128144"/>
                  </a:lnTo>
                  <a:lnTo>
                    <a:pt x="311568" y="126930"/>
                  </a:lnTo>
                  <a:cubicBezTo>
                    <a:pt x="314809" y="122938"/>
                    <a:pt x="315655" y="117513"/>
                    <a:pt x="313784" y="112724"/>
                  </a:cubicBezTo>
                  <a:cubicBezTo>
                    <a:pt x="311912" y="107935"/>
                    <a:pt x="307612" y="104521"/>
                    <a:pt x="302524" y="103784"/>
                  </a:cubicBezTo>
                  <a:lnTo>
                    <a:pt x="211370" y="90554"/>
                  </a:lnTo>
                  <a:lnTo>
                    <a:pt x="170622" y="7972"/>
                  </a:lnTo>
                  <a:cubicBezTo>
                    <a:pt x="168216" y="3091"/>
                    <a:pt x="163247" y="0"/>
                    <a:pt x="157806" y="0"/>
                  </a:cubicBezTo>
                  <a:cubicBezTo>
                    <a:pt x="152364" y="0"/>
                    <a:pt x="147395" y="3091"/>
                    <a:pt x="144990" y="7972"/>
                  </a:cubicBezTo>
                  <a:lnTo>
                    <a:pt x="104228" y="90554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1704887" y="1238250"/>
            <a:ext cx="10055916" cy="5133975"/>
            <a:chOff x="1704887" y="1238250"/>
            <a:chExt cx="10055916" cy="5133975"/>
          </a:xfrm>
        </p:grpSpPr>
        <p:grpSp>
          <p:nvGrpSpPr>
            <p:cNvPr id="15" name="Group 15"/>
            <p:cNvGrpSpPr/>
            <p:nvPr/>
          </p:nvGrpSpPr>
          <p:grpSpPr>
            <a:xfrm>
              <a:off x="3238500" y="1238250"/>
              <a:ext cx="8201025" cy="4867275"/>
              <a:chOff x="3238500" y="1238250"/>
              <a:chExt cx="8201025" cy="486727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3238500" y="1238250"/>
                <a:ext cx="9525" cy="4857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57750">
                    <a:moveTo>
                      <a:pt x="0" y="0"/>
                    </a:moveTo>
                    <a:lnTo>
                      <a:pt x="0" y="4857750"/>
                    </a:lnTo>
                  </a:path>
                </a:pathLst>
              </a:custGeom>
              <a:noFill/>
              <a:ln w="14288">
                <a:solidFill>
                  <a:srgbClr val="EDE5D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238500" y="6096000"/>
                <a:ext cx="819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191500" h="9525">
                    <a:moveTo>
                      <a:pt x="0" y="0"/>
                    </a:moveTo>
                    <a:lnTo>
                      <a:pt x="819150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4876800" y="1238250"/>
                <a:ext cx="9525" cy="4857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57750">
                    <a:moveTo>
                      <a:pt x="0" y="0"/>
                    </a:moveTo>
                    <a:lnTo>
                      <a:pt x="0" y="485775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  <a:prstDash val="dash"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6515100" y="1238250"/>
                <a:ext cx="9525" cy="4857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57750">
                    <a:moveTo>
                      <a:pt x="0" y="0"/>
                    </a:moveTo>
                    <a:lnTo>
                      <a:pt x="0" y="485775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  <a:prstDash val="dash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8153400" y="1238250"/>
                <a:ext cx="9525" cy="4857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57750">
                    <a:moveTo>
                      <a:pt x="0" y="0"/>
                    </a:moveTo>
                    <a:lnTo>
                      <a:pt x="0" y="485775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  <a:prstDash val="dash"/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9791700" y="1238250"/>
                <a:ext cx="9525" cy="4857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57750">
                    <a:moveTo>
                      <a:pt x="0" y="0"/>
                    </a:moveTo>
                    <a:lnTo>
                      <a:pt x="0" y="485775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  <a:prstDash val="dash"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1430000" y="1238250"/>
                <a:ext cx="9525" cy="4857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57750">
                    <a:moveTo>
                      <a:pt x="0" y="0"/>
                    </a:moveTo>
                    <a:lnTo>
                      <a:pt x="0" y="485775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  <a:prstDash val="dash"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3190923" y="6189345"/>
              <a:ext cx="8342518" cy="182880"/>
              <a:chOff x="3190923" y="6189345"/>
              <a:chExt cx="8342518" cy="18288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3190923" y="6189345"/>
                <a:ext cx="951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793075" y="6189345"/>
                <a:ext cx="1674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20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431375" y="6189345"/>
                <a:ext cx="1674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40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069675" y="6189345"/>
                <a:ext cx="1674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60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707975" y="6189345"/>
                <a:ext cx="1674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80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326558" y="6189345"/>
                <a:ext cx="20688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100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2043029" y="1571625"/>
              <a:ext cx="9254677" cy="392906"/>
              <a:chOff x="2043029" y="1571625"/>
              <a:chExt cx="9254677" cy="392906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2043029" y="1601152"/>
                <a:ext cx="11135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SWE Marathon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50807" y="17968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软件工程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3238500" y="1571625"/>
                <a:ext cx="7429500" cy="361950"/>
              </a:xfrm>
              <a:prstGeom prst="roundRect">
                <a:avLst>
                  <a:gd name="adj" fmla="val 10526"/>
                </a:avLst>
              </a:prstGeom>
              <a:gradFill>
                <a:gsLst>
                  <a:gs pos="0">
                    <a:srgbClr val="E8A87C"/>
                  </a:gs>
                  <a:gs pos="100000">
                    <a:srgbClr val="8B6F47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748010" y="1680210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#1</a:t>
                </a:r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11114088" y="165185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1994723" y="2333625"/>
              <a:ext cx="9302983" cy="392906"/>
              <a:chOff x="1994723" y="2333625"/>
              <a:chExt cx="9302983" cy="392906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1994723" y="2363152"/>
                <a:ext cx="11618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前端代码 Arena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301383" y="2558891"/>
                <a:ext cx="8523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Frontend Code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3238500" y="2333625"/>
                <a:ext cx="7143750" cy="361950"/>
              </a:xfrm>
              <a:prstGeom prst="roundRect">
                <a:avLst>
                  <a:gd name="adj" fmla="val 10526"/>
                </a:avLst>
              </a:prstGeom>
              <a:gradFill>
                <a:gsLst>
                  <a:gs pos="0">
                    <a:srgbClr val="E8A87C"/>
                  </a:gs>
                  <a:gs pos="100000">
                    <a:srgbClr val="8B6F47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462260" y="2442210"/>
                <a:ext cx="186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#1</a:t>
                </a:r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11114088" y="2413851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2107437" y="3095625"/>
              <a:ext cx="9145207" cy="392906"/>
              <a:chOff x="2107437" y="3095625"/>
              <a:chExt cx="9145207" cy="392906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2107437" y="3125152"/>
                <a:ext cx="10491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AA-Briefcase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289334" y="3320891"/>
                <a:ext cx="86439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智能体知识工作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3238500" y="3095625"/>
                <a:ext cx="6858000" cy="361950"/>
              </a:xfrm>
              <a:prstGeom prst="roundRect">
                <a:avLst>
                  <a:gd name="adj" fmla="val 10526"/>
                </a:avLst>
              </a:prstGeom>
              <a:gradFill>
                <a:gsLst>
                  <a:gs pos="0">
                    <a:srgbClr val="E8A87C"/>
                  </a:gs>
                  <a:gs pos="100000">
                    <a:srgbClr val="8B6F47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176510" y="3204210"/>
                <a:ext cx="57334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1527分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1085195" y="3236595"/>
                <a:ext cx="1674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#2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704887" y="3857625"/>
              <a:ext cx="8519477" cy="392906"/>
              <a:chOff x="1704887" y="3857625"/>
              <a:chExt cx="8519477" cy="392906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1704887" y="3887152"/>
                <a:ext cx="14516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Terminal Bench 2.1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409825" y="4082891"/>
                <a:ext cx="7439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综合能力测试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3238500" y="3857625"/>
                <a:ext cx="6286500" cy="361950"/>
              </a:xfrm>
              <a:prstGeom prst="roundRect">
                <a:avLst>
                  <a:gd name="adj" fmla="val 10526"/>
                </a:avLst>
              </a:prstGeom>
              <a:gradFill>
                <a:gsLst>
                  <a:gs pos="0">
                    <a:srgbClr val="E8A87C"/>
                  </a:gs>
                  <a:gs pos="100000">
                    <a:srgbClr val="8B6F47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05010" y="3966210"/>
                <a:ext cx="61935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88.3分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2389222" y="4619625"/>
              <a:ext cx="9371581" cy="392906"/>
              <a:chOff x="2389222" y="4619625"/>
              <a:chExt cx="9371581" cy="392906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2389222" y="4649152"/>
                <a:ext cx="7673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MATH-500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650807" y="48448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数学测试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3238500" y="4619625"/>
                <a:ext cx="7905750" cy="361950"/>
              </a:xfrm>
              <a:prstGeom prst="roundRect">
                <a:avLst>
                  <a:gd name="adj" fmla="val 10526"/>
                </a:avLst>
              </a:prstGeom>
              <a:gradFill>
                <a:gsLst>
                  <a:gs pos="0">
                    <a:srgbClr val="E8A87C"/>
                  </a:gs>
                  <a:gs pos="100000">
                    <a:srgbClr val="8B6F47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1224260" y="4728210"/>
                <a:ext cx="536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96.2%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2357018" y="5381625"/>
              <a:ext cx="8350073" cy="392906"/>
              <a:chOff x="2357018" y="5381625"/>
              <a:chExt cx="8350073" cy="392906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2357018" y="5411152"/>
                <a:ext cx="79956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MMLU-Pro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650807" y="56068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通用知识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3238500" y="5381625"/>
                <a:ext cx="6953250" cy="361950"/>
              </a:xfrm>
              <a:prstGeom prst="roundRect">
                <a:avLst>
                  <a:gd name="adj" fmla="val 10526"/>
                </a:avLst>
              </a:prstGeom>
              <a:gradFill>
                <a:gsLst>
                  <a:gs pos="0">
                    <a:srgbClr val="E8A87C"/>
                  </a:gs>
                  <a:gs pos="100000">
                    <a:srgbClr val="8B6F47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0271760" y="5490210"/>
                <a:ext cx="4353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84.7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571500" y="6438900"/>
            <a:ext cx="11059478" cy="259556"/>
            <a:chOff x="571500" y="6438900"/>
            <a:chExt cx="11059478" cy="259556"/>
          </a:xfrm>
        </p:grpSpPr>
        <p:sp>
          <p:nvSpPr>
            <p:cNvPr id="57" name="Rectangle 57"/>
            <p:cNvSpPr/>
            <p:nvPr/>
          </p:nvSpPr>
          <p:spPr>
            <a:xfrm>
              <a:off x="571500" y="6438900"/>
              <a:ext cx="133350" cy="133350"/>
            </a:xfrm>
            <a:prstGeom prst="roundRect">
              <a:avLst>
                <a:gd name="adj" fmla="val 14286"/>
              </a:avLst>
            </a:prstGeom>
            <a:gradFill>
              <a:gsLst>
                <a:gs pos="0">
                  <a:srgbClr val="E8A87C"/>
                </a:gs>
                <a:gs pos="100000">
                  <a:srgbClr val="8B6F4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9620" y="6456045"/>
              <a:ext cx="758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Kimi K3 成绩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73682" y="6530816"/>
              <a:ext cx="25572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A89B8A"/>
                  </a:solidFill>
                  <a:latin typeface="Arial"/>
                  <a:ea typeface="Microsoft YaHei"/>
                  <a:cs typeface="Arial"/>
                </a:rPr>
                <a:t>AI Intelligence Index / BenchLM / SWE-bench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201590" y="66846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04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8A87C">
                    <a:alpha val="12000"/>
                  </a:srgbClr>
                </a:gs>
                <a:gs pos="100000">
                  <a:srgbClr val="E8A87C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075748" y="392430"/>
            <a:ext cx="4040505" cy="619601"/>
            <a:chOff x="4075748" y="392430"/>
            <a:chExt cx="4040505" cy="619601"/>
          </a:xfrm>
        </p:grpSpPr>
        <p:sp>
          <p:nvSpPr>
            <p:cNvPr id="5" name="TextBox 5"/>
            <p:cNvSpPr txBox="1"/>
            <p:nvPr/>
          </p:nvSpPr>
          <p:spPr>
            <a:xfrm>
              <a:off x="4075748" y="392430"/>
              <a:ext cx="404050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真实案例：天体物理研究任务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935676" y="783431"/>
              <a:ext cx="23206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复现中子星 I-Love-Q 普适关系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91200" y="3314700"/>
            <a:ext cx="609600" cy="609600"/>
            <a:chOff x="5791200" y="3314700"/>
            <a:chExt cx="609600" cy="609600"/>
          </a:xfrm>
        </p:grpSpPr>
        <p:sp>
          <p:nvSpPr>
            <p:cNvPr id="8" name="Ellipse 8"/>
            <p:cNvSpPr/>
            <p:nvPr/>
          </p:nvSpPr>
          <p:spPr>
            <a:xfrm>
              <a:off x="5791200" y="3314700"/>
              <a:ext cx="609600" cy="6096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35878" y="3527108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KaiTi"/>
                  <a:cs typeface="Georgia"/>
                </a:rPr>
                <a:t>VS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78293" y="1419225"/>
            <a:ext cx="2212981" cy="3076575"/>
            <a:chOff x="1578293" y="1419225"/>
            <a:chExt cx="2212981" cy="3076575"/>
          </a:xfrm>
        </p:grpSpPr>
        <p:sp>
          <p:nvSpPr>
            <p:cNvPr id="11" name="Freeform 11"/>
            <p:cNvSpPr/>
            <p:nvPr/>
          </p:nvSpPr>
          <p:spPr>
            <a:xfrm>
              <a:off x="2361337" y="1419225"/>
              <a:ext cx="306525" cy="388068"/>
            </a:xfrm>
            <a:custGeom>
              <a:avLst/>
              <a:gdLst/>
              <a:ahLst/>
              <a:cxnLst/>
              <a:rect l="l" t="t" r="r" b="b"/>
              <a:pathLst>
                <a:path w="306525" h="388068">
                  <a:moveTo>
                    <a:pt x="172313" y="0"/>
                  </a:moveTo>
                  <a:lnTo>
                    <a:pt x="172655" y="19"/>
                  </a:lnTo>
                  <a:lnTo>
                    <a:pt x="172960" y="38"/>
                  </a:lnTo>
                  <a:lnTo>
                    <a:pt x="174541" y="133"/>
                  </a:lnTo>
                  <a:lnTo>
                    <a:pt x="174751" y="171"/>
                  </a:lnTo>
                  <a:lnTo>
                    <a:pt x="174960" y="171"/>
                  </a:lnTo>
                  <a:lnTo>
                    <a:pt x="175684" y="343"/>
                  </a:lnTo>
                  <a:lnTo>
                    <a:pt x="176675" y="495"/>
                  </a:lnTo>
                  <a:lnTo>
                    <a:pt x="176980" y="610"/>
                  </a:lnTo>
                  <a:lnTo>
                    <a:pt x="177189" y="629"/>
                  </a:lnTo>
                  <a:lnTo>
                    <a:pt x="177742" y="838"/>
                  </a:lnTo>
                  <a:lnTo>
                    <a:pt x="178732" y="1105"/>
                  </a:lnTo>
                  <a:lnTo>
                    <a:pt x="179094" y="1276"/>
                  </a:lnTo>
                  <a:lnTo>
                    <a:pt x="179380" y="1353"/>
                  </a:lnTo>
                  <a:lnTo>
                    <a:pt x="179913" y="1619"/>
                  </a:lnTo>
                  <a:lnTo>
                    <a:pt x="180675" y="1943"/>
                  </a:lnTo>
                  <a:lnTo>
                    <a:pt x="181076" y="2172"/>
                  </a:lnTo>
                  <a:lnTo>
                    <a:pt x="181495" y="2362"/>
                  </a:lnTo>
                  <a:lnTo>
                    <a:pt x="181933" y="2648"/>
                  </a:lnTo>
                  <a:lnTo>
                    <a:pt x="182523" y="2972"/>
                  </a:lnTo>
                  <a:lnTo>
                    <a:pt x="183171" y="3429"/>
                  </a:lnTo>
                  <a:lnTo>
                    <a:pt x="183514" y="3639"/>
                  </a:lnTo>
                  <a:lnTo>
                    <a:pt x="183762" y="3867"/>
                  </a:lnTo>
                  <a:lnTo>
                    <a:pt x="184219" y="4191"/>
                  </a:lnTo>
                  <a:lnTo>
                    <a:pt x="184943" y="4839"/>
                  </a:lnTo>
                  <a:lnTo>
                    <a:pt x="185362" y="5163"/>
                  </a:lnTo>
                  <a:lnTo>
                    <a:pt x="185514" y="5353"/>
                  </a:lnTo>
                  <a:lnTo>
                    <a:pt x="185781" y="5582"/>
                  </a:lnTo>
                  <a:lnTo>
                    <a:pt x="186467" y="6363"/>
                  </a:lnTo>
                  <a:lnTo>
                    <a:pt x="186962" y="6877"/>
                  </a:lnTo>
                  <a:lnTo>
                    <a:pt x="187076" y="7049"/>
                  </a:lnTo>
                  <a:cubicBezTo>
                    <a:pt x="189362" y="9849"/>
                    <a:pt x="190810" y="13183"/>
                    <a:pt x="191229" y="16821"/>
                  </a:cubicBezTo>
                  <a:lnTo>
                    <a:pt x="191248" y="17050"/>
                  </a:lnTo>
                  <a:lnTo>
                    <a:pt x="191286" y="17831"/>
                  </a:lnTo>
                  <a:lnTo>
                    <a:pt x="191363" y="19050"/>
                  </a:lnTo>
                  <a:lnTo>
                    <a:pt x="191363" y="133350"/>
                  </a:lnTo>
                  <a:lnTo>
                    <a:pt x="286613" y="133350"/>
                  </a:lnTo>
                  <a:cubicBezTo>
                    <a:pt x="293407" y="133348"/>
                    <a:pt x="299689" y="136966"/>
                    <a:pt x="303097" y="142844"/>
                  </a:cubicBezTo>
                  <a:cubicBezTo>
                    <a:pt x="306506" y="148723"/>
                    <a:pt x="306525" y="155971"/>
                    <a:pt x="303148" y="161868"/>
                  </a:cubicBezTo>
                  <a:lnTo>
                    <a:pt x="302005" y="163601"/>
                  </a:lnTo>
                  <a:lnTo>
                    <a:pt x="149605" y="373151"/>
                  </a:lnTo>
                  <a:cubicBezTo>
                    <a:pt x="138785" y="388068"/>
                    <a:pt x="115163" y="380390"/>
                    <a:pt x="115163" y="361950"/>
                  </a:cubicBezTo>
                  <a:lnTo>
                    <a:pt x="115163" y="247650"/>
                  </a:lnTo>
                  <a:lnTo>
                    <a:pt x="19913" y="247650"/>
                  </a:lnTo>
                  <a:cubicBezTo>
                    <a:pt x="13118" y="247652"/>
                    <a:pt x="6836" y="244034"/>
                    <a:pt x="3428" y="238156"/>
                  </a:cubicBezTo>
                  <a:cubicBezTo>
                    <a:pt x="19" y="232277"/>
                    <a:pt x="0" y="225029"/>
                    <a:pt x="3377" y="219132"/>
                  </a:cubicBezTo>
                  <a:lnTo>
                    <a:pt x="4520" y="217399"/>
                  </a:lnTo>
                  <a:lnTo>
                    <a:pt x="156920" y="7849"/>
                  </a:lnTo>
                  <a:lnTo>
                    <a:pt x="157111" y="7601"/>
                  </a:lnTo>
                  <a:lnTo>
                    <a:pt x="157454" y="7144"/>
                  </a:lnTo>
                  <a:lnTo>
                    <a:pt x="158082" y="6420"/>
                  </a:lnTo>
                  <a:lnTo>
                    <a:pt x="158425" y="6001"/>
                  </a:lnTo>
                  <a:lnTo>
                    <a:pt x="158597" y="5848"/>
                  </a:lnTo>
                  <a:lnTo>
                    <a:pt x="158844" y="5582"/>
                  </a:lnTo>
                  <a:lnTo>
                    <a:pt x="159606" y="4896"/>
                  </a:lnTo>
                  <a:lnTo>
                    <a:pt x="160140" y="4401"/>
                  </a:lnTo>
                  <a:lnTo>
                    <a:pt x="160292" y="4286"/>
                  </a:lnTo>
                  <a:cubicBezTo>
                    <a:pt x="162525" y="2459"/>
                    <a:pt x="165143" y="1163"/>
                    <a:pt x="167950" y="495"/>
                  </a:cubicBezTo>
                  <a:lnTo>
                    <a:pt x="168160" y="476"/>
                  </a:lnTo>
                  <a:lnTo>
                    <a:pt x="168674" y="381"/>
                  </a:lnTo>
                  <a:lnTo>
                    <a:pt x="170084" y="133"/>
                  </a:lnTo>
                  <a:lnTo>
                    <a:pt x="170293" y="114"/>
                  </a:lnTo>
                  <a:lnTo>
                    <a:pt x="171074" y="76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4640" y="1520190"/>
              <a:ext cx="9566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Kimi K3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71922" y="1889760"/>
              <a:ext cx="790156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09812" y="2900362"/>
              <a:ext cx="7143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小时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41182" y="3680460"/>
              <a:ext cx="1651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自主阅读 20+ 篇论文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92986" y="3966210"/>
              <a:ext cx="17480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评估 300+ 种状态方程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78293" y="4251960"/>
              <a:ext cx="21774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生成 3000+ 行 Python 代码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515350" y="1410692"/>
            <a:ext cx="2212467" cy="3085108"/>
            <a:chOff x="8515350" y="1410692"/>
            <a:chExt cx="2212467" cy="3085108"/>
          </a:xfrm>
        </p:grpSpPr>
        <p:sp>
          <p:nvSpPr>
            <p:cNvPr id="19" name="Freeform 19"/>
            <p:cNvSpPr/>
            <p:nvPr/>
          </p:nvSpPr>
          <p:spPr>
            <a:xfrm>
              <a:off x="8515350" y="1410692"/>
              <a:ext cx="400622" cy="401278"/>
            </a:xfrm>
            <a:custGeom>
              <a:avLst/>
              <a:gdLst/>
              <a:ahLst/>
              <a:cxnLst/>
              <a:rect l="l" t="t" r="r" b="b"/>
              <a:pathLst>
                <a:path w="400622" h="401278">
                  <a:moveTo>
                    <a:pt x="285750" y="34060"/>
                  </a:moveTo>
                  <a:cubicBezTo>
                    <a:pt x="365139" y="79898"/>
                    <a:pt x="400622" y="175780"/>
                    <a:pt x="370199" y="262257"/>
                  </a:cubicBezTo>
                  <a:cubicBezTo>
                    <a:pt x="339775" y="348733"/>
                    <a:pt x="252074" y="401278"/>
                    <a:pt x="161473" y="387312"/>
                  </a:cubicBezTo>
                  <a:cubicBezTo>
                    <a:pt x="70871" y="373345"/>
                    <a:pt x="3064" y="296829"/>
                    <a:pt x="95" y="205205"/>
                  </a:cubicBezTo>
                  <a:lnTo>
                    <a:pt x="0" y="199033"/>
                  </a:lnTo>
                  <a:lnTo>
                    <a:pt x="95" y="192861"/>
                  </a:lnTo>
                  <a:cubicBezTo>
                    <a:pt x="2265" y="125938"/>
                    <a:pt x="39411" y="65068"/>
                    <a:pt x="97934" y="32534"/>
                  </a:cubicBezTo>
                  <a:cubicBezTo>
                    <a:pt x="156457" y="0"/>
                    <a:pt x="227764" y="579"/>
                    <a:pt x="285750" y="34060"/>
                  </a:cubicBezTo>
                  <a:close/>
                  <a:moveTo>
                    <a:pt x="190500" y="84733"/>
                  </a:moveTo>
                  <a:cubicBezTo>
                    <a:pt x="180842" y="84735"/>
                    <a:pt x="172713" y="91963"/>
                    <a:pt x="171583" y="101554"/>
                  </a:cubicBezTo>
                  <a:lnTo>
                    <a:pt x="171450" y="103783"/>
                  </a:lnTo>
                  <a:lnTo>
                    <a:pt x="171450" y="199033"/>
                  </a:lnTo>
                  <a:lnTo>
                    <a:pt x="171621" y="201529"/>
                  </a:lnTo>
                  <a:cubicBezTo>
                    <a:pt x="172056" y="204834"/>
                    <a:pt x="173350" y="207967"/>
                    <a:pt x="175374" y="210616"/>
                  </a:cubicBezTo>
                  <a:lnTo>
                    <a:pt x="177032" y="212521"/>
                  </a:lnTo>
                  <a:lnTo>
                    <a:pt x="234182" y="269671"/>
                  </a:lnTo>
                  <a:lnTo>
                    <a:pt x="235972" y="271233"/>
                  </a:lnTo>
                  <a:cubicBezTo>
                    <a:pt x="242845" y="276565"/>
                    <a:pt x="252455" y="276565"/>
                    <a:pt x="259328" y="271233"/>
                  </a:cubicBezTo>
                  <a:lnTo>
                    <a:pt x="261118" y="269652"/>
                  </a:lnTo>
                  <a:lnTo>
                    <a:pt x="262700" y="267861"/>
                  </a:lnTo>
                  <a:cubicBezTo>
                    <a:pt x="268031" y="260989"/>
                    <a:pt x="268031" y="251378"/>
                    <a:pt x="262700" y="244506"/>
                  </a:cubicBezTo>
                  <a:lnTo>
                    <a:pt x="261118" y="242715"/>
                  </a:lnTo>
                  <a:lnTo>
                    <a:pt x="209550" y="191127"/>
                  </a:lnTo>
                  <a:lnTo>
                    <a:pt x="209550" y="103783"/>
                  </a:lnTo>
                  <a:lnTo>
                    <a:pt x="209417" y="101554"/>
                  </a:lnTo>
                  <a:cubicBezTo>
                    <a:pt x="208287" y="91963"/>
                    <a:pt x="200158" y="84735"/>
                    <a:pt x="190500" y="84733"/>
                  </a:cubicBezTo>
                  <a:close/>
                </a:path>
              </a:pathLst>
            </a:custGeom>
            <a:solidFill>
              <a:srgbClr val="8B7D6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25890" y="15201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B7D6B"/>
                  </a:solidFill>
                  <a:latin typeface="Georgia"/>
                  <a:ea typeface="KaiTi"/>
                  <a:cs typeface="Georgia"/>
                </a:rPr>
                <a:t>资深研究人员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76748" y="2084070"/>
              <a:ext cx="1296505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8B7D6B"/>
                  </a:solidFill>
                  <a:latin typeface="Georgia"/>
                  <a:ea typeface="KaiTi"/>
                  <a:cs typeface="Georgia"/>
                </a:rPr>
                <a:t>1-2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32119" y="2900362"/>
              <a:ext cx="3857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33460" y="36804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同样需要阅读的文献量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33460" y="396621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同样需要评估的方程数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33460" y="42519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同样需要编写的代码量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191000" y="4857750"/>
            <a:ext cx="3810000" cy="571500"/>
            <a:chOff x="4191000" y="4857750"/>
            <a:chExt cx="3810000" cy="571500"/>
          </a:xfrm>
        </p:grpSpPr>
        <p:sp>
          <p:nvSpPr>
            <p:cNvPr id="27" name="Rectangle 27"/>
            <p:cNvSpPr/>
            <p:nvPr/>
          </p:nvSpPr>
          <p:spPr>
            <a:xfrm>
              <a:off x="4191000" y="4857750"/>
              <a:ext cx="3810000" cy="5715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8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980683" y="5041582"/>
              <a:ext cx="223063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效率提升 84-168 倍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091112" y="5791200"/>
            <a:ext cx="2009775" cy="304800"/>
            <a:chOff x="5091112" y="5791200"/>
            <a:chExt cx="2009775" cy="304800"/>
          </a:xfrm>
        </p:grpSpPr>
        <p:sp>
          <p:nvSpPr>
            <p:cNvPr id="30" name="TextBox 30"/>
            <p:cNvSpPr txBox="1"/>
            <p:nvPr/>
          </p:nvSpPr>
          <p:spPr>
            <a:xfrm>
              <a:off x="5091112" y="5791200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i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连马斯克都点了赞。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05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6" grpId="0"/>
      <p:bldP spid="29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26720"/>
            <a:ext cx="4397654" cy="632936"/>
            <a:chOff x="571500" y="426720"/>
            <a:chExt cx="4397654" cy="632936"/>
          </a:xfrm>
        </p:grpSpPr>
        <p:sp>
          <p:nvSpPr>
            <p:cNvPr id="3" name="Rectangle 3"/>
            <p:cNvSpPr/>
            <p:nvPr/>
          </p:nvSpPr>
          <p:spPr>
            <a:xfrm>
              <a:off x="571500" y="457200"/>
              <a:ext cx="38100" cy="419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2470" y="426720"/>
              <a:ext cx="42566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9年来首次重写AI底层机制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8662" y="831056"/>
              <a:ext cx="3043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KDA（Kimi Delta Attention）注意力机制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143000"/>
            <a:ext cx="11049000" cy="476250"/>
            <a:chOff x="571500" y="1143000"/>
            <a:chExt cx="11049000" cy="47625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7260" y="1308735"/>
              <a:ext cx="57264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2017</a:t>
              </a:r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 xml:space="preserve"> Transformer注意力机制发表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──────────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2026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 xml:space="preserve"> K3首次系统性重写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857375"/>
            <a:ext cx="6667500" cy="3619500"/>
            <a:chOff x="571500" y="1857375"/>
            <a:chExt cx="66675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571500" y="1857375"/>
              <a:ext cx="6667500" cy="3619500"/>
            </a:xfrm>
            <a:prstGeom prst="roundRect">
              <a:avLst>
                <a:gd name="adj" fmla="val 315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2064068"/>
              <a:ext cx="18354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3:1 混合注意力架构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52500" y="2476500"/>
              <a:ext cx="5429250" cy="571500"/>
              <a:chOff x="952500" y="2476500"/>
              <a:chExt cx="5429250" cy="571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952500" y="2476500"/>
                <a:ext cx="40005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118608" y="2689860"/>
                <a:ext cx="16682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75% KDA 线性注意力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5048250" y="2476500"/>
                <a:ext cx="13335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336315" y="2689860"/>
                <a:ext cx="7573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25% 完整</a:t>
                </a: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938212" y="3307556"/>
              <a:ext cx="39637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KDA 线性注意力：不同通道使用不同衰减速率管理记忆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8212" y="3574256"/>
              <a:ext cx="23535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关键位置 → 完整注意力精细处理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8212" y="3840956"/>
              <a:ext cx="20166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不关键位置 → KDA 快速扫过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952500" y="4381500"/>
              <a:ext cx="5905500" cy="457200"/>
              <a:chOff x="952500" y="4381500"/>
              <a:chExt cx="5905500" cy="4572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952500" y="4381500"/>
                <a:ext cx="590550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6B8E5A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127125" y="4493997"/>
                <a:ext cx="233696" cy="234079"/>
              </a:xfrm>
              <a:custGeom>
                <a:avLst/>
                <a:gdLst/>
                <a:ahLst/>
                <a:cxnLst/>
                <a:rect l="l" t="t" r="r" b="b"/>
                <a:pathLst>
                  <a:path w="233696" h="234079">
                    <a:moveTo>
                      <a:pt x="166688" y="19868"/>
                    </a:moveTo>
                    <a:cubicBezTo>
                      <a:pt x="212998" y="46607"/>
                      <a:pt x="233696" y="102539"/>
                      <a:pt x="215949" y="152983"/>
                    </a:cubicBezTo>
                    <a:cubicBezTo>
                      <a:pt x="198202" y="203428"/>
                      <a:pt x="147043" y="234079"/>
                      <a:pt x="94192" y="225932"/>
                    </a:cubicBezTo>
                    <a:cubicBezTo>
                      <a:pt x="41341" y="217785"/>
                      <a:pt x="1788" y="173150"/>
                      <a:pt x="56" y="119703"/>
                    </a:cubicBezTo>
                    <a:lnTo>
                      <a:pt x="0" y="116103"/>
                    </a:lnTo>
                    <a:lnTo>
                      <a:pt x="56" y="112502"/>
                    </a:lnTo>
                    <a:cubicBezTo>
                      <a:pt x="1321" y="73464"/>
                      <a:pt x="22990" y="37956"/>
                      <a:pt x="57128" y="18978"/>
                    </a:cubicBezTo>
                    <a:cubicBezTo>
                      <a:pt x="91267" y="0"/>
                      <a:pt x="132862" y="338"/>
                      <a:pt x="166687" y="19868"/>
                    </a:cubicBezTo>
                    <a:close/>
                    <a:moveTo>
                      <a:pt x="111125" y="93878"/>
                    </a:moveTo>
                    <a:cubicBezTo>
                      <a:pt x="100150" y="93877"/>
                      <a:pt x="90818" y="101888"/>
                      <a:pt x="89156" y="112736"/>
                    </a:cubicBezTo>
                    <a:lnTo>
                      <a:pt x="88956" y="114447"/>
                    </a:lnTo>
                    <a:lnTo>
                      <a:pt x="88900" y="116103"/>
                    </a:lnTo>
                    <a:lnTo>
                      <a:pt x="88956" y="117770"/>
                    </a:lnTo>
                    <a:cubicBezTo>
                      <a:pt x="89860" y="129793"/>
                      <a:pt x="100186" y="138902"/>
                      <a:pt x="112227" y="138300"/>
                    </a:cubicBezTo>
                    <a:cubicBezTo>
                      <a:pt x="124269" y="137698"/>
                      <a:pt x="133635" y="127605"/>
                      <a:pt x="133336" y="115551"/>
                    </a:cubicBezTo>
                    <a:cubicBezTo>
                      <a:pt x="133037" y="103498"/>
                      <a:pt x="123182" y="93882"/>
                      <a:pt x="111125" y="93878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470660" y="4547235"/>
                <a:ext cx="504510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6B8E5A"/>
                    </a:solidFill>
                    <a:latin typeface="Arial"/>
                    <a:ea typeface="Microsoft YaHei"/>
                    <a:cs typeface="Arial"/>
                  </a:rPr>
                  <a:t>没有抛弃Transformer，在框架内找到效率与能力的最优平衡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7620000" y="1857375"/>
            <a:ext cx="4000500" cy="3619500"/>
            <a:chOff x="7620000" y="1857375"/>
            <a:chExt cx="4000500" cy="3619500"/>
          </a:xfrm>
        </p:grpSpPr>
        <p:sp>
          <p:nvSpPr>
            <p:cNvPr id="25" name="Rectangle 25"/>
            <p:cNvSpPr/>
            <p:nvPr/>
          </p:nvSpPr>
          <p:spPr>
            <a:xfrm>
              <a:off x="7620000" y="1857375"/>
              <a:ext cx="4000500" cy="3619500"/>
            </a:xfrm>
            <a:prstGeom prst="roundRect">
              <a:avLst>
                <a:gd name="adj" fmla="val 315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83855" y="20640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训练成本对比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8001000" y="2476500"/>
              <a:ext cx="1524000" cy="952500"/>
              <a:chOff x="8001000" y="2476500"/>
              <a:chExt cx="1524000" cy="952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001000" y="2476500"/>
                <a:ext cx="1524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8B6F47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0091" y="2566035"/>
                <a:ext cx="1165817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8B6F47"/>
                    </a:solidFill>
                    <a:latin typeface="Georgia"/>
                    <a:ea typeface="KaiTi"/>
                    <a:cs typeface="Georgia"/>
                  </a:rPr>
                  <a:t>460万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423791" y="3029902"/>
                <a:ext cx="6784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美元 · K3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715500" y="2476500"/>
              <a:ext cx="1524000" cy="952500"/>
              <a:chOff x="9715500" y="2476500"/>
              <a:chExt cx="1524000" cy="9525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715500" y="2476500"/>
                <a:ext cx="15240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EDE5D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879209" y="2630805"/>
                <a:ext cx="119658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8B7D6B"/>
                    </a:solidFill>
                    <a:latin typeface="Georgia"/>
                    <a:ea typeface="KaiTi"/>
                    <a:cs typeface="Georgia"/>
                  </a:rPr>
                  <a:t>千万~亿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915930" y="3029902"/>
                <a:ext cx="11231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美元 · 美国同级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001000" y="3714750"/>
              <a:ext cx="3238500" cy="476250"/>
              <a:chOff x="8001000" y="3714750"/>
              <a:chExt cx="3238500" cy="4762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001000" y="3714750"/>
                <a:ext cx="323850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E8A87C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914744" y="3873818"/>
                <a:ext cx="141101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75C3A"/>
                    </a:solidFill>
                    <a:latin typeface="Arial"/>
                    <a:ea typeface="Microsoft YaHei"/>
                    <a:cs typeface="Arial"/>
                  </a:rPr>
                  <a:t>成本砍了2-3倍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7985760" y="444246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5D4E37"/>
                  </a:solidFill>
                  <a:latin typeface="Georgia"/>
                  <a:ea typeface="KaiTi"/>
                  <a:cs typeface="Georgia"/>
                </a:rPr>
                <a:t>"同样的效果，不是靠钱，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85760" y="4680585"/>
              <a:ext cx="1353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rgbClr val="5D4E37"/>
                  </a:solidFill>
                  <a:latin typeface="Georgia"/>
                  <a:ea typeface="KaiTi"/>
                  <a:cs typeface="Georgia"/>
                </a:rPr>
                <a:t>是靠工程能力。"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8001000" y="5048250"/>
              <a:ext cx="3238500" cy="342900"/>
              <a:chOff x="8001000" y="5048250"/>
              <a:chExt cx="3238500" cy="3429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8001000" y="5048250"/>
                <a:ext cx="3238500" cy="342900"/>
              </a:xfrm>
              <a:prstGeom prst="roundRect">
                <a:avLst>
                  <a:gd name="adj" fmla="val 22222"/>
                </a:avLst>
              </a:prstGeom>
              <a:solidFill>
                <a:srgbClr val="8B6F47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616410" y="5179695"/>
                <a:ext cx="20076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黄仁勋发推："开源模型实现主权"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06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0E8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75C3A">
                    <a:alpha val="6000"/>
                  </a:srgbClr>
                </a:gs>
                <a:gs pos="100000">
                  <a:srgbClr val="C75C3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964638" y="598011"/>
            <a:ext cx="4262723" cy="973614"/>
            <a:chOff x="3964638" y="598011"/>
            <a:chExt cx="4262723" cy="973614"/>
          </a:xfrm>
        </p:grpSpPr>
        <p:sp>
          <p:nvSpPr>
            <p:cNvPr id="5" name="Freeform 5"/>
            <p:cNvSpPr/>
            <p:nvPr/>
          </p:nvSpPr>
          <p:spPr>
            <a:xfrm>
              <a:off x="4680876" y="598011"/>
              <a:ext cx="353564" cy="306800"/>
            </a:xfrm>
            <a:custGeom>
              <a:avLst/>
              <a:gdLst/>
              <a:ahLst/>
              <a:cxnLst/>
              <a:rect l="l" t="t" r="r" b="b"/>
              <a:pathLst>
                <a:path w="353564" h="306800">
                  <a:moveTo>
                    <a:pt x="176874" y="0"/>
                  </a:moveTo>
                  <a:cubicBezTo>
                    <a:pt x="192035" y="0"/>
                    <a:pt x="206164" y="7414"/>
                    <a:pt x="214816" y="19796"/>
                  </a:cubicBezTo>
                  <a:lnTo>
                    <a:pt x="216483" y="22336"/>
                  </a:lnTo>
                  <a:lnTo>
                    <a:pt x="345292" y="237411"/>
                  </a:lnTo>
                  <a:cubicBezTo>
                    <a:pt x="353250" y="251192"/>
                    <a:pt x="353564" y="268097"/>
                    <a:pt x="346126" y="282165"/>
                  </a:cubicBezTo>
                  <a:cubicBezTo>
                    <a:pt x="338687" y="296234"/>
                    <a:pt x="324539" y="305491"/>
                    <a:pt x="308669" y="306673"/>
                  </a:cubicBezTo>
                  <a:lnTo>
                    <a:pt x="305573" y="306800"/>
                  </a:lnTo>
                  <a:lnTo>
                    <a:pt x="48001" y="306800"/>
                  </a:lnTo>
                  <a:cubicBezTo>
                    <a:pt x="32116" y="306621"/>
                    <a:pt x="17433" y="298304"/>
                    <a:pt x="9113" y="284770"/>
                  </a:cubicBezTo>
                  <a:cubicBezTo>
                    <a:pt x="793" y="271237"/>
                    <a:pt x="0" y="254380"/>
                    <a:pt x="7012" y="240125"/>
                  </a:cubicBezTo>
                  <a:lnTo>
                    <a:pt x="8584" y="237188"/>
                  </a:lnTo>
                  <a:lnTo>
                    <a:pt x="137330" y="22273"/>
                  </a:lnTo>
                  <a:cubicBezTo>
                    <a:pt x="145713" y="8448"/>
                    <a:pt x="160706" y="4"/>
                    <a:pt x="176874" y="0"/>
                  </a:cubicBezTo>
                  <a:close/>
                  <a:moveTo>
                    <a:pt x="177033" y="211614"/>
                  </a:moveTo>
                  <a:lnTo>
                    <a:pt x="175017" y="211725"/>
                  </a:lnTo>
                  <a:cubicBezTo>
                    <a:pt x="167031" y="212675"/>
                    <a:pt x="161017" y="219447"/>
                    <a:pt x="161017" y="227489"/>
                  </a:cubicBezTo>
                  <a:cubicBezTo>
                    <a:pt x="161017" y="235531"/>
                    <a:pt x="167031" y="242303"/>
                    <a:pt x="175017" y="243253"/>
                  </a:cubicBezTo>
                  <a:lnTo>
                    <a:pt x="176874" y="243364"/>
                  </a:lnTo>
                  <a:lnTo>
                    <a:pt x="178891" y="243253"/>
                  </a:lnTo>
                  <a:cubicBezTo>
                    <a:pt x="186877" y="242303"/>
                    <a:pt x="192891" y="235531"/>
                    <a:pt x="192891" y="227489"/>
                  </a:cubicBezTo>
                  <a:cubicBezTo>
                    <a:pt x="192891" y="219447"/>
                    <a:pt x="186877" y="212675"/>
                    <a:pt x="178891" y="211725"/>
                  </a:cubicBezTo>
                  <a:lnTo>
                    <a:pt x="177033" y="211614"/>
                  </a:lnTo>
                  <a:close/>
                  <a:moveTo>
                    <a:pt x="176874" y="100489"/>
                  </a:moveTo>
                  <a:cubicBezTo>
                    <a:pt x="168826" y="100490"/>
                    <a:pt x="162052" y="106513"/>
                    <a:pt x="161111" y="114506"/>
                  </a:cubicBezTo>
                  <a:lnTo>
                    <a:pt x="160999" y="116364"/>
                  </a:lnTo>
                  <a:lnTo>
                    <a:pt x="160999" y="179864"/>
                  </a:lnTo>
                  <a:lnTo>
                    <a:pt x="161111" y="181721"/>
                  </a:lnTo>
                  <a:cubicBezTo>
                    <a:pt x="162061" y="189707"/>
                    <a:pt x="168832" y="195721"/>
                    <a:pt x="176874" y="195721"/>
                  </a:cubicBezTo>
                  <a:cubicBezTo>
                    <a:pt x="184917" y="195721"/>
                    <a:pt x="191688" y="189707"/>
                    <a:pt x="192638" y="181721"/>
                  </a:cubicBezTo>
                  <a:lnTo>
                    <a:pt x="192749" y="179864"/>
                  </a:lnTo>
                  <a:lnTo>
                    <a:pt x="192749" y="116364"/>
                  </a:lnTo>
                  <a:lnTo>
                    <a:pt x="192638" y="114506"/>
                  </a:lnTo>
                  <a:cubicBezTo>
                    <a:pt x="191697" y="106513"/>
                    <a:pt x="184923" y="100490"/>
                    <a:pt x="176874" y="100489"/>
                  </a:cubicBezTo>
                  <a:close/>
                </a:path>
              </a:pathLst>
            </a:custGeom>
            <a:solidFill>
              <a:srgbClr val="C75C3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64638" y="962025"/>
              <a:ext cx="4262723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C75C3A"/>
                  </a:solidFill>
                  <a:latin typeface="Georgia"/>
                  <a:ea typeface="KaiTi"/>
                  <a:cs typeface="Georgia"/>
                </a:rPr>
                <a:t>白宫指控"窃取技术"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294489" y="1854518"/>
            <a:ext cx="3603022" cy="560070"/>
            <a:chOff x="4294489" y="1854518"/>
            <a:chExt cx="3603022" cy="560070"/>
          </a:xfrm>
        </p:grpSpPr>
        <p:sp>
          <p:nvSpPr>
            <p:cNvPr id="8" name="TextBox 8"/>
            <p:cNvSpPr txBox="1"/>
            <p:nvPr/>
          </p:nvSpPr>
          <p:spPr>
            <a:xfrm>
              <a:off x="4294489" y="1854518"/>
              <a:ext cx="36030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K3发布后不久，白宫科技政策办公室主任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67691" y="2140268"/>
              <a:ext cx="26566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Michael Kratsios</a:t>
              </a:r>
              <a:r>
                <a:rPr lang="zh-CN" sz="13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 公开指控：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286000" y="2619375"/>
            <a:ext cx="7620000" cy="1143000"/>
            <a:chOff x="2286000" y="2619375"/>
            <a:chExt cx="7620000" cy="1143000"/>
          </a:xfrm>
        </p:grpSpPr>
        <p:sp>
          <p:nvSpPr>
            <p:cNvPr id="11" name="Rectangle 11"/>
            <p:cNvSpPr/>
            <p:nvPr/>
          </p:nvSpPr>
          <p:spPr>
            <a:xfrm>
              <a:off x="2286000" y="2619375"/>
              <a:ext cx="7620000" cy="1143000"/>
            </a:xfrm>
            <a:prstGeom prst="roundRect">
              <a:avLst>
                <a:gd name="adj" fmla="val 10000"/>
              </a:avLst>
            </a:prstGeom>
            <a:solidFill>
              <a:srgbClr val="C75C3A">
                <a:alpha val="6000"/>
              </a:srgbClr>
            </a:solidFill>
            <a:ln w="14288">
              <a:solidFill>
                <a:srgbClr val="C75C3A">
                  <a:alpha val="3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04974" y="2869882"/>
              <a:ext cx="498205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C75C3A"/>
                  </a:solidFill>
                  <a:latin typeface="Georgia"/>
                  <a:ea typeface="KaiTi"/>
                  <a:cs typeface="Georgia"/>
                </a:rPr>
                <a:t>"月之暗面通过蒸馏 Anthropic 的 Claude 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0992" y="3203258"/>
              <a:ext cx="20300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C75C3A"/>
                  </a:solidFill>
                  <a:latin typeface="Georgia"/>
                  <a:ea typeface="KaiTi"/>
                  <a:cs typeface="Georgia"/>
                </a:rPr>
                <a:t>来获取 K3 的能力"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81247" y="4061460"/>
            <a:ext cx="4429506" cy="243840"/>
            <a:chOff x="3881247" y="4061460"/>
            <a:chExt cx="4429506" cy="243840"/>
          </a:xfrm>
        </p:grpSpPr>
        <p:sp>
          <p:nvSpPr>
            <p:cNvPr id="15" name="TextBox 15"/>
            <p:cNvSpPr txBox="1"/>
            <p:nvPr/>
          </p:nvSpPr>
          <p:spPr>
            <a:xfrm>
              <a:off x="3881247" y="4061460"/>
              <a:ext cx="44295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美财长贝森特声称检出了美方大模型的"水印"，威胁制裁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048000" y="4572000"/>
            <a:ext cx="6096000" cy="476250"/>
            <a:chOff x="3048000" y="4572000"/>
            <a:chExt cx="6096000" cy="476250"/>
          </a:xfrm>
        </p:grpSpPr>
        <p:sp>
          <p:nvSpPr>
            <p:cNvPr id="17" name="Rectangle 17"/>
            <p:cNvSpPr/>
            <p:nvPr/>
          </p:nvSpPr>
          <p:spPr>
            <a:xfrm>
              <a:off x="3048000" y="4572000"/>
              <a:ext cx="6096000" cy="476250"/>
            </a:xfrm>
            <a:prstGeom prst="roundRect">
              <a:avLst>
                <a:gd name="adj" fmla="val 16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36657" y="4747260"/>
              <a:ext cx="47186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CNN · CNBC · BBC 轮番报道 —— "中国AI偷技术"叙事铺天盖地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0" y="5504498"/>
            <a:ext cx="3048000" cy="410527"/>
            <a:chOff x="4572000" y="5504498"/>
            <a:chExt cx="3048000" cy="410527"/>
          </a:xfrm>
        </p:grpSpPr>
        <p:sp>
          <p:nvSpPr>
            <p:cNvPr id="20" name="TextBox 20"/>
            <p:cNvSpPr txBox="1"/>
            <p:nvPr/>
          </p:nvSpPr>
          <p:spPr>
            <a:xfrm>
              <a:off x="4725567" y="5504498"/>
              <a:ext cx="274086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但事情很快反转了。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572000" y="5905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9050">
              <a:solidFill>
                <a:srgbClr val="E8A87C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07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  <p:bldP spid="19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26720"/>
            <a:ext cx="3463647" cy="632936"/>
            <a:chOff x="571500" y="426720"/>
            <a:chExt cx="3463647" cy="632936"/>
          </a:xfrm>
        </p:grpSpPr>
        <p:sp>
          <p:nvSpPr>
            <p:cNvPr id="3" name="Rectangle 3"/>
            <p:cNvSpPr/>
            <p:nvPr/>
          </p:nvSpPr>
          <p:spPr>
            <a:xfrm>
              <a:off x="571500" y="457200"/>
              <a:ext cx="38100" cy="419100"/>
            </a:xfrm>
            <a:prstGeom prst="roundRect">
              <a:avLst>
                <a:gd name="adj" fmla="val 50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2470" y="426720"/>
              <a:ext cx="26372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事情很快反转了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8662" y="831056"/>
              <a:ext cx="33064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TechCrunch 深度调查 · 多位独立研究者反驳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238250"/>
            <a:ext cx="3429000" cy="3238500"/>
            <a:chOff x="571500" y="1238250"/>
            <a:chExt cx="3429000" cy="32385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3429000" cy="533400"/>
            </a:xfrm>
            <a:prstGeom prst="roundRect">
              <a:avLst>
                <a:gd name="adj" fmla="val 21429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657350"/>
              <a:ext cx="3429000" cy="114300"/>
            </a:xfrm>
            <a:prstGeom prst="rect">
              <a:avLst/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85670" y="1435418"/>
              <a:ext cx="14006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1 时间线对不上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038350" y="2029817"/>
              <a:ext cx="400622" cy="401278"/>
            </a:xfrm>
            <a:custGeom>
              <a:avLst/>
              <a:gdLst/>
              <a:ahLst/>
              <a:cxnLst/>
              <a:rect l="l" t="t" r="r" b="b"/>
              <a:pathLst>
                <a:path w="400622" h="401278">
                  <a:moveTo>
                    <a:pt x="285750" y="34060"/>
                  </a:moveTo>
                  <a:cubicBezTo>
                    <a:pt x="365139" y="79898"/>
                    <a:pt x="400622" y="175780"/>
                    <a:pt x="370199" y="262257"/>
                  </a:cubicBezTo>
                  <a:cubicBezTo>
                    <a:pt x="339775" y="348733"/>
                    <a:pt x="252074" y="401278"/>
                    <a:pt x="161473" y="387312"/>
                  </a:cubicBezTo>
                  <a:cubicBezTo>
                    <a:pt x="70871" y="373345"/>
                    <a:pt x="3064" y="296829"/>
                    <a:pt x="95" y="205205"/>
                  </a:cubicBezTo>
                  <a:lnTo>
                    <a:pt x="0" y="199033"/>
                  </a:lnTo>
                  <a:lnTo>
                    <a:pt x="95" y="192861"/>
                  </a:lnTo>
                  <a:cubicBezTo>
                    <a:pt x="2265" y="125938"/>
                    <a:pt x="39411" y="65068"/>
                    <a:pt x="97934" y="32534"/>
                  </a:cubicBezTo>
                  <a:cubicBezTo>
                    <a:pt x="156457" y="0"/>
                    <a:pt x="227764" y="579"/>
                    <a:pt x="285750" y="34060"/>
                  </a:cubicBezTo>
                  <a:close/>
                  <a:moveTo>
                    <a:pt x="261118" y="147465"/>
                  </a:moveTo>
                  <a:cubicBezTo>
                    <a:pt x="254331" y="140679"/>
                    <a:pt x="243556" y="140001"/>
                    <a:pt x="235972" y="145884"/>
                  </a:cubicBezTo>
                  <a:lnTo>
                    <a:pt x="234182" y="147465"/>
                  </a:lnTo>
                  <a:lnTo>
                    <a:pt x="171450" y="210177"/>
                  </a:lnTo>
                  <a:lnTo>
                    <a:pt x="146818" y="185565"/>
                  </a:lnTo>
                  <a:lnTo>
                    <a:pt x="145028" y="183984"/>
                  </a:lnTo>
                  <a:cubicBezTo>
                    <a:pt x="137444" y="178105"/>
                    <a:pt x="126672" y="178785"/>
                    <a:pt x="119887" y="185570"/>
                  </a:cubicBezTo>
                  <a:cubicBezTo>
                    <a:pt x="113102" y="192355"/>
                    <a:pt x="112422" y="203127"/>
                    <a:pt x="118301" y="210711"/>
                  </a:cubicBezTo>
                  <a:lnTo>
                    <a:pt x="119882" y="212502"/>
                  </a:lnTo>
                  <a:lnTo>
                    <a:pt x="157982" y="250602"/>
                  </a:lnTo>
                  <a:lnTo>
                    <a:pt x="159772" y="252183"/>
                  </a:lnTo>
                  <a:cubicBezTo>
                    <a:pt x="166645" y="257515"/>
                    <a:pt x="176255" y="257515"/>
                    <a:pt x="183128" y="252183"/>
                  </a:cubicBezTo>
                  <a:lnTo>
                    <a:pt x="184918" y="250602"/>
                  </a:lnTo>
                  <a:lnTo>
                    <a:pt x="261118" y="174402"/>
                  </a:lnTo>
                  <a:lnTo>
                    <a:pt x="262699" y="172611"/>
                  </a:lnTo>
                  <a:cubicBezTo>
                    <a:pt x="268582" y="165027"/>
                    <a:pt x="267905" y="154252"/>
                    <a:pt x="261118" y="147465"/>
                  </a:cubicBez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48765" y="2688431"/>
              <a:ext cx="14744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Fable 模型发布时间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56980" y="2917031"/>
              <a:ext cx="14580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到 K3 训练完成之间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8794" y="314563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根本不够走完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4374" y="3374231"/>
              <a:ext cx="1443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"蒸馏→训练→发布"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78794" y="360283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这个完整流程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81500" y="1238250"/>
            <a:ext cx="3429000" cy="3238500"/>
            <a:chOff x="4381500" y="1238250"/>
            <a:chExt cx="3429000" cy="3238500"/>
          </a:xfrm>
        </p:grpSpPr>
        <p:sp>
          <p:nvSpPr>
            <p:cNvPr id="18" name="Rectangle 18"/>
            <p:cNvSpPr/>
            <p:nvPr/>
          </p:nvSpPr>
          <p:spPr>
            <a:xfrm>
              <a:off x="4381500" y="123825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81500" y="1238250"/>
              <a:ext cx="3429000" cy="533400"/>
            </a:xfrm>
            <a:prstGeom prst="roundRect">
              <a:avLst>
                <a:gd name="adj" fmla="val 21429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81500" y="1657350"/>
              <a:ext cx="3429000" cy="114300"/>
            </a:xfrm>
            <a:prstGeom prst="rect">
              <a:avLst/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369791" y="1435418"/>
              <a:ext cx="14524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2 架构是原创的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848350" y="2029817"/>
              <a:ext cx="400622" cy="401278"/>
            </a:xfrm>
            <a:custGeom>
              <a:avLst/>
              <a:gdLst/>
              <a:ahLst/>
              <a:cxnLst/>
              <a:rect l="l" t="t" r="r" b="b"/>
              <a:pathLst>
                <a:path w="400622" h="401278">
                  <a:moveTo>
                    <a:pt x="285750" y="34060"/>
                  </a:moveTo>
                  <a:cubicBezTo>
                    <a:pt x="365139" y="79898"/>
                    <a:pt x="400622" y="175780"/>
                    <a:pt x="370199" y="262257"/>
                  </a:cubicBezTo>
                  <a:cubicBezTo>
                    <a:pt x="339775" y="348733"/>
                    <a:pt x="252074" y="401278"/>
                    <a:pt x="161473" y="387312"/>
                  </a:cubicBezTo>
                  <a:cubicBezTo>
                    <a:pt x="70871" y="373345"/>
                    <a:pt x="3064" y="296829"/>
                    <a:pt x="95" y="205205"/>
                  </a:cubicBezTo>
                  <a:lnTo>
                    <a:pt x="0" y="199033"/>
                  </a:lnTo>
                  <a:lnTo>
                    <a:pt x="95" y="192861"/>
                  </a:lnTo>
                  <a:cubicBezTo>
                    <a:pt x="2265" y="125938"/>
                    <a:pt x="39411" y="65068"/>
                    <a:pt x="97934" y="32534"/>
                  </a:cubicBezTo>
                  <a:cubicBezTo>
                    <a:pt x="156457" y="0"/>
                    <a:pt x="227764" y="579"/>
                    <a:pt x="285750" y="34060"/>
                  </a:cubicBezTo>
                  <a:close/>
                  <a:moveTo>
                    <a:pt x="261118" y="147465"/>
                  </a:moveTo>
                  <a:cubicBezTo>
                    <a:pt x="254331" y="140679"/>
                    <a:pt x="243556" y="140001"/>
                    <a:pt x="235972" y="145884"/>
                  </a:cubicBezTo>
                  <a:lnTo>
                    <a:pt x="234182" y="147465"/>
                  </a:lnTo>
                  <a:lnTo>
                    <a:pt x="171450" y="210177"/>
                  </a:lnTo>
                  <a:lnTo>
                    <a:pt x="146818" y="185565"/>
                  </a:lnTo>
                  <a:lnTo>
                    <a:pt x="145028" y="183984"/>
                  </a:lnTo>
                  <a:cubicBezTo>
                    <a:pt x="137444" y="178105"/>
                    <a:pt x="126672" y="178785"/>
                    <a:pt x="119887" y="185570"/>
                  </a:cubicBezTo>
                  <a:cubicBezTo>
                    <a:pt x="113102" y="192355"/>
                    <a:pt x="112422" y="203127"/>
                    <a:pt x="118300" y="210711"/>
                  </a:cubicBezTo>
                  <a:lnTo>
                    <a:pt x="119882" y="212502"/>
                  </a:lnTo>
                  <a:lnTo>
                    <a:pt x="157982" y="250602"/>
                  </a:lnTo>
                  <a:lnTo>
                    <a:pt x="159772" y="252183"/>
                  </a:lnTo>
                  <a:cubicBezTo>
                    <a:pt x="166645" y="257515"/>
                    <a:pt x="176255" y="257515"/>
                    <a:pt x="183128" y="252183"/>
                  </a:cubicBezTo>
                  <a:lnTo>
                    <a:pt x="184918" y="250602"/>
                  </a:lnTo>
                  <a:lnTo>
                    <a:pt x="261118" y="174402"/>
                  </a:lnTo>
                  <a:lnTo>
                    <a:pt x="262700" y="172611"/>
                  </a:lnTo>
                  <a:cubicBezTo>
                    <a:pt x="268582" y="165027"/>
                    <a:pt x="267905" y="154252"/>
                    <a:pt x="261118" y="147465"/>
                  </a:cubicBez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05224" y="2688431"/>
              <a:ext cx="9815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896专家 MoE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40918" y="2917031"/>
              <a:ext cx="1310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+ KDA 注意力机制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81995" y="3221831"/>
              <a:ext cx="12280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在 Anthropic 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70947" y="3450431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任何模型里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36669" y="36790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都找不到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91500" y="1238250"/>
            <a:ext cx="3429000" cy="3238500"/>
            <a:chOff x="8191500" y="1238250"/>
            <a:chExt cx="3429000" cy="3238500"/>
          </a:xfrm>
        </p:grpSpPr>
        <p:sp>
          <p:nvSpPr>
            <p:cNvPr id="29" name="Rectangle 29"/>
            <p:cNvSpPr/>
            <p:nvPr/>
          </p:nvSpPr>
          <p:spPr>
            <a:xfrm>
              <a:off x="8191500" y="1238250"/>
              <a:ext cx="3429000" cy="3238500"/>
            </a:xfrm>
            <a:prstGeom prst="roundRect">
              <a:avLst>
                <a:gd name="adj" fmla="val 352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91500" y="1238250"/>
              <a:ext cx="3429000" cy="533400"/>
            </a:xfrm>
            <a:prstGeom prst="roundRect">
              <a:avLst>
                <a:gd name="adj" fmla="val 21429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191500" y="1657350"/>
              <a:ext cx="3429000" cy="114300"/>
            </a:xfrm>
            <a:prstGeom prst="rect">
              <a:avLst/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76278" y="1435418"/>
              <a:ext cx="16594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3 蒸馏做不出突破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9658350" y="2029817"/>
              <a:ext cx="400622" cy="401278"/>
            </a:xfrm>
            <a:custGeom>
              <a:avLst/>
              <a:gdLst/>
              <a:ahLst/>
              <a:cxnLst/>
              <a:rect l="l" t="t" r="r" b="b"/>
              <a:pathLst>
                <a:path w="400622" h="401278">
                  <a:moveTo>
                    <a:pt x="285750" y="34060"/>
                  </a:moveTo>
                  <a:cubicBezTo>
                    <a:pt x="365139" y="79898"/>
                    <a:pt x="400622" y="175780"/>
                    <a:pt x="370199" y="262257"/>
                  </a:cubicBezTo>
                  <a:cubicBezTo>
                    <a:pt x="339775" y="348733"/>
                    <a:pt x="252074" y="401278"/>
                    <a:pt x="161473" y="387312"/>
                  </a:cubicBezTo>
                  <a:cubicBezTo>
                    <a:pt x="70871" y="373345"/>
                    <a:pt x="3064" y="296829"/>
                    <a:pt x="95" y="205205"/>
                  </a:cubicBezTo>
                  <a:lnTo>
                    <a:pt x="0" y="199033"/>
                  </a:lnTo>
                  <a:lnTo>
                    <a:pt x="95" y="192861"/>
                  </a:lnTo>
                  <a:cubicBezTo>
                    <a:pt x="2265" y="125938"/>
                    <a:pt x="39411" y="65068"/>
                    <a:pt x="97934" y="32534"/>
                  </a:cubicBezTo>
                  <a:cubicBezTo>
                    <a:pt x="156457" y="0"/>
                    <a:pt x="227764" y="579"/>
                    <a:pt x="285750" y="34060"/>
                  </a:cubicBezTo>
                  <a:close/>
                  <a:moveTo>
                    <a:pt x="261118" y="147465"/>
                  </a:moveTo>
                  <a:cubicBezTo>
                    <a:pt x="254331" y="140679"/>
                    <a:pt x="243556" y="140001"/>
                    <a:pt x="235972" y="145884"/>
                  </a:cubicBezTo>
                  <a:lnTo>
                    <a:pt x="234182" y="147465"/>
                  </a:lnTo>
                  <a:lnTo>
                    <a:pt x="171450" y="210177"/>
                  </a:lnTo>
                  <a:lnTo>
                    <a:pt x="146818" y="185565"/>
                  </a:lnTo>
                  <a:lnTo>
                    <a:pt x="145028" y="183984"/>
                  </a:lnTo>
                  <a:cubicBezTo>
                    <a:pt x="137444" y="178105"/>
                    <a:pt x="126672" y="178785"/>
                    <a:pt x="119887" y="185570"/>
                  </a:cubicBezTo>
                  <a:cubicBezTo>
                    <a:pt x="113102" y="192355"/>
                    <a:pt x="112422" y="203127"/>
                    <a:pt x="118301" y="210711"/>
                  </a:cubicBezTo>
                  <a:lnTo>
                    <a:pt x="119882" y="212502"/>
                  </a:lnTo>
                  <a:lnTo>
                    <a:pt x="157982" y="250602"/>
                  </a:lnTo>
                  <a:lnTo>
                    <a:pt x="159772" y="252183"/>
                  </a:lnTo>
                  <a:cubicBezTo>
                    <a:pt x="166645" y="257515"/>
                    <a:pt x="176255" y="257515"/>
                    <a:pt x="183128" y="252183"/>
                  </a:cubicBezTo>
                  <a:lnTo>
                    <a:pt x="184918" y="250602"/>
                  </a:lnTo>
                  <a:lnTo>
                    <a:pt x="261118" y="174402"/>
                  </a:lnTo>
                  <a:lnTo>
                    <a:pt x="262699" y="172611"/>
                  </a:lnTo>
                  <a:cubicBezTo>
                    <a:pt x="268582" y="165027"/>
                    <a:pt x="267905" y="154252"/>
                    <a:pt x="261118" y="147465"/>
                  </a:cubicBez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98794" y="268843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蒸馏能走捷径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63100" y="2917031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但走不出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46669" y="31456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原创性的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46669" y="33742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架构创新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4762500"/>
            <a:ext cx="11049000" cy="762000"/>
            <a:chOff x="571500" y="4762500"/>
            <a:chExt cx="11049000" cy="762000"/>
          </a:xfrm>
        </p:grpSpPr>
        <p:sp>
          <p:nvSpPr>
            <p:cNvPr id="39" name="Rectangle 39"/>
            <p:cNvSpPr/>
            <p:nvPr/>
          </p:nvSpPr>
          <p:spPr>
            <a:xfrm>
              <a:off x="571500" y="47625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23439" y="4950142"/>
              <a:ext cx="55451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B7D6B"/>
                  </a:solidFill>
                  <a:latin typeface="Georgia"/>
                  <a:ea typeface="KaiTi"/>
                  <a:cs typeface="Georgia"/>
                </a:rPr>
                <a:t>DeepSeek 出来时同样的"作弊"指控也出现过 → 结果证实是原创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02241" y="5219700"/>
              <a:ext cx="73875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每次中国AI突破，第一反应都是"你作弊了"。但每次都证明是自己做的。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464796" y="5887402"/>
            <a:ext cx="3262408" cy="213360"/>
            <a:chOff x="4464796" y="5887402"/>
            <a:chExt cx="3262408" cy="213360"/>
          </a:xfrm>
        </p:grpSpPr>
        <p:sp>
          <p:nvSpPr>
            <p:cNvPr id="43" name="TextBox 43"/>
            <p:cNvSpPr txBox="1"/>
            <p:nvPr/>
          </p:nvSpPr>
          <p:spPr>
            <a:xfrm>
              <a:off x="4464796" y="5887402"/>
              <a:ext cx="32624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中国外交部公开驳斥：美方的指控是"无端打压"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08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8" grpId="0"/>
      <p:bldP spid="42" grpId="0"/>
      <p:bldP spid="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426720"/>
            <a:ext cx="5016056" cy="632936"/>
            <a:chOff x="571500" y="426720"/>
            <a:chExt cx="5016056" cy="632936"/>
          </a:xfrm>
        </p:grpSpPr>
        <p:sp>
          <p:nvSpPr>
            <p:cNvPr id="3" name="Rectangle 3"/>
            <p:cNvSpPr/>
            <p:nvPr/>
          </p:nvSpPr>
          <p:spPr>
            <a:xfrm>
              <a:off x="571500" y="457200"/>
              <a:ext cx="38100" cy="419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2470" y="426720"/>
              <a:ext cx="25452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从30亿到500亿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977640" y="491490"/>
              <a:ext cx="16099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8个月翻10倍+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8662" y="83105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月之暗面估值飙升时间线（亿美元）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1714500"/>
            <a:ext cx="10287000" cy="4000500"/>
            <a:chOff x="762000" y="1714500"/>
            <a:chExt cx="10287000" cy="4000500"/>
          </a:xfrm>
        </p:grpSpPr>
        <p:grpSp>
          <p:nvGrpSpPr>
            <p:cNvPr id="10" name="Group 10"/>
            <p:cNvGrpSpPr/>
            <p:nvPr/>
          </p:nvGrpSpPr>
          <p:grpSpPr>
            <a:xfrm>
              <a:off x="1143000" y="3810000"/>
              <a:ext cx="9906000" cy="9525"/>
              <a:chOff x="1143000" y="3810000"/>
              <a:chExt cx="9906000" cy="952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143000" y="38100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76200" cap="rnd">
                <a:solidFill>
                  <a:srgbClr val="EDE5D5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143000" y="3810000"/>
                <a:ext cx="790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05750" h="9525">
                    <a:moveTo>
                      <a:pt x="0" y="0"/>
                    </a:moveTo>
                    <a:lnTo>
                      <a:pt x="7905750" y="0"/>
                    </a:lnTo>
                  </a:path>
                </a:pathLst>
              </a:custGeom>
              <a:noFill/>
              <a:ln w="76200" cap="rnd">
                <a:gradFill>
                  <a:gsLst>
                    <a:gs pos="0">
                      <a:srgbClr val="C9A96E"/>
                    </a:gs>
                    <a:gs pos="100000">
                      <a:srgbClr val="E8A87C"/>
                    </a:gs>
                  </a:gsLst>
                  <a:lin ang="0" scaled="1"/>
                </a:gradFill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1333500" y="3238500"/>
              <a:ext cx="381000" cy="762000"/>
              <a:chOff x="1333500" y="3238500"/>
              <a:chExt cx="381000" cy="762000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1524000" y="32385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rgbClr val="C9A96E"/>
                </a:solidFill>
                <a:prstDash val="dash"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1333500" y="3619500"/>
                <a:ext cx="381000" cy="381000"/>
              </a:xfrm>
              <a:prstGeom prst="ellipse">
                <a:avLst/>
              </a:prstGeom>
              <a:solidFill>
                <a:srgbClr val="C9A96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409700" y="3695700"/>
                <a:ext cx="228600" cy="228600"/>
              </a:xfrm>
              <a:prstGeom prst="ellipse">
                <a:avLst/>
              </a:prstGeom>
              <a:solidFill>
                <a:srgbClr val="C9A96E"/>
              </a:soli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762000" y="1714500"/>
              <a:ext cx="1524000" cy="1476375"/>
              <a:chOff x="762000" y="1714500"/>
              <a:chExt cx="1524000" cy="1476375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62000" y="1714500"/>
                <a:ext cx="1524000" cy="1476375"/>
              </a:xfrm>
              <a:prstGeom prst="roundRect">
                <a:avLst>
                  <a:gd name="adj" fmla="val 6452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62000" y="1714500"/>
                <a:ext cx="1524000" cy="342900"/>
              </a:xfrm>
              <a:prstGeom prst="roundRect">
                <a:avLst>
                  <a:gd name="adj" fmla="val 27778"/>
                </a:avLst>
              </a:prstGeom>
              <a:solidFill>
                <a:srgbClr val="C9A96E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762000" y="1943100"/>
                <a:ext cx="1524000" cy="114300"/>
              </a:xfrm>
              <a:prstGeom prst="rect">
                <a:avLst/>
              </a:prstGeom>
              <a:solidFill>
                <a:srgbClr val="C9A96E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184779" y="1845945"/>
                <a:ext cx="67844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2024年8月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647" y="2154555"/>
                <a:ext cx="584706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8B6F47"/>
                    </a:solidFill>
                    <a:latin typeface="Georgia"/>
                    <a:ea typeface="KaiTi"/>
                    <a:cs typeface="Georgia"/>
                  </a:rPr>
                  <a:t>~30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15403" y="2493645"/>
                <a:ext cx="4171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亿美元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66515" y="2768441"/>
                <a:ext cx="51496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K3发布前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429000" y="3619500"/>
              <a:ext cx="381000" cy="762000"/>
              <a:chOff x="3429000" y="3619500"/>
              <a:chExt cx="381000" cy="762000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3619500" y="40005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rgbClr val="C9A96E"/>
                </a:solidFill>
                <a:prstDash val="dash"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3429000" y="3619500"/>
                <a:ext cx="381000" cy="381000"/>
              </a:xfrm>
              <a:prstGeom prst="ellipse">
                <a:avLst/>
              </a:prstGeom>
              <a:solidFill>
                <a:srgbClr val="C9A96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3505200" y="3695700"/>
                <a:ext cx="228600" cy="228600"/>
              </a:xfrm>
              <a:prstGeom prst="ellipse">
                <a:avLst/>
              </a:prstGeom>
              <a:solidFill>
                <a:srgbClr val="C9A96E"/>
              </a:solidFill>
              <a:ln>
                <a:noFill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2857500" y="4429125"/>
              <a:ext cx="1524000" cy="1285875"/>
              <a:chOff x="2857500" y="4429125"/>
              <a:chExt cx="1524000" cy="128587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2857500" y="4429125"/>
                <a:ext cx="1524000" cy="1285875"/>
              </a:xfrm>
              <a:prstGeom prst="roundRect">
                <a:avLst>
                  <a:gd name="adj" fmla="val 7407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297531" y="4665345"/>
                <a:ext cx="6439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2026年1月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15708" y="491680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8B6F47"/>
                    </a:solidFill>
                    <a:latin typeface="Georgia"/>
                    <a:ea typeface="KaiTi"/>
                    <a:cs typeface="Georgia"/>
                  </a:rPr>
                  <a:t>48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410902" y="5255895"/>
                <a:ext cx="4171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亿美元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368040" y="5483066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稳步增长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715000" y="3238500"/>
              <a:ext cx="381000" cy="762000"/>
              <a:chOff x="5715000" y="3238500"/>
              <a:chExt cx="381000" cy="762000"/>
            </a:xfrm>
          </p:grpSpPr>
          <p:sp>
            <p:nvSpPr>
              <p:cNvPr id="33" name="Line 33"/>
              <p:cNvSpPr/>
              <p:nvPr/>
            </p:nvSpPr>
            <p:spPr>
              <a:xfrm>
                <a:off x="5905500" y="32385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rgbClr val="E8A87C"/>
                </a:solidFill>
                <a:prstDash val="dash"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5715000" y="3619500"/>
                <a:ext cx="381000" cy="381000"/>
              </a:xfrm>
              <a:prstGeom prst="ellipse">
                <a:avLst/>
              </a:prstGeom>
              <a:solidFill>
                <a:srgbClr val="E8A87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5791200" y="3695700"/>
                <a:ext cx="228600" cy="2286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5048250" y="1714500"/>
              <a:ext cx="1714500" cy="1476375"/>
              <a:chOff x="5048250" y="1714500"/>
              <a:chExt cx="1714500" cy="1476375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048250" y="1714500"/>
                <a:ext cx="1714500" cy="1476375"/>
              </a:xfrm>
              <a:prstGeom prst="roundRect">
                <a:avLst>
                  <a:gd name="adj" fmla="val 6452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5048250" y="1714500"/>
                <a:ext cx="1714500" cy="342900"/>
              </a:xfrm>
              <a:prstGeom prst="roundRect">
                <a:avLst>
                  <a:gd name="adj" fmla="val 27778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5048250" y="1943100"/>
                <a:ext cx="1714500" cy="114300"/>
              </a:xfrm>
              <a:prstGeom prst="rect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535225" y="1845945"/>
                <a:ext cx="7405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2026上半年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351274" y="2186940"/>
                <a:ext cx="110845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E8A87C"/>
                    </a:solidFill>
                    <a:latin typeface="Georgia"/>
                    <a:ea typeface="KaiTi"/>
                    <a:cs typeface="Georgia"/>
                  </a:rPr>
                  <a:t>200→350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696902" y="2493645"/>
                <a:ext cx="4171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亿美元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533549" y="2768441"/>
                <a:ext cx="7439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连续四轮融资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607199" y="2939891"/>
                <a:ext cx="5966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C75C3A"/>
                    </a:solidFill>
                    <a:latin typeface="Arial"/>
                    <a:ea typeface="Microsoft YaHei"/>
                    <a:cs typeface="Arial"/>
                  </a:rPr>
                  <a:t>半年涨7倍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753350" y="3562350"/>
              <a:ext cx="495300" cy="819150"/>
              <a:chOff x="7753350" y="3562350"/>
              <a:chExt cx="495300" cy="819150"/>
            </a:xfrm>
          </p:grpSpPr>
          <p:sp>
            <p:nvSpPr>
              <p:cNvPr id="46" name="Line 46"/>
              <p:cNvSpPr/>
              <p:nvPr/>
            </p:nvSpPr>
            <p:spPr>
              <a:xfrm>
                <a:off x="8001000" y="40005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rgbClr val="E8A87C"/>
                </a:solidFill>
                <a:prstDash val="dash"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7753350" y="3562350"/>
                <a:ext cx="495300" cy="495300"/>
              </a:xfrm>
              <a:prstGeom prst="ellipse">
                <a:avLst/>
              </a:prstGeom>
              <a:solidFill>
                <a:srgbClr val="E8A87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7848600" y="3657600"/>
                <a:ext cx="304800" cy="3048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955731" y="3787616"/>
                <a:ext cx="9053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F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7143750" y="4429125"/>
              <a:ext cx="1714500" cy="1285875"/>
              <a:chOff x="7143750" y="4429125"/>
              <a:chExt cx="1714500" cy="1285875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7143750" y="4429125"/>
                <a:ext cx="1714500" cy="1285875"/>
              </a:xfrm>
              <a:prstGeom prst="roundRect">
                <a:avLst>
                  <a:gd name="adj" fmla="val 7407"/>
                </a:avLst>
              </a:prstGeom>
              <a:solidFill>
                <a:srgbClr val="FAF7F2"/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534113" y="4665345"/>
                <a:ext cx="93377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2026年7月 F轮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666882" y="4884420"/>
                <a:ext cx="66823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E8A87C"/>
                    </a:solidFill>
                    <a:latin typeface="Georgia"/>
                    <a:ea typeface="KaiTi"/>
                    <a:cs typeface="Georgia"/>
                  </a:rPr>
                  <a:t>350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60958" y="5255895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亿美元估值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460361" y="5483066"/>
                <a:ext cx="10812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融资35亿 · 超募3倍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9886950" y="3238500"/>
              <a:ext cx="419100" cy="781050"/>
              <a:chOff x="9886950" y="3238500"/>
              <a:chExt cx="419100" cy="781050"/>
            </a:xfrm>
          </p:grpSpPr>
          <p:sp>
            <p:nvSpPr>
              <p:cNvPr id="57" name="Line 57"/>
              <p:cNvSpPr/>
              <p:nvPr/>
            </p:nvSpPr>
            <p:spPr>
              <a:xfrm>
                <a:off x="10096500" y="3238500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rgbClr val="8B7D6B"/>
                </a:solidFill>
                <a:prstDash val="dash"/>
              </a:ln>
            </p:spPr>
          </p:sp>
          <p:sp>
            <p:nvSpPr>
              <p:cNvPr id="58" name="Ellipse 58"/>
              <p:cNvSpPr/>
              <p:nvPr/>
            </p:nvSpPr>
            <p:spPr>
              <a:xfrm>
                <a:off x="9886950" y="3600450"/>
                <a:ext cx="419100" cy="419100"/>
              </a:xfrm>
              <a:prstGeom prst="ellipse">
                <a:avLst/>
              </a:prstGeom>
              <a:solidFill>
                <a:srgbClr val="FFFFFF"/>
              </a:solidFill>
              <a:ln w="23812">
                <a:solidFill>
                  <a:srgbClr val="8B7D6B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9994964" y="3795712"/>
                <a:ext cx="20307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IPO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9239250" y="1714500"/>
              <a:ext cx="1714500" cy="1476375"/>
              <a:chOff x="9239250" y="1714500"/>
              <a:chExt cx="1714500" cy="1476375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9239250" y="1714500"/>
                <a:ext cx="1714500" cy="1476375"/>
              </a:xfrm>
              <a:prstGeom prst="roundRect">
                <a:avLst>
                  <a:gd name="adj" fmla="val 6452"/>
                </a:avLst>
              </a:prstGeom>
              <a:solidFill>
                <a:srgbClr val="FFFFFF"/>
              </a:solidFill>
              <a:ln w="14288">
                <a:solidFill>
                  <a:srgbClr val="8B7D6B"/>
                </a:solidFill>
                <a:custDash>
                  <a:ds d="400000" sp="266666"/>
                </a:custDash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633064" y="1950720"/>
                <a:ext cx="9268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Pre-IPO / IPO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762382" y="2217420"/>
                <a:ext cx="66823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8B6F47"/>
                    </a:solidFill>
                    <a:latin typeface="Georgia"/>
                    <a:ea typeface="KaiTi"/>
                    <a:cs typeface="Georgia"/>
                  </a:rPr>
                  <a:t>500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9625012" y="2588895"/>
                <a:ext cx="9429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亿美元目标估值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691414" y="2844641"/>
                <a:ext cx="81017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中金+高盛承销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9658279" y="3006566"/>
                <a:ext cx="87644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A89B8A"/>
                    </a:solidFill>
                    <a:latin typeface="Arial"/>
                    <a:ea typeface="Microsoft YaHei"/>
                    <a:cs typeface="Arial"/>
                  </a:rPr>
                  <a:t>拟募资30亿美元</a:t>
                </a:r>
              </a:p>
            </p:txBody>
          </p:sp>
        </p:grpSp>
      </p:grpSp>
      <p:sp>
        <p:nvSpPr>
          <p:cNvPr id="69" name="TextBox 69"/>
          <p:cNvSpPr txBox="1"/>
          <p:nvPr/>
        </p:nvSpPr>
        <p:spPr>
          <a:xfrm>
            <a:off x="11201590" y="65227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09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341304" y="596139"/>
            <a:ext cx="3509391" cy="1185036"/>
            <a:chOff x="4341304" y="596139"/>
            <a:chExt cx="3509391" cy="1185036"/>
          </a:xfrm>
        </p:grpSpPr>
        <p:sp>
          <p:nvSpPr>
            <p:cNvPr id="3" name="Freeform 3"/>
            <p:cNvSpPr/>
            <p:nvPr/>
          </p:nvSpPr>
          <p:spPr>
            <a:xfrm>
              <a:off x="4698998" y="596139"/>
              <a:ext cx="334278" cy="335582"/>
            </a:xfrm>
            <a:custGeom>
              <a:avLst/>
              <a:gdLst/>
              <a:ahLst/>
              <a:cxnLst/>
              <a:rect l="l" t="t" r="r" b="b"/>
              <a:pathLst>
                <a:path w="334278" h="335582">
                  <a:moveTo>
                    <a:pt x="238127" y="28384"/>
                  </a:moveTo>
                  <a:cubicBezTo>
                    <a:pt x="304846" y="66904"/>
                    <a:pt x="334278" y="147768"/>
                    <a:pt x="307928" y="220162"/>
                  </a:cubicBezTo>
                  <a:cubicBezTo>
                    <a:pt x="281578" y="292557"/>
                    <a:pt x="207053" y="335582"/>
                    <a:pt x="131183" y="322203"/>
                  </a:cubicBezTo>
                  <a:cubicBezTo>
                    <a:pt x="55312" y="308824"/>
                    <a:pt x="0" y="242902"/>
                    <a:pt x="2" y="165861"/>
                  </a:cubicBezTo>
                  <a:lnTo>
                    <a:pt x="81" y="160718"/>
                  </a:lnTo>
                  <a:cubicBezTo>
                    <a:pt x="1890" y="104948"/>
                    <a:pt x="32845" y="54223"/>
                    <a:pt x="81614" y="27112"/>
                  </a:cubicBezTo>
                  <a:cubicBezTo>
                    <a:pt x="130383" y="0"/>
                    <a:pt x="189805" y="483"/>
                    <a:pt x="238127" y="28384"/>
                  </a:cubicBezTo>
                  <a:close/>
                  <a:moveTo>
                    <a:pt x="215188" y="89153"/>
                  </a:moveTo>
                  <a:cubicBezTo>
                    <a:pt x="211685" y="86816"/>
                    <a:pt x="207397" y="85966"/>
                    <a:pt x="203267" y="86791"/>
                  </a:cubicBezTo>
                  <a:cubicBezTo>
                    <a:pt x="199138" y="87615"/>
                    <a:pt x="195505" y="90047"/>
                    <a:pt x="193169" y="93550"/>
                  </a:cubicBezTo>
                  <a:lnTo>
                    <a:pt x="158752" y="145160"/>
                  </a:lnTo>
                  <a:lnTo>
                    <a:pt x="124335" y="93566"/>
                  </a:lnTo>
                  <a:cubicBezTo>
                    <a:pt x="119872" y="86863"/>
                    <a:pt x="111097" y="84563"/>
                    <a:pt x="103920" y="88216"/>
                  </a:cubicBezTo>
                  <a:lnTo>
                    <a:pt x="102332" y="89153"/>
                  </a:lnTo>
                  <a:cubicBezTo>
                    <a:pt x="98826" y="91487"/>
                    <a:pt x="96391" y="95118"/>
                    <a:pt x="95564" y="99248"/>
                  </a:cubicBezTo>
                  <a:cubicBezTo>
                    <a:pt x="94736" y="103378"/>
                    <a:pt x="95583" y="107667"/>
                    <a:pt x="97919" y="111172"/>
                  </a:cubicBezTo>
                  <a:lnTo>
                    <a:pt x="134368" y="165861"/>
                  </a:lnTo>
                  <a:lnTo>
                    <a:pt x="111127" y="165861"/>
                  </a:lnTo>
                  <a:cubicBezTo>
                    <a:pt x="103079" y="165862"/>
                    <a:pt x="96305" y="171886"/>
                    <a:pt x="95363" y="179879"/>
                  </a:cubicBezTo>
                  <a:lnTo>
                    <a:pt x="95252" y="181736"/>
                  </a:lnTo>
                  <a:cubicBezTo>
                    <a:pt x="95252" y="190504"/>
                    <a:pt x="102359" y="197611"/>
                    <a:pt x="111127" y="197611"/>
                  </a:cubicBezTo>
                  <a:lnTo>
                    <a:pt x="142877" y="197611"/>
                  </a:lnTo>
                  <a:lnTo>
                    <a:pt x="142877" y="245236"/>
                  </a:lnTo>
                  <a:cubicBezTo>
                    <a:pt x="142878" y="253284"/>
                    <a:pt x="148902" y="260058"/>
                    <a:pt x="156895" y="261000"/>
                  </a:cubicBezTo>
                  <a:lnTo>
                    <a:pt x="158752" y="261111"/>
                  </a:lnTo>
                  <a:lnTo>
                    <a:pt x="160609" y="261000"/>
                  </a:lnTo>
                  <a:cubicBezTo>
                    <a:pt x="168602" y="260058"/>
                    <a:pt x="174626" y="253284"/>
                    <a:pt x="174627" y="245236"/>
                  </a:cubicBezTo>
                  <a:lnTo>
                    <a:pt x="174627" y="197611"/>
                  </a:lnTo>
                  <a:lnTo>
                    <a:pt x="206377" y="197611"/>
                  </a:lnTo>
                  <a:cubicBezTo>
                    <a:pt x="214425" y="197610"/>
                    <a:pt x="221199" y="191586"/>
                    <a:pt x="222141" y="183593"/>
                  </a:cubicBezTo>
                  <a:lnTo>
                    <a:pt x="222252" y="181736"/>
                  </a:lnTo>
                  <a:cubicBezTo>
                    <a:pt x="222252" y="172969"/>
                    <a:pt x="215144" y="165861"/>
                    <a:pt x="206377" y="165861"/>
                  </a:cubicBezTo>
                  <a:lnTo>
                    <a:pt x="183120" y="165861"/>
                  </a:lnTo>
                  <a:lnTo>
                    <a:pt x="219585" y="111172"/>
                  </a:lnTo>
                  <a:cubicBezTo>
                    <a:pt x="224057" y="104471"/>
                    <a:pt x="222802" y="95483"/>
                    <a:pt x="216664" y="90264"/>
                  </a:cubicBezTo>
                  <a:lnTo>
                    <a:pt x="215188" y="89153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4840257" y="1042035"/>
              <a:ext cx="251148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IPO 箭在弦上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341304" y="1537335"/>
              <a:ext cx="35093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月之暗面即将成为中国首批AI上市独角兽之一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38500" y="2095500"/>
            <a:ext cx="5715000" cy="1714500"/>
            <a:chOff x="3238500" y="2095500"/>
            <a:chExt cx="5715000" cy="1714500"/>
          </a:xfrm>
        </p:grpSpPr>
        <p:sp>
          <p:nvSpPr>
            <p:cNvPr id="7" name="Rectangle 7"/>
            <p:cNvSpPr/>
            <p:nvPr/>
          </p:nvSpPr>
          <p:spPr>
            <a:xfrm>
              <a:off x="3238500" y="2095500"/>
              <a:ext cx="5715000" cy="1714500"/>
            </a:xfrm>
            <a:prstGeom prst="roundRect">
              <a:avLst>
                <a:gd name="adj" fmla="val 8889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787998" y="2394585"/>
              <a:ext cx="26160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香港 IPO · 预计年底前登陆港股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655946" y="2722245"/>
              <a:ext cx="288010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~30亿美元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5536" y="3394710"/>
              <a:ext cx="28609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目标募资金额 · 高盛、中金公司承销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2500" y="4286250"/>
            <a:ext cx="2476500" cy="1333500"/>
            <a:chOff x="952500" y="4286250"/>
            <a:chExt cx="2476500" cy="1333500"/>
          </a:xfrm>
        </p:grpSpPr>
        <p:sp>
          <p:nvSpPr>
            <p:cNvPr id="12" name="Rectangle 12"/>
            <p:cNvSpPr/>
            <p:nvPr/>
          </p:nvSpPr>
          <p:spPr>
            <a:xfrm>
              <a:off x="952500" y="4286250"/>
              <a:ext cx="2476500" cy="1333500"/>
            </a:xfrm>
            <a:prstGeom prst="roundRect">
              <a:avLst>
                <a:gd name="adj" fmla="val 857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30818" y="4498975"/>
              <a:ext cx="90774" cy="222267"/>
            </a:xfrm>
            <a:custGeom>
              <a:avLst/>
              <a:gdLst/>
              <a:ahLst/>
              <a:cxnLst/>
              <a:rect l="l" t="t" r="r" b="b"/>
              <a:pathLst>
                <a:path w="90774" h="222267">
                  <a:moveTo>
                    <a:pt x="43888" y="122"/>
                  </a:moveTo>
                  <a:lnTo>
                    <a:pt x="44532" y="44"/>
                  </a:lnTo>
                  <a:lnTo>
                    <a:pt x="45532" y="0"/>
                  </a:lnTo>
                  <a:lnTo>
                    <a:pt x="46366" y="33"/>
                  </a:lnTo>
                  <a:lnTo>
                    <a:pt x="47766" y="222"/>
                  </a:lnTo>
                  <a:lnTo>
                    <a:pt x="48999" y="556"/>
                  </a:lnTo>
                  <a:lnTo>
                    <a:pt x="50233" y="1045"/>
                  </a:lnTo>
                  <a:lnTo>
                    <a:pt x="51322" y="1622"/>
                  </a:lnTo>
                  <a:lnTo>
                    <a:pt x="52477" y="2445"/>
                  </a:lnTo>
                  <a:lnTo>
                    <a:pt x="53389" y="3256"/>
                  </a:lnTo>
                  <a:lnTo>
                    <a:pt x="86726" y="36593"/>
                  </a:lnTo>
                  <a:cubicBezTo>
                    <a:pt x="89615" y="39384"/>
                    <a:pt x="90774" y="43515"/>
                    <a:pt x="89757" y="47400"/>
                  </a:cubicBezTo>
                  <a:cubicBezTo>
                    <a:pt x="88740" y="51286"/>
                    <a:pt x="85705" y="54320"/>
                    <a:pt x="81820" y="55337"/>
                  </a:cubicBezTo>
                  <a:cubicBezTo>
                    <a:pt x="77935" y="56354"/>
                    <a:pt x="73803" y="55195"/>
                    <a:pt x="71013" y="52307"/>
                  </a:cubicBezTo>
                  <a:lnTo>
                    <a:pt x="56645" y="37949"/>
                  </a:lnTo>
                  <a:lnTo>
                    <a:pt x="56645" y="157475"/>
                  </a:lnTo>
                  <a:cubicBezTo>
                    <a:pt x="71959" y="162888"/>
                    <a:pt x="81147" y="178546"/>
                    <a:pt x="78401" y="194555"/>
                  </a:cubicBezTo>
                  <a:cubicBezTo>
                    <a:pt x="75655" y="210564"/>
                    <a:pt x="61775" y="222267"/>
                    <a:pt x="45532" y="222267"/>
                  </a:cubicBezTo>
                  <a:cubicBezTo>
                    <a:pt x="29289" y="222267"/>
                    <a:pt x="15409" y="210564"/>
                    <a:pt x="12663" y="194555"/>
                  </a:cubicBezTo>
                  <a:cubicBezTo>
                    <a:pt x="9918" y="178546"/>
                    <a:pt x="19105" y="162888"/>
                    <a:pt x="34420" y="157475"/>
                  </a:cubicBezTo>
                  <a:lnTo>
                    <a:pt x="34420" y="37949"/>
                  </a:lnTo>
                  <a:lnTo>
                    <a:pt x="20051" y="52307"/>
                  </a:lnTo>
                  <a:cubicBezTo>
                    <a:pt x="16092" y="56265"/>
                    <a:pt x="9806" y="56660"/>
                    <a:pt x="5383" y="53229"/>
                  </a:cubicBezTo>
                  <a:lnTo>
                    <a:pt x="4338" y="52307"/>
                  </a:lnTo>
                  <a:cubicBezTo>
                    <a:pt x="0" y="47967"/>
                    <a:pt x="0" y="40933"/>
                    <a:pt x="4338" y="36593"/>
                  </a:cubicBezTo>
                  <a:lnTo>
                    <a:pt x="37676" y="3256"/>
                  </a:lnTo>
                  <a:cubicBezTo>
                    <a:pt x="38068" y="2856"/>
                    <a:pt x="38483" y="2497"/>
                    <a:pt x="38920" y="2178"/>
                  </a:cubicBezTo>
                  <a:lnTo>
                    <a:pt x="40143" y="1389"/>
                  </a:lnTo>
                  <a:lnTo>
                    <a:pt x="41409" y="789"/>
                  </a:lnTo>
                  <a:lnTo>
                    <a:pt x="42576" y="400"/>
                  </a:lnTo>
                  <a:close/>
                </a:path>
              </a:pathLst>
            </a:custGeom>
            <a:solidFill>
              <a:srgbClr val="6B8E5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10665" y="45729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年化经常性收入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69590" y="4867275"/>
              <a:ext cx="1042321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6B8E5A"/>
                  </a:solidFill>
                  <a:latin typeface="Georgia"/>
                  <a:ea typeface="KaiTi"/>
                  <a:cs typeface="Georgia"/>
                </a:rPr>
                <a:t>&gt;3亿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36610" y="5371624"/>
              <a:ext cx="7082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89B8A"/>
                  </a:solidFill>
                  <a:latin typeface="Arial"/>
                  <a:ea typeface="Microsoft YaHei"/>
                  <a:cs typeface="Arial"/>
                </a:rPr>
                <a:t>ARR · 美元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0" y="4286250"/>
            <a:ext cx="2476500" cy="1333500"/>
            <a:chOff x="3810000" y="4286250"/>
            <a:chExt cx="2476500" cy="1333500"/>
          </a:xfrm>
        </p:grpSpPr>
        <p:sp>
          <p:nvSpPr>
            <p:cNvPr id="18" name="Rectangle 18"/>
            <p:cNvSpPr/>
            <p:nvPr/>
          </p:nvSpPr>
          <p:spPr>
            <a:xfrm>
              <a:off x="3810000" y="4286250"/>
              <a:ext cx="2476500" cy="1333500"/>
            </a:xfrm>
            <a:prstGeom prst="roundRect">
              <a:avLst>
                <a:gd name="adj" fmla="val 857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044950" y="4484184"/>
              <a:ext cx="177800" cy="237041"/>
            </a:xfrm>
            <a:custGeom>
              <a:avLst/>
              <a:gdLst/>
              <a:ahLst/>
              <a:cxnLst/>
              <a:rect l="l" t="t" r="r" b="b"/>
              <a:pathLst>
                <a:path w="177800" h="237041">
                  <a:moveTo>
                    <a:pt x="66675" y="14791"/>
                  </a:moveTo>
                  <a:cubicBezTo>
                    <a:pt x="66675" y="5012"/>
                    <a:pt x="78410" y="0"/>
                    <a:pt x="85477" y="6768"/>
                  </a:cubicBezTo>
                  <a:cubicBezTo>
                    <a:pt x="107236" y="27615"/>
                    <a:pt x="119882" y="73387"/>
                    <a:pt x="104924" y="108114"/>
                  </a:cubicBezTo>
                  <a:lnTo>
                    <a:pt x="104035" y="110047"/>
                  </a:lnTo>
                  <a:lnTo>
                    <a:pt x="104169" y="110080"/>
                  </a:lnTo>
                  <a:cubicBezTo>
                    <a:pt x="111114" y="111558"/>
                    <a:pt x="117537" y="105302"/>
                    <a:pt x="129761" y="85933"/>
                  </a:cubicBezTo>
                  <a:lnTo>
                    <a:pt x="131316" y="83444"/>
                  </a:lnTo>
                  <a:cubicBezTo>
                    <a:pt x="133144" y="80502"/>
                    <a:pt x="136239" y="78580"/>
                    <a:pt x="139686" y="78247"/>
                  </a:cubicBezTo>
                  <a:cubicBezTo>
                    <a:pt x="143133" y="77913"/>
                    <a:pt x="146539" y="79206"/>
                    <a:pt x="148896" y="81744"/>
                  </a:cubicBezTo>
                  <a:cubicBezTo>
                    <a:pt x="163720" y="97690"/>
                    <a:pt x="177800" y="130383"/>
                    <a:pt x="177800" y="151419"/>
                  </a:cubicBezTo>
                  <a:cubicBezTo>
                    <a:pt x="177800" y="198814"/>
                    <a:pt x="137895" y="237041"/>
                    <a:pt x="88900" y="237041"/>
                  </a:cubicBezTo>
                  <a:cubicBezTo>
                    <a:pt x="39905" y="237041"/>
                    <a:pt x="0" y="198814"/>
                    <a:pt x="0" y="151408"/>
                  </a:cubicBezTo>
                  <a:cubicBezTo>
                    <a:pt x="0" y="126382"/>
                    <a:pt x="11357" y="99001"/>
                    <a:pt x="29248" y="81388"/>
                  </a:cubicBezTo>
                  <a:lnTo>
                    <a:pt x="35971" y="74843"/>
                  </a:lnTo>
                  <a:cubicBezTo>
                    <a:pt x="38649" y="72220"/>
                    <a:pt x="40794" y="70064"/>
                    <a:pt x="42839" y="67908"/>
                  </a:cubicBezTo>
                  <a:cubicBezTo>
                    <a:pt x="58730" y="51106"/>
                    <a:pt x="66675" y="35416"/>
                    <a:pt x="66675" y="1479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68165" y="4572952"/>
              <a:ext cx="847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Kimi AI 用户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74058" y="4867275"/>
              <a:ext cx="154838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4000万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792" y="5371624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89B8A"/>
                  </a:solidFill>
                  <a:latin typeface="Arial"/>
                  <a:ea typeface="Microsoft YaHei"/>
                  <a:cs typeface="Arial"/>
                </a:rPr>
                <a:t>月活 · 中国第一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0" y="4286250"/>
            <a:ext cx="2476500" cy="1333500"/>
            <a:chOff x="6667500" y="4286250"/>
            <a:chExt cx="24765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6667500" y="4286250"/>
              <a:ext cx="2476500" cy="1333500"/>
            </a:xfrm>
            <a:prstGeom prst="roundRect">
              <a:avLst>
                <a:gd name="adj" fmla="val 857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880225" y="4532312"/>
              <a:ext cx="222250" cy="155575"/>
            </a:xfrm>
            <a:custGeom>
              <a:avLst/>
              <a:gdLst/>
              <a:ahLst/>
              <a:cxnLst/>
              <a:rect l="l" t="t" r="r" b="b"/>
              <a:pathLst>
                <a:path w="222250" h="155575">
                  <a:moveTo>
                    <a:pt x="188912" y="0"/>
                  </a:moveTo>
                  <a:cubicBezTo>
                    <a:pt x="207324" y="0"/>
                    <a:pt x="222250" y="14926"/>
                    <a:pt x="222250" y="33338"/>
                  </a:cubicBezTo>
                  <a:lnTo>
                    <a:pt x="222250" y="122238"/>
                  </a:lnTo>
                  <a:cubicBezTo>
                    <a:pt x="222250" y="140649"/>
                    <a:pt x="207324" y="155575"/>
                    <a:pt x="188912" y="155575"/>
                  </a:cubicBezTo>
                  <a:lnTo>
                    <a:pt x="33338" y="155575"/>
                  </a:lnTo>
                  <a:cubicBezTo>
                    <a:pt x="14926" y="155575"/>
                    <a:pt x="0" y="140649"/>
                    <a:pt x="0" y="122238"/>
                  </a:cubicBezTo>
                  <a:lnTo>
                    <a:pt x="0" y="33338"/>
                  </a:lnTo>
                  <a:cubicBezTo>
                    <a:pt x="0" y="14926"/>
                    <a:pt x="14926" y="0"/>
                    <a:pt x="33338" y="0"/>
                  </a:cubicBezTo>
                  <a:close/>
                  <a:moveTo>
                    <a:pt x="111125" y="44450"/>
                  </a:moveTo>
                  <a:cubicBezTo>
                    <a:pt x="93362" y="44451"/>
                    <a:pt x="78720" y="58380"/>
                    <a:pt x="77832" y="76121"/>
                  </a:cubicBezTo>
                  <a:lnTo>
                    <a:pt x="77787" y="77788"/>
                  </a:lnTo>
                  <a:cubicBezTo>
                    <a:pt x="77787" y="96199"/>
                    <a:pt x="92713" y="111125"/>
                    <a:pt x="111125" y="111125"/>
                  </a:cubicBezTo>
                  <a:cubicBezTo>
                    <a:pt x="129537" y="111125"/>
                    <a:pt x="144462" y="96199"/>
                    <a:pt x="144462" y="77788"/>
                  </a:cubicBezTo>
                  <a:cubicBezTo>
                    <a:pt x="144462" y="59376"/>
                    <a:pt x="129537" y="44450"/>
                    <a:pt x="111125" y="44450"/>
                  </a:cubicBezTo>
                  <a:moveTo>
                    <a:pt x="177911" y="66675"/>
                  </a:moveTo>
                  <a:lnTo>
                    <a:pt x="177800" y="66675"/>
                  </a:lnTo>
                  <a:cubicBezTo>
                    <a:pt x="171663" y="66675"/>
                    <a:pt x="166688" y="71650"/>
                    <a:pt x="166688" y="77788"/>
                  </a:cubicBezTo>
                  <a:cubicBezTo>
                    <a:pt x="166688" y="83925"/>
                    <a:pt x="171663" y="88900"/>
                    <a:pt x="177800" y="88900"/>
                  </a:cubicBezTo>
                  <a:lnTo>
                    <a:pt x="177911" y="88900"/>
                  </a:lnTo>
                  <a:cubicBezTo>
                    <a:pt x="184048" y="88900"/>
                    <a:pt x="189024" y="83925"/>
                    <a:pt x="189024" y="77788"/>
                  </a:cubicBezTo>
                  <a:cubicBezTo>
                    <a:pt x="189024" y="71650"/>
                    <a:pt x="184048" y="66675"/>
                    <a:pt x="177911" y="66675"/>
                  </a:cubicBezTo>
                  <a:moveTo>
                    <a:pt x="44561" y="66675"/>
                  </a:moveTo>
                  <a:lnTo>
                    <a:pt x="44450" y="66675"/>
                  </a:lnTo>
                  <a:cubicBezTo>
                    <a:pt x="40480" y="66695"/>
                    <a:pt x="36822" y="68831"/>
                    <a:pt x="34854" y="72279"/>
                  </a:cubicBezTo>
                  <a:cubicBezTo>
                    <a:pt x="32886" y="75728"/>
                    <a:pt x="32907" y="79964"/>
                    <a:pt x="34910" y="83392"/>
                  </a:cubicBezTo>
                  <a:cubicBezTo>
                    <a:pt x="36912" y="86820"/>
                    <a:pt x="40591" y="88920"/>
                    <a:pt x="44561" y="88900"/>
                  </a:cubicBezTo>
                  <a:cubicBezTo>
                    <a:pt x="50698" y="88900"/>
                    <a:pt x="55674" y="83925"/>
                    <a:pt x="55674" y="77788"/>
                  </a:cubicBezTo>
                  <a:cubicBezTo>
                    <a:pt x="55674" y="71650"/>
                    <a:pt x="50698" y="66675"/>
                    <a:pt x="44561" y="66675"/>
                  </a:cubicBezTo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25665" y="45729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收入增速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42097" y="4867275"/>
              <a:ext cx="92730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10倍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66171" y="53716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89B8A"/>
                  </a:solidFill>
                  <a:latin typeface="Arial"/>
                  <a:ea typeface="Microsoft YaHei"/>
                  <a:cs typeface="Arial"/>
                </a:rPr>
                <a:t>年度同比增长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25000" y="4286250"/>
            <a:ext cx="2095500" cy="1333500"/>
            <a:chOff x="9525000" y="4286250"/>
            <a:chExt cx="20955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9525000" y="428625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732693" y="4498975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4868" y="78"/>
                  </a:moveTo>
                  <a:lnTo>
                    <a:pt x="116134" y="0"/>
                  </a:lnTo>
                  <a:lnTo>
                    <a:pt x="117446" y="78"/>
                  </a:lnTo>
                  <a:lnTo>
                    <a:pt x="118101" y="167"/>
                  </a:lnTo>
                  <a:lnTo>
                    <a:pt x="118779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1" y="33460"/>
                  </a:cubicBezTo>
                  <a:lnTo>
                    <a:pt x="210102" y="33349"/>
                  </a:lnTo>
                  <a:cubicBezTo>
                    <a:pt x="215215" y="33115"/>
                    <a:pt x="219827" y="36405"/>
                    <a:pt x="221270" y="41316"/>
                  </a:cubicBezTo>
                  <a:cubicBezTo>
                    <a:pt x="232303" y="78846"/>
                    <a:pt x="227644" y="119246"/>
                    <a:pt x="208359" y="153280"/>
                  </a:cubicBezTo>
                  <a:cubicBezTo>
                    <a:pt x="189074" y="187314"/>
                    <a:pt x="156811" y="212072"/>
                    <a:pt x="118946" y="221894"/>
                  </a:cubicBezTo>
                  <a:cubicBezTo>
                    <a:pt x="117117" y="222369"/>
                    <a:pt x="115197" y="222369"/>
                    <a:pt x="113367" y="221894"/>
                  </a:cubicBezTo>
                  <a:cubicBezTo>
                    <a:pt x="75501" y="212074"/>
                    <a:pt x="43235" y="187317"/>
                    <a:pt x="23948" y="153283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0" y="33349"/>
                  </a:cubicBezTo>
                  <a:cubicBezTo>
                    <a:pt x="52621" y="34739"/>
                    <a:pt x="82464" y="24725"/>
                    <a:pt x="105889" y="5267"/>
                  </a:cubicBezTo>
                  <a:lnTo>
                    <a:pt x="108811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1" y="128"/>
                    <a:pt x="114857" y="78"/>
                  </a:cubicBez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083165" y="45729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护城河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944124" y="4981575"/>
              <a:ext cx="1257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D4E37"/>
                  </a:solidFill>
                  <a:latin typeface="Georgia"/>
                  <a:ea typeface="KaiTi"/>
                  <a:cs typeface="Georgia"/>
                </a:rPr>
                <a:t>自研Kimi K3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90772" y="53239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89B8A"/>
                  </a:solidFill>
                  <a:latin typeface="Arial"/>
                  <a:ea typeface="Microsoft YaHei"/>
                  <a:cs typeface="Arial"/>
                </a:rPr>
                <a:t>不依赖第三方模型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253674" y="6061710"/>
            <a:ext cx="3684651" cy="243840"/>
            <a:chOff x="4253674" y="6061710"/>
            <a:chExt cx="3684651" cy="243840"/>
          </a:xfrm>
        </p:grpSpPr>
        <p:sp>
          <p:nvSpPr>
            <p:cNvPr id="36" name="TextBox 36"/>
            <p:cNvSpPr txBox="1"/>
            <p:nvPr/>
          </p:nvSpPr>
          <p:spPr>
            <a:xfrm>
              <a:off x="4253674" y="6061710"/>
              <a:ext cx="36846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i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若成功上市，将成为中国AI浪潮的标杆性事件。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234452" y="65227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5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426720"/>
            <a:ext cx="6271260" cy="632936"/>
            <a:chOff x="571500" y="426720"/>
            <a:chExt cx="6271260" cy="632936"/>
          </a:xfrm>
        </p:grpSpPr>
        <p:sp>
          <p:nvSpPr>
            <p:cNvPr id="3" name="Rectangle 3"/>
            <p:cNvSpPr/>
            <p:nvPr/>
          </p:nvSpPr>
          <p:spPr>
            <a:xfrm>
              <a:off x="571500" y="457200"/>
              <a:ext cx="38100" cy="419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2470" y="426720"/>
              <a:ext cx="258207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全球AI格局改写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168140" y="491490"/>
              <a:ext cx="26746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不靠美国也能做到顶级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8662" y="831056"/>
              <a:ext cx="2369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K3 开源对全球AI生态的三重冲击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238250"/>
            <a:ext cx="3429000" cy="3429000"/>
            <a:chOff x="571500" y="1238250"/>
            <a:chExt cx="3429000" cy="342900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3429000" cy="3429000"/>
            </a:xfrm>
            <a:prstGeom prst="roundRect">
              <a:avLst>
                <a:gd name="adj" fmla="val 333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92659" y="1460913"/>
              <a:ext cx="319660" cy="316658"/>
              <a:chOff x="792659" y="1460913"/>
              <a:chExt cx="319660" cy="31665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64105" y="1682750"/>
                <a:ext cx="133890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890" h="94821">
                    <a:moveTo>
                      <a:pt x="133890" y="0"/>
                    </a:moveTo>
                    <a:cubicBezTo>
                      <a:pt x="110317" y="54007"/>
                      <a:pt x="58770" y="90514"/>
                      <a:pt x="0" y="94821"/>
                    </a:cubicBezTo>
                    <a:cubicBezTo>
                      <a:pt x="4065" y="93853"/>
                      <a:pt x="7585" y="91320"/>
                      <a:pt x="9795" y="87773"/>
                    </a:cubicBezTo>
                    <a:cubicBezTo>
                      <a:pt x="26668" y="60743"/>
                      <a:pt x="38902" y="31082"/>
                      <a:pt x="45990" y="1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07006" y="1682750"/>
                <a:ext cx="133874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874" h="94821">
                    <a:moveTo>
                      <a:pt x="87900" y="0"/>
                    </a:moveTo>
                    <a:cubicBezTo>
                      <a:pt x="94984" y="31077"/>
                      <a:pt x="107218" y="60749"/>
                      <a:pt x="124095" y="87789"/>
                    </a:cubicBezTo>
                    <a:cubicBezTo>
                      <a:pt x="126304" y="91327"/>
                      <a:pt x="129817" y="93853"/>
                      <a:pt x="133874" y="94821"/>
                    </a:cubicBezTo>
                    <a:cubicBezTo>
                      <a:pt x="75110" y="90508"/>
                      <a:pt x="23570" y="54002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27576" y="1682750"/>
                <a:ext cx="49848" cy="61659"/>
              </a:xfrm>
              <a:custGeom>
                <a:avLst/>
                <a:gdLst/>
                <a:ahLst/>
                <a:cxnLst/>
                <a:rect l="l" t="t" r="r" b="b"/>
                <a:pathLst>
                  <a:path w="49848" h="61659">
                    <a:moveTo>
                      <a:pt x="49848" y="0"/>
                    </a:moveTo>
                    <a:cubicBezTo>
                      <a:pt x="44278" y="21556"/>
                      <a:pt x="35898" y="42287"/>
                      <a:pt x="24924" y="61659"/>
                    </a:cubicBezTo>
                    <a:cubicBezTo>
                      <a:pt x="13949" y="42287"/>
                      <a:pt x="5570" y="21556"/>
                      <a:pt x="0" y="0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92659" y="1587500"/>
                <a:ext cx="96881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6881" h="63500">
                    <a:moveTo>
                      <a:pt x="96881" y="0"/>
                    </a:moveTo>
                    <a:cubicBezTo>
                      <a:pt x="94522" y="21101"/>
                      <a:pt x="94522" y="42399"/>
                      <a:pt x="96881" y="63500"/>
                    </a:cubicBezTo>
                    <a:lnTo>
                      <a:pt x="4298" y="63500"/>
                    </a:lnTo>
                    <a:cubicBezTo>
                      <a:pt x="11" y="42551"/>
                      <a:pt x="0" y="20953"/>
                      <a:pt x="4266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8856" y="1587500"/>
                <a:ext cx="6728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7289" h="63500">
                    <a:moveTo>
                      <a:pt x="64632" y="0"/>
                    </a:moveTo>
                    <a:cubicBezTo>
                      <a:pt x="67289" y="21083"/>
                      <a:pt x="67289" y="42417"/>
                      <a:pt x="64632" y="63500"/>
                    </a:cubicBezTo>
                    <a:lnTo>
                      <a:pt x="2656" y="63500"/>
                    </a:lnTo>
                    <a:cubicBezTo>
                      <a:pt x="0" y="42417"/>
                      <a:pt x="0" y="21083"/>
                      <a:pt x="2656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15460" y="1587500"/>
                <a:ext cx="96859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6859" h="63500">
                    <a:moveTo>
                      <a:pt x="92615" y="0"/>
                    </a:moveTo>
                    <a:cubicBezTo>
                      <a:pt x="96859" y="20955"/>
                      <a:pt x="96848" y="42549"/>
                      <a:pt x="92583" y="63500"/>
                    </a:cubicBezTo>
                    <a:lnTo>
                      <a:pt x="0" y="63500"/>
                    </a:lnTo>
                    <a:cubicBezTo>
                      <a:pt x="2365" y="42402"/>
                      <a:pt x="2365" y="21114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6958" y="1460929"/>
                <a:ext cx="133906" cy="94821"/>
              </a:xfrm>
              <a:custGeom>
                <a:avLst/>
                <a:gdLst/>
                <a:ahLst/>
                <a:cxnLst/>
                <a:rect l="l" t="t" r="r" b="b"/>
                <a:pathLst>
                  <a:path w="133906" h="94821">
                    <a:moveTo>
                      <a:pt x="133906" y="0"/>
                    </a:moveTo>
                    <a:cubicBezTo>
                      <a:pt x="129852" y="976"/>
                      <a:pt x="126345" y="3508"/>
                      <a:pt x="124142" y="7049"/>
                    </a:cubicBezTo>
                    <a:cubicBezTo>
                      <a:pt x="107267" y="34083"/>
                      <a:pt x="95034" y="63750"/>
                      <a:pt x="87948" y="94821"/>
                    </a:cubicBezTo>
                    <a:lnTo>
                      <a:pt x="0" y="94821"/>
                    </a:lnTo>
                    <a:cubicBezTo>
                      <a:pt x="23363" y="41350"/>
                      <a:pt x="74154" y="4984"/>
                      <a:pt x="132302" y="95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27576" y="1494092"/>
                <a:ext cx="49848" cy="61674"/>
              </a:xfrm>
              <a:custGeom>
                <a:avLst/>
                <a:gdLst/>
                <a:ahLst/>
                <a:cxnLst/>
                <a:rect l="l" t="t" r="r" b="b"/>
                <a:pathLst>
                  <a:path w="49848" h="61674">
                    <a:moveTo>
                      <a:pt x="24924" y="0"/>
                    </a:moveTo>
                    <a:cubicBezTo>
                      <a:pt x="35899" y="19377"/>
                      <a:pt x="44279" y="40113"/>
                      <a:pt x="49848" y="61674"/>
                    </a:cubicBezTo>
                    <a:lnTo>
                      <a:pt x="0" y="61674"/>
                    </a:lnTo>
                    <a:cubicBezTo>
                      <a:pt x="5398" y="40767"/>
                      <a:pt x="13494" y="20399"/>
                      <a:pt x="24289" y="1079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64136" y="1460913"/>
                <a:ext cx="133906" cy="94837"/>
              </a:xfrm>
              <a:custGeom>
                <a:avLst/>
                <a:gdLst/>
                <a:ahLst/>
                <a:cxnLst/>
                <a:rect l="l" t="t" r="r" b="b"/>
                <a:pathLst>
                  <a:path w="133906" h="94837">
                    <a:moveTo>
                      <a:pt x="0" y="0"/>
                    </a:moveTo>
                    <a:cubicBezTo>
                      <a:pt x="58767" y="4340"/>
                      <a:pt x="110307" y="40843"/>
                      <a:pt x="133906" y="94837"/>
                    </a:cubicBezTo>
                    <a:lnTo>
                      <a:pt x="45958" y="94837"/>
                    </a:lnTo>
                    <a:cubicBezTo>
                      <a:pt x="38874" y="63760"/>
                      <a:pt x="26640" y="34088"/>
                      <a:pt x="9763" y="7049"/>
                    </a:cubicBezTo>
                    <a:cubicBezTo>
                      <a:pt x="7853" y="3989"/>
                      <a:pt x="4959" y="1671"/>
                      <a:pt x="1556" y="4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38250" y="1533525"/>
              <a:ext cx="20738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主权AI不再依赖美国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8212" y="2021681"/>
              <a:ext cx="18112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过去各国想要部署顶级AI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8212" y="2269331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必须依赖美国的云服务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8212" y="2516981"/>
              <a:ext cx="7515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和模型API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52500" y="29527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8212" y="3117056"/>
              <a:ext cx="1676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K3 开源 + 可本地部署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8212" y="3364706"/>
              <a:ext cx="1482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= 任何国家都能拥有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8212" y="3612356"/>
              <a:ext cx="9897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自己的顶级AI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09575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76826" y="4238149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欧洲、中东、东南亚已开始部署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381500" y="1238250"/>
            <a:ext cx="3429000" cy="3429000"/>
            <a:chOff x="4381500" y="1238250"/>
            <a:chExt cx="3429000" cy="3429000"/>
          </a:xfrm>
        </p:grpSpPr>
        <p:sp>
          <p:nvSpPr>
            <p:cNvPr id="30" name="Rectangle 30"/>
            <p:cNvSpPr/>
            <p:nvPr/>
          </p:nvSpPr>
          <p:spPr>
            <a:xfrm>
              <a:off x="4381500" y="1238250"/>
              <a:ext cx="3429000" cy="3429000"/>
            </a:xfrm>
            <a:prstGeom prst="roundRect">
              <a:avLst>
                <a:gd name="adj" fmla="val 333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603748" y="1453389"/>
              <a:ext cx="334278" cy="335582"/>
            </a:xfrm>
            <a:custGeom>
              <a:avLst/>
              <a:gdLst/>
              <a:ahLst/>
              <a:cxnLst/>
              <a:rect l="l" t="t" r="r" b="b"/>
              <a:pathLst>
                <a:path w="334278" h="335582">
                  <a:moveTo>
                    <a:pt x="238127" y="28384"/>
                  </a:moveTo>
                  <a:cubicBezTo>
                    <a:pt x="304846" y="66904"/>
                    <a:pt x="334278" y="147768"/>
                    <a:pt x="307928" y="220162"/>
                  </a:cubicBezTo>
                  <a:cubicBezTo>
                    <a:pt x="281578" y="292557"/>
                    <a:pt x="207053" y="335582"/>
                    <a:pt x="131183" y="322203"/>
                  </a:cubicBezTo>
                  <a:cubicBezTo>
                    <a:pt x="55312" y="308824"/>
                    <a:pt x="0" y="242902"/>
                    <a:pt x="2" y="165861"/>
                  </a:cubicBezTo>
                  <a:lnTo>
                    <a:pt x="81" y="160718"/>
                  </a:lnTo>
                  <a:cubicBezTo>
                    <a:pt x="1890" y="104948"/>
                    <a:pt x="32845" y="54223"/>
                    <a:pt x="81614" y="27112"/>
                  </a:cubicBezTo>
                  <a:cubicBezTo>
                    <a:pt x="130383" y="0"/>
                    <a:pt x="189805" y="483"/>
                    <a:pt x="238127" y="28384"/>
                  </a:cubicBezTo>
                  <a:moveTo>
                    <a:pt x="180056" y="111251"/>
                  </a:moveTo>
                  <a:cubicBezTo>
                    <a:pt x="176099" y="109810"/>
                    <a:pt x="171730" y="110001"/>
                    <a:pt x="167913" y="111781"/>
                  </a:cubicBezTo>
                  <a:cubicBezTo>
                    <a:pt x="164096" y="113561"/>
                    <a:pt x="161143" y="116786"/>
                    <a:pt x="159704" y="120744"/>
                  </a:cubicBezTo>
                  <a:lnTo>
                    <a:pt x="127954" y="208057"/>
                  </a:lnTo>
                  <a:cubicBezTo>
                    <a:pt x="124956" y="216298"/>
                    <a:pt x="129206" y="225410"/>
                    <a:pt x="137448" y="228409"/>
                  </a:cubicBezTo>
                  <a:cubicBezTo>
                    <a:pt x="145689" y="231407"/>
                    <a:pt x="154801" y="227157"/>
                    <a:pt x="157799" y="218915"/>
                  </a:cubicBezTo>
                  <a:lnTo>
                    <a:pt x="189549" y="131603"/>
                  </a:lnTo>
                  <a:cubicBezTo>
                    <a:pt x="190991" y="127645"/>
                    <a:pt x="190800" y="123277"/>
                    <a:pt x="189019" y="119460"/>
                  </a:cubicBezTo>
                  <a:cubicBezTo>
                    <a:pt x="187239" y="115643"/>
                    <a:pt x="184015" y="112690"/>
                    <a:pt x="180056" y="111251"/>
                  </a:cubicBezTo>
                  <a:moveTo>
                    <a:pt x="114413" y="130825"/>
                  </a:moveTo>
                  <a:cubicBezTo>
                    <a:pt x="108214" y="124628"/>
                    <a:pt x="98165" y="124628"/>
                    <a:pt x="91966" y="130825"/>
                  </a:cubicBezTo>
                  <a:lnTo>
                    <a:pt x="68153" y="154637"/>
                  </a:lnTo>
                  <a:cubicBezTo>
                    <a:pt x="61956" y="160837"/>
                    <a:pt x="61956" y="170885"/>
                    <a:pt x="68153" y="177085"/>
                  </a:cubicBezTo>
                  <a:lnTo>
                    <a:pt x="91966" y="200897"/>
                  </a:lnTo>
                  <a:cubicBezTo>
                    <a:pt x="98165" y="207094"/>
                    <a:pt x="108214" y="207094"/>
                    <a:pt x="114413" y="200897"/>
                  </a:cubicBezTo>
                  <a:lnTo>
                    <a:pt x="115731" y="199405"/>
                  </a:lnTo>
                  <a:cubicBezTo>
                    <a:pt x="120633" y="193085"/>
                    <a:pt x="120068" y="184106"/>
                    <a:pt x="114413" y="178450"/>
                  </a:cubicBezTo>
                  <a:lnTo>
                    <a:pt x="101840" y="165861"/>
                  </a:lnTo>
                  <a:lnTo>
                    <a:pt x="114413" y="153272"/>
                  </a:lnTo>
                  <a:cubicBezTo>
                    <a:pt x="120610" y="147073"/>
                    <a:pt x="120610" y="137024"/>
                    <a:pt x="114413" y="130825"/>
                  </a:cubicBezTo>
                  <a:moveTo>
                    <a:pt x="225538" y="130825"/>
                  </a:moveTo>
                  <a:cubicBezTo>
                    <a:pt x="219339" y="124628"/>
                    <a:pt x="209290" y="124628"/>
                    <a:pt x="203091" y="130825"/>
                  </a:cubicBezTo>
                  <a:lnTo>
                    <a:pt x="201773" y="132317"/>
                  </a:lnTo>
                  <a:cubicBezTo>
                    <a:pt x="196871" y="138637"/>
                    <a:pt x="197436" y="147616"/>
                    <a:pt x="203091" y="153272"/>
                  </a:cubicBezTo>
                  <a:lnTo>
                    <a:pt x="215664" y="165861"/>
                  </a:lnTo>
                  <a:lnTo>
                    <a:pt x="203091" y="178450"/>
                  </a:lnTo>
                  <a:cubicBezTo>
                    <a:pt x="197075" y="184679"/>
                    <a:pt x="197161" y="194580"/>
                    <a:pt x="203284" y="200704"/>
                  </a:cubicBezTo>
                  <a:cubicBezTo>
                    <a:pt x="209408" y="206827"/>
                    <a:pt x="219309" y="206913"/>
                    <a:pt x="225538" y="200897"/>
                  </a:cubicBezTo>
                  <a:lnTo>
                    <a:pt x="249351" y="177085"/>
                  </a:lnTo>
                  <a:cubicBezTo>
                    <a:pt x="255548" y="170885"/>
                    <a:pt x="255548" y="160837"/>
                    <a:pt x="249351" y="154637"/>
                  </a:cubicBez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48250" y="1533525"/>
              <a:ext cx="21083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开源生态的范式转移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48212" y="2021681"/>
              <a:ext cx="1860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以往开源模型 = 美国公司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48212" y="2269331"/>
              <a:ext cx="702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的"施舍"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762500" y="27622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748212" y="2926556"/>
              <a:ext cx="14777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K3 证明：中国团队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48212" y="317420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可以从零做出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48212" y="34218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世界级的开源模型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48212" y="366950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75C3A"/>
                  </a:solidFill>
                  <a:latin typeface="Arial"/>
                  <a:ea typeface="Microsoft YaHei"/>
                  <a:cs typeface="Arial"/>
                </a:rPr>
                <a:t>并免费分享给全世界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72000" y="409575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086826" y="4238149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全球开发者社区争相微调和部署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91500" y="1238250"/>
            <a:ext cx="3429000" cy="3429000"/>
            <a:chOff x="8191500" y="1238250"/>
            <a:chExt cx="3429000" cy="3429000"/>
          </a:xfrm>
        </p:grpSpPr>
        <p:sp>
          <p:nvSpPr>
            <p:cNvPr id="43" name="Rectangle 43"/>
            <p:cNvSpPr/>
            <p:nvPr/>
          </p:nvSpPr>
          <p:spPr>
            <a:xfrm>
              <a:off x="8191500" y="1238250"/>
              <a:ext cx="3429000" cy="3429000"/>
            </a:xfrm>
            <a:prstGeom prst="roundRect">
              <a:avLst>
                <a:gd name="adj" fmla="val 3333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413750" y="1453389"/>
              <a:ext cx="333852" cy="334398"/>
            </a:xfrm>
            <a:custGeom>
              <a:avLst/>
              <a:gdLst/>
              <a:ahLst/>
              <a:cxnLst/>
              <a:rect l="l" t="t" r="r" b="b"/>
              <a:pathLst>
                <a:path w="333852" h="334398">
                  <a:moveTo>
                    <a:pt x="238125" y="28384"/>
                  </a:moveTo>
                  <a:cubicBezTo>
                    <a:pt x="304282" y="66582"/>
                    <a:pt x="333852" y="146484"/>
                    <a:pt x="308499" y="218547"/>
                  </a:cubicBezTo>
                  <a:cubicBezTo>
                    <a:pt x="283146" y="290611"/>
                    <a:pt x="210062" y="334398"/>
                    <a:pt x="134560" y="322760"/>
                  </a:cubicBezTo>
                  <a:cubicBezTo>
                    <a:pt x="59059" y="311121"/>
                    <a:pt x="2554" y="247358"/>
                    <a:pt x="79" y="171005"/>
                  </a:cubicBezTo>
                  <a:lnTo>
                    <a:pt x="0" y="165861"/>
                  </a:lnTo>
                  <a:lnTo>
                    <a:pt x="79" y="160718"/>
                  </a:lnTo>
                  <a:cubicBezTo>
                    <a:pt x="1888" y="104948"/>
                    <a:pt x="32843" y="54223"/>
                    <a:pt x="81612" y="27112"/>
                  </a:cubicBezTo>
                  <a:cubicBezTo>
                    <a:pt x="130381" y="0"/>
                    <a:pt x="189803" y="483"/>
                    <a:pt x="238125" y="28384"/>
                  </a:cubicBezTo>
                  <a:close/>
                  <a:moveTo>
                    <a:pt x="158750" y="134111"/>
                  </a:moveTo>
                  <a:cubicBezTo>
                    <a:pt x="143072" y="134110"/>
                    <a:pt x="129740" y="145554"/>
                    <a:pt x="127365" y="161051"/>
                  </a:cubicBezTo>
                  <a:lnTo>
                    <a:pt x="127079" y="163496"/>
                  </a:lnTo>
                  <a:lnTo>
                    <a:pt x="127000" y="165861"/>
                  </a:lnTo>
                  <a:lnTo>
                    <a:pt x="127079" y="168242"/>
                  </a:lnTo>
                  <a:cubicBezTo>
                    <a:pt x="128371" y="185418"/>
                    <a:pt x="143122" y="198431"/>
                    <a:pt x="160325" y="197571"/>
                  </a:cubicBezTo>
                  <a:cubicBezTo>
                    <a:pt x="177528" y="196712"/>
                    <a:pt x="190908" y="182292"/>
                    <a:pt x="190480" y="165073"/>
                  </a:cubicBezTo>
                  <a:cubicBezTo>
                    <a:pt x="190053" y="147854"/>
                    <a:pt x="175974" y="134116"/>
                    <a:pt x="158750" y="134111"/>
                  </a:cubicBezTo>
                  <a:close/>
                </a:path>
              </a:pathLst>
            </a:custGeom>
            <a:solidFill>
              <a:srgbClr val="C75C3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58250" y="15335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75C3A"/>
                  </a:solidFill>
                  <a:latin typeface="Georgia"/>
                  <a:ea typeface="KaiTi"/>
                  <a:cs typeface="Georgia"/>
                </a:rPr>
                <a:t>倒逼美国巨头加速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58212" y="2021681"/>
              <a:ext cx="17866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OpenAI、Google、Meta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58212" y="2269331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被迫加快开源节奏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8572500" y="27622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58212" y="2926556"/>
              <a:ext cx="18112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AI不再是美国独大的游戏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58212" y="31742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而是全球多极竞争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382000" y="3619500"/>
              <a:ext cx="3048000" cy="857250"/>
            </a:xfrm>
            <a:prstGeom prst="roundRect">
              <a:avLst>
                <a:gd name="adj" fmla="val 8889"/>
              </a:avLst>
            </a:prstGeom>
            <a:solidFill>
              <a:srgbClr val="C75C3A">
                <a:alpha val="6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01886" y="3823335"/>
              <a:ext cx="12082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75C3A"/>
                  </a:solidFill>
                  <a:latin typeface="Georgia"/>
                  <a:ea typeface="KaiTi"/>
                  <a:cs typeface="Georgia"/>
                </a:rPr>
                <a:t>"AI竞赛的核心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86622" y="4109085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75C3A"/>
                  </a:solidFill>
                  <a:latin typeface="Georgia"/>
                  <a:ea typeface="KaiTi"/>
                  <a:cs typeface="Georgia"/>
                </a:rPr>
                <a:t>不再是谁有最强的闭源模型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18556" y="4411028"/>
              <a:ext cx="1774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Georgia"/>
                  <a:ea typeface="KaiTi"/>
                  <a:cs typeface="Georgia"/>
                </a:rPr>
                <a:t>而是谁能让更多人用上AI"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4953000"/>
            <a:ext cx="11049000" cy="571500"/>
            <a:chOff x="571500" y="4953000"/>
            <a:chExt cx="11049000" cy="571500"/>
          </a:xfrm>
        </p:grpSpPr>
        <p:sp>
          <p:nvSpPr>
            <p:cNvPr id="56" name="Rectangle 56"/>
            <p:cNvSpPr/>
            <p:nvPr/>
          </p:nvSpPr>
          <p:spPr>
            <a:xfrm>
              <a:off x="571500" y="4953000"/>
              <a:ext cx="11049000" cy="571500"/>
            </a:xfrm>
            <a:prstGeom prst="roundRect">
              <a:avLst>
                <a:gd name="adj" fmla="val 16667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677716" y="5169218"/>
              <a:ext cx="68365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D4E37"/>
                  </a:solidFill>
                  <a:latin typeface="Georgia"/>
                  <a:ea typeface="KaiTi"/>
                  <a:cs typeface="Georgia"/>
                </a:rPr>
                <a:t>CNN、CNBC、BBC、Fortune 等西方主流媒体罕见地大规模正面报道中国AI成就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267313" y="6522720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2" grpId="0"/>
      <p:bldP spid="55" grpId="0"/>
      <p:bldP spid="5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436557" y="375285"/>
            <a:ext cx="3318886" cy="739140"/>
            <a:chOff x="4436557" y="375285"/>
            <a:chExt cx="3318886" cy="739140"/>
          </a:xfrm>
        </p:grpSpPr>
        <p:sp>
          <p:nvSpPr>
            <p:cNvPr id="3" name="TextBox 3"/>
            <p:cNvSpPr txBox="1"/>
            <p:nvPr/>
          </p:nvSpPr>
          <p:spPr>
            <a:xfrm>
              <a:off x="4436557" y="375285"/>
              <a:ext cx="331888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中国AI的完整闭环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69408" y="870585"/>
              <a:ext cx="18531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K3 补上了最后一块拼图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410200" y="2933700"/>
            <a:ext cx="1371600" cy="1371600"/>
            <a:chOff x="5410200" y="2933700"/>
            <a:chExt cx="1371600" cy="1371600"/>
          </a:xfrm>
        </p:grpSpPr>
        <p:sp>
          <p:nvSpPr>
            <p:cNvPr id="6" name="Ellipse 6"/>
            <p:cNvSpPr/>
            <p:nvPr/>
          </p:nvSpPr>
          <p:spPr>
            <a:xfrm>
              <a:off x="5410200" y="2933700"/>
              <a:ext cx="1371600" cy="1371600"/>
            </a:xfrm>
            <a:prstGeom prst="ellipse">
              <a:avLst/>
            </a:prstGeom>
            <a:solidFill>
              <a:srgbClr val="FAF7F2"/>
            </a:solidFill>
            <a:ln w="28575">
              <a:solidFill>
                <a:srgbClr val="E8A87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97403" y="3314700"/>
              <a:ext cx="797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Kimi K3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21680" y="36175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基座模型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97261" y="38080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+ 开源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667000" y="1714500"/>
            <a:ext cx="2809875" cy="1381125"/>
            <a:chOff x="2667000" y="1714500"/>
            <a:chExt cx="2809875" cy="1381125"/>
          </a:xfrm>
        </p:grpSpPr>
        <p:sp>
          <p:nvSpPr>
            <p:cNvPr id="11" name="Line 11"/>
            <p:cNvSpPr/>
            <p:nvPr/>
          </p:nvSpPr>
          <p:spPr>
            <a:xfrm>
              <a:off x="4000500" y="2286000"/>
              <a:ext cx="1476375" cy="809625"/>
            </a:xfrm>
            <a:custGeom>
              <a:avLst/>
              <a:gdLst/>
              <a:ahLst/>
              <a:cxnLst/>
              <a:rect l="l" t="t" r="r" b="b"/>
              <a:pathLst>
                <a:path w="1476375" h="809625">
                  <a:moveTo>
                    <a:pt x="0" y="0"/>
                  </a:moveTo>
                  <a:lnTo>
                    <a:pt x="1476375" y="809625"/>
                  </a:lnTo>
                </a:path>
              </a:pathLst>
            </a:custGeom>
            <a:noFill/>
            <a:ln w="19050">
              <a:solidFill>
                <a:srgbClr val="EDE5D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667000" y="1714500"/>
              <a:ext cx="266700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21392" y="1933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国产算力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39892" y="2315528"/>
              <a:ext cx="17212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K3 主要在国产GPU上训练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3725" y="25426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证明了美国芯片禁令挡不住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15125" y="1714500"/>
            <a:ext cx="2809875" cy="1381125"/>
            <a:chOff x="6715125" y="1714500"/>
            <a:chExt cx="2809875" cy="1381125"/>
          </a:xfrm>
        </p:grpSpPr>
        <p:sp>
          <p:nvSpPr>
            <p:cNvPr id="17" name="Line 17"/>
            <p:cNvSpPr/>
            <p:nvPr/>
          </p:nvSpPr>
          <p:spPr>
            <a:xfrm>
              <a:off x="6715125" y="2286000"/>
              <a:ext cx="1476375" cy="809625"/>
            </a:xfrm>
            <a:custGeom>
              <a:avLst/>
              <a:gdLst/>
              <a:ahLst/>
              <a:cxnLst/>
              <a:rect l="l" t="t" r="r" b="b"/>
              <a:pathLst>
                <a:path w="1476375" h="809625">
                  <a:moveTo>
                    <a:pt x="1476375" y="0"/>
                  </a:moveTo>
                  <a:lnTo>
                    <a:pt x="0" y="809625"/>
                  </a:lnTo>
                </a:path>
              </a:pathLst>
            </a:custGeom>
            <a:noFill/>
            <a:ln w="19050">
              <a:solidFill>
                <a:srgbClr val="EDE5D5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58000" y="1714500"/>
              <a:ext cx="266700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12392" y="1933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原创研究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61884" y="2315528"/>
              <a:ext cx="18592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KDA 注意力机制等原创技术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25367" y="2542699"/>
              <a:ext cx="21322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9年来首次重写Transformer底层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05000" y="4143375"/>
            <a:ext cx="3571875" cy="1381125"/>
            <a:chOff x="1905000" y="4143375"/>
            <a:chExt cx="3571875" cy="1381125"/>
          </a:xfrm>
        </p:grpSpPr>
        <p:sp>
          <p:nvSpPr>
            <p:cNvPr id="23" name="Line 23"/>
            <p:cNvSpPr/>
            <p:nvPr/>
          </p:nvSpPr>
          <p:spPr>
            <a:xfrm>
              <a:off x="3238500" y="4143375"/>
              <a:ext cx="2238375" cy="714375"/>
            </a:xfrm>
            <a:custGeom>
              <a:avLst/>
              <a:gdLst/>
              <a:ahLst/>
              <a:cxnLst/>
              <a:rect l="l" t="t" r="r" b="b"/>
              <a:pathLst>
                <a:path w="2238375" h="714375">
                  <a:moveTo>
                    <a:pt x="0" y="714375"/>
                  </a:moveTo>
                  <a:lnTo>
                    <a:pt x="2238375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05000" y="4381500"/>
              <a:ext cx="266700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759392" y="4600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人才聚集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70225" y="4982528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清华系 + 全球顶级研究者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67523" y="5209699"/>
              <a:ext cx="13419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月之暗面 650 人团队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15125" y="4143375"/>
            <a:ext cx="3571875" cy="1381125"/>
            <a:chOff x="6715125" y="4143375"/>
            <a:chExt cx="3571875" cy="1381125"/>
          </a:xfrm>
        </p:grpSpPr>
        <p:sp>
          <p:nvSpPr>
            <p:cNvPr id="29" name="Line 29"/>
            <p:cNvSpPr/>
            <p:nvPr/>
          </p:nvSpPr>
          <p:spPr>
            <a:xfrm>
              <a:off x="6715125" y="4143375"/>
              <a:ext cx="2238375" cy="714375"/>
            </a:xfrm>
            <a:custGeom>
              <a:avLst/>
              <a:gdLst/>
              <a:ahLst/>
              <a:cxnLst/>
              <a:rect l="l" t="t" r="r" b="b"/>
              <a:pathLst>
                <a:path w="2238375" h="714375">
                  <a:moveTo>
                    <a:pt x="2238375" y="7143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DE5D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0" y="4381500"/>
              <a:ext cx="2667000" cy="1143000"/>
            </a:xfrm>
            <a:prstGeom prst="roundRect">
              <a:avLst>
                <a:gd name="adj" fmla="val 1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74392" y="46005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资本支持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89380" y="4982528"/>
              <a:ext cx="19282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腾讯、阿里、IDG、红杉中国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3203" y="5209699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累计融资超48亿美元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286000" y="5905500"/>
            <a:ext cx="7620000" cy="476250"/>
            <a:chOff x="2286000" y="5905500"/>
            <a:chExt cx="7620000" cy="476250"/>
          </a:xfrm>
        </p:grpSpPr>
        <p:sp>
          <p:nvSpPr>
            <p:cNvPr id="35" name="Rectangle 35"/>
            <p:cNvSpPr/>
            <p:nvPr/>
          </p:nvSpPr>
          <p:spPr>
            <a:xfrm>
              <a:off x="2286000" y="5905500"/>
              <a:ext cx="7620000" cy="4762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8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946488" y="6064568"/>
              <a:ext cx="42990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硬件 → 研究 → 人才 → 资本 → 正循环，越转越快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234452" y="65227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22" grpId="0"/>
      <p:bldP spid="28" grpId="0"/>
      <p:bldP spid="34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426720"/>
            <a:ext cx="4649152" cy="632936"/>
            <a:chOff x="571500" y="426720"/>
            <a:chExt cx="4649152" cy="632936"/>
          </a:xfrm>
        </p:grpSpPr>
        <p:sp>
          <p:nvSpPr>
            <p:cNvPr id="3" name="Rectangle 3"/>
            <p:cNvSpPr/>
            <p:nvPr/>
          </p:nvSpPr>
          <p:spPr>
            <a:xfrm>
              <a:off x="571500" y="457200"/>
              <a:ext cx="38100" cy="419100"/>
            </a:xfrm>
            <a:prstGeom prst="roundRect">
              <a:avLst>
                <a:gd name="adj" fmla="val 50000"/>
              </a:avLst>
            </a:prstGeom>
            <a:solidFill>
              <a:srgbClr val="8B7D6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12470" y="426720"/>
              <a:ext cx="2269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不完美的真相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411855" y="5400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客观评价，不吹不黑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28662" y="831056"/>
              <a:ext cx="3889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89B8A"/>
                  </a:solidFill>
                  <a:latin typeface="Arial"/>
                  <a:ea typeface="Microsoft YaHei"/>
                  <a:cs typeface="Arial"/>
                </a:rPr>
                <a:t>K3 很强，但距离GPT-5.3/Claude Opus 4.6仍有差距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1238250"/>
            <a:ext cx="5334000" cy="3810000"/>
            <a:chOff x="571500" y="1238250"/>
            <a:chExt cx="5334000" cy="381000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238250"/>
              <a:ext cx="5334000" cy="457200"/>
            </a:xfrm>
            <a:prstGeom prst="roundRect">
              <a:avLst>
                <a:gd name="adj" fmla="val 25000"/>
              </a:avLst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581150"/>
              <a:ext cx="5334000" cy="114300"/>
            </a:xfrm>
            <a:prstGeom prst="rect">
              <a:avLst/>
            </a:prstGeom>
            <a:solidFill>
              <a:srgbClr val="6B8E5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84225" y="1331697"/>
              <a:ext cx="233696" cy="234079"/>
            </a:xfrm>
            <a:custGeom>
              <a:avLst/>
              <a:gdLst/>
              <a:ahLst/>
              <a:cxnLst/>
              <a:rect l="l" t="t" r="r" b="b"/>
              <a:pathLst>
                <a:path w="233696" h="234079">
                  <a:moveTo>
                    <a:pt x="166688" y="19868"/>
                  </a:moveTo>
                  <a:cubicBezTo>
                    <a:pt x="212998" y="46607"/>
                    <a:pt x="233696" y="102539"/>
                    <a:pt x="215949" y="152983"/>
                  </a:cubicBezTo>
                  <a:cubicBezTo>
                    <a:pt x="198202" y="203428"/>
                    <a:pt x="147043" y="234079"/>
                    <a:pt x="94192" y="225932"/>
                  </a:cubicBezTo>
                  <a:cubicBezTo>
                    <a:pt x="41341" y="217785"/>
                    <a:pt x="1788" y="173150"/>
                    <a:pt x="56" y="119703"/>
                  </a:cubicBezTo>
                  <a:lnTo>
                    <a:pt x="0" y="116103"/>
                  </a:lnTo>
                  <a:lnTo>
                    <a:pt x="56" y="112502"/>
                  </a:lnTo>
                  <a:cubicBezTo>
                    <a:pt x="1321" y="73464"/>
                    <a:pt x="22990" y="37956"/>
                    <a:pt x="57128" y="18978"/>
                  </a:cubicBezTo>
                  <a:cubicBezTo>
                    <a:pt x="91267" y="0"/>
                    <a:pt x="132862" y="338"/>
                    <a:pt x="166687" y="19868"/>
                  </a:cubicBezTo>
                  <a:close/>
                  <a:moveTo>
                    <a:pt x="152319" y="86021"/>
                  </a:moveTo>
                  <a:cubicBezTo>
                    <a:pt x="148360" y="82063"/>
                    <a:pt x="142074" y="81667"/>
                    <a:pt x="137651" y="85099"/>
                  </a:cubicBezTo>
                  <a:lnTo>
                    <a:pt x="136606" y="86021"/>
                  </a:lnTo>
                  <a:lnTo>
                    <a:pt x="100012" y="122604"/>
                  </a:lnTo>
                  <a:lnTo>
                    <a:pt x="85644" y="108246"/>
                  </a:lnTo>
                  <a:lnTo>
                    <a:pt x="84599" y="107324"/>
                  </a:lnTo>
                  <a:cubicBezTo>
                    <a:pt x="80176" y="103895"/>
                    <a:pt x="73892" y="104291"/>
                    <a:pt x="69934" y="108249"/>
                  </a:cubicBezTo>
                  <a:cubicBezTo>
                    <a:pt x="65976" y="112207"/>
                    <a:pt x="65580" y="118491"/>
                    <a:pt x="69009" y="122915"/>
                  </a:cubicBezTo>
                  <a:lnTo>
                    <a:pt x="69931" y="123959"/>
                  </a:lnTo>
                  <a:lnTo>
                    <a:pt x="92156" y="146184"/>
                  </a:lnTo>
                  <a:lnTo>
                    <a:pt x="93201" y="147107"/>
                  </a:lnTo>
                  <a:cubicBezTo>
                    <a:pt x="97209" y="150217"/>
                    <a:pt x="102816" y="150217"/>
                    <a:pt x="106824" y="147107"/>
                  </a:cubicBezTo>
                  <a:lnTo>
                    <a:pt x="107869" y="146184"/>
                  </a:lnTo>
                  <a:lnTo>
                    <a:pt x="152319" y="101734"/>
                  </a:lnTo>
                  <a:lnTo>
                    <a:pt x="153241" y="100690"/>
                  </a:lnTo>
                  <a:cubicBezTo>
                    <a:pt x="156673" y="96266"/>
                    <a:pt x="156278" y="89980"/>
                    <a:pt x="152319" y="86021"/>
                  </a:cubicBezTo>
                  <a:close/>
                </a:path>
              </a:pathLst>
            </a:custGeom>
            <a:solidFill>
              <a:srgbClr val="FAF7F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3950" y="138112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AF7F2"/>
                  </a:solidFill>
                  <a:latin typeface="Georgia"/>
                  <a:ea typeface="KaiTi"/>
                  <a:cs typeface="Georgia"/>
                </a:rPr>
                <a:t>值得骄傲的部分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79462" y="1966176"/>
              <a:ext cx="2609533" cy="262674"/>
              <a:chOff x="779462" y="1966176"/>
              <a:chExt cx="2609533" cy="26267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79462" y="1966176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80135" y="1985010"/>
                <a:ext cx="2308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开源模型全球第一，没有争议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79462" y="2442426"/>
              <a:ext cx="2776030" cy="262674"/>
              <a:chOff x="779462" y="2442426"/>
              <a:chExt cx="2776030" cy="26267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79462" y="2442426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80135" y="2461260"/>
                <a:ext cx="24753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KDA 架构创新是真正的技术突破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79462" y="2918676"/>
              <a:ext cx="2434273" cy="262674"/>
              <a:chOff x="779462" y="2918676"/>
              <a:chExt cx="2434273" cy="2626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79462" y="2918676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80135" y="2937510"/>
                <a:ext cx="2133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成本效率远超美国同类模型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79462" y="3394926"/>
              <a:ext cx="2793556" cy="262674"/>
              <a:chOff x="779462" y="3394926"/>
              <a:chExt cx="2793556" cy="26267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79462" y="3394926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80135" y="3413760"/>
                <a:ext cx="249288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中国AI从"追赶者"变成"竞争者"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79462" y="3871176"/>
              <a:ext cx="2583244" cy="262674"/>
              <a:chOff x="779462" y="3871176"/>
              <a:chExt cx="2583244" cy="26267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79462" y="3871176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80135" y="3890010"/>
                <a:ext cx="22825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开源共享推动了全球AI民主化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79462" y="4347426"/>
              <a:ext cx="3135313" cy="262674"/>
              <a:chOff x="779462" y="4347426"/>
              <a:chExt cx="3135313" cy="26267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79462" y="4347426"/>
                <a:ext cx="183618" cy="183919"/>
              </a:xfrm>
              <a:custGeom>
                <a:avLst/>
                <a:gdLst/>
                <a:ahLst/>
                <a:cxnLst/>
                <a:rect l="l" t="t" r="r" b="b"/>
                <a:pathLst>
                  <a:path w="183618" h="183919">
                    <a:moveTo>
                      <a:pt x="130969" y="15611"/>
                    </a:moveTo>
                    <a:cubicBezTo>
                      <a:pt x="167355" y="36620"/>
                      <a:pt x="183618" y="80566"/>
                      <a:pt x="169674" y="120201"/>
                    </a:cubicBezTo>
                    <a:cubicBezTo>
                      <a:pt x="155730" y="159836"/>
                      <a:pt x="115534" y="183919"/>
                      <a:pt x="74008" y="177518"/>
                    </a:cubicBezTo>
                    <a:cubicBezTo>
                      <a:pt x="32482" y="171117"/>
                      <a:pt x="1405" y="136047"/>
                      <a:pt x="44" y="94052"/>
                    </a:cubicBezTo>
                    <a:lnTo>
                      <a:pt x="0" y="91224"/>
                    </a:lnTo>
                    <a:lnTo>
                      <a:pt x="44" y="88395"/>
                    </a:lnTo>
                    <a:cubicBezTo>
                      <a:pt x="1038" y="57722"/>
                      <a:pt x="18063" y="29823"/>
                      <a:pt x="44886" y="14911"/>
                    </a:cubicBezTo>
                    <a:cubicBezTo>
                      <a:pt x="71709" y="0"/>
                      <a:pt x="104392" y="266"/>
                      <a:pt x="130969" y="15611"/>
                    </a:cubicBezTo>
                    <a:close/>
                    <a:moveTo>
                      <a:pt x="119679" y="67588"/>
                    </a:moveTo>
                    <a:cubicBezTo>
                      <a:pt x="116569" y="64478"/>
                      <a:pt x="111630" y="64167"/>
                      <a:pt x="108154" y="66863"/>
                    </a:cubicBezTo>
                    <a:lnTo>
                      <a:pt x="107333" y="67588"/>
                    </a:lnTo>
                    <a:lnTo>
                      <a:pt x="78581" y="96331"/>
                    </a:lnTo>
                    <a:lnTo>
                      <a:pt x="67292" y="85051"/>
                    </a:lnTo>
                    <a:lnTo>
                      <a:pt x="66471" y="84326"/>
                    </a:lnTo>
                    <a:cubicBezTo>
                      <a:pt x="62995" y="81632"/>
                      <a:pt x="58058" y="81943"/>
                      <a:pt x="54948" y="85053"/>
                    </a:cubicBezTo>
                    <a:cubicBezTo>
                      <a:pt x="51838" y="88163"/>
                      <a:pt x="51527" y="93100"/>
                      <a:pt x="54221" y="96576"/>
                    </a:cubicBezTo>
                    <a:lnTo>
                      <a:pt x="54946" y="97397"/>
                    </a:lnTo>
                    <a:lnTo>
                      <a:pt x="72408" y="114859"/>
                    </a:lnTo>
                    <a:lnTo>
                      <a:pt x="73229" y="115584"/>
                    </a:lnTo>
                    <a:cubicBezTo>
                      <a:pt x="76379" y="118028"/>
                      <a:pt x="80784" y="118028"/>
                      <a:pt x="83934" y="115584"/>
                    </a:cubicBezTo>
                    <a:lnTo>
                      <a:pt x="84754" y="114859"/>
                    </a:lnTo>
                    <a:lnTo>
                      <a:pt x="119679" y="79934"/>
                    </a:lnTo>
                    <a:lnTo>
                      <a:pt x="120404" y="79113"/>
                    </a:lnTo>
                    <a:cubicBezTo>
                      <a:pt x="123100" y="75638"/>
                      <a:pt x="122790" y="70699"/>
                      <a:pt x="119679" y="67588"/>
                    </a:cubicBezTo>
                    <a:close/>
                  </a:path>
                </a:pathLst>
              </a:custGeom>
              <a:solidFill>
                <a:srgbClr val="6B8E5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80135" y="4366260"/>
                <a:ext cx="2834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蒸馏指控已被技术和时间线彻底反驳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6286500" y="1238250"/>
            <a:ext cx="5334000" cy="3810000"/>
            <a:chOff x="6286500" y="1238250"/>
            <a:chExt cx="5334000" cy="3810000"/>
          </a:xfrm>
        </p:grpSpPr>
        <p:sp>
          <p:nvSpPr>
            <p:cNvPr id="32" name="Rectangle 32"/>
            <p:cNvSpPr/>
            <p:nvPr/>
          </p:nvSpPr>
          <p:spPr>
            <a:xfrm>
              <a:off x="6286500" y="123825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1238250"/>
              <a:ext cx="5334000" cy="457200"/>
            </a:xfrm>
            <a:prstGeom prst="roundRect">
              <a:avLst>
                <a:gd name="adj" fmla="val 25000"/>
              </a:avLst>
            </a:prstGeom>
            <a:solidFill>
              <a:srgbClr val="C75C3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86500" y="1581150"/>
              <a:ext cx="5334000" cy="114300"/>
            </a:xfrm>
            <a:prstGeom prst="rect">
              <a:avLst/>
            </a:prstGeom>
            <a:solidFill>
              <a:srgbClr val="C75C3A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486538" y="1333008"/>
              <a:ext cx="247495" cy="214760"/>
            </a:xfrm>
            <a:custGeom>
              <a:avLst/>
              <a:gdLst/>
              <a:ahLst/>
              <a:cxnLst/>
              <a:rect l="l" t="t" r="r" b="b"/>
              <a:pathLst>
                <a:path w="247495" h="214760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7"/>
                  </a:lnTo>
                  <a:cubicBezTo>
                    <a:pt x="247275" y="175835"/>
                    <a:pt x="247495" y="187668"/>
                    <a:pt x="242288" y="197516"/>
                  </a:cubicBezTo>
                  <a:cubicBezTo>
                    <a:pt x="237081" y="207363"/>
                    <a:pt x="227177" y="213843"/>
                    <a:pt x="216068" y="214671"/>
                  </a:cubicBezTo>
                  <a:lnTo>
                    <a:pt x="213901" y="214760"/>
                  </a:lnTo>
                  <a:lnTo>
                    <a:pt x="33601" y="214760"/>
                  </a:lnTo>
                  <a:cubicBezTo>
                    <a:pt x="22481" y="214635"/>
                    <a:pt x="12203" y="208813"/>
                    <a:pt x="6379" y="199339"/>
                  </a:cubicBezTo>
                  <a:cubicBezTo>
                    <a:pt x="555" y="189866"/>
                    <a:pt x="0" y="178066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1999" y="5914"/>
                    <a:pt x="112495" y="2"/>
                    <a:pt x="123812" y="0"/>
                  </a:cubicBezTo>
                  <a:close/>
                  <a:moveTo>
                    <a:pt x="123923" y="148130"/>
                  </a:moveTo>
                  <a:lnTo>
                    <a:pt x="122512" y="148207"/>
                  </a:lnTo>
                  <a:cubicBezTo>
                    <a:pt x="116922" y="148872"/>
                    <a:pt x="112712" y="153613"/>
                    <a:pt x="112712" y="159242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3" y="170277"/>
                  </a:lnTo>
                  <a:cubicBezTo>
                    <a:pt x="130814" y="169612"/>
                    <a:pt x="135023" y="164872"/>
                    <a:pt x="135023" y="159242"/>
                  </a:cubicBezTo>
                  <a:cubicBezTo>
                    <a:pt x="135023" y="153613"/>
                    <a:pt x="130814" y="148872"/>
                    <a:pt x="125223" y="148207"/>
                  </a:cubicBezTo>
                  <a:lnTo>
                    <a:pt x="123923" y="148130"/>
                  </a:lnTo>
                  <a:close/>
                  <a:moveTo>
                    <a:pt x="123812" y="70342"/>
                  </a:moveTo>
                  <a:cubicBezTo>
                    <a:pt x="118178" y="70343"/>
                    <a:pt x="113437" y="74559"/>
                    <a:pt x="112777" y="80154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7" y="127205"/>
                  </a:lnTo>
                  <a:cubicBezTo>
                    <a:pt x="113442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4"/>
                  </a:lnTo>
                  <a:cubicBezTo>
                    <a:pt x="134188" y="74559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FAF7F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38950" y="1381125"/>
              <a:ext cx="16483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AF7F2"/>
                  </a:solidFill>
                  <a:latin typeface="Georgia"/>
                  <a:ea typeface="KaiTi"/>
                  <a:cs typeface="Georgia"/>
                </a:rPr>
                <a:t>需要正视的差距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6484494" y="1967206"/>
              <a:ext cx="3925188" cy="261644"/>
              <a:chOff x="6484494" y="1967206"/>
              <a:chExt cx="3925188" cy="26164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84494" y="1967206"/>
                <a:ext cx="194460" cy="168740"/>
              </a:xfrm>
              <a:custGeom>
                <a:avLst/>
                <a:gdLst/>
                <a:ahLst/>
                <a:cxnLst/>
                <a:rect l="l" t="t" r="r" b="b"/>
                <a:pathLst>
                  <a:path w="194460" h="168740">
                    <a:moveTo>
                      <a:pt x="97281" y="0"/>
                    </a:moveTo>
                    <a:cubicBezTo>
                      <a:pt x="105619" y="0"/>
                      <a:pt x="113390" y="4077"/>
                      <a:pt x="118149" y="10888"/>
                    </a:cubicBezTo>
                    <a:lnTo>
                      <a:pt x="119065" y="12285"/>
                    </a:lnTo>
                    <a:lnTo>
                      <a:pt x="189911" y="130576"/>
                    </a:lnTo>
                    <a:cubicBezTo>
                      <a:pt x="194287" y="138156"/>
                      <a:pt x="194460" y="147453"/>
                      <a:pt x="190369" y="155191"/>
                    </a:cubicBezTo>
                    <a:cubicBezTo>
                      <a:pt x="186278" y="162928"/>
                      <a:pt x="178496" y="168020"/>
                      <a:pt x="169768" y="168670"/>
                    </a:cubicBezTo>
                    <a:lnTo>
                      <a:pt x="168065" y="168740"/>
                    </a:lnTo>
                    <a:lnTo>
                      <a:pt x="26401" y="168740"/>
                    </a:lnTo>
                    <a:cubicBezTo>
                      <a:pt x="17664" y="168642"/>
                      <a:pt x="9588" y="164067"/>
                      <a:pt x="5012" y="156624"/>
                    </a:cubicBezTo>
                    <a:cubicBezTo>
                      <a:pt x="436" y="149180"/>
                      <a:pt x="0" y="139909"/>
                      <a:pt x="3857" y="132069"/>
                    </a:cubicBezTo>
                    <a:lnTo>
                      <a:pt x="4721" y="130454"/>
                    </a:lnTo>
                    <a:lnTo>
                      <a:pt x="75531" y="12250"/>
                    </a:lnTo>
                    <a:cubicBezTo>
                      <a:pt x="80142" y="4646"/>
                      <a:pt x="88389" y="2"/>
                      <a:pt x="97281" y="0"/>
                    </a:cubicBezTo>
                    <a:close/>
                    <a:moveTo>
                      <a:pt x="97368" y="116388"/>
                    </a:moveTo>
                    <a:lnTo>
                      <a:pt x="96259" y="116449"/>
                    </a:lnTo>
                    <a:cubicBezTo>
                      <a:pt x="91867" y="116971"/>
                      <a:pt x="88559" y="120696"/>
                      <a:pt x="88559" y="125119"/>
                    </a:cubicBezTo>
                    <a:cubicBezTo>
                      <a:pt x="88559" y="129542"/>
                      <a:pt x="91867" y="133266"/>
                      <a:pt x="96259" y="133789"/>
                    </a:cubicBezTo>
                    <a:lnTo>
                      <a:pt x="97281" y="133850"/>
                    </a:lnTo>
                    <a:lnTo>
                      <a:pt x="98390" y="133789"/>
                    </a:lnTo>
                    <a:cubicBezTo>
                      <a:pt x="102782" y="133266"/>
                      <a:pt x="106090" y="129542"/>
                      <a:pt x="106090" y="125119"/>
                    </a:cubicBezTo>
                    <a:cubicBezTo>
                      <a:pt x="106090" y="120696"/>
                      <a:pt x="102782" y="116971"/>
                      <a:pt x="98390" y="116449"/>
                    </a:cubicBezTo>
                    <a:lnTo>
                      <a:pt x="97368" y="116388"/>
                    </a:lnTo>
                    <a:close/>
                    <a:moveTo>
                      <a:pt x="97281" y="55269"/>
                    </a:moveTo>
                    <a:cubicBezTo>
                      <a:pt x="92854" y="55269"/>
                      <a:pt x="89129" y="58582"/>
                      <a:pt x="88611" y="62979"/>
                    </a:cubicBezTo>
                    <a:lnTo>
                      <a:pt x="88550" y="64000"/>
                    </a:lnTo>
                    <a:lnTo>
                      <a:pt x="88550" y="98925"/>
                    </a:lnTo>
                    <a:lnTo>
                      <a:pt x="88611" y="99947"/>
                    </a:lnTo>
                    <a:cubicBezTo>
                      <a:pt x="89133" y="104339"/>
                      <a:pt x="92858" y="107647"/>
                      <a:pt x="97281" y="107647"/>
                    </a:cubicBezTo>
                    <a:cubicBezTo>
                      <a:pt x="101704" y="107647"/>
                      <a:pt x="105429" y="104339"/>
                      <a:pt x="105951" y="99947"/>
                    </a:cubicBezTo>
                    <a:lnTo>
                      <a:pt x="106012" y="98925"/>
                    </a:lnTo>
                    <a:lnTo>
                      <a:pt x="106012" y="64000"/>
                    </a:lnTo>
                    <a:lnTo>
                      <a:pt x="105951" y="62979"/>
                    </a:lnTo>
                    <a:cubicBezTo>
                      <a:pt x="105433" y="58582"/>
                      <a:pt x="101707" y="55269"/>
                      <a:pt x="97281" y="55269"/>
                    </a:cubicBezTo>
                    <a:close/>
                  </a:path>
                </a:pathLst>
              </a:custGeom>
              <a:solidFill>
                <a:srgbClr val="C75C3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795135" y="1985010"/>
                <a:ext cx="361454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综合排名仍落后 GPT-5.3 和 Claude Opus 4.6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484494" y="2443456"/>
              <a:ext cx="2619501" cy="261644"/>
              <a:chOff x="6484494" y="2443456"/>
              <a:chExt cx="2619501" cy="261644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484494" y="2443456"/>
                <a:ext cx="194460" cy="168740"/>
              </a:xfrm>
              <a:custGeom>
                <a:avLst/>
                <a:gdLst/>
                <a:ahLst/>
                <a:cxnLst/>
                <a:rect l="l" t="t" r="r" b="b"/>
                <a:pathLst>
                  <a:path w="194460" h="168740">
                    <a:moveTo>
                      <a:pt x="97281" y="0"/>
                    </a:moveTo>
                    <a:cubicBezTo>
                      <a:pt x="105619" y="0"/>
                      <a:pt x="113390" y="4077"/>
                      <a:pt x="118149" y="10888"/>
                    </a:cubicBezTo>
                    <a:lnTo>
                      <a:pt x="119065" y="12285"/>
                    </a:lnTo>
                    <a:lnTo>
                      <a:pt x="189911" y="130576"/>
                    </a:lnTo>
                    <a:cubicBezTo>
                      <a:pt x="194287" y="138156"/>
                      <a:pt x="194460" y="147453"/>
                      <a:pt x="190369" y="155191"/>
                    </a:cubicBezTo>
                    <a:cubicBezTo>
                      <a:pt x="186278" y="162928"/>
                      <a:pt x="178496" y="168020"/>
                      <a:pt x="169768" y="168670"/>
                    </a:cubicBezTo>
                    <a:lnTo>
                      <a:pt x="168065" y="168740"/>
                    </a:lnTo>
                    <a:lnTo>
                      <a:pt x="26401" y="168740"/>
                    </a:lnTo>
                    <a:cubicBezTo>
                      <a:pt x="17664" y="168642"/>
                      <a:pt x="9588" y="164067"/>
                      <a:pt x="5012" y="156624"/>
                    </a:cubicBezTo>
                    <a:cubicBezTo>
                      <a:pt x="436" y="149180"/>
                      <a:pt x="0" y="139909"/>
                      <a:pt x="3857" y="132069"/>
                    </a:cubicBezTo>
                    <a:lnTo>
                      <a:pt x="4721" y="130454"/>
                    </a:lnTo>
                    <a:lnTo>
                      <a:pt x="75531" y="12250"/>
                    </a:lnTo>
                    <a:cubicBezTo>
                      <a:pt x="80142" y="4646"/>
                      <a:pt x="88389" y="2"/>
                      <a:pt x="97281" y="0"/>
                    </a:cubicBezTo>
                    <a:close/>
                    <a:moveTo>
                      <a:pt x="97368" y="116388"/>
                    </a:moveTo>
                    <a:lnTo>
                      <a:pt x="96259" y="116449"/>
                    </a:lnTo>
                    <a:cubicBezTo>
                      <a:pt x="91867" y="116971"/>
                      <a:pt x="88559" y="120696"/>
                      <a:pt x="88559" y="125119"/>
                    </a:cubicBezTo>
                    <a:cubicBezTo>
                      <a:pt x="88559" y="129542"/>
                      <a:pt x="91867" y="133266"/>
                      <a:pt x="96259" y="133789"/>
                    </a:cubicBezTo>
                    <a:lnTo>
                      <a:pt x="97281" y="133850"/>
                    </a:lnTo>
                    <a:lnTo>
                      <a:pt x="98390" y="133789"/>
                    </a:lnTo>
                    <a:cubicBezTo>
                      <a:pt x="102782" y="133266"/>
                      <a:pt x="106090" y="129542"/>
                      <a:pt x="106090" y="125119"/>
                    </a:cubicBezTo>
                    <a:cubicBezTo>
                      <a:pt x="106090" y="120696"/>
                      <a:pt x="102782" y="116971"/>
                      <a:pt x="98390" y="116449"/>
                    </a:cubicBezTo>
                    <a:lnTo>
                      <a:pt x="97368" y="116388"/>
                    </a:lnTo>
                    <a:close/>
                    <a:moveTo>
                      <a:pt x="97281" y="55269"/>
                    </a:moveTo>
                    <a:cubicBezTo>
                      <a:pt x="92854" y="55269"/>
                      <a:pt x="89129" y="58582"/>
                      <a:pt x="88611" y="62979"/>
                    </a:cubicBezTo>
                    <a:lnTo>
                      <a:pt x="88550" y="64000"/>
                    </a:lnTo>
                    <a:lnTo>
                      <a:pt x="88550" y="98925"/>
                    </a:lnTo>
                    <a:lnTo>
                      <a:pt x="88611" y="99947"/>
                    </a:lnTo>
                    <a:cubicBezTo>
                      <a:pt x="89133" y="104339"/>
                      <a:pt x="92858" y="107647"/>
                      <a:pt x="97281" y="107647"/>
                    </a:cubicBezTo>
                    <a:cubicBezTo>
                      <a:pt x="101704" y="107647"/>
                      <a:pt x="105429" y="104339"/>
                      <a:pt x="105951" y="99947"/>
                    </a:cubicBezTo>
                    <a:lnTo>
                      <a:pt x="106012" y="98925"/>
                    </a:lnTo>
                    <a:lnTo>
                      <a:pt x="106012" y="64000"/>
                    </a:lnTo>
                    <a:lnTo>
                      <a:pt x="105951" y="62979"/>
                    </a:lnTo>
                    <a:cubicBezTo>
                      <a:pt x="105433" y="58582"/>
                      <a:pt x="101707" y="55269"/>
                      <a:pt x="97281" y="55269"/>
                    </a:cubicBezTo>
                    <a:close/>
                  </a:path>
                </a:pathLst>
              </a:custGeom>
              <a:solidFill>
                <a:srgbClr val="C75C3A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95135" y="2461260"/>
                <a:ext cx="2308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复杂推理和长文创作仍有差距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484494" y="2919706"/>
              <a:ext cx="3259200" cy="261644"/>
              <a:chOff x="6484494" y="2919706"/>
              <a:chExt cx="3259200" cy="26164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484494" y="2919706"/>
                <a:ext cx="194460" cy="168740"/>
              </a:xfrm>
              <a:custGeom>
                <a:avLst/>
                <a:gdLst/>
                <a:ahLst/>
                <a:cxnLst/>
                <a:rect l="l" t="t" r="r" b="b"/>
                <a:pathLst>
                  <a:path w="194460" h="168740">
                    <a:moveTo>
                      <a:pt x="97281" y="0"/>
                    </a:moveTo>
                    <a:cubicBezTo>
                      <a:pt x="105619" y="0"/>
                      <a:pt x="113390" y="4077"/>
                      <a:pt x="118149" y="10888"/>
                    </a:cubicBezTo>
                    <a:lnTo>
                      <a:pt x="119065" y="12285"/>
                    </a:lnTo>
                    <a:lnTo>
                      <a:pt x="189911" y="130576"/>
                    </a:lnTo>
                    <a:cubicBezTo>
                      <a:pt x="194287" y="138156"/>
                      <a:pt x="194460" y="147453"/>
                      <a:pt x="190369" y="155191"/>
                    </a:cubicBezTo>
                    <a:cubicBezTo>
                      <a:pt x="186278" y="162928"/>
                      <a:pt x="178496" y="168020"/>
                      <a:pt x="169768" y="168670"/>
                    </a:cubicBezTo>
                    <a:lnTo>
                      <a:pt x="168065" y="168740"/>
                    </a:lnTo>
                    <a:lnTo>
                      <a:pt x="26401" y="168740"/>
                    </a:lnTo>
                    <a:cubicBezTo>
                      <a:pt x="17664" y="168642"/>
                      <a:pt x="9588" y="164067"/>
                      <a:pt x="5012" y="156624"/>
                    </a:cubicBezTo>
                    <a:cubicBezTo>
                      <a:pt x="436" y="149180"/>
                      <a:pt x="0" y="139909"/>
                      <a:pt x="3857" y="132069"/>
                    </a:cubicBezTo>
                    <a:lnTo>
                      <a:pt x="4721" y="130454"/>
                    </a:lnTo>
                    <a:lnTo>
                      <a:pt x="75531" y="12250"/>
                    </a:lnTo>
                    <a:cubicBezTo>
                      <a:pt x="80142" y="4646"/>
                      <a:pt x="88389" y="2"/>
                      <a:pt x="97281" y="0"/>
                    </a:cubicBezTo>
                    <a:close/>
                    <a:moveTo>
                      <a:pt x="97368" y="116388"/>
                    </a:moveTo>
                    <a:lnTo>
                      <a:pt x="96259" y="116449"/>
                    </a:lnTo>
                    <a:cubicBezTo>
                      <a:pt x="91867" y="116971"/>
                      <a:pt x="88559" y="120696"/>
                      <a:pt x="88559" y="125119"/>
                    </a:cubicBezTo>
                    <a:cubicBezTo>
                      <a:pt x="88559" y="129542"/>
                      <a:pt x="91867" y="133266"/>
                      <a:pt x="96259" y="133789"/>
                    </a:cubicBezTo>
                    <a:lnTo>
                      <a:pt x="97281" y="133850"/>
                    </a:lnTo>
                    <a:lnTo>
                      <a:pt x="98390" y="133789"/>
                    </a:lnTo>
                    <a:cubicBezTo>
                      <a:pt x="102782" y="133266"/>
                      <a:pt x="106090" y="129542"/>
                      <a:pt x="106090" y="125119"/>
                    </a:cubicBezTo>
                    <a:cubicBezTo>
                      <a:pt x="106090" y="120696"/>
                      <a:pt x="102782" y="116971"/>
                      <a:pt x="98390" y="116449"/>
                    </a:cubicBezTo>
                    <a:lnTo>
                      <a:pt x="97368" y="116388"/>
                    </a:lnTo>
                    <a:close/>
                    <a:moveTo>
                      <a:pt x="97281" y="55269"/>
                    </a:moveTo>
                    <a:cubicBezTo>
                      <a:pt x="92854" y="55269"/>
                      <a:pt x="89129" y="58582"/>
                      <a:pt x="88611" y="62979"/>
                    </a:cubicBezTo>
                    <a:lnTo>
                      <a:pt x="88550" y="64000"/>
                    </a:lnTo>
                    <a:lnTo>
                      <a:pt x="88550" y="98925"/>
                    </a:lnTo>
                    <a:lnTo>
                      <a:pt x="88611" y="99947"/>
                    </a:lnTo>
                    <a:cubicBezTo>
                      <a:pt x="89133" y="104339"/>
                      <a:pt x="92858" y="107647"/>
                      <a:pt x="97281" y="107647"/>
                    </a:cubicBezTo>
                    <a:cubicBezTo>
                      <a:pt x="101704" y="107647"/>
                      <a:pt x="105429" y="104339"/>
                      <a:pt x="105951" y="99947"/>
                    </a:cubicBezTo>
                    <a:lnTo>
                      <a:pt x="106012" y="98925"/>
                    </a:lnTo>
                    <a:lnTo>
                      <a:pt x="106012" y="64000"/>
                    </a:lnTo>
                    <a:lnTo>
                      <a:pt x="105951" y="62979"/>
                    </a:lnTo>
                    <a:cubicBezTo>
                      <a:pt x="105433" y="58582"/>
                      <a:pt x="101707" y="55269"/>
                      <a:pt x="97281" y="55269"/>
                    </a:cubicBezTo>
                    <a:close/>
                  </a:path>
                </a:pathLst>
              </a:custGeom>
              <a:solidFill>
                <a:srgbClr val="C75C3A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795135" y="2937510"/>
                <a:ext cx="294855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国产GPU算力仍受限（芯片禁令影响）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484494" y="3395956"/>
              <a:ext cx="3320541" cy="261644"/>
              <a:chOff x="6484494" y="3395956"/>
              <a:chExt cx="3320541" cy="26164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84494" y="3395956"/>
                <a:ext cx="194460" cy="168740"/>
              </a:xfrm>
              <a:custGeom>
                <a:avLst/>
                <a:gdLst/>
                <a:ahLst/>
                <a:cxnLst/>
                <a:rect l="l" t="t" r="r" b="b"/>
                <a:pathLst>
                  <a:path w="194460" h="168740">
                    <a:moveTo>
                      <a:pt x="97281" y="0"/>
                    </a:moveTo>
                    <a:cubicBezTo>
                      <a:pt x="105619" y="0"/>
                      <a:pt x="113390" y="4077"/>
                      <a:pt x="118149" y="10888"/>
                    </a:cubicBezTo>
                    <a:lnTo>
                      <a:pt x="119065" y="12285"/>
                    </a:lnTo>
                    <a:lnTo>
                      <a:pt x="189911" y="130576"/>
                    </a:lnTo>
                    <a:cubicBezTo>
                      <a:pt x="194287" y="138156"/>
                      <a:pt x="194460" y="147453"/>
                      <a:pt x="190369" y="155191"/>
                    </a:cubicBezTo>
                    <a:cubicBezTo>
                      <a:pt x="186278" y="162928"/>
                      <a:pt x="178496" y="168020"/>
                      <a:pt x="169768" y="168670"/>
                    </a:cubicBezTo>
                    <a:lnTo>
                      <a:pt x="168065" y="168740"/>
                    </a:lnTo>
                    <a:lnTo>
                      <a:pt x="26401" y="168740"/>
                    </a:lnTo>
                    <a:cubicBezTo>
                      <a:pt x="17664" y="168642"/>
                      <a:pt x="9588" y="164067"/>
                      <a:pt x="5012" y="156624"/>
                    </a:cubicBezTo>
                    <a:cubicBezTo>
                      <a:pt x="436" y="149180"/>
                      <a:pt x="0" y="139909"/>
                      <a:pt x="3857" y="132069"/>
                    </a:cubicBezTo>
                    <a:lnTo>
                      <a:pt x="4721" y="130454"/>
                    </a:lnTo>
                    <a:lnTo>
                      <a:pt x="75531" y="12250"/>
                    </a:lnTo>
                    <a:cubicBezTo>
                      <a:pt x="80142" y="4646"/>
                      <a:pt x="88389" y="2"/>
                      <a:pt x="97281" y="0"/>
                    </a:cubicBezTo>
                    <a:close/>
                    <a:moveTo>
                      <a:pt x="97368" y="116388"/>
                    </a:moveTo>
                    <a:lnTo>
                      <a:pt x="96259" y="116449"/>
                    </a:lnTo>
                    <a:cubicBezTo>
                      <a:pt x="91867" y="116971"/>
                      <a:pt x="88559" y="120696"/>
                      <a:pt x="88559" y="125119"/>
                    </a:cubicBezTo>
                    <a:cubicBezTo>
                      <a:pt x="88559" y="129542"/>
                      <a:pt x="91867" y="133266"/>
                      <a:pt x="96259" y="133789"/>
                    </a:cubicBezTo>
                    <a:lnTo>
                      <a:pt x="97281" y="133850"/>
                    </a:lnTo>
                    <a:lnTo>
                      <a:pt x="98390" y="133789"/>
                    </a:lnTo>
                    <a:cubicBezTo>
                      <a:pt x="102782" y="133266"/>
                      <a:pt x="106090" y="129542"/>
                      <a:pt x="106090" y="125119"/>
                    </a:cubicBezTo>
                    <a:cubicBezTo>
                      <a:pt x="106090" y="120696"/>
                      <a:pt x="102782" y="116971"/>
                      <a:pt x="98390" y="116449"/>
                    </a:cubicBezTo>
                    <a:lnTo>
                      <a:pt x="97368" y="116388"/>
                    </a:lnTo>
                    <a:close/>
                    <a:moveTo>
                      <a:pt x="97281" y="55269"/>
                    </a:moveTo>
                    <a:cubicBezTo>
                      <a:pt x="92854" y="55269"/>
                      <a:pt x="89129" y="58582"/>
                      <a:pt x="88611" y="62979"/>
                    </a:cubicBezTo>
                    <a:lnTo>
                      <a:pt x="88550" y="64000"/>
                    </a:lnTo>
                    <a:lnTo>
                      <a:pt x="88550" y="98925"/>
                    </a:lnTo>
                    <a:lnTo>
                      <a:pt x="88611" y="99947"/>
                    </a:lnTo>
                    <a:cubicBezTo>
                      <a:pt x="89133" y="104339"/>
                      <a:pt x="92858" y="107647"/>
                      <a:pt x="97281" y="107647"/>
                    </a:cubicBezTo>
                    <a:cubicBezTo>
                      <a:pt x="101704" y="107647"/>
                      <a:pt x="105429" y="104339"/>
                      <a:pt x="105951" y="99947"/>
                    </a:cubicBezTo>
                    <a:lnTo>
                      <a:pt x="106012" y="98925"/>
                    </a:lnTo>
                    <a:lnTo>
                      <a:pt x="106012" y="64000"/>
                    </a:lnTo>
                    <a:lnTo>
                      <a:pt x="105951" y="62979"/>
                    </a:lnTo>
                    <a:cubicBezTo>
                      <a:pt x="105433" y="58582"/>
                      <a:pt x="101707" y="55269"/>
                      <a:pt x="97281" y="55269"/>
                    </a:cubicBezTo>
                    <a:close/>
                  </a:path>
                </a:pathLst>
              </a:custGeom>
              <a:solidFill>
                <a:srgbClr val="C75C3A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795135" y="3413760"/>
                <a:ext cx="3009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蒸馏争议虽被反驳，但信任需时间建立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84494" y="3872206"/>
              <a:ext cx="2268981" cy="261644"/>
              <a:chOff x="6484494" y="3872206"/>
              <a:chExt cx="2268981" cy="261644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484494" y="3872206"/>
                <a:ext cx="194460" cy="168740"/>
              </a:xfrm>
              <a:custGeom>
                <a:avLst/>
                <a:gdLst/>
                <a:ahLst/>
                <a:cxnLst/>
                <a:rect l="l" t="t" r="r" b="b"/>
                <a:pathLst>
                  <a:path w="194460" h="168740">
                    <a:moveTo>
                      <a:pt x="97281" y="0"/>
                    </a:moveTo>
                    <a:cubicBezTo>
                      <a:pt x="105619" y="0"/>
                      <a:pt x="113390" y="4077"/>
                      <a:pt x="118149" y="10888"/>
                    </a:cubicBezTo>
                    <a:lnTo>
                      <a:pt x="119065" y="12285"/>
                    </a:lnTo>
                    <a:lnTo>
                      <a:pt x="189911" y="130576"/>
                    </a:lnTo>
                    <a:cubicBezTo>
                      <a:pt x="194287" y="138156"/>
                      <a:pt x="194460" y="147453"/>
                      <a:pt x="190369" y="155191"/>
                    </a:cubicBezTo>
                    <a:cubicBezTo>
                      <a:pt x="186278" y="162928"/>
                      <a:pt x="178496" y="168020"/>
                      <a:pt x="169768" y="168670"/>
                    </a:cubicBezTo>
                    <a:lnTo>
                      <a:pt x="168065" y="168740"/>
                    </a:lnTo>
                    <a:lnTo>
                      <a:pt x="26401" y="168740"/>
                    </a:lnTo>
                    <a:cubicBezTo>
                      <a:pt x="17664" y="168642"/>
                      <a:pt x="9588" y="164067"/>
                      <a:pt x="5012" y="156624"/>
                    </a:cubicBezTo>
                    <a:cubicBezTo>
                      <a:pt x="436" y="149180"/>
                      <a:pt x="0" y="139909"/>
                      <a:pt x="3857" y="132069"/>
                    </a:cubicBezTo>
                    <a:lnTo>
                      <a:pt x="4721" y="130454"/>
                    </a:lnTo>
                    <a:lnTo>
                      <a:pt x="75531" y="12250"/>
                    </a:lnTo>
                    <a:cubicBezTo>
                      <a:pt x="80142" y="4646"/>
                      <a:pt x="88389" y="2"/>
                      <a:pt x="97281" y="0"/>
                    </a:cubicBezTo>
                    <a:close/>
                    <a:moveTo>
                      <a:pt x="97368" y="116388"/>
                    </a:moveTo>
                    <a:lnTo>
                      <a:pt x="96259" y="116449"/>
                    </a:lnTo>
                    <a:cubicBezTo>
                      <a:pt x="91867" y="116971"/>
                      <a:pt x="88559" y="120696"/>
                      <a:pt x="88559" y="125119"/>
                    </a:cubicBezTo>
                    <a:cubicBezTo>
                      <a:pt x="88559" y="129542"/>
                      <a:pt x="91867" y="133266"/>
                      <a:pt x="96259" y="133789"/>
                    </a:cubicBezTo>
                    <a:lnTo>
                      <a:pt x="97281" y="133850"/>
                    </a:lnTo>
                    <a:lnTo>
                      <a:pt x="98390" y="133789"/>
                    </a:lnTo>
                    <a:cubicBezTo>
                      <a:pt x="102782" y="133266"/>
                      <a:pt x="106090" y="129542"/>
                      <a:pt x="106090" y="125119"/>
                    </a:cubicBezTo>
                    <a:cubicBezTo>
                      <a:pt x="106090" y="120696"/>
                      <a:pt x="102782" y="116971"/>
                      <a:pt x="98390" y="116449"/>
                    </a:cubicBezTo>
                    <a:lnTo>
                      <a:pt x="97368" y="116388"/>
                    </a:lnTo>
                    <a:close/>
                    <a:moveTo>
                      <a:pt x="97281" y="55269"/>
                    </a:moveTo>
                    <a:cubicBezTo>
                      <a:pt x="92854" y="55269"/>
                      <a:pt x="89129" y="58582"/>
                      <a:pt x="88611" y="62979"/>
                    </a:cubicBezTo>
                    <a:lnTo>
                      <a:pt x="88550" y="64000"/>
                    </a:lnTo>
                    <a:lnTo>
                      <a:pt x="88550" y="98925"/>
                    </a:lnTo>
                    <a:lnTo>
                      <a:pt x="88611" y="99947"/>
                    </a:lnTo>
                    <a:cubicBezTo>
                      <a:pt x="89133" y="104339"/>
                      <a:pt x="92858" y="107647"/>
                      <a:pt x="97281" y="107647"/>
                    </a:cubicBezTo>
                    <a:cubicBezTo>
                      <a:pt x="101704" y="107647"/>
                      <a:pt x="105429" y="104339"/>
                      <a:pt x="105951" y="99947"/>
                    </a:cubicBezTo>
                    <a:lnTo>
                      <a:pt x="106012" y="98925"/>
                    </a:lnTo>
                    <a:lnTo>
                      <a:pt x="106012" y="64000"/>
                    </a:lnTo>
                    <a:lnTo>
                      <a:pt x="105951" y="62979"/>
                    </a:lnTo>
                    <a:cubicBezTo>
                      <a:pt x="105433" y="58582"/>
                      <a:pt x="101707" y="55269"/>
                      <a:pt x="97281" y="55269"/>
                    </a:cubicBezTo>
                    <a:close/>
                  </a:path>
                </a:pathLst>
              </a:custGeom>
              <a:solidFill>
                <a:srgbClr val="C75C3A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795135" y="3890010"/>
                <a:ext cx="19583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商业化落地仍在早期阶段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484494" y="4348456"/>
              <a:ext cx="2794761" cy="261644"/>
              <a:chOff x="6484494" y="4348456"/>
              <a:chExt cx="2794761" cy="261644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84494" y="4348456"/>
                <a:ext cx="194460" cy="168740"/>
              </a:xfrm>
              <a:custGeom>
                <a:avLst/>
                <a:gdLst/>
                <a:ahLst/>
                <a:cxnLst/>
                <a:rect l="l" t="t" r="r" b="b"/>
                <a:pathLst>
                  <a:path w="194460" h="168740">
                    <a:moveTo>
                      <a:pt x="97281" y="0"/>
                    </a:moveTo>
                    <a:cubicBezTo>
                      <a:pt x="105619" y="0"/>
                      <a:pt x="113390" y="4077"/>
                      <a:pt x="118149" y="10888"/>
                    </a:cubicBezTo>
                    <a:lnTo>
                      <a:pt x="119065" y="12285"/>
                    </a:lnTo>
                    <a:lnTo>
                      <a:pt x="189911" y="130576"/>
                    </a:lnTo>
                    <a:cubicBezTo>
                      <a:pt x="194287" y="138156"/>
                      <a:pt x="194460" y="147453"/>
                      <a:pt x="190369" y="155191"/>
                    </a:cubicBezTo>
                    <a:cubicBezTo>
                      <a:pt x="186278" y="162928"/>
                      <a:pt x="178496" y="168020"/>
                      <a:pt x="169768" y="168670"/>
                    </a:cubicBezTo>
                    <a:lnTo>
                      <a:pt x="168065" y="168740"/>
                    </a:lnTo>
                    <a:lnTo>
                      <a:pt x="26401" y="168740"/>
                    </a:lnTo>
                    <a:cubicBezTo>
                      <a:pt x="17664" y="168642"/>
                      <a:pt x="9588" y="164067"/>
                      <a:pt x="5012" y="156624"/>
                    </a:cubicBezTo>
                    <a:cubicBezTo>
                      <a:pt x="436" y="149180"/>
                      <a:pt x="0" y="139909"/>
                      <a:pt x="3857" y="132069"/>
                    </a:cubicBezTo>
                    <a:lnTo>
                      <a:pt x="4721" y="130454"/>
                    </a:lnTo>
                    <a:lnTo>
                      <a:pt x="75531" y="12250"/>
                    </a:lnTo>
                    <a:cubicBezTo>
                      <a:pt x="80142" y="4646"/>
                      <a:pt x="88389" y="2"/>
                      <a:pt x="97281" y="0"/>
                    </a:cubicBezTo>
                    <a:close/>
                    <a:moveTo>
                      <a:pt x="97368" y="116388"/>
                    </a:moveTo>
                    <a:lnTo>
                      <a:pt x="96259" y="116449"/>
                    </a:lnTo>
                    <a:cubicBezTo>
                      <a:pt x="91867" y="116971"/>
                      <a:pt x="88559" y="120696"/>
                      <a:pt x="88559" y="125119"/>
                    </a:cubicBezTo>
                    <a:cubicBezTo>
                      <a:pt x="88559" y="129542"/>
                      <a:pt x="91867" y="133266"/>
                      <a:pt x="96259" y="133789"/>
                    </a:cubicBezTo>
                    <a:lnTo>
                      <a:pt x="97281" y="133850"/>
                    </a:lnTo>
                    <a:lnTo>
                      <a:pt x="98390" y="133789"/>
                    </a:lnTo>
                    <a:cubicBezTo>
                      <a:pt x="102782" y="133266"/>
                      <a:pt x="106090" y="129542"/>
                      <a:pt x="106090" y="125119"/>
                    </a:cubicBezTo>
                    <a:cubicBezTo>
                      <a:pt x="106090" y="120696"/>
                      <a:pt x="102782" y="116971"/>
                      <a:pt x="98390" y="116449"/>
                    </a:cubicBezTo>
                    <a:lnTo>
                      <a:pt x="97368" y="116388"/>
                    </a:lnTo>
                    <a:close/>
                    <a:moveTo>
                      <a:pt x="97281" y="55269"/>
                    </a:moveTo>
                    <a:cubicBezTo>
                      <a:pt x="92854" y="55269"/>
                      <a:pt x="89129" y="58582"/>
                      <a:pt x="88611" y="62979"/>
                    </a:cubicBezTo>
                    <a:lnTo>
                      <a:pt x="88550" y="64000"/>
                    </a:lnTo>
                    <a:lnTo>
                      <a:pt x="88550" y="98925"/>
                    </a:lnTo>
                    <a:lnTo>
                      <a:pt x="88611" y="99947"/>
                    </a:lnTo>
                    <a:cubicBezTo>
                      <a:pt x="89133" y="104339"/>
                      <a:pt x="92858" y="107647"/>
                      <a:pt x="97281" y="107647"/>
                    </a:cubicBezTo>
                    <a:cubicBezTo>
                      <a:pt x="101704" y="107647"/>
                      <a:pt x="105429" y="104339"/>
                      <a:pt x="105951" y="99947"/>
                    </a:cubicBezTo>
                    <a:lnTo>
                      <a:pt x="106012" y="98925"/>
                    </a:lnTo>
                    <a:lnTo>
                      <a:pt x="106012" y="64000"/>
                    </a:lnTo>
                    <a:lnTo>
                      <a:pt x="105951" y="62979"/>
                    </a:lnTo>
                    <a:cubicBezTo>
                      <a:pt x="105433" y="58582"/>
                      <a:pt x="101707" y="55269"/>
                      <a:pt x="97281" y="55269"/>
                    </a:cubicBezTo>
                    <a:close/>
                  </a:path>
                </a:pathLst>
              </a:custGeom>
              <a:solidFill>
                <a:srgbClr val="C75C3A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795135" y="4366260"/>
                <a:ext cx="24841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生态建设距离美国巨头仍有差距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2286000" y="5334000"/>
            <a:ext cx="7620000" cy="690562"/>
            <a:chOff x="2286000" y="5334000"/>
            <a:chExt cx="7620000" cy="690562"/>
          </a:xfrm>
        </p:grpSpPr>
        <p:sp>
          <p:nvSpPr>
            <p:cNvPr id="56" name="Rectangle 56"/>
            <p:cNvSpPr/>
            <p:nvPr/>
          </p:nvSpPr>
          <p:spPr>
            <a:xfrm>
              <a:off x="2286000" y="5334000"/>
              <a:ext cx="7620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8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1546" y="5505450"/>
              <a:ext cx="26889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"从追赶到竞争只用了两年"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79169" y="58112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这个速度本身，就是最值得关注的信号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234452" y="65227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13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55" grpId="0"/>
      <p:bldP spid="5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143500" y="7620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E8A87C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4872038" y="1297305"/>
            <a:ext cx="2447925" cy="1226820"/>
            <a:chOff x="4872038" y="1297305"/>
            <a:chExt cx="2447925" cy="1226820"/>
          </a:xfrm>
        </p:grpSpPr>
        <p:sp>
          <p:nvSpPr>
            <p:cNvPr id="4" name="TextBox 4"/>
            <p:cNvSpPr txBox="1"/>
            <p:nvPr/>
          </p:nvSpPr>
          <p:spPr>
            <a:xfrm>
              <a:off x="5087874" y="1297305"/>
              <a:ext cx="201625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K3 的真正意义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872038" y="1838325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i="1" dirty="0">
                  <a:solidFill>
                    <a:srgbClr val="5D4E37"/>
                  </a:solidFill>
                  <a:latin typeface="Georgia"/>
                  <a:ea typeface="KaiTi"/>
                  <a:cs typeface="Georgia"/>
                </a:rPr>
                <a:t>不在于它是不是全球第一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9696" y="2219325"/>
              <a:ext cx="18126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i="1" dirty="0">
                  <a:solidFill>
                    <a:srgbClr val="5D4E37"/>
                  </a:solidFill>
                  <a:latin typeface="Georgia"/>
                  <a:ea typeface="KaiTi"/>
                  <a:cs typeface="Georgia"/>
                </a:rPr>
                <a:t>而在于它证明了——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12795" y="2758440"/>
            <a:ext cx="5566410" cy="1127760"/>
            <a:chOff x="3312795" y="2758440"/>
            <a:chExt cx="5566410" cy="1127760"/>
          </a:xfrm>
        </p:grpSpPr>
        <p:sp>
          <p:nvSpPr>
            <p:cNvPr id="8" name="TextBox 8"/>
            <p:cNvSpPr txBox="1"/>
            <p:nvPr/>
          </p:nvSpPr>
          <p:spPr>
            <a:xfrm>
              <a:off x="4299618" y="2758440"/>
              <a:ext cx="35927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顶级AI不再是美国巨头的专利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12795" y="3139440"/>
              <a:ext cx="55664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来自中国的团队同样可以创造出世界级的模型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92968" y="3520440"/>
              <a:ext cx="280606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8A87C"/>
                  </a:solidFill>
                  <a:latin typeface="Georgia"/>
                  <a:ea typeface="KaiTi"/>
                  <a:cs typeface="Georgia"/>
                </a:rPr>
                <a:t>并且开源给全世界使用</a:t>
              </a:r>
            </a:p>
          </p:txBody>
        </p:sp>
      </p:grpSp>
      <p:sp>
        <p:nvSpPr>
          <p:cNvPr id="12" name="Line 12"/>
          <p:cNvSpPr/>
          <p:nvPr/>
        </p:nvSpPr>
        <p:spPr>
          <a:xfrm>
            <a:off x="4191000" y="409575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EDE5D5"/>
            </a:solidFill>
          </a:ln>
        </p:spPr>
      </p:sp>
      <p:grpSp>
        <p:nvGrpSpPr>
          <p:cNvPr id="15" name="Group 15"/>
          <p:cNvGrpSpPr/>
          <p:nvPr/>
        </p:nvGrpSpPr>
        <p:grpSpPr>
          <a:xfrm>
            <a:off x="4621720" y="4347210"/>
            <a:ext cx="2948559" cy="529590"/>
            <a:chOff x="4621720" y="4347210"/>
            <a:chExt cx="2948559" cy="529590"/>
          </a:xfrm>
        </p:grpSpPr>
        <p:sp>
          <p:nvSpPr>
            <p:cNvPr id="13" name="TextBox 13"/>
            <p:cNvSpPr txBox="1"/>
            <p:nvPr/>
          </p:nvSpPr>
          <p:spPr>
            <a:xfrm>
              <a:off x="4621720" y="4347210"/>
              <a:ext cx="29485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AI竞赛的未来，不再是"美国 vs 世界"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71466" y="4632960"/>
              <a:ext cx="24490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而是"开放 vs 封闭"的路线之争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238500" y="5143500"/>
            <a:ext cx="5715000" cy="1143000"/>
            <a:chOff x="3238500" y="5143500"/>
            <a:chExt cx="57150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3238500" y="5143500"/>
              <a:ext cx="5715000" cy="114300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19050">
              <a:gradFill>
                <a:gsLst>
                  <a:gs pos="0">
                    <a:srgbClr val="8B6F47"/>
                  </a:gs>
                  <a:gs pos="100000">
                    <a:srgbClr val="E8A87C"/>
                  </a:gs>
                </a:gsLst>
                <a:lin ang="2700000" scaled="1"/>
              </a:gra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96778" y="5362575"/>
              <a:ext cx="279844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Georgia"/>
                  <a:ea typeface="KaiTi"/>
                  <a:cs typeface="Georgia"/>
                </a:rPr>
                <a:t>关注我们 · 持续追踪AI前沿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98708" y="5736431"/>
              <a:ext cx="2394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B站：AI大家学 · 抖音：AI大家学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97506" y="6038374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89B8A"/>
                  </a:solidFill>
                  <a:latin typeface="Arial"/>
                  <a:ea typeface="Microsoft YaHei"/>
                  <a:cs typeface="Arial"/>
                </a:rPr>
                <a:t>用最通俗的方式，讲最前沿的AI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234452" y="65227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A89B8A"/>
                </a:solidFill>
                <a:latin typeface="Arial"/>
                <a:ea typeface="Microsoft YaHei"/>
                <a:cs typeface="Arial"/>
              </a:rPr>
              <a:t>14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2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