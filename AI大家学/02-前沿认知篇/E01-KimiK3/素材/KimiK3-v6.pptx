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大家好，欢迎来到 AI大家学。今天我们来聊一个非常重磅的话题：Kimi K3。这是月之暗面在 2026 年 7 月发布的开源大模型，在很多榜单上已经做到了全球第一。我们今天会从技术、地缘、资本、部署四个维度，把这个模型彻底讲透。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先给大家一个震撼的数字：4700 亿美元。这是英伟达一天之内蒸发的市值，就因为 K3 发布的消息。你可能觉得夸张——一个中国公司的开源模型，怎么能让全球市值最高的公司之一跌这么多？别急，我们慢慢讲。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 月 16 日这天发生了三件事。第一，白宫科技政策办直接指控月之暗面蒸馏了 OpenAI 的模型。第二，美国财长威胁要把月之暗面列入制裁名单。第三，AI 专家内森·兰伯特直接反驳说"蒸馏指控站不住脚"。你看，一个中国 AI 公司，能让白宫专门发声明，这本身就说明了一些问题。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但更有意思的是，就在美国政府指控的同时，月之暗面完成了 35 亿美元的 F 轮融资。投资方包括腾讯、阿里、IDG 这些巨头。估值从去年的 43 亿美元直接飙到 350 亿，翻了大概 8 倍。资本用真金白银投了票——他们显然不认为这是蒸馏出来的东西。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好，那 K3 到底有多强？我们先看硬实力。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首先，K3 的参数量是 2.8 万亿，是目前开源模型里最大的之一。但它用的是 MoE 架构，也就是混合专家模型。总共有 896 个专家，但每次推理只激活 16 个。这意味着虽然参数量巨大，但实际计算量非常可控。上下文窗口支持到 100 万 Token，这在开源模型里也是顶级的。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榜单成绩方面，K3 在四个关键榜单上都拿了第一或前列。Frontend Code Arena 1679 分全球第一，AA Index 57 分全球第二，GDPval 1668 分全球第一，BrowseComp 91.2 分全球第一。注意这些不只是"跑分"——Frontend Code Arena 测的是前端代码生成能力，BrowseComp 测的是网页浏览和理解能力，都是非常实用的场景。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跟 Fable 5 和 GPT-5.6 比呢？K3 在前端代码和浏览能力上明显领先，在通用能力上也不落下风。最关键的是，K3 是开源的——这意味着任何人都可以下载、部署、甚至修改它。而 Fable 和 GPT 都只能通过 API 使用。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有一个特别有意思的细节。一个叫 "I Love Q" 的匿名开发者，只用了 2 个小时就把 K3 部署到了自己的服务器上。而同样的事情用其他开源模型通常需要一到两周。这说明 K3 的工程化做得非常好——不只是模型好，部署体验也打磨到位了。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K3 是怎么做到的？它背后有哪些技术创新？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 对传统的 Transformer 架构做了三项重大重构。第一是 KDA 注意力机制，替代了传统的全注意力。第二是 Linear Tension，一种新的线性注意力变体。第三是 Moon Clip，一种新的训练加速方法。这三项技术加在一起，让 K3 的训练效率比同量级模型高出 2.5 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KDA 注意力是最核心的创新。传统的注意力机制计算量是 Token 数量的平方，所以上下文越长就越慢。KDA 通过一种叫"知识蒸馏注意力"的方式，把计算复杂度降到了接近线性。你可以理解为，它在保持理解力的同时，大幅降低了"思考"的计算成本。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Linear Tension 解决的是另一个问题：它让模型在处理长文本时不会"遗忘"前面的内容。Moon Clip 则是一种训练加速技术，通过智能裁剪不重要的训练步骤，在不损失精度的前提下加快了训练速度。这三项技术配合起来，就是 K3 能用相对较少的算力训练出超大参数模型的原因。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最终的结果是：2.5 倍。K3 的训练效率是同量级模型的 2.5 倍。换句话说，如果训练一个同等规模的普通模型需要 100 天，K3 只需要 40 天。这在算力如此昂贵的今天，意义非常重大。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K3 的发布对全球 AI 格局意味着什么？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 发布后，国内算力需求激增，很多云平台的 GPU 集群利用率飙到了 95% 以上。有人把这称为"DeepSeek 2.0 时刻"——上一次出现这种规模的算力挤兑，还是 DeepSeek R1 发布的时候。开源模型的威力就在于此：一旦放出来，所有人都会去尝试。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关于白宫的蒸馏指控，独立的 AI 专家和研究者已经给出了反驳。第一，K3 的性能不是蒸馏能做到的。第二，K3 是开源的，技术报告全部公开，任何人都可以复核。第三，K3 的开发时间线跟 Fable 对不上。更重要的是，将近 200 家硅谷公司联名反对制裁中国 AI 模型——他们担心这样做只会把全球开发者推向中国生态。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从更大的视角看，这是一场从"卡芯片"到"卡算法"的地缘博弈。美国先禁运 GPU，然后指控蒸馏，然后商务部调查，但硅谷自己人又不买账，中方则反控这是"AI 霸权主义"。截至 8 月初，月之暗面还没有被列入实体清单，这场博弈还在进行中。我的判断是：这恰恰说明他们慌了。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好，那 K3 为什么重要？它不只是一款模型。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DeepSeek R1 到 V3，再到 Kimi K2 和 K3，中国 AI 公司正在系统性地逼近、甚至局部超越美国顶级实验室。密度越来越高，不是一次偶然，而是一条清晰的趋势线。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 月 27 日深夜，月之暗面一口气开源了三个工具：MoonEP 是高性能 MoE 通信库，FlashKDA 是 KDA 注意力的高性能算子，AgentEnv 是大规模 Agent 训练沙箱。用他们的话说，"不仅给了菜谱，还给了整套厨房设备"。上线 Hugging Face 30 分钟就登顶趋势榜，下载量超过 113 万。华为昇腾、阿里云、vLLM 都在第一时间完成了适配。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资本层面，月之暗面已经形成了一个生态闭环：顶尖人才回流——姚顺雨从智谱过来做首席科学家。高估值融资——35 亿美元 F 轮。开源生态扩张——模型下载量全球最高。开源生态又反哺估值——形成正向飞轮。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从估值曲线来看，月之暗面在两年半内从大约 30 亿美元涨到 350 亿美元，翻了约 15 倍。腾讯、阿里、IDG 等巨头持续加注。资本对中国 AI 的信心，可以说超过了对大多数硅谷公司。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最后，我们来聊聊最实际的问题：K3 怎么本地部署？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推荐的部署方案是 64 张 H100 或 GB300，8 个节点每节点 8 张卡，总共 8TB 的 HBM3e 显存。这个配置可以 BF16 全精度跑 K3，单并发约 30 token/s，200 并发能到 12800 token/s。当然，成本也不低——月租大约 450 万美元，全球只有 5 个组织有这个规模的集群。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如果等 B300 NVL72 量产，情况会好很多。单台机器就有 12TB 显存，完全能承载 K3 的全精度部署。显存分配大致是：模型权重占 60%，KV Cache 占 25%，系统和激活值占 15%。根据精度不同，可以从 4 台 B300 的全精度到 1 台 B300 的 NVFP4 量化版。不过 B300 预计 2026 年第三季度才量产。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对普通开发者来说，有三条路线可选。消费级：M 系列 Mac 加上 NVFP4 量化版，几乎零成本就能体验。单机专业级：等 B300 或用 H100 集群，适合企业级部署。云端 API：通过 Kimi API 或 OpenRouter 调用，几千元一个月，最灵活。推荐路线是：先 API 验证，再单机部署，最后按需扩展。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总结一下三个核心判断。第一，K3 不是蒸馏，是 KDA 注意力等三项原创技术的成果。第二，开源不是慈善，而是构建开发者生态的战略。第三，从 DeepSeek 到 K3，中国 AI 正在系统性地改写全球格局。K3 不只是月之暗面的里程碑，它是中国 AI 开源生态走向全球第一的信号。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好，这就是今天的全部内容。如果你觉得有帮助，记得关注、点赞、转发。下一集我们回到大模型技术篇，聊聊 Agent 的底层原理。我们下期见！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>
                  <a:alpha val="6000"/>
                </a:srgbClr>
              </a:gs>
              <a:gs pos="100000">
                <a:srgbClr val="E8A87C">
                  <a:alpha val="1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-762000"/>
            <a:ext cx="3810000" cy="3810000"/>
          </a:xfrm>
          <a:prstGeom prst="ellipse">
            <a:avLst/>
          </a:prstGeom>
          <a:solidFill>
            <a:srgbClr val="E8A87C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85750" y="4286250"/>
            <a:ext cx="2857500" cy="2857500"/>
          </a:xfrm>
          <a:prstGeom prst="ellipse">
            <a:avLst/>
          </a:prstGeom>
          <a:solidFill>
            <a:srgbClr val="8B6F47">
              <a:alpha val="5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E8A87C"/>
              </a:gs>
            </a:gsLst>
            <a:lin ang="0" scaled="1"/>
          </a:gra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2286000" y="1714500"/>
            <a:ext cx="7620000" cy="4210606"/>
            <a:chOff x="2286000" y="1714500"/>
            <a:chExt cx="7620000" cy="4210606"/>
          </a:xfrm>
        </p:grpSpPr>
        <p:sp>
          <p:nvSpPr>
            <p:cNvPr id="7" name="Rectangle 7"/>
            <p:cNvSpPr/>
            <p:nvPr/>
          </p:nvSpPr>
          <p:spPr>
            <a:xfrm>
              <a:off x="4191000" y="1714500"/>
              <a:ext cx="3810000" cy="342900"/>
            </a:xfrm>
            <a:prstGeom prst="roundRect">
              <a:avLst>
                <a:gd name="adj" fmla="val 50000"/>
              </a:avLst>
            </a:prstGeom>
            <a:solidFill>
              <a:srgbClr val="8B6F47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5783" y="1821656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AI大家学 · 前沿AI认知篇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61049" y="2369820"/>
              <a:ext cx="286990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Kimi K3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143250"/>
              <a:ext cx="1905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B6F47"/>
                </a:gs>
                <a:gs pos="100000">
                  <a:srgbClr val="E8A87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54028" y="3440430"/>
              <a:ext cx="48839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当开源模型第一次逼到闭源喉咙口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2286000" y="4191000"/>
              <a:ext cx="7620000" cy="666750"/>
              <a:chOff x="2286000" y="4191000"/>
              <a:chExt cx="7620000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286000" y="4191000"/>
                <a:ext cx="219075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10867" y="4247198"/>
                <a:ext cx="1141016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2.8万亿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84195" y="460009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参数规模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000625" y="4191000"/>
                <a:ext cx="219075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473160" y="4247198"/>
                <a:ext cx="1245680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全球第一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727621" y="4600099"/>
                <a:ext cx="7367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前端代码榜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715250" y="4191000"/>
                <a:ext cx="219075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090598" y="4247198"/>
                <a:ext cx="144005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350亿美元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55844" y="46000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估值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927461" y="5403056"/>
              <a:ext cx="2337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月之暗面 · 杨植麟 · 2026年7月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600700" y="574720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924550" y="5721372"/>
              <a:ext cx="152400" cy="203178"/>
            </a:xfrm>
            <a:custGeom>
              <a:avLst/>
              <a:gdLst/>
              <a:ahLst/>
              <a:cxnLst/>
              <a:rect l="l" t="t" r="r" b="b"/>
              <a:pathLst>
                <a:path w="152400" h="203178">
                  <a:moveTo>
                    <a:pt x="57150" y="12678"/>
                  </a:moveTo>
                  <a:cubicBezTo>
                    <a:pt x="57150" y="4296"/>
                    <a:pt x="67208" y="0"/>
                    <a:pt x="73266" y="5801"/>
                  </a:cubicBezTo>
                  <a:cubicBezTo>
                    <a:pt x="91916" y="23670"/>
                    <a:pt x="102756" y="62903"/>
                    <a:pt x="89935" y="92669"/>
                  </a:cubicBezTo>
                  <a:lnTo>
                    <a:pt x="89173" y="94326"/>
                  </a:lnTo>
                  <a:lnTo>
                    <a:pt x="89287" y="94355"/>
                  </a:lnTo>
                  <a:cubicBezTo>
                    <a:pt x="95240" y="95621"/>
                    <a:pt x="100746" y="90259"/>
                    <a:pt x="111223" y="73657"/>
                  </a:cubicBezTo>
                  <a:lnTo>
                    <a:pt x="112557" y="71523"/>
                  </a:lnTo>
                  <a:cubicBezTo>
                    <a:pt x="114123" y="69002"/>
                    <a:pt x="116776" y="67355"/>
                    <a:pt x="119731" y="67069"/>
                  </a:cubicBezTo>
                  <a:cubicBezTo>
                    <a:pt x="122686" y="66783"/>
                    <a:pt x="125605" y="67891"/>
                    <a:pt x="127625" y="70066"/>
                  </a:cubicBezTo>
                  <a:cubicBezTo>
                    <a:pt x="140332" y="83734"/>
                    <a:pt x="152400" y="111757"/>
                    <a:pt x="152400" y="129788"/>
                  </a:cubicBezTo>
                  <a:cubicBezTo>
                    <a:pt x="152400" y="170412"/>
                    <a:pt x="118196" y="203178"/>
                    <a:pt x="76200" y="203178"/>
                  </a:cubicBezTo>
                  <a:cubicBezTo>
                    <a:pt x="34204" y="203178"/>
                    <a:pt x="0" y="170412"/>
                    <a:pt x="0" y="129778"/>
                  </a:cubicBezTo>
                  <a:cubicBezTo>
                    <a:pt x="0" y="108328"/>
                    <a:pt x="9735" y="84858"/>
                    <a:pt x="25070" y="69761"/>
                  </a:cubicBezTo>
                  <a:lnTo>
                    <a:pt x="30832" y="64151"/>
                  </a:lnTo>
                  <a:cubicBezTo>
                    <a:pt x="33128" y="61903"/>
                    <a:pt x="34966" y="60055"/>
                    <a:pt x="36719" y="58207"/>
                  </a:cubicBezTo>
                  <a:cubicBezTo>
                    <a:pt x="50340" y="43805"/>
                    <a:pt x="57150" y="30356"/>
                    <a:pt x="57150" y="1267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200279" y="5724544"/>
              <a:ext cx="210437" cy="200562"/>
            </a:xfrm>
            <a:custGeom>
              <a:avLst/>
              <a:gdLst/>
              <a:ahLst/>
              <a:cxnLst/>
              <a:rect l="l" t="t" r="r" b="b"/>
              <a:pathLst>
                <a:path w="210437" h="200562">
                  <a:moveTo>
                    <a:pt x="69485" y="60369"/>
                  </a:moveTo>
                  <a:lnTo>
                    <a:pt x="8716" y="69180"/>
                  </a:lnTo>
                  <a:lnTo>
                    <a:pt x="7639" y="69399"/>
                  </a:lnTo>
                  <a:cubicBezTo>
                    <a:pt x="4322" y="70279"/>
                    <a:pt x="1735" y="72877"/>
                    <a:pt x="868" y="76197"/>
                  </a:cubicBezTo>
                  <a:cubicBezTo>
                    <a:pt x="0" y="79518"/>
                    <a:pt x="986" y="83048"/>
                    <a:pt x="3448" y="85439"/>
                  </a:cubicBezTo>
                  <a:lnTo>
                    <a:pt x="47473" y="128292"/>
                  </a:lnTo>
                  <a:lnTo>
                    <a:pt x="37091" y="188823"/>
                  </a:lnTo>
                  <a:lnTo>
                    <a:pt x="36967" y="189871"/>
                  </a:lnTo>
                  <a:cubicBezTo>
                    <a:pt x="36764" y="193302"/>
                    <a:pt x="38425" y="196576"/>
                    <a:pt x="41313" y="198439"/>
                  </a:cubicBezTo>
                  <a:cubicBezTo>
                    <a:pt x="44202" y="200301"/>
                    <a:pt x="47870" y="200463"/>
                    <a:pt x="50911" y="198863"/>
                  </a:cubicBezTo>
                  <a:lnTo>
                    <a:pt x="105261" y="170288"/>
                  </a:lnTo>
                  <a:lnTo>
                    <a:pt x="159487" y="198863"/>
                  </a:lnTo>
                  <a:lnTo>
                    <a:pt x="160439" y="199301"/>
                  </a:lnTo>
                  <a:cubicBezTo>
                    <a:pt x="163640" y="200562"/>
                    <a:pt x="167273" y="199998"/>
                    <a:pt x="169941" y="197827"/>
                  </a:cubicBezTo>
                  <a:cubicBezTo>
                    <a:pt x="172610" y="195656"/>
                    <a:pt x="173901" y="192214"/>
                    <a:pt x="173317" y="188823"/>
                  </a:cubicBezTo>
                  <a:lnTo>
                    <a:pt x="162925" y="128292"/>
                  </a:lnTo>
                  <a:lnTo>
                    <a:pt x="206969" y="85429"/>
                  </a:lnTo>
                  <a:lnTo>
                    <a:pt x="207712" y="84620"/>
                  </a:lnTo>
                  <a:cubicBezTo>
                    <a:pt x="209872" y="81959"/>
                    <a:pt x="210437" y="78342"/>
                    <a:pt x="209189" y="75149"/>
                  </a:cubicBezTo>
                  <a:cubicBezTo>
                    <a:pt x="207942" y="71957"/>
                    <a:pt x="205075" y="69681"/>
                    <a:pt x="201683" y="69189"/>
                  </a:cubicBezTo>
                  <a:lnTo>
                    <a:pt x="140913" y="60369"/>
                  </a:lnTo>
                  <a:lnTo>
                    <a:pt x="113748" y="5315"/>
                  </a:lnTo>
                  <a:cubicBezTo>
                    <a:pt x="112144" y="2061"/>
                    <a:pt x="108832" y="0"/>
                    <a:pt x="105204" y="0"/>
                  </a:cubicBezTo>
                  <a:cubicBezTo>
                    <a:pt x="101576" y="0"/>
                    <a:pt x="98263" y="2061"/>
                    <a:pt x="96660" y="5315"/>
                  </a:cubicBezTo>
                  <a:lnTo>
                    <a:pt x="69485" y="60369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DE5D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334250" y="-1714500"/>
            <a:ext cx="5334000" cy="5334000"/>
          </a:xfrm>
          <a:prstGeom prst="ellipse">
            <a:avLst/>
          </a:prstGeom>
          <a:solidFill>
            <a:srgbClr val="C75B4A">
              <a:alpha val="6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3530465" y="1394460"/>
            <a:ext cx="5131070" cy="3927634"/>
            <a:chOff x="3530465" y="1394460"/>
            <a:chExt cx="5131070" cy="3927634"/>
          </a:xfrm>
        </p:grpSpPr>
        <p:sp>
          <p:nvSpPr>
            <p:cNvPr id="4" name="TextBox 4"/>
            <p:cNvSpPr txBox="1"/>
            <p:nvPr/>
          </p:nvSpPr>
          <p:spPr>
            <a:xfrm>
              <a:off x="5077835" y="1394460"/>
              <a:ext cx="2036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2026年7月 · 全球科技股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773424" y="2266950"/>
              <a:ext cx="4645152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C75B4A"/>
                  </a:solidFill>
                  <a:latin typeface="Georgia"/>
                  <a:ea typeface="Microsoft YaHei"/>
                  <a:cs typeface="Georgia"/>
                </a:rPr>
                <a:t>4700亿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82007" y="3535680"/>
              <a:ext cx="36279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美元市值，72小时内蒸发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012085" y="4032237"/>
              <a:ext cx="129911" cy="317513"/>
            </a:xfrm>
            <a:custGeom>
              <a:avLst/>
              <a:gdLst/>
              <a:ahLst/>
              <a:cxnLst/>
              <a:rect l="l" t="t" r="r" b="b"/>
              <a:pathLst>
                <a:path w="129911" h="317513">
                  <a:moveTo>
                    <a:pt x="64865" y="13"/>
                  </a:moveTo>
                  <a:cubicBezTo>
                    <a:pt x="88070" y="0"/>
                    <a:pt x="107906" y="16714"/>
                    <a:pt x="111830" y="39585"/>
                  </a:cubicBezTo>
                  <a:cubicBezTo>
                    <a:pt x="115753" y="62456"/>
                    <a:pt x="102622" y="84825"/>
                    <a:pt x="80740" y="92548"/>
                  </a:cubicBezTo>
                  <a:lnTo>
                    <a:pt x="80740" y="263284"/>
                  </a:lnTo>
                  <a:lnTo>
                    <a:pt x="101266" y="242789"/>
                  </a:lnTo>
                  <a:cubicBezTo>
                    <a:pt x="106922" y="237134"/>
                    <a:pt x="115902" y="236569"/>
                    <a:pt x="122221" y="241471"/>
                  </a:cubicBezTo>
                  <a:lnTo>
                    <a:pt x="123713" y="242789"/>
                  </a:lnTo>
                  <a:cubicBezTo>
                    <a:pt x="129911" y="248988"/>
                    <a:pt x="129911" y="259037"/>
                    <a:pt x="123713" y="265236"/>
                  </a:cubicBezTo>
                  <a:lnTo>
                    <a:pt x="76088" y="312861"/>
                  </a:lnTo>
                  <a:cubicBezTo>
                    <a:pt x="75535" y="313418"/>
                    <a:pt x="74940" y="313932"/>
                    <a:pt x="74310" y="314401"/>
                  </a:cubicBezTo>
                  <a:lnTo>
                    <a:pt x="72564" y="315528"/>
                  </a:lnTo>
                  <a:lnTo>
                    <a:pt x="70754" y="316385"/>
                  </a:lnTo>
                  <a:lnTo>
                    <a:pt x="69088" y="316941"/>
                  </a:lnTo>
                  <a:lnTo>
                    <a:pt x="66722" y="317417"/>
                  </a:lnTo>
                  <a:lnTo>
                    <a:pt x="64865" y="317513"/>
                  </a:lnTo>
                  <a:lnTo>
                    <a:pt x="63674" y="317465"/>
                  </a:lnTo>
                  <a:lnTo>
                    <a:pt x="61674" y="317195"/>
                  </a:lnTo>
                  <a:lnTo>
                    <a:pt x="59912" y="316719"/>
                  </a:lnTo>
                  <a:lnTo>
                    <a:pt x="58150" y="316020"/>
                  </a:lnTo>
                  <a:lnTo>
                    <a:pt x="56594" y="315195"/>
                  </a:lnTo>
                  <a:lnTo>
                    <a:pt x="55070" y="314131"/>
                  </a:lnTo>
                  <a:lnTo>
                    <a:pt x="53641" y="312861"/>
                  </a:lnTo>
                  <a:lnTo>
                    <a:pt x="6016" y="265236"/>
                  </a:lnTo>
                  <a:cubicBezTo>
                    <a:pt x="0" y="259007"/>
                    <a:pt x="86" y="249106"/>
                    <a:pt x="6210" y="242982"/>
                  </a:cubicBezTo>
                  <a:cubicBezTo>
                    <a:pt x="12333" y="236859"/>
                    <a:pt x="22234" y="236773"/>
                    <a:pt x="28463" y="242789"/>
                  </a:cubicBezTo>
                  <a:lnTo>
                    <a:pt x="48990" y="263315"/>
                  </a:lnTo>
                  <a:lnTo>
                    <a:pt x="48990" y="92548"/>
                  </a:lnTo>
                  <a:cubicBezTo>
                    <a:pt x="27148" y="84792"/>
                    <a:pt x="14057" y="62442"/>
                    <a:pt x="17976" y="39598"/>
                  </a:cubicBezTo>
                  <a:cubicBezTo>
                    <a:pt x="21896" y="16754"/>
                    <a:pt x="41687" y="45"/>
                    <a:pt x="64865" y="13"/>
                  </a:cubicBezTo>
                </a:path>
              </a:pathLst>
            </a:custGeom>
            <a:solidFill>
              <a:srgbClr val="C75B4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0465" y="4616768"/>
              <a:ext cx="51310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一个中国团队发布了一个模型，三天后美股AI板块集体跳水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81500" y="5048250"/>
              <a:ext cx="3429000" cy="266700"/>
            </a:xfrm>
            <a:prstGeom prst="roundRect">
              <a:avLst>
                <a:gd name="adj" fmla="val 5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42823" y="51239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据多家财经媒体统计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71900" y="2486058"/>
              <a:ext cx="228600" cy="304767"/>
            </a:xfrm>
            <a:custGeom>
              <a:avLst/>
              <a:gdLst/>
              <a:ahLst/>
              <a:cxnLst/>
              <a:rect l="l" t="t" r="r" b="b"/>
              <a:pathLst>
                <a:path w="228600" h="304767">
                  <a:moveTo>
                    <a:pt x="85725" y="19017"/>
                  </a:moveTo>
                  <a:cubicBezTo>
                    <a:pt x="85725" y="6444"/>
                    <a:pt x="100813" y="0"/>
                    <a:pt x="109899" y="8701"/>
                  </a:cubicBezTo>
                  <a:cubicBezTo>
                    <a:pt x="137874" y="35504"/>
                    <a:pt x="154134" y="94355"/>
                    <a:pt x="134903" y="139003"/>
                  </a:cubicBezTo>
                  <a:lnTo>
                    <a:pt x="133760" y="141489"/>
                  </a:lnTo>
                  <a:lnTo>
                    <a:pt x="133931" y="141532"/>
                  </a:lnTo>
                  <a:cubicBezTo>
                    <a:pt x="142861" y="143432"/>
                    <a:pt x="151119" y="135388"/>
                    <a:pt x="166835" y="110485"/>
                  </a:cubicBezTo>
                  <a:lnTo>
                    <a:pt x="168835" y="107285"/>
                  </a:lnTo>
                  <a:cubicBezTo>
                    <a:pt x="171185" y="103502"/>
                    <a:pt x="175164" y="101032"/>
                    <a:pt x="179596" y="100603"/>
                  </a:cubicBezTo>
                  <a:cubicBezTo>
                    <a:pt x="184029" y="100174"/>
                    <a:pt x="188407" y="101837"/>
                    <a:pt x="191438" y="105099"/>
                  </a:cubicBezTo>
                  <a:cubicBezTo>
                    <a:pt x="210498" y="125601"/>
                    <a:pt x="228600" y="167635"/>
                    <a:pt x="228600" y="194681"/>
                  </a:cubicBezTo>
                  <a:cubicBezTo>
                    <a:pt x="228600" y="255618"/>
                    <a:pt x="177294" y="304767"/>
                    <a:pt x="114300" y="304767"/>
                  </a:cubicBezTo>
                  <a:cubicBezTo>
                    <a:pt x="51306" y="304767"/>
                    <a:pt x="0" y="255618"/>
                    <a:pt x="0" y="194667"/>
                  </a:cubicBezTo>
                  <a:cubicBezTo>
                    <a:pt x="0" y="162492"/>
                    <a:pt x="14602" y="127287"/>
                    <a:pt x="37605" y="104642"/>
                  </a:cubicBezTo>
                  <a:lnTo>
                    <a:pt x="46249" y="96226"/>
                  </a:lnTo>
                  <a:cubicBezTo>
                    <a:pt x="49692" y="92854"/>
                    <a:pt x="52449" y="90083"/>
                    <a:pt x="55078" y="87311"/>
                  </a:cubicBezTo>
                  <a:cubicBezTo>
                    <a:pt x="75509" y="65708"/>
                    <a:pt x="85725" y="45534"/>
                    <a:pt x="85725" y="19017"/>
                  </a:cubicBezTo>
                </a:path>
              </a:pathLst>
            </a:custGeom>
            <a:solidFill>
              <a:srgbClr val="C75B4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235950" y="2674434"/>
              <a:ext cx="177800" cy="237041"/>
            </a:xfrm>
            <a:custGeom>
              <a:avLst/>
              <a:gdLst/>
              <a:ahLst/>
              <a:cxnLst/>
              <a:rect l="l" t="t" r="r" b="b"/>
              <a:pathLst>
                <a:path w="177800" h="237041">
                  <a:moveTo>
                    <a:pt x="66675" y="14791"/>
                  </a:moveTo>
                  <a:cubicBezTo>
                    <a:pt x="66675" y="5012"/>
                    <a:pt x="78410" y="0"/>
                    <a:pt x="85477" y="6768"/>
                  </a:cubicBezTo>
                  <a:cubicBezTo>
                    <a:pt x="107236" y="27615"/>
                    <a:pt x="119882" y="73387"/>
                    <a:pt x="104924" y="108114"/>
                  </a:cubicBezTo>
                  <a:lnTo>
                    <a:pt x="104035" y="110047"/>
                  </a:lnTo>
                  <a:lnTo>
                    <a:pt x="104169" y="110080"/>
                  </a:lnTo>
                  <a:cubicBezTo>
                    <a:pt x="111114" y="111558"/>
                    <a:pt x="117537" y="105302"/>
                    <a:pt x="129761" y="85933"/>
                  </a:cubicBezTo>
                  <a:lnTo>
                    <a:pt x="131316" y="83444"/>
                  </a:lnTo>
                  <a:cubicBezTo>
                    <a:pt x="133144" y="80502"/>
                    <a:pt x="136239" y="78580"/>
                    <a:pt x="139686" y="78247"/>
                  </a:cubicBezTo>
                  <a:cubicBezTo>
                    <a:pt x="143133" y="77913"/>
                    <a:pt x="146539" y="79206"/>
                    <a:pt x="148896" y="81744"/>
                  </a:cubicBezTo>
                  <a:cubicBezTo>
                    <a:pt x="163720" y="97690"/>
                    <a:pt x="177800" y="130383"/>
                    <a:pt x="177800" y="151419"/>
                  </a:cubicBezTo>
                  <a:cubicBezTo>
                    <a:pt x="177800" y="198814"/>
                    <a:pt x="137895" y="237041"/>
                    <a:pt x="88900" y="237041"/>
                  </a:cubicBezTo>
                  <a:cubicBezTo>
                    <a:pt x="39905" y="237041"/>
                    <a:pt x="0" y="198814"/>
                    <a:pt x="0" y="151408"/>
                  </a:cubicBezTo>
                  <a:cubicBezTo>
                    <a:pt x="0" y="126382"/>
                    <a:pt x="11357" y="99001"/>
                    <a:pt x="29248" y="81388"/>
                  </a:cubicBezTo>
                  <a:lnTo>
                    <a:pt x="35971" y="74843"/>
                  </a:lnTo>
                  <a:cubicBezTo>
                    <a:pt x="38649" y="72220"/>
                    <a:pt x="40794" y="70064"/>
                    <a:pt x="42839" y="67908"/>
                  </a:cubicBezTo>
                  <a:cubicBezTo>
                    <a:pt x="58730" y="51106"/>
                    <a:pt x="66675" y="35416"/>
                    <a:pt x="66675" y="14791"/>
                  </a:cubicBezTo>
                </a:path>
              </a:pathLst>
            </a:custGeom>
            <a:solidFill>
              <a:srgbClr val="C75B4A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537210" y="327660"/>
            <a:ext cx="11273790" cy="5768340"/>
            <a:chOff x="537210" y="327660"/>
            <a:chExt cx="11273790" cy="5768340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27660"/>
              <a:ext cx="46231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"Kimi时刻"与白宫的反应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71500" y="1143000"/>
              <a:ext cx="2857500" cy="4953000"/>
              <a:chOff x="571500" y="1143000"/>
              <a:chExt cx="28575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2857500" cy="4953000"/>
              </a:xfrm>
              <a:prstGeom prst="roundRect">
                <a:avLst>
                  <a:gd name="adj" fmla="val 5333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1047750" y="1524000"/>
                <a:ext cx="1905000" cy="476250"/>
              </a:xfrm>
              <a:prstGeom prst="roundRect">
                <a:avLst>
                  <a:gd name="adj" fmla="val 50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49141" y="1650682"/>
                <a:ext cx="9022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7月16日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01395" y="2235518"/>
                <a:ext cx="21977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WAIC 世界人工智能大会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38510" y="2526506"/>
                <a:ext cx="21234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上海 · 月之暗面发布 Kimi K3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45899" y="3044190"/>
                <a:ext cx="150870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E8A87C"/>
                    </a:solidFill>
                    <a:latin typeface="Georgia"/>
                    <a:ea typeface="Microsoft YaHei"/>
                    <a:cs typeface="Georgia"/>
                  </a:rPr>
                  <a:t>"Kimi 时刻"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73505" y="3506152"/>
                <a:ext cx="12534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一个中国开源模型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96829" y="37157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引发全球科技股地震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859903" y="4207346"/>
                <a:ext cx="296890" cy="403291"/>
                <a:chOff x="1859903" y="4207346"/>
                <a:chExt cx="296890" cy="403291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885950" y="4267197"/>
                  <a:ext cx="191251" cy="191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51" h="191971">
                      <a:moveTo>
                        <a:pt x="95250" y="3"/>
                      </a:moveTo>
                      <a:cubicBezTo>
                        <a:pt x="147318" y="0"/>
                        <a:pt x="189740" y="41808"/>
                        <a:pt x="190495" y="93871"/>
                      </a:cubicBezTo>
                      <a:cubicBezTo>
                        <a:pt x="191251" y="145934"/>
                        <a:pt x="150060" y="188955"/>
                        <a:pt x="98014" y="190463"/>
                      </a:cubicBezTo>
                      <a:cubicBezTo>
                        <a:pt x="45967" y="191971"/>
                        <a:pt x="2355" y="151406"/>
                        <a:pt x="95" y="99387"/>
                      </a:cubicBezTo>
                      <a:lnTo>
                        <a:pt x="0" y="95253"/>
                      </a:lnTo>
                      <a:lnTo>
                        <a:pt x="95" y="91119"/>
                      </a:lnTo>
                      <a:cubicBezTo>
                        <a:pt x="2308" y="40172"/>
                        <a:pt x="44255" y="6"/>
                        <a:pt x="95250" y="3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859903" y="4207346"/>
                  <a:ext cx="296890" cy="33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890" h="337775">
                      <a:moveTo>
                        <a:pt x="180981" y="12267"/>
                      </a:moveTo>
                      <a:cubicBezTo>
                        <a:pt x="186221" y="3147"/>
                        <a:pt x="197862" y="0"/>
                        <a:pt x="206984" y="5238"/>
                      </a:cubicBezTo>
                      <a:cubicBezTo>
                        <a:pt x="263626" y="37793"/>
                        <a:pt x="296890" y="99667"/>
                        <a:pt x="292806" y="164870"/>
                      </a:cubicBezTo>
                      <a:cubicBezTo>
                        <a:pt x="288721" y="230073"/>
                        <a:pt x="247994" y="287312"/>
                        <a:pt x="187732" y="312543"/>
                      </a:cubicBezTo>
                      <a:cubicBezTo>
                        <a:pt x="127470" y="337775"/>
                        <a:pt x="58110" y="326629"/>
                        <a:pt x="8788" y="283787"/>
                      </a:cubicBezTo>
                      <a:cubicBezTo>
                        <a:pt x="844" y="276885"/>
                        <a:pt x="0" y="264851"/>
                        <a:pt x="6902" y="256907"/>
                      </a:cubicBezTo>
                      <a:cubicBezTo>
                        <a:pt x="13804" y="248964"/>
                        <a:pt x="25838" y="248120"/>
                        <a:pt x="33781" y="255021"/>
                      </a:cubicBezTo>
                      <a:cubicBezTo>
                        <a:pt x="72162" y="288358"/>
                        <a:pt x="126132" y="297031"/>
                        <a:pt x="173025" y="277397"/>
                      </a:cubicBezTo>
                      <a:cubicBezTo>
                        <a:pt x="219917" y="257764"/>
                        <a:pt x="251608" y="213225"/>
                        <a:pt x="254788" y="162488"/>
                      </a:cubicBezTo>
                      <a:cubicBezTo>
                        <a:pt x="257968" y="111751"/>
                        <a:pt x="232084" y="63604"/>
                        <a:pt x="188010" y="38270"/>
                      </a:cubicBezTo>
                      <a:cubicBezTo>
                        <a:pt x="178890" y="33030"/>
                        <a:pt x="175743" y="21389"/>
                        <a:pt x="180981" y="12267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962150" y="4495800"/>
                  <a:ext cx="38100" cy="114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14837">
                      <a:moveTo>
                        <a:pt x="19050" y="0"/>
                      </a:moveTo>
                      <a:cubicBezTo>
                        <a:pt x="28708" y="1"/>
                        <a:pt x="36837" y="7230"/>
                        <a:pt x="37967" y="16821"/>
                      </a:cubicBezTo>
                      <a:lnTo>
                        <a:pt x="38100" y="19050"/>
                      </a:lnTo>
                      <a:lnTo>
                        <a:pt x="38100" y="95250"/>
                      </a:lnTo>
                      <a:cubicBezTo>
                        <a:pt x="38089" y="105329"/>
                        <a:pt x="30228" y="113655"/>
                        <a:pt x="20166" y="114246"/>
                      </a:cubicBezTo>
                      <a:cubicBezTo>
                        <a:pt x="10105" y="114837"/>
                        <a:pt x="1324" y="107488"/>
                        <a:pt x="133" y="97479"/>
                      </a:cubicBezTo>
                      <a:lnTo>
                        <a:pt x="0" y="95250"/>
                      </a:ln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885413" y="4572000"/>
                  <a:ext cx="191574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74" h="38100">
                      <a:moveTo>
                        <a:pt x="171987" y="0"/>
                      </a:moveTo>
                      <a:cubicBezTo>
                        <a:pt x="182066" y="11"/>
                        <a:pt x="190392" y="7872"/>
                        <a:pt x="190983" y="17934"/>
                      </a:cubicBezTo>
                      <a:cubicBezTo>
                        <a:pt x="191574" y="27995"/>
                        <a:pt x="184224" y="36776"/>
                        <a:pt x="174216" y="37967"/>
                      </a:cubicBezTo>
                      <a:lnTo>
                        <a:pt x="171987" y="38100"/>
                      </a:lnTo>
                      <a:lnTo>
                        <a:pt x="19587" y="38100"/>
                      </a:lnTo>
                      <a:cubicBezTo>
                        <a:pt x="9508" y="38089"/>
                        <a:pt x="1181" y="30228"/>
                        <a:pt x="591" y="20166"/>
                      </a:cubicBezTo>
                      <a:cubicBezTo>
                        <a:pt x="0" y="10105"/>
                        <a:pt x="7349" y="1324"/>
                        <a:pt x="17358" y="133"/>
                      </a:cubicBezTo>
                      <a:lnTo>
                        <a:pt x="19587" y="0"/>
                      </a:lnTo>
                      <a:lnTo>
                        <a:pt x="171987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18" name="Rectangle 18"/>
              <p:cNvSpPr/>
              <p:nvPr/>
            </p:nvSpPr>
            <p:spPr>
              <a:xfrm>
                <a:off x="1238250" y="4857750"/>
                <a:ext cx="15240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6B8E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7654" y="4962049"/>
                <a:ext cx="14451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HF趋势榜 30分钟登顶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810000" y="1143000"/>
              <a:ext cx="8001000" cy="4914900"/>
              <a:chOff x="3810000" y="1143000"/>
              <a:chExt cx="8001000" cy="49149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810000" y="1143000"/>
                <a:ext cx="8001000" cy="1333500"/>
              </a:xfrm>
              <a:prstGeom prst="roundRect">
                <a:avLst>
                  <a:gd name="adj" fmla="val 857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810000" y="1143000"/>
                <a:ext cx="47625" cy="1333500"/>
              </a:xfrm>
              <a:prstGeom prst="roundRect">
                <a:avLst>
                  <a:gd name="adj" fmla="val 40000"/>
                </a:avLst>
              </a:prstGeom>
              <a:solidFill>
                <a:srgbClr val="C75B4A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022606" y="1457325"/>
                <a:ext cx="298675" cy="285903"/>
              </a:xfrm>
              <a:custGeom>
                <a:avLst/>
                <a:gdLst/>
                <a:ahLst/>
                <a:cxnLst/>
                <a:rect l="l" t="t" r="r" b="b"/>
                <a:pathLst>
                  <a:path w="298675" h="285903">
                    <a:moveTo>
                      <a:pt x="147687" y="100"/>
                    </a:moveTo>
                    <a:lnTo>
                      <a:pt x="149316" y="0"/>
                    </a:lnTo>
                    <a:lnTo>
                      <a:pt x="151002" y="100"/>
                    </a:lnTo>
                    <a:lnTo>
                      <a:pt x="151845" y="214"/>
                    </a:lnTo>
                    <a:lnTo>
                      <a:pt x="152716" y="400"/>
                    </a:lnTo>
                    <a:lnTo>
                      <a:pt x="154302" y="886"/>
                    </a:lnTo>
                    <a:cubicBezTo>
                      <a:pt x="155397" y="1290"/>
                      <a:pt x="156439" y="1827"/>
                      <a:pt x="157402" y="2486"/>
                    </a:cubicBezTo>
                    <a:lnTo>
                      <a:pt x="158888" y="3658"/>
                    </a:lnTo>
                    <a:lnTo>
                      <a:pt x="162532" y="6772"/>
                    </a:lnTo>
                    <a:cubicBezTo>
                      <a:pt x="191354" y="30712"/>
                      <a:pt x="227781" y="43567"/>
                      <a:pt x="265245" y="43020"/>
                    </a:cubicBezTo>
                    <a:lnTo>
                      <a:pt x="270131" y="42877"/>
                    </a:lnTo>
                    <a:cubicBezTo>
                      <a:pt x="276705" y="42577"/>
                      <a:pt x="282634" y="46807"/>
                      <a:pt x="284490" y="53121"/>
                    </a:cubicBezTo>
                    <a:cubicBezTo>
                      <a:pt x="298675" y="101374"/>
                      <a:pt x="292685" y="153316"/>
                      <a:pt x="267890" y="197074"/>
                    </a:cubicBezTo>
                    <a:cubicBezTo>
                      <a:pt x="243095" y="240832"/>
                      <a:pt x="201614" y="272664"/>
                      <a:pt x="152930" y="285293"/>
                    </a:cubicBezTo>
                    <a:cubicBezTo>
                      <a:pt x="150579" y="285903"/>
                      <a:pt x="148110" y="285903"/>
                      <a:pt x="145758" y="285293"/>
                    </a:cubicBezTo>
                    <a:cubicBezTo>
                      <a:pt x="97072" y="272667"/>
                      <a:pt x="55588" y="240837"/>
                      <a:pt x="30790" y="197078"/>
                    </a:cubicBezTo>
                    <a:cubicBezTo>
                      <a:pt x="5992" y="153320"/>
                      <a:pt x="0" y="101376"/>
                      <a:pt x="14185" y="53121"/>
                    </a:cubicBezTo>
                    <a:cubicBezTo>
                      <a:pt x="16040" y="46807"/>
                      <a:pt x="21969" y="42577"/>
                      <a:pt x="28543" y="42877"/>
                    </a:cubicBezTo>
                    <a:cubicBezTo>
                      <a:pt x="67655" y="44665"/>
                      <a:pt x="106026" y="31790"/>
                      <a:pt x="136143" y="6772"/>
                    </a:cubicBezTo>
                    <a:lnTo>
                      <a:pt x="139900" y="3558"/>
                    </a:lnTo>
                    <a:lnTo>
                      <a:pt x="141272" y="2486"/>
                    </a:lnTo>
                    <a:cubicBezTo>
                      <a:pt x="142236" y="1827"/>
                      <a:pt x="143277" y="1290"/>
                      <a:pt x="144372" y="886"/>
                    </a:cubicBezTo>
                    <a:lnTo>
                      <a:pt x="145972" y="400"/>
                    </a:lnTo>
                    <a:cubicBezTo>
                      <a:pt x="146532" y="265"/>
                      <a:pt x="147100" y="165"/>
                      <a:pt x="147673" y="100"/>
                    </a:cubicBezTo>
                    <a:close/>
                  </a:path>
                </a:pathLst>
              </a:custGeom>
              <a:solidFill>
                <a:srgbClr val="C75B4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59605" y="1340168"/>
                <a:ext cx="29947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白宫科技政策办主任 克拉齐奥斯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62462" y="1612106"/>
                <a:ext cx="39554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"月之暗面通过蒸馏 Anthropic 的 Fable 模型来造 K3"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64368" y="1894999"/>
                <a:ext cx="25594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发布不到一周即指控 · 7月22日公开声明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810000" y="2667000"/>
                <a:ext cx="8001000" cy="1333500"/>
              </a:xfrm>
              <a:prstGeom prst="roundRect">
                <a:avLst>
                  <a:gd name="adj" fmla="val 857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3810000" y="2667000"/>
                <a:ext cx="47625" cy="1333500"/>
              </a:xfrm>
              <a:prstGeom prst="roundRect">
                <a:avLst>
                  <a:gd name="adj" fmla="val 4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57647" y="2981325"/>
                <a:ext cx="228606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8606" h="285750">
                    <a:moveTo>
                      <a:pt x="199985" y="31004"/>
                    </a:moveTo>
                    <a:cubicBezTo>
                      <a:pt x="217136" y="37047"/>
                      <a:pt x="228606" y="53254"/>
                      <a:pt x="228603" y="71438"/>
                    </a:cubicBezTo>
                    <a:lnTo>
                      <a:pt x="228603" y="242888"/>
                    </a:lnTo>
                    <a:cubicBezTo>
                      <a:pt x="228603" y="266560"/>
                      <a:pt x="209413" y="285750"/>
                      <a:pt x="185741" y="285750"/>
                    </a:cubicBezTo>
                    <a:lnTo>
                      <a:pt x="42866" y="285750"/>
                    </a:lnTo>
                    <a:cubicBezTo>
                      <a:pt x="19193" y="285750"/>
                      <a:pt x="3" y="266560"/>
                      <a:pt x="3" y="242888"/>
                    </a:cubicBezTo>
                    <a:lnTo>
                      <a:pt x="3" y="71438"/>
                    </a:lnTo>
                    <a:cubicBezTo>
                      <a:pt x="0" y="53254"/>
                      <a:pt x="11471" y="37047"/>
                      <a:pt x="28621" y="31004"/>
                    </a:cubicBezTo>
                    <a:cubicBezTo>
                      <a:pt x="29922" y="61598"/>
                      <a:pt x="55106" y="85730"/>
                      <a:pt x="85728" y="85725"/>
                    </a:cubicBezTo>
                    <a:lnTo>
                      <a:pt x="142878" y="85725"/>
                    </a:lnTo>
                    <a:cubicBezTo>
                      <a:pt x="172214" y="85728"/>
                      <a:pt x="196787" y="63519"/>
                      <a:pt x="199742" y="34333"/>
                    </a:cubicBezTo>
                    <a:close/>
                    <a:moveTo>
                      <a:pt x="114303" y="114300"/>
                    </a:moveTo>
                    <a:cubicBezTo>
                      <a:pt x="106412" y="114300"/>
                      <a:pt x="100016" y="120697"/>
                      <a:pt x="100016" y="128588"/>
                    </a:cubicBezTo>
                    <a:lnTo>
                      <a:pt x="100016" y="129302"/>
                    </a:lnTo>
                    <a:cubicBezTo>
                      <a:pt x="82032" y="132954"/>
                      <a:pt x="69741" y="149638"/>
                      <a:pt x="71586" y="167896"/>
                    </a:cubicBezTo>
                    <a:cubicBezTo>
                      <a:pt x="73430" y="186154"/>
                      <a:pt x="88809" y="200043"/>
                      <a:pt x="107159" y="200025"/>
                    </a:cubicBezTo>
                    <a:lnTo>
                      <a:pt x="121447" y="200025"/>
                    </a:lnTo>
                    <a:cubicBezTo>
                      <a:pt x="125392" y="200025"/>
                      <a:pt x="128591" y="203223"/>
                      <a:pt x="128591" y="207169"/>
                    </a:cubicBezTo>
                    <a:cubicBezTo>
                      <a:pt x="128591" y="211114"/>
                      <a:pt x="125392" y="214312"/>
                      <a:pt x="121447" y="214312"/>
                    </a:cubicBezTo>
                    <a:lnTo>
                      <a:pt x="85728" y="214312"/>
                    </a:lnTo>
                    <a:cubicBezTo>
                      <a:pt x="77837" y="214312"/>
                      <a:pt x="71441" y="220709"/>
                      <a:pt x="71441" y="228600"/>
                    </a:cubicBezTo>
                    <a:cubicBezTo>
                      <a:pt x="71441" y="236491"/>
                      <a:pt x="77837" y="242888"/>
                      <a:pt x="85728" y="242888"/>
                    </a:cubicBezTo>
                    <a:lnTo>
                      <a:pt x="100016" y="242888"/>
                    </a:lnTo>
                    <a:cubicBezTo>
                      <a:pt x="100016" y="250778"/>
                      <a:pt x="106412" y="257175"/>
                      <a:pt x="114303" y="257175"/>
                    </a:cubicBezTo>
                    <a:cubicBezTo>
                      <a:pt x="122194" y="257175"/>
                      <a:pt x="128591" y="250778"/>
                      <a:pt x="128591" y="242888"/>
                    </a:cubicBezTo>
                    <a:lnTo>
                      <a:pt x="128591" y="242173"/>
                    </a:lnTo>
                    <a:cubicBezTo>
                      <a:pt x="146574" y="238521"/>
                      <a:pt x="158865" y="221837"/>
                      <a:pt x="157021" y="203579"/>
                    </a:cubicBezTo>
                    <a:cubicBezTo>
                      <a:pt x="155176" y="185321"/>
                      <a:pt x="139797" y="171432"/>
                      <a:pt x="121447" y="171450"/>
                    </a:cubicBezTo>
                    <a:lnTo>
                      <a:pt x="107159" y="171450"/>
                    </a:lnTo>
                    <a:cubicBezTo>
                      <a:pt x="103214" y="171450"/>
                      <a:pt x="100016" y="168252"/>
                      <a:pt x="100016" y="164306"/>
                    </a:cubicBezTo>
                    <a:cubicBezTo>
                      <a:pt x="100016" y="160361"/>
                      <a:pt x="103214" y="157162"/>
                      <a:pt x="107159" y="157162"/>
                    </a:cubicBezTo>
                    <a:lnTo>
                      <a:pt x="142878" y="157162"/>
                    </a:lnTo>
                    <a:cubicBezTo>
                      <a:pt x="150769" y="157162"/>
                      <a:pt x="157166" y="150766"/>
                      <a:pt x="157166" y="142875"/>
                    </a:cubicBezTo>
                    <a:cubicBezTo>
                      <a:pt x="157166" y="134984"/>
                      <a:pt x="150769" y="128588"/>
                      <a:pt x="142878" y="128588"/>
                    </a:cubicBezTo>
                    <a:lnTo>
                      <a:pt x="128591" y="128588"/>
                    </a:lnTo>
                    <a:cubicBezTo>
                      <a:pt x="128591" y="120697"/>
                      <a:pt x="122194" y="114300"/>
                      <a:pt x="114303" y="114300"/>
                    </a:cubicBezTo>
                    <a:moveTo>
                      <a:pt x="142878" y="0"/>
                    </a:moveTo>
                    <a:cubicBezTo>
                      <a:pt x="158660" y="0"/>
                      <a:pt x="171453" y="12793"/>
                      <a:pt x="171453" y="28575"/>
                    </a:cubicBezTo>
                    <a:cubicBezTo>
                      <a:pt x="171453" y="44357"/>
                      <a:pt x="158660" y="57150"/>
                      <a:pt x="142878" y="57150"/>
                    </a:cubicBezTo>
                    <a:lnTo>
                      <a:pt x="85728" y="57150"/>
                    </a:lnTo>
                    <a:cubicBezTo>
                      <a:pt x="69947" y="57150"/>
                      <a:pt x="57153" y="44357"/>
                      <a:pt x="57153" y="28575"/>
                    </a:cubicBezTo>
                    <a:cubicBezTo>
                      <a:pt x="57153" y="12793"/>
                      <a:pt x="69947" y="0"/>
                      <a:pt x="8572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459605" y="286416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财长贝森特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62462" y="3136106"/>
                <a:ext cx="41526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"如果查实是知识产权窃取，制裁和实体清单都在桌面上"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64368" y="3418999"/>
                <a:ext cx="23245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威胁制裁 · 美国商务部确认正在调查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810000" y="4191000"/>
                <a:ext cx="8001000" cy="1333500"/>
              </a:xfrm>
              <a:prstGeom prst="roundRect">
                <a:avLst>
                  <a:gd name="adj" fmla="val 857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3810000" y="4191000"/>
                <a:ext cx="47625" cy="1333500"/>
              </a:xfrm>
              <a:prstGeom prst="roundRect">
                <a:avLst>
                  <a:gd name="adj" fmla="val 40000"/>
                </a:avLst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029075" y="4498925"/>
                <a:ext cx="300466" cy="300958"/>
              </a:xfrm>
              <a:custGeom>
                <a:avLst/>
                <a:gdLst/>
                <a:ahLst/>
                <a:cxnLst/>
                <a:rect l="l" t="t" r="r" b="b"/>
                <a:pathLst>
                  <a:path w="300466" h="300958">
                    <a:moveTo>
                      <a:pt x="214312" y="25545"/>
                    </a:moveTo>
                    <a:cubicBezTo>
                      <a:pt x="273854" y="59924"/>
                      <a:pt x="300466" y="131835"/>
                      <a:pt x="277649" y="196693"/>
                    </a:cubicBezTo>
                    <a:cubicBezTo>
                      <a:pt x="254832" y="261550"/>
                      <a:pt x="189056" y="300958"/>
                      <a:pt x="121104" y="290484"/>
                    </a:cubicBezTo>
                    <a:cubicBezTo>
                      <a:pt x="53153" y="280009"/>
                      <a:pt x="2298" y="222622"/>
                      <a:pt x="71" y="153904"/>
                    </a:cubicBezTo>
                    <a:lnTo>
                      <a:pt x="0" y="149275"/>
                    </a:lnTo>
                    <a:lnTo>
                      <a:pt x="71" y="144646"/>
                    </a:lnTo>
                    <a:cubicBezTo>
                      <a:pt x="1699" y="94454"/>
                      <a:pt x="29558" y="48801"/>
                      <a:pt x="73450" y="24400"/>
                    </a:cubicBezTo>
                    <a:cubicBezTo>
                      <a:pt x="117343" y="0"/>
                      <a:pt x="170823" y="435"/>
                      <a:pt x="214312" y="25545"/>
                    </a:cubicBezTo>
                    <a:close/>
                    <a:moveTo>
                      <a:pt x="195839" y="110599"/>
                    </a:moveTo>
                    <a:cubicBezTo>
                      <a:pt x="190749" y="105509"/>
                      <a:pt x="182667" y="105001"/>
                      <a:pt x="176979" y="109413"/>
                    </a:cubicBezTo>
                    <a:lnTo>
                      <a:pt x="175636" y="110599"/>
                    </a:lnTo>
                    <a:lnTo>
                      <a:pt x="128588" y="157633"/>
                    </a:lnTo>
                    <a:lnTo>
                      <a:pt x="110114" y="139174"/>
                    </a:lnTo>
                    <a:lnTo>
                      <a:pt x="108771" y="137988"/>
                    </a:lnTo>
                    <a:cubicBezTo>
                      <a:pt x="103083" y="133579"/>
                      <a:pt x="95004" y="134089"/>
                      <a:pt x="89915" y="139177"/>
                    </a:cubicBezTo>
                    <a:cubicBezTo>
                      <a:pt x="84826" y="144266"/>
                      <a:pt x="84317" y="152345"/>
                      <a:pt x="88725" y="158033"/>
                    </a:cubicBezTo>
                    <a:lnTo>
                      <a:pt x="89911" y="159376"/>
                    </a:lnTo>
                    <a:lnTo>
                      <a:pt x="118486" y="187951"/>
                    </a:lnTo>
                    <a:lnTo>
                      <a:pt x="119829" y="189137"/>
                    </a:lnTo>
                    <a:cubicBezTo>
                      <a:pt x="124983" y="193136"/>
                      <a:pt x="132192" y="193136"/>
                      <a:pt x="137346" y="189137"/>
                    </a:cubicBezTo>
                    <a:lnTo>
                      <a:pt x="138689" y="187951"/>
                    </a:lnTo>
                    <a:lnTo>
                      <a:pt x="195839" y="130801"/>
                    </a:lnTo>
                    <a:lnTo>
                      <a:pt x="197025" y="129458"/>
                    </a:lnTo>
                    <a:cubicBezTo>
                      <a:pt x="201437" y="123771"/>
                      <a:pt x="200928" y="115689"/>
                      <a:pt x="195839" y="110599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459605" y="4388168"/>
                <a:ext cx="233227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专家反驳：蒸馏做不出K3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62462" y="4660106"/>
                <a:ext cx="55739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K3是开放权重的，技术报告全公开，蒸出来的是别人的架构，不是自己的KDA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64368" y="4942999"/>
                <a:ext cx="29510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AI专家内森·兰伯特撰文 · 独立研究者补充论据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3810000" y="5715000"/>
                <a:ext cx="80010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8B6F47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448311" y="5830252"/>
                <a:ext cx="32953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马斯克评语："Impressive（令人印象深刻）"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90500" y="190500"/>
            <a:ext cx="3429000" cy="3429000"/>
          </a:xfrm>
          <a:prstGeom prst="ellipse">
            <a:avLst/>
          </a:prstGeom>
          <a:solidFill>
            <a:srgbClr val="E8A87C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763000" y="3429000"/>
            <a:ext cx="3048000" cy="3048000"/>
          </a:xfrm>
          <a:prstGeom prst="ellipse">
            <a:avLst/>
          </a:prstGeom>
          <a:solidFill>
            <a:srgbClr val="8B6F47">
              <a:alpha val="4000"/>
            </a:srgbClr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537210" y="327660"/>
            <a:ext cx="11083290" cy="5577840"/>
            <a:chOff x="537210" y="327660"/>
            <a:chExt cx="11083290" cy="5577840"/>
          </a:xfrm>
        </p:grpSpPr>
        <p:sp>
          <p:nvSpPr>
            <p:cNvPr id="5" name="TextBox 5"/>
            <p:cNvSpPr txBox="1"/>
            <p:nvPr/>
          </p:nvSpPr>
          <p:spPr>
            <a:xfrm>
              <a:off x="537210" y="327660"/>
              <a:ext cx="25528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融资与创始人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B6F47"/>
                </a:gs>
                <a:gs pos="100000">
                  <a:srgbClr val="E8A87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28600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20747" y="1555750"/>
              <a:ext cx="254007" cy="317500"/>
            </a:xfrm>
            <a:custGeom>
              <a:avLst/>
              <a:gdLst/>
              <a:ahLst/>
              <a:cxnLst/>
              <a:rect l="l" t="t" r="r" b="b"/>
              <a:pathLst>
                <a:path w="254007" h="317500">
                  <a:moveTo>
                    <a:pt x="222206" y="34449"/>
                  </a:moveTo>
                  <a:cubicBezTo>
                    <a:pt x="241262" y="41163"/>
                    <a:pt x="254007" y="59171"/>
                    <a:pt x="254003" y="79375"/>
                  </a:cubicBezTo>
                  <a:lnTo>
                    <a:pt x="254003" y="269875"/>
                  </a:lnTo>
                  <a:cubicBezTo>
                    <a:pt x="254003" y="296178"/>
                    <a:pt x="232681" y="317500"/>
                    <a:pt x="206378" y="317500"/>
                  </a:cubicBezTo>
                  <a:lnTo>
                    <a:pt x="47628" y="317500"/>
                  </a:lnTo>
                  <a:cubicBezTo>
                    <a:pt x="21326" y="317500"/>
                    <a:pt x="3" y="296178"/>
                    <a:pt x="3" y="269875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3" y="95250"/>
                  </a:cubicBezTo>
                  <a:lnTo>
                    <a:pt x="158753" y="95250"/>
                  </a:lnTo>
                  <a:cubicBezTo>
                    <a:pt x="191348" y="95253"/>
                    <a:pt x="218652" y="70577"/>
                    <a:pt x="221936" y="38148"/>
                  </a:cubicBezTo>
                  <a:close/>
                  <a:moveTo>
                    <a:pt x="127003" y="127000"/>
                  </a:moveTo>
                  <a:cubicBezTo>
                    <a:pt x="118236" y="127000"/>
                    <a:pt x="111128" y="134107"/>
                    <a:pt x="111128" y="142875"/>
                  </a:cubicBezTo>
                  <a:lnTo>
                    <a:pt x="111128" y="143669"/>
                  </a:lnTo>
                  <a:cubicBezTo>
                    <a:pt x="91147" y="147726"/>
                    <a:pt x="77490" y="166265"/>
                    <a:pt x="79540" y="186551"/>
                  </a:cubicBezTo>
                  <a:cubicBezTo>
                    <a:pt x="81589" y="206837"/>
                    <a:pt x="98676" y="222270"/>
                    <a:pt x="119066" y="222250"/>
                  </a:cubicBezTo>
                  <a:lnTo>
                    <a:pt x="134941" y="222250"/>
                  </a:lnTo>
                  <a:cubicBezTo>
                    <a:pt x="139325" y="222250"/>
                    <a:pt x="142878" y="225804"/>
                    <a:pt x="142878" y="230187"/>
                  </a:cubicBezTo>
                  <a:cubicBezTo>
                    <a:pt x="142878" y="234571"/>
                    <a:pt x="139325" y="238125"/>
                    <a:pt x="134941" y="238125"/>
                  </a:cubicBezTo>
                  <a:lnTo>
                    <a:pt x="95253" y="238125"/>
                  </a:lnTo>
                  <a:cubicBezTo>
                    <a:pt x="86486" y="238125"/>
                    <a:pt x="79378" y="245232"/>
                    <a:pt x="79378" y="254000"/>
                  </a:cubicBezTo>
                  <a:cubicBezTo>
                    <a:pt x="79378" y="262768"/>
                    <a:pt x="86486" y="269875"/>
                    <a:pt x="95253" y="269875"/>
                  </a:cubicBezTo>
                  <a:lnTo>
                    <a:pt x="111128" y="269875"/>
                  </a:lnTo>
                  <a:cubicBezTo>
                    <a:pt x="111128" y="278643"/>
                    <a:pt x="118236" y="285750"/>
                    <a:pt x="127003" y="285750"/>
                  </a:cubicBezTo>
                  <a:cubicBezTo>
                    <a:pt x="135771" y="285750"/>
                    <a:pt x="142878" y="278643"/>
                    <a:pt x="142878" y="269875"/>
                  </a:cubicBezTo>
                  <a:lnTo>
                    <a:pt x="142878" y="269081"/>
                  </a:lnTo>
                  <a:cubicBezTo>
                    <a:pt x="162860" y="265024"/>
                    <a:pt x="176517" y="246485"/>
                    <a:pt x="174467" y="226199"/>
                  </a:cubicBezTo>
                  <a:cubicBezTo>
                    <a:pt x="172418" y="205913"/>
                    <a:pt x="155331" y="190480"/>
                    <a:pt x="134941" y="190500"/>
                  </a:cubicBezTo>
                  <a:lnTo>
                    <a:pt x="119066" y="190500"/>
                  </a:lnTo>
                  <a:cubicBezTo>
                    <a:pt x="114682" y="190500"/>
                    <a:pt x="111128" y="186946"/>
                    <a:pt x="111128" y="182562"/>
                  </a:cubicBezTo>
                  <a:cubicBezTo>
                    <a:pt x="111128" y="178179"/>
                    <a:pt x="114682" y="174625"/>
                    <a:pt x="119066" y="174625"/>
                  </a:cubicBezTo>
                  <a:lnTo>
                    <a:pt x="158753" y="174625"/>
                  </a:lnTo>
                  <a:cubicBezTo>
                    <a:pt x="167521" y="174625"/>
                    <a:pt x="174628" y="167518"/>
                    <a:pt x="174628" y="158750"/>
                  </a:cubicBezTo>
                  <a:cubicBezTo>
                    <a:pt x="174628" y="149982"/>
                    <a:pt x="167521" y="142875"/>
                    <a:pt x="158753" y="142875"/>
                  </a:cubicBezTo>
                  <a:lnTo>
                    <a:pt x="142878" y="142875"/>
                  </a:lnTo>
                  <a:cubicBezTo>
                    <a:pt x="142878" y="134107"/>
                    <a:pt x="135771" y="127000"/>
                    <a:pt x="127003" y="127000"/>
                  </a:cubicBezTo>
                  <a:moveTo>
                    <a:pt x="158753" y="0"/>
                  </a:moveTo>
                  <a:cubicBezTo>
                    <a:pt x="176289" y="0"/>
                    <a:pt x="190503" y="14215"/>
                    <a:pt x="190503" y="31750"/>
                  </a:cubicBezTo>
                  <a:cubicBezTo>
                    <a:pt x="190503" y="49285"/>
                    <a:pt x="176289" y="63500"/>
                    <a:pt x="158753" y="63500"/>
                  </a:cubicBezTo>
                  <a:lnTo>
                    <a:pt x="95253" y="63500"/>
                  </a:lnTo>
                  <a:cubicBezTo>
                    <a:pt x="77718" y="63500"/>
                    <a:pt x="63503" y="49285"/>
                    <a:pt x="63503" y="31750"/>
                  </a:cubicBezTo>
                  <a:cubicBezTo>
                    <a:pt x="63503" y="14215"/>
                    <a:pt x="77718" y="0"/>
                    <a:pt x="95253" y="0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2075" y="1533525"/>
              <a:ext cx="13147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F轮超额融资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9215" y="1644015"/>
              <a:ext cx="215867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8A87C"/>
                  </a:solidFill>
                  <a:latin typeface="Georgia"/>
                  <a:ea typeface="Microsoft YaHei"/>
                  <a:cs typeface="Georgia"/>
                </a:rPr>
                <a:t>35亿美元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5885" y="2232660"/>
              <a:ext cx="34042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原定目标 10-20 亿，超募近 3 倍，提前关闭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5885" y="251841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投后估值飙至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76575" y="248602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350 亿美元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81125" y="2838450"/>
              <a:ext cx="1905000" cy="266700"/>
            </a:xfrm>
            <a:prstGeom prst="roundRect">
              <a:avLst>
                <a:gd name="adj" fmla="val 21429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40932" y="2914174"/>
              <a:ext cx="1385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K3发布不到两周完成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1238250"/>
              <a:ext cx="5334000" cy="228600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697704" y="1555750"/>
              <a:ext cx="129676" cy="317524"/>
            </a:xfrm>
            <a:custGeom>
              <a:avLst/>
              <a:gdLst/>
              <a:ahLst/>
              <a:cxnLst/>
              <a:rect l="l" t="t" r="r" b="b"/>
              <a:pathLst>
                <a:path w="129676" h="317524">
                  <a:moveTo>
                    <a:pt x="62696" y="175"/>
                  </a:moveTo>
                  <a:lnTo>
                    <a:pt x="63617" y="63"/>
                  </a:lnTo>
                  <a:lnTo>
                    <a:pt x="65046" y="0"/>
                  </a:lnTo>
                  <a:lnTo>
                    <a:pt x="66237" y="48"/>
                  </a:lnTo>
                  <a:lnTo>
                    <a:pt x="68237" y="317"/>
                  </a:lnTo>
                  <a:lnTo>
                    <a:pt x="69999" y="794"/>
                  </a:lnTo>
                  <a:lnTo>
                    <a:pt x="71761" y="1492"/>
                  </a:lnTo>
                  <a:lnTo>
                    <a:pt x="73317" y="2318"/>
                  </a:lnTo>
                  <a:lnTo>
                    <a:pt x="74968" y="3492"/>
                  </a:lnTo>
                  <a:lnTo>
                    <a:pt x="76270" y="4651"/>
                  </a:lnTo>
                  <a:lnTo>
                    <a:pt x="123895" y="52276"/>
                  </a:lnTo>
                  <a:cubicBezTo>
                    <a:pt x="128021" y="56262"/>
                    <a:pt x="129676" y="62165"/>
                    <a:pt x="128224" y="67715"/>
                  </a:cubicBezTo>
                  <a:cubicBezTo>
                    <a:pt x="126771" y="73265"/>
                    <a:pt x="122436" y="77600"/>
                    <a:pt x="116886" y="79053"/>
                  </a:cubicBezTo>
                  <a:cubicBezTo>
                    <a:pt x="111335" y="80505"/>
                    <a:pt x="105433" y="78850"/>
                    <a:pt x="101447" y="74724"/>
                  </a:cubicBezTo>
                  <a:lnTo>
                    <a:pt x="80921" y="54213"/>
                  </a:lnTo>
                  <a:lnTo>
                    <a:pt x="80921" y="224965"/>
                  </a:lnTo>
                  <a:cubicBezTo>
                    <a:pt x="102799" y="232697"/>
                    <a:pt x="115924" y="255066"/>
                    <a:pt x="112001" y="277936"/>
                  </a:cubicBezTo>
                  <a:cubicBezTo>
                    <a:pt x="108079" y="300806"/>
                    <a:pt x="88250" y="317524"/>
                    <a:pt x="65046" y="317524"/>
                  </a:cubicBezTo>
                  <a:cubicBezTo>
                    <a:pt x="41842" y="317524"/>
                    <a:pt x="22013" y="300806"/>
                    <a:pt x="18091" y="277936"/>
                  </a:cubicBezTo>
                  <a:cubicBezTo>
                    <a:pt x="14168" y="255066"/>
                    <a:pt x="27293" y="232697"/>
                    <a:pt x="49171" y="224965"/>
                  </a:cubicBezTo>
                  <a:lnTo>
                    <a:pt x="49171" y="54213"/>
                  </a:lnTo>
                  <a:lnTo>
                    <a:pt x="28645" y="74724"/>
                  </a:lnTo>
                  <a:cubicBezTo>
                    <a:pt x="22989" y="80379"/>
                    <a:pt x="14009" y="80943"/>
                    <a:pt x="7690" y="76041"/>
                  </a:cubicBezTo>
                  <a:lnTo>
                    <a:pt x="6197" y="74724"/>
                  </a:lnTo>
                  <a:cubicBezTo>
                    <a:pt x="0" y="68524"/>
                    <a:pt x="0" y="58476"/>
                    <a:pt x="6197" y="52276"/>
                  </a:cubicBezTo>
                  <a:lnTo>
                    <a:pt x="53822" y="4651"/>
                  </a:lnTo>
                  <a:cubicBezTo>
                    <a:pt x="54383" y="4080"/>
                    <a:pt x="54976" y="3567"/>
                    <a:pt x="55600" y="3111"/>
                  </a:cubicBezTo>
                  <a:lnTo>
                    <a:pt x="57347" y="1984"/>
                  </a:lnTo>
                  <a:lnTo>
                    <a:pt x="59156" y="1127"/>
                  </a:lnTo>
                  <a:lnTo>
                    <a:pt x="60823" y="572"/>
                  </a:ln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7075" y="15335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估值增长轨迹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6667500" y="1437799"/>
              <a:ext cx="3619500" cy="2015013"/>
              <a:chOff x="6667500" y="1437799"/>
              <a:chExt cx="3619500" cy="2015013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667500" y="2667000"/>
                <a:ext cx="5715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E8A87C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16257" y="2482691"/>
                <a:ext cx="2739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43亿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793111" y="3300412"/>
                <a:ext cx="32027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Dec25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429500" y="2381250"/>
                <a:ext cx="571500" cy="857250"/>
              </a:xfrm>
              <a:prstGeom prst="roundRect">
                <a:avLst>
                  <a:gd name="adj" fmla="val 6667"/>
                </a:avLst>
              </a:prstGeom>
              <a:solidFill>
                <a:srgbClr val="E8A87C">
                  <a:alpha val="45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560183" y="2215991"/>
                <a:ext cx="3101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100亿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191500" y="2095500"/>
                <a:ext cx="5715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E8A87C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07122" y="1930241"/>
                <a:ext cx="3402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200亿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953500" y="1857375"/>
                <a:ext cx="571500" cy="1381125"/>
              </a:xfrm>
              <a:prstGeom prst="roundRect">
                <a:avLst>
                  <a:gd name="adj" fmla="val 6667"/>
                </a:avLst>
              </a:prstGeom>
              <a:solidFill>
                <a:srgbClr val="E8A87C">
                  <a:alpha val="75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084183" y="1701641"/>
                <a:ext cx="3101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315亿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715500" y="1619250"/>
                <a:ext cx="571500" cy="1619250"/>
              </a:xfrm>
              <a:prstGeom prst="roundRect">
                <a:avLst>
                  <a:gd name="adj" fmla="val 6667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790755" y="1437799"/>
                <a:ext cx="4209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350亿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854803" y="3300412"/>
                <a:ext cx="2928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Jul26</a:t>
                </a: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571500" y="3810000"/>
              <a:ext cx="11049000" cy="2095500"/>
            </a:xfrm>
            <a:prstGeom prst="roundRect">
              <a:avLst>
                <a:gd name="adj" fmla="val 727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47750" y="4229100"/>
              <a:ext cx="266700" cy="381000"/>
              <a:chOff x="1047750" y="4229100"/>
              <a:chExt cx="266700" cy="381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85850" y="42291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47750" y="44577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48765" y="4263390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杨植麟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35605" y="4311968"/>
              <a:ext cx="2055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92年 · 月之暗面创始人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56385" y="4680585"/>
              <a:ext cx="34129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清华本科 → 卡内基梅隆博士 → 创立月之暗面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52500" y="5048250"/>
              <a:ext cx="4762500" cy="342900"/>
            </a:xfrm>
            <a:prstGeom prst="roundRect">
              <a:avLst>
                <a:gd name="adj" fmla="val 22222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82040" y="5163502"/>
              <a:ext cx="51946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正在拆除VIE架构，计划赴港上市 · 中金+高盛联席保荐 · Pre-IPO目标500亿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67450" y="5114925"/>
              <a:ext cx="145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Georgia"/>
                  <a:ea typeface="Microsoft YaHei"/>
                  <a:cs typeface="Georgia"/>
                </a:rPr>
                <a:t>半年涨约 8 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7212" y="5155406"/>
              <a:ext cx="13265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43亿 → 350亿美元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952500"/>
            <a:ext cx="4762500" cy="47625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3810000"/>
            <a:ext cx="3429000" cy="3429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4543425" y="1695450"/>
            <a:ext cx="3105150" cy="3095625"/>
            <a:chOff x="4543425" y="1695450"/>
            <a:chExt cx="3105150" cy="3095625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6954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50320" y="300799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它有多强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0" y="3667125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43425" y="398145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硬数据、榜单成绩、真实生产力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710469" y="4505325"/>
              <a:ext cx="275616" cy="284725"/>
              <a:chOff x="5710469" y="4505325"/>
              <a:chExt cx="275616" cy="2847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856437" y="4676532"/>
                <a:ext cx="129648" cy="113518"/>
              </a:xfrm>
              <a:custGeom>
                <a:avLst/>
                <a:gdLst/>
                <a:ahLst/>
                <a:cxnLst/>
                <a:rect l="l" t="t" r="r" b="b"/>
                <a:pathLst>
                  <a:path w="129648" h="113518">
                    <a:moveTo>
                      <a:pt x="99012" y="0"/>
                    </a:moveTo>
                    <a:lnTo>
                      <a:pt x="127102" y="48663"/>
                    </a:lnTo>
                    <a:cubicBezTo>
                      <a:pt x="129448" y="52730"/>
                      <a:pt x="129648" y="57690"/>
                      <a:pt x="127638" y="61933"/>
                    </a:cubicBezTo>
                    <a:cubicBezTo>
                      <a:pt x="125628" y="66177"/>
                      <a:pt x="121662" y="69163"/>
                      <a:pt x="117029" y="69923"/>
                    </a:cubicBezTo>
                    <a:lnTo>
                      <a:pt x="115414" y="70080"/>
                    </a:lnTo>
                    <a:lnTo>
                      <a:pt x="113814" y="70066"/>
                    </a:lnTo>
                    <a:lnTo>
                      <a:pt x="71909" y="67351"/>
                    </a:lnTo>
                    <a:lnTo>
                      <a:pt x="53292" y="105013"/>
                    </a:lnTo>
                    <a:cubicBezTo>
                      <a:pt x="51242" y="109151"/>
                      <a:pt x="47320" y="112044"/>
                      <a:pt x="42761" y="112781"/>
                    </a:cubicBezTo>
                    <a:cubicBezTo>
                      <a:pt x="38202" y="113518"/>
                      <a:pt x="33568" y="112008"/>
                      <a:pt x="30318" y="108728"/>
                    </a:cubicBezTo>
                    <a:lnTo>
                      <a:pt x="29146" y="107385"/>
                    </a:lnTo>
                    <a:lnTo>
                      <a:pt x="28118" y="105813"/>
                    </a:lnTo>
                    <a:lnTo>
                      <a:pt x="0" y="57136"/>
                    </a:lnTo>
                    <a:cubicBezTo>
                      <a:pt x="40125" y="54628"/>
                      <a:pt x="76763" y="33485"/>
                      <a:pt x="99012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710469" y="4676518"/>
                <a:ext cx="129737" cy="113375"/>
              </a:xfrm>
              <a:custGeom>
                <a:avLst/>
                <a:gdLst/>
                <a:ahLst/>
                <a:cxnLst/>
                <a:rect l="l" t="t" r="r" b="b"/>
                <a:pathLst>
                  <a:path w="129737" h="113375">
                    <a:moveTo>
                      <a:pt x="129737" y="57150"/>
                    </a:moveTo>
                    <a:lnTo>
                      <a:pt x="101648" y="105842"/>
                    </a:lnTo>
                    <a:cubicBezTo>
                      <a:pt x="99339" y="109844"/>
                      <a:pt x="95238" y="112484"/>
                      <a:pt x="90639" y="112929"/>
                    </a:cubicBezTo>
                    <a:cubicBezTo>
                      <a:pt x="86039" y="113375"/>
                      <a:pt x="81508" y="111570"/>
                      <a:pt x="78474" y="108085"/>
                    </a:cubicBezTo>
                    <a:lnTo>
                      <a:pt x="77388" y="106656"/>
                    </a:lnTo>
                    <a:lnTo>
                      <a:pt x="76474" y="105027"/>
                    </a:lnTo>
                    <a:lnTo>
                      <a:pt x="57843" y="67380"/>
                    </a:lnTo>
                    <a:lnTo>
                      <a:pt x="15966" y="70094"/>
                    </a:lnTo>
                    <a:cubicBezTo>
                      <a:pt x="11284" y="70396"/>
                      <a:pt x="6752" y="68381"/>
                      <a:pt x="3838" y="64703"/>
                    </a:cubicBezTo>
                    <a:cubicBezTo>
                      <a:pt x="924" y="61026"/>
                      <a:pt x="0" y="56153"/>
                      <a:pt x="1364" y="51664"/>
                    </a:cubicBezTo>
                    <a:lnTo>
                      <a:pt x="1936" y="50135"/>
                    </a:lnTo>
                    <a:lnTo>
                      <a:pt x="2650" y="48706"/>
                    </a:lnTo>
                    <a:lnTo>
                      <a:pt x="30768" y="0"/>
                    </a:lnTo>
                    <a:cubicBezTo>
                      <a:pt x="53002" y="33484"/>
                      <a:pt x="89623" y="54637"/>
                      <a:pt x="129737" y="5716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748337" y="4505325"/>
                <a:ext cx="200027" cy="200111"/>
              </a:xfrm>
              <a:custGeom>
                <a:avLst/>
                <a:gdLst/>
                <a:ahLst/>
                <a:cxnLst/>
                <a:rect l="l" t="t" r="r" b="b"/>
                <a:pathLst>
                  <a:path w="200027" h="200111">
                    <a:moveTo>
                      <a:pt x="100013" y="0"/>
                    </a:moveTo>
                    <a:lnTo>
                      <a:pt x="103442" y="57"/>
                    </a:lnTo>
                    <a:cubicBezTo>
                      <a:pt x="157312" y="1905"/>
                      <a:pt x="200027" y="46111"/>
                      <a:pt x="200026" y="100012"/>
                    </a:cubicBezTo>
                    <a:lnTo>
                      <a:pt x="199983" y="102770"/>
                    </a:lnTo>
                    <a:lnTo>
                      <a:pt x="199883" y="105513"/>
                    </a:lnTo>
                    <a:lnTo>
                      <a:pt x="199626" y="109014"/>
                    </a:lnTo>
                    <a:lnTo>
                      <a:pt x="199254" y="112471"/>
                    </a:lnTo>
                    <a:lnTo>
                      <a:pt x="198911" y="115014"/>
                    </a:lnTo>
                    <a:cubicBezTo>
                      <a:pt x="197971" y="121182"/>
                      <a:pt x="196455" y="127247"/>
                      <a:pt x="194382" y="133131"/>
                    </a:cubicBezTo>
                    <a:lnTo>
                      <a:pt x="192725" y="137531"/>
                    </a:lnTo>
                    <a:lnTo>
                      <a:pt x="190539" y="142504"/>
                    </a:lnTo>
                    <a:cubicBezTo>
                      <a:pt x="174026" y="177681"/>
                      <a:pt x="138632" y="200111"/>
                      <a:pt x="99772" y="200025"/>
                    </a:cubicBezTo>
                    <a:cubicBezTo>
                      <a:pt x="60911" y="199939"/>
                      <a:pt x="25617" y="177354"/>
                      <a:pt x="9259" y="142103"/>
                    </a:cubicBezTo>
                    <a:lnTo>
                      <a:pt x="7402" y="137860"/>
                    </a:lnTo>
                    <a:lnTo>
                      <a:pt x="6659" y="135960"/>
                    </a:lnTo>
                    <a:lnTo>
                      <a:pt x="5516" y="132859"/>
                    </a:lnTo>
                    <a:lnTo>
                      <a:pt x="4159" y="128659"/>
                    </a:lnTo>
                    <a:cubicBezTo>
                      <a:pt x="3674" y="127032"/>
                      <a:pt x="3231" y="125393"/>
                      <a:pt x="2830" y="123744"/>
                    </a:cubicBezTo>
                    <a:lnTo>
                      <a:pt x="1973" y="119872"/>
                    </a:lnTo>
                    <a:lnTo>
                      <a:pt x="1272" y="116000"/>
                    </a:lnTo>
                    <a:lnTo>
                      <a:pt x="987" y="114014"/>
                    </a:lnTo>
                    <a:lnTo>
                      <a:pt x="430" y="109399"/>
                    </a:lnTo>
                    <a:lnTo>
                      <a:pt x="87" y="104184"/>
                    </a:lnTo>
                    <a:lnTo>
                      <a:pt x="1" y="100012"/>
                    </a:lnTo>
                    <a:cubicBezTo>
                      <a:pt x="0" y="46111"/>
                      <a:pt x="42715" y="1905"/>
                      <a:pt x="96584" y="57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6181725" y="4505325"/>
              <a:ext cx="288525" cy="285750"/>
              <a:chOff x="6181725" y="4505325"/>
              <a:chExt cx="288525" cy="2857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181725" y="45053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14288" y="0"/>
                    </a:moveTo>
                    <a:cubicBezTo>
                      <a:pt x="22178" y="0"/>
                      <a:pt x="28575" y="6397"/>
                      <a:pt x="28575" y="14288"/>
                    </a:cubicBezTo>
                    <a:lnTo>
                      <a:pt x="28575" y="257175"/>
                    </a:lnTo>
                    <a:lnTo>
                      <a:pt x="271462" y="257175"/>
                    </a:lnTo>
                    <a:cubicBezTo>
                      <a:pt x="278706" y="257176"/>
                      <a:pt x="284803" y="262597"/>
                      <a:pt x="285650" y="269791"/>
                    </a:cubicBezTo>
                    <a:lnTo>
                      <a:pt x="285750" y="271462"/>
                    </a:lnTo>
                    <a:cubicBezTo>
                      <a:pt x="285750" y="279353"/>
                      <a:pt x="279353" y="285750"/>
                      <a:pt x="271462" y="285750"/>
                    </a:cubicBezTo>
                    <a:lnTo>
                      <a:pt x="14288" y="285750"/>
                    </a:lnTo>
                    <a:cubicBezTo>
                      <a:pt x="6397" y="285750"/>
                      <a:pt x="0" y="279353"/>
                      <a:pt x="0" y="271462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234189" y="4533900"/>
                <a:ext cx="236061" cy="204346"/>
              </a:xfrm>
              <a:custGeom>
                <a:avLst/>
                <a:gdLst/>
                <a:ahLst/>
                <a:cxnLst/>
                <a:rect l="l" t="t" r="r" b="b"/>
                <a:pathLst>
                  <a:path w="236061" h="204346">
                    <a:moveTo>
                      <a:pt x="190424" y="0"/>
                    </a:moveTo>
                    <a:cubicBezTo>
                      <a:pt x="206836" y="37"/>
                      <a:pt x="221785" y="9442"/>
                      <a:pt x="228923" y="24220"/>
                    </a:cubicBezTo>
                    <a:cubicBezTo>
                      <a:pt x="236061" y="38999"/>
                      <a:pt x="234134" y="56556"/>
                      <a:pt x="223960" y="69434"/>
                    </a:cubicBezTo>
                    <a:cubicBezTo>
                      <a:pt x="213786" y="82312"/>
                      <a:pt x="197151" y="88249"/>
                      <a:pt x="181122" y="84725"/>
                    </a:cubicBezTo>
                    <a:lnTo>
                      <a:pt x="152519" y="130473"/>
                    </a:lnTo>
                    <a:cubicBezTo>
                      <a:pt x="166015" y="147430"/>
                      <a:pt x="164731" y="171793"/>
                      <a:pt x="149527" y="187237"/>
                    </a:cubicBezTo>
                    <a:cubicBezTo>
                      <a:pt x="134323" y="202681"/>
                      <a:pt x="109983" y="204346"/>
                      <a:pt x="92817" y="191116"/>
                    </a:cubicBezTo>
                    <a:cubicBezTo>
                      <a:pt x="75652" y="177886"/>
                      <a:pt x="71062" y="153925"/>
                      <a:pt x="82124" y="135288"/>
                    </a:cubicBezTo>
                    <a:lnTo>
                      <a:pt x="62436" y="111643"/>
                    </a:lnTo>
                    <a:cubicBezTo>
                      <a:pt x="42863" y="118890"/>
                      <a:pt x="20914" y="110985"/>
                      <a:pt x="10457" y="92921"/>
                    </a:cubicBezTo>
                    <a:cubicBezTo>
                      <a:pt x="0" y="74857"/>
                      <a:pt x="4075" y="51887"/>
                      <a:pt x="20108" y="38523"/>
                    </a:cubicBezTo>
                    <a:cubicBezTo>
                      <a:pt x="36141" y="25159"/>
                      <a:pt x="59470" y="25286"/>
                      <a:pt x="75355" y="38825"/>
                    </a:cubicBezTo>
                    <a:cubicBezTo>
                      <a:pt x="91241" y="52364"/>
                      <a:pt x="95064" y="75378"/>
                      <a:pt x="84410" y="93326"/>
                    </a:cubicBezTo>
                    <a:lnTo>
                      <a:pt x="104099" y="116957"/>
                    </a:lnTo>
                    <a:cubicBezTo>
                      <a:pt x="111834" y="114089"/>
                      <a:pt x="120235" y="113518"/>
                      <a:pt x="128287" y="115314"/>
                    </a:cubicBezTo>
                    <a:lnTo>
                      <a:pt x="156891" y="69552"/>
                    </a:lnTo>
                    <a:cubicBezTo>
                      <a:pt x="146645" y="56675"/>
                      <a:pt x="144674" y="39070"/>
                      <a:pt x="151821" y="24248"/>
                    </a:cubicBezTo>
                    <a:cubicBezTo>
                      <a:pt x="158967" y="9425"/>
                      <a:pt x="173968" y="3"/>
                      <a:pt x="19042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sp>
        <p:nvSpPr>
          <p:cNvPr id="17" name="TextBox 17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164" name="Group 164"/>
          <p:cNvGrpSpPr/>
          <p:nvPr/>
        </p:nvGrpSpPr>
        <p:grpSpPr>
          <a:xfrm>
            <a:off x="539115" y="343852"/>
            <a:ext cx="11081385" cy="6037898"/>
            <a:chOff x="539115" y="343852"/>
            <a:chExt cx="11081385" cy="603789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50115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2.8万亿参数，但不是傻大个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71500" y="1047750"/>
              <a:ext cx="4191000" cy="4405312"/>
              <a:chOff x="571500" y="1047750"/>
              <a:chExt cx="4191000" cy="4405312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047750"/>
                <a:ext cx="4191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59850" y="1311275"/>
                <a:ext cx="204350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204350" h="258712">
                    <a:moveTo>
                      <a:pt x="114875" y="0"/>
                    </a:moveTo>
                    <a:lnTo>
                      <a:pt x="115104" y="13"/>
                    </a:lnTo>
                    <a:lnTo>
                      <a:pt x="115307" y="25"/>
                    </a:lnTo>
                    <a:lnTo>
                      <a:pt x="116361" y="89"/>
                    </a:lnTo>
                    <a:lnTo>
                      <a:pt x="116501" y="114"/>
                    </a:lnTo>
                    <a:lnTo>
                      <a:pt x="116640" y="114"/>
                    </a:lnTo>
                    <a:lnTo>
                      <a:pt x="117123" y="229"/>
                    </a:lnTo>
                    <a:lnTo>
                      <a:pt x="117783" y="330"/>
                    </a:lnTo>
                    <a:lnTo>
                      <a:pt x="117987" y="406"/>
                    </a:lnTo>
                    <a:lnTo>
                      <a:pt x="118126" y="419"/>
                    </a:lnTo>
                    <a:lnTo>
                      <a:pt x="118495" y="559"/>
                    </a:lnTo>
                    <a:lnTo>
                      <a:pt x="119155" y="737"/>
                    </a:lnTo>
                    <a:lnTo>
                      <a:pt x="119396" y="851"/>
                    </a:lnTo>
                    <a:lnTo>
                      <a:pt x="119587" y="902"/>
                    </a:lnTo>
                    <a:lnTo>
                      <a:pt x="119942" y="1080"/>
                    </a:lnTo>
                    <a:lnTo>
                      <a:pt x="120450" y="1295"/>
                    </a:lnTo>
                    <a:lnTo>
                      <a:pt x="120717" y="1448"/>
                    </a:lnTo>
                    <a:lnTo>
                      <a:pt x="120996" y="1575"/>
                    </a:lnTo>
                    <a:lnTo>
                      <a:pt x="121289" y="1765"/>
                    </a:lnTo>
                    <a:lnTo>
                      <a:pt x="121682" y="1981"/>
                    </a:lnTo>
                    <a:lnTo>
                      <a:pt x="122114" y="2286"/>
                    </a:lnTo>
                    <a:lnTo>
                      <a:pt x="122343" y="2426"/>
                    </a:lnTo>
                    <a:lnTo>
                      <a:pt x="122508" y="2578"/>
                    </a:lnTo>
                    <a:lnTo>
                      <a:pt x="122813" y="2794"/>
                    </a:lnTo>
                    <a:lnTo>
                      <a:pt x="123295" y="3226"/>
                    </a:lnTo>
                    <a:lnTo>
                      <a:pt x="123575" y="3442"/>
                    </a:lnTo>
                    <a:lnTo>
                      <a:pt x="123676" y="3569"/>
                    </a:lnTo>
                    <a:lnTo>
                      <a:pt x="123854" y="3721"/>
                    </a:lnTo>
                    <a:lnTo>
                      <a:pt x="124311" y="4242"/>
                    </a:lnTo>
                    <a:lnTo>
                      <a:pt x="124641" y="4585"/>
                    </a:lnTo>
                    <a:lnTo>
                      <a:pt x="124718" y="4699"/>
                    </a:lnTo>
                    <a:cubicBezTo>
                      <a:pt x="126242" y="6566"/>
                      <a:pt x="127207" y="8788"/>
                      <a:pt x="127486" y="11214"/>
                    </a:cubicBezTo>
                    <a:lnTo>
                      <a:pt x="127499" y="11366"/>
                    </a:lnTo>
                    <a:lnTo>
                      <a:pt x="127524" y="11887"/>
                    </a:lnTo>
                    <a:lnTo>
                      <a:pt x="127575" y="12700"/>
                    </a:lnTo>
                    <a:lnTo>
                      <a:pt x="127575" y="88900"/>
                    </a:lnTo>
                    <a:lnTo>
                      <a:pt x="191075" y="88900"/>
                    </a:lnTo>
                    <a:cubicBezTo>
                      <a:pt x="195605" y="88899"/>
                      <a:pt x="199793" y="91311"/>
                      <a:pt x="202065" y="95230"/>
                    </a:cubicBezTo>
                    <a:cubicBezTo>
                      <a:pt x="204337" y="99148"/>
                      <a:pt x="204350" y="103981"/>
                      <a:pt x="202099" y="107912"/>
                    </a:cubicBezTo>
                    <a:lnTo>
                      <a:pt x="201337" y="109068"/>
                    </a:lnTo>
                    <a:lnTo>
                      <a:pt x="99737" y="248768"/>
                    </a:lnTo>
                    <a:cubicBezTo>
                      <a:pt x="92523" y="258712"/>
                      <a:pt x="76775" y="253594"/>
                      <a:pt x="76775" y="241300"/>
                    </a:cubicBezTo>
                    <a:lnTo>
                      <a:pt x="76775" y="165100"/>
                    </a:lnTo>
                    <a:lnTo>
                      <a:pt x="13275" y="165100"/>
                    </a:lnTo>
                    <a:cubicBezTo>
                      <a:pt x="8745" y="165101"/>
                      <a:pt x="4557" y="162689"/>
                      <a:pt x="2285" y="158770"/>
                    </a:cubicBezTo>
                    <a:cubicBezTo>
                      <a:pt x="13" y="154852"/>
                      <a:pt x="0" y="150019"/>
                      <a:pt x="2251" y="146088"/>
                    </a:cubicBezTo>
                    <a:lnTo>
                      <a:pt x="3013" y="144932"/>
                    </a:lnTo>
                    <a:lnTo>
                      <a:pt x="104613" y="5232"/>
                    </a:lnTo>
                    <a:lnTo>
                      <a:pt x="104740" y="5067"/>
                    </a:lnTo>
                    <a:lnTo>
                      <a:pt x="104969" y="4762"/>
                    </a:lnTo>
                    <a:lnTo>
                      <a:pt x="105388" y="4280"/>
                    </a:lnTo>
                    <a:lnTo>
                      <a:pt x="105617" y="4001"/>
                    </a:lnTo>
                    <a:lnTo>
                      <a:pt x="105731" y="3899"/>
                    </a:lnTo>
                    <a:lnTo>
                      <a:pt x="105896" y="3721"/>
                    </a:lnTo>
                    <a:lnTo>
                      <a:pt x="106404" y="3264"/>
                    </a:lnTo>
                    <a:lnTo>
                      <a:pt x="106760" y="2934"/>
                    </a:lnTo>
                    <a:lnTo>
                      <a:pt x="106861" y="2858"/>
                    </a:lnTo>
                    <a:cubicBezTo>
                      <a:pt x="108350" y="1639"/>
                      <a:pt x="110095" y="775"/>
                      <a:pt x="111967" y="330"/>
                    </a:cubicBezTo>
                    <a:lnTo>
                      <a:pt x="112106" y="317"/>
                    </a:lnTo>
                    <a:lnTo>
                      <a:pt x="112449" y="254"/>
                    </a:lnTo>
                    <a:lnTo>
                      <a:pt x="113389" y="89"/>
                    </a:lnTo>
                    <a:lnTo>
                      <a:pt x="113529" y="76"/>
                    </a:lnTo>
                    <a:lnTo>
                      <a:pt x="114050" y="51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224915" y="133445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总参数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03960" y="1470660"/>
                <a:ext cx="17040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2.8 万亿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571500" y="2238375"/>
                <a:ext cx="4191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6348" y="2540000"/>
                <a:ext cx="231762" cy="178240"/>
              </a:xfrm>
              <a:custGeom>
                <a:avLst/>
                <a:gdLst/>
                <a:ahLst/>
                <a:cxnLst/>
                <a:rect l="l" t="t" r="r" b="b"/>
                <a:pathLst>
                  <a:path w="231762" h="178240">
                    <a:moveTo>
                      <a:pt x="228630" y="108623"/>
                    </a:moveTo>
                    <a:cubicBezTo>
                      <a:pt x="231762" y="114894"/>
                      <a:pt x="229221" y="122516"/>
                      <a:pt x="222954" y="125654"/>
                    </a:cubicBezTo>
                    <a:lnTo>
                      <a:pt x="121354" y="176454"/>
                    </a:lnTo>
                    <a:cubicBezTo>
                      <a:pt x="117780" y="178240"/>
                      <a:pt x="113574" y="178240"/>
                      <a:pt x="110000" y="176454"/>
                    </a:cubicBezTo>
                    <a:lnTo>
                      <a:pt x="8400" y="125654"/>
                    </a:lnTo>
                    <a:cubicBezTo>
                      <a:pt x="2361" y="122397"/>
                      <a:pt x="0" y="114933"/>
                      <a:pt x="3068" y="108796"/>
                    </a:cubicBezTo>
                    <a:cubicBezTo>
                      <a:pt x="6137" y="102659"/>
                      <a:pt x="13525" y="100069"/>
                      <a:pt x="19754" y="102946"/>
                    </a:cubicBezTo>
                    <a:lnTo>
                      <a:pt x="115677" y="150876"/>
                    </a:lnTo>
                    <a:lnTo>
                      <a:pt x="211612" y="102934"/>
                    </a:lnTo>
                    <a:cubicBezTo>
                      <a:pt x="217883" y="99802"/>
                      <a:pt x="225505" y="102343"/>
                      <a:pt x="228643" y="108610"/>
                    </a:cubicBezTo>
                    <a:moveTo>
                      <a:pt x="115778" y="0"/>
                    </a:moveTo>
                    <a:cubicBezTo>
                      <a:pt x="116252" y="0"/>
                      <a:pt x="116722" y="30"/>
                      <a:pt x="117188" y="89"/>
                    </a:cubicBezTo>
                    <a:lnTo>
                      <a:pt x="118598" y="343"/>
                    </a:lnTo>
                    <a:lnTo>
                      <a:pt x="119690" y="648"/>
                    </a:lnTo>
                    <a:lnTo>
                      <a:pt x="119842" y="724"/>
                    </a:lnTo>
                    <a:lnTo>
                      <a:pt x="119995" y="749"/>
                    </a:lnTo>
                    <a:lnTo>
                      <a:pt x="120363" y="927"/>
                    </a:lnTo>
                    <a:lnTo>
                      <a:pt x="120998" y="1168"/>
                    </a:lnTo>
                    <a:lnTo>
                      <a:pt x="121201" y="1283"/>
                    </a:lnTo>
                    <a:lnTo>
                      <a:pt x="121354" y="1346"/>
                    </a:lnTo>
                    <a:lnTo>
                      <a:pt x="222954" y="52146"/>
                    </a:lnTo>
                    <a:cubicBezTo>
                      <a:pt x="227250" y="54300"/>
                      <a:pt x="229963" y="58694"/>
                      <a:pt x="229963" y="63500"/>
                    </a:cubicBezTo>
                    <a:cubicBezTo>
                      <a:pt x="229963" y="68306"/>
                      <a:pt x="227250" y="72700"/>
                      <a:pt x="222954" y="74854"/>
                    </a:cubicBezTo>
                    <a:lnTo>
                      <a:pt x="121354" y="125654"/>
                    </a:lnTo>
                    <a:cubicBezTo>
                      <a:pt x="117780" y="127440"/>
                      <a:pt x="113574" y="127440"/>
                      <a:pt x="110000" y="125654"/>
                    </a:cubicBezTo>
                    <a:lnTo>
                      <a:pt x="8400" y="74854"/>
                    </a:lnTo>
                    <a:cubicBezTo>
                      <a:pt x="4103" y="72700"/>
                      <a:pt x="1390" y="68306"/>
                      <a:pt x="1390" y="63500"/>
                    </a:cubicBezTo>
                    <a:cubicBezTo>
                      <a:pt x="1390" y="58694"/>
                      <a:pt x="4103" y="54300"/>
                      <a:pt x="8400" y="52146"/>
                    </a:cubicBezTo>
                    <a:lnTo>
                      <a:pt x="110000" y="1346"/>
                    </a:lnTo>
                    <a:lnTo>
                      <a:pt x="110139" y="1283"/>
                    </a:lnTo>
                    <a:lnTo>
                      <a:pt x="110368" y="1156"/>
                    </a:lnTo>
                    <a:lnTo>
                      <a:pt x="111359" y="749"/>
                    </a:lnTo>
                    <a:lnTo>
                      <a:pt x="111498" y="724"/>
                    </a:lnTo>
                    <a:lnTo>
                      <a:pt x="111663" y="648"/>
                    </a:lnTo>
                    <a:lnTo>
                      <a:pt x="112756" y="343"/>
                    </a:lnTo>
                    <a:lnTo>
                      <a:pt x="114153" y="89"/>
                    </a:lnTo>
                    <a:lnTo>
                      <a:pt x="114864" y="25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4915" y="2525078"/>
                <a:ext cx="1429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专家总数 / 每次激活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03960" y="2661285"/>
                <a:ext cx="157986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896 / 16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71500" y="3429000"/>
                <a:ext cx="41910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5023" y="3686836"/>
                <a:ext cx="267422" cy="268466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6">
                    <a:moveTo>
                      <a:pt x="190502" y="22707"/>
                    </a:moveTo>
                    <a:cubicBezTo>
                      <a:pt x="243877" y="53523"/>
                      <a:pt x="267422" y="118214"/>
                      <a:pt x="246342" y="176130"/>
                    </a:cubicBezTo>
                    <a:cubicBezTo>
                      <a:pt x="225262" y="234045"/>
                      <a:pt x="165642" y="268466"/>
                      <a:pt x="104946" y="257762"/>
                    </a:cubicBezTo>
                    <a:cubicBezTo>
                      <a:pt x="44250" y="247059"/>
                      <a:pt x="0" y="194322"/>
                      <a:pt x="2" y="132689"/>
                    </a:cubicBezTo>
                    <a:lnTo>
                      <a:pt x="65" y="128574"/>
                    </a:lnTo>
                    <a:cubicBezTo>
                      <a:pt x="1512" y="83959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2" y="22707"/>
                    </a:cubicBezTo>
                    <a:moveTo>
                      <a:pt x="110580" y="98310"/>
                    </a:moveTo>
                    <a:cubicBezTo>
                      <a:pt x="105621" y="93352"/>
                      <a:pt x="97582" y="93352"/>
                      <a:pt x="92623" y="98310"/>
                    </a:cubicBezTo>
                    <a:lnTo>
                      <a:pt x="67223" y="123710"/>
                    </a:lnTo>
                    <a:cubicBezTo>
                      <a:pt x="62265" y="128669"/>
                      <a:pt x="62265" y="136708"/>
                      <a:pt x="67223" y="141668"/>
                    </a:cubicBezTo>
                    <a:lnTo>
                      <a:pt x="92623" y="167068"/>
                    </a:lnTo>
                    <a:cubicBezTo>
                      <a:pt x="97582" y="172026"/>
                      <a:pt x="105621" y="172026"/>
                      <a:pt x="110580" y="167068"/>
                    </a:cubicBezTo>
                    <a:lnTo>
                      <a:pt x="111635" y="165874"/>
                    </a:lnTo>
                    <a:cubicBezTo>
                      <a:pt x="115556" y="160818"/>
                      <a:pt x="115105" y="153635"/>
                      <a:pt x="110580" y="149110"/>
                    </a:cubicBezTo>
                    <a:lnTo>
                      <a:pt x="94172" y="132689"/>
                    </a:lnTo>
                    <a:lnTo>
                      <a:pt x="110580" y="116268"/>
                    </a:lnTo>
                    <a:cubicBezTo>
                      <a:pt x="115538" y="111308"/>
                      <a:pt x="115538" y="103269"/>
                      <a:pt x="110580" y="98310"/>
                    </a:cubicBezTo>
                    <a:moveTo>
                      <a:pt x="161380" y="98310"/>
                    </a:moveTo>
                    <a:cubicBezTo>
                      <a:pt x="156421" y="93352"/>
                      <a:pt x="148382" y="93352"/>
                      <a:pt x="143423" y="98310"/>
                    </a:cubicBezTo>
                    <a:lnTo>
                      <a:pt x="142369" y="99504"/>
                    </a:lnTo>
                    <a:cubicBezTo>
                      <a:pt x="138447" y="104559"/>
                      <a:pt x="138898" y="111743"/>
                      <a:pt x="143423" y="116268"/>
                    </a:cubicBezTo>
                    <a:lnTo>
                      <a:pt x="159831" y="132689"/>
                    </a:lnTo>
                    <a:lnTo>
                      <a:pt x="143423" y="149110"/>
                    </a:lnTo>
                    <a:cubicBezTo>
                      <a:pt x="138610" y="154093"/>
                      <a:pt x="138679" y="162014"/>
                      <a:pt x="143577" y="166913"/>
                    </a:cubicBezTo>
                    <a:cubicBezTo>
                      <a:pt x="148476" y="171812"/>
                      <a:pt x="156397" y="171881"/>
                      <a:pt x="161380" y="167068"/>
                    </a:cubicBezTo>
                    <a:lnTo>
                      <a:pt x="186780" y="141668"/>
                    </a:lnTo>
                    <a:cubicBezTo>
                      <a:pt x="191738" y="136708"/>
                      <a:pt x="191738" y="128669"/>
                      <a:pt x="186780" y="12371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24915" y="371570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上下文窗口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3960" y="3851910"/>
                <a:ext cx="232516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100万 Token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71500" y="4667250"/>
                <a:ext cx="4191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8B6F47">
                  <a:alpha val="6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46760" y="482346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翻译成人话：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48665" y="5077778"/>
                <a:ext cx="27870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知识储备极大，单次干活只调用一小部分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8665" y="52397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成本和部署门槛可控</a:t>
                </a: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5334000" y="1047750"/>
              <a:ext cx="6286500" cy="5334000"/>
              <a:chOff x="5334000" y="1047750"/>
              <a:chExt cx="6286500" cy="5334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0" y="1047750"/>
                <a:ext cx="6286500" cy="5334000"/>
              </a:xfrm>
              <a:prstGeom prst="roundRect">
                <a:avLst>
                  <a:gd name="adj" fmla="val 2857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16475" y="1283018"/>
                <a:ext cx="172155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MoE 混合专家架构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32477" y="1533049"/>
                <a:ext cx="20895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896个专家，每次推理只激活16个</a:t>
                </a:r>
              </a:p>
            </p:txBody>
          </p:sp>
          <p:grpSp>
            <p:nvGrpSpPr>
              <p:cNvPr id="153" name="Group 153"/>
              <p:cNvGrpSpPr/>
              <p:nvPr/>
            </p:nvGrpSpPr>
            <p:grpSpPr>
              <a:xfrm>
                <a:off x="6143625" y="1952625"/>
                <a:ext cx="4476750" cy="2190750"/>
                <a:chOff x="6143625" y="1952625"/>
                <a:chExt cx="4476750" cy="2190750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61436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64293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67151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70008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72866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75723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78581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81438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84296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87153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90011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92868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95726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98583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1014412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10429875" y="1952625"/>
                  <a:ext cx="190500" cy="190500"/>
                </a:xfrm>
                <a:prstGeom prst="ellipse">
                  <a:avLst/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1" name="Ellipse 41"/>
                <p:cNvSpPr/>
                <p:nvPr/>
              </p:nvSpPr>
              <p:spPr>
                <a:xfrm>
                  <a:off x="61436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64293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67151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70008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5" name="Ellipse 45"/>
                <p:cNvSpPr/>
                <p:nvPr/>
              </p:nvSpPr>
              <p:spPr>
                <a:xfrm>
                  <a:off x="72866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75723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7" name="Ellipse 47"/>
                <p:cNvSpPr/>
                <p:nvPr/>
              </p:nvSpPr>
              <p:spPr>
                <a:xfrm>
                  <a:off x="78581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8" name="Ellipse 48"/>
                <p:cNvSpPr/>
                <p:nvPr/>
              </p:nvSpPr>
              <p:spPr>
                <a:xfrm>
                  <a:off x="81438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49" name="Ellipse 49"/>
                <p:cNvSpPr/>
                <p:nvPr/>
              </p:nvSpPr>
              <p:spPr>
                <a:xfrm>
                  <a:off x="84296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0" name="Ellipse 50"/>
                <p:cNvSpPr/>
                <p:nvPr/>
              </p:nvSpPr>
              <p:spPr>
                <a:xfrm>
                  <a:off x="87153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1" name="Ellipse 51"/>
                <p:cNvSpPr/>
                <p:nvPr/>
              </p:nvSpPr>
              <p:spPr>
                <a:xfrm>
                  <a:off x="90011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2" name="Ellipse 52"/>
                <p:cNvSpPr/>
                <p:nvPr/>
              </p:nvSpPr>
              <p:spPr>
                <a:xfrm>
                  <a:off x="92868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3" name="Ellipse 53"/>
                <p:cNvSpPr/>
                <p:nvPr/>
              </p:nvSpPr>
              <p:spPr>
                <a:xfrm>
                  <a:off x="95726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4" name="Ellipse 54"/>
                <p:cNvSpPr/>
                <p:nvPr/>
              </p:nvSpPr>
              <p:spPr>
                <a:xfrm>
                  <a:off x="98583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5" name="Ellipse 55"/>
                <p:cNvSpPr/>
                <p:nvPr/>
              </p:nvSpPr>
              <p:spPr>
                <a:xfrm>
                  <a:off x="1014412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6" name="Ellipse 56"/>
                <p:cNvSpPr/>
                <p:nvPr/>
              </p:nvSpPr>
              <p:spPr>
                <a:xfrm>
                  <a:off x="10429875" y="2238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7" name="Ellipse 57"/>
                <p:cNvSpPr/>
                <p:nvPr/>
              </p:nvSpPr>
              <p:spPr>
                <a:xfrm>
                  <a:off x="61436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8" name="Ellipse 58"/>
                <p:cNvSpPr/>
                <p:nvPr/>
              </p:nvSpPr>
              <p:spPr>
                <a:xfrm>
                  <a:off x="64293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59" name="Ellipse 59"/>
                <p:cNvSpPr/>
                <p:nvPr/>
              </p:nvSpPr>
              <p:spPr>
                <a:xfrm>
                  <a:off x="67151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0" name="Ellipse 60"/>
                <p:cNvSpPr/>
                <p:nvPr/>
              </p:nvSpPr>
              <p:spPr>
                <a:xfrm>
                  <a:off x="70008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1" name="Ellipse 61"/>
                <p:cNvSpPr/>
                <p:nvPr/>
              </p:nvSpPr>
              <p:spPr>
                <a:xfrm>
                  <a:off x="72866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2" name="Ellipse 62"/>
                <p:cNvSpPr/>
                <p:nvPr/>
              </p:nvSpPr>
              <p:spPr>
                <a:xfrm>
                  <a:off x="75723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3" name="Ellipse 63"/>
                <p:cNvSpPr/>
                <p:nvPr/>
              </p:nvSpPr>
              <p:spPr>
                <a:xfrm>
                  <a:off x="78581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4" name="Ellipse 64"/>
                <p:cNvSpPr/>
                <p:nvPr/>
              </p:nvSpPr>
              <p:spPr>
                <a:xfrm>
                  <a:off x="81438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5" name="Ellipse 65"/>
                <p:cNvSpPr/>
                <p:nvPr/>
              </p:nvSpPr>
              <p:spPr>
                <a:xfrm>
                  <a:off x="84296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6" name="Ellipse 66"/>
                <p:cNvSpPr/>
                <p:nvPr/>
              </p:nvSpPr>
              <p:spPr>
                <a:xfrm>
                  <a:off x="87153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7" name="Ellipse 67"/>
                <p:cNvSpPr/>
                <p:nvPr/>
              </p:nvSpPr>
              <p:spPr>
                <a:xfrm>
                  <a:off x="90011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8" name="Ellipse 68"/>
                <p:cNvSpPr/>
                <p:nvPr/>
              </p:nvSpPr>
              <p:spPr>
                <a:xfrm>
                  <a:off x="92868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69" name="Ellipse 69"/>
                <p:cNvSpPr/>
                <p:nvPr/>
              </p:nvSpPr>
              <p:spPr>
                <a:xfrm>
                  <a:off x="95726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0" name="Ellipse 70"/>
                <p:cNvSpPr/>
                <p:nvPr/>
              </p:nvSpPr>
              <p:spPr>
                <a:xfrm>
                  <a:off x="98583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1" name="Ellipse 71"/>
                <p:cNvSpPr/>
                <p:nvPr/>
              </p:nvSpPr>
              <p:spPr>
                <a:xfrm>
                  <a:off x="1014412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2" name="Ellipse 72"/>
                <p:cNvSpPr/>
                <p:nvPr/>
              </p:nvSpPr>
              <p:spPr>
                <a:xfrm>
                  <a:off x="10429875" y="2524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3" name="Ellipse 73"/>
                <p:cNvSpPr/>
                <p:nvPr/>
              </p:nvSpPr>
              <p:spPr>
                <a:xfrm>
                  <a:off x="61436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4" name="Ellipse 74"/>
                <p:cNvSpPr/>
                <p:nvPr/>
              </p:nvSpPr>
              <p:spPr>
                <a:xfrm>
                  <a:off x="64293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5" name="Ellipse 75"/>
                <p:cNvSpPr/>
                <p:nvPr/>
              </p:nvSpPr>
              <p:spPr>
                <a:xfrm>
                  <a:off x="67151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6" name="Ellipse 76"/>
                <p:cNvSpPr/>
                <p:nvPr/>
              </p:nvSpPr>
              <p:spPr>
                <a:xfrm>
                  <a:off x="70008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7" name="Ellipse 77"/>
                <p:cNvSpPr/>
                <p:nvPr/>
              </p:nvSpPr>
              <p:spPr>
                <a:xfrm>
                  <a:off x="72866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8" name="Ellipse 78"/>
                <p:cNvSpPr/>
                <p:nvPr/>
              </p:nvSpPr>
              <p:spPr>
                <a:xfrm>
                  <a:off x="75723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79" name="Ellipse 79"/>
                <p:cNvSpPr/>
                <p:nvPr/>
              </p:nvSpPr>
              <p:spPr>
                <a:xfrm>
                  <a:off x="78581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0" name="Ellipse 80"/>
                <p:cNvSpPr/>
                <p:nvPr/>
              </p:nvSpPr>
              <p:spPr>
                <a:xfrm>
                  <a:off x="81438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84296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2" name="Ellipse 82"/>
                <p:cNvSpPr/>
                <p:nvPr/>
              </p:nvSpPr>
              <p:spPr>
                <a:xfrm>
                  <a:off x="87153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3" name="Ellipse 83"/>
                <p:cNvSpPr/>
                <p:nvPr/>
              </p:nvSpPr>
              <p:spPr>
                <a:xfrm>
                  <a:off x="90011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4" name="Ellipse 84"/>
                <p:cNvSpPr/>
                <p:nvPr/>
              </p:nvSpPr>
              <p:spPr>
                <a:xfrm>
                  <a:off x="92868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5" name="Ellipse 85"/>
                <p:cNvSpPr/>
                <p:nvPr/>
              </p:nvSpPr>
              <p:spPr>
                <a:xfrm>
                  <a:off x="95726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6" name="Ellipse 86"/>
                <p:cNvSpPr/>
                <p:nvPr/>
              </p:nvSpPr>
              <p:spPr>
                <a:xfrm>
                  <a:off x="98583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7" name="Ellipse 87"/>
                <p:cNvSpPr/>
                <p:nvPr/>
              </p:nvSpPr>
              <p:spPr>
                <a:xfrm>
                  <a:off x="1014412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8" name="Ellipse 88"/>
                <p:cNvSpPr/>
                <p:nvPr/>
              </p:nvSpPr>
              <p:spPr>
                <a:xfrm>
                  <a:off x="10429875" y="2809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89" name="Ellipse 89"/>
                <p:cNvSpPr/>
                <p:nvPr/>
              </p:nvSpPr>
              <p:spPr>
                <a:xfrm>
                  <a:off x="61436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0" name="Ellipse 90"/>
                <p:cNvSpPr/>
                <p:nvPr/>
              </p:nvSpPr>
              <p:spPr>
                <a:xfrm>
                  <a:off x="64293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1" name="Ellipse 91"/>
                <p:cNvSpPr/>
                <p:nvPr/>
              </p:nvSpPr>
              <p:spPr>
                <a:xfrm>
                  <a:off x="67151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2" name="Ellipse 92"/>
                <p:cNvSpPr/>
                <p:nvPr/>
              </p:nvSpPr>
              <p:spPr>
                <a:xfrm>
                  <a:off x="70008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3" name="Ellipse 93"/>
                <p:cNvSpPr/>
                <p:nvPr/>
              </p:nvSpPr>
              <p:spPr>
                <a:xfrm>
                  <a:off x="72866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4" name="Ellipse 94"/>
                <p:cNvSpPr/>
                <p:nvPr/>
              </p:nvSpPr>
              <p:spPr>
                <a:xfrm>
                  <a:off x="75723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5" name="Ellipse 95"/>
                <p:cNvSpPr/>
                <p:nvPr/>
              </p:nvSpPr>
              <p:spPr>
                <a:xfrm>
                  <a:off x="78581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6" name="Ellipse 96"/>
                <p:cNvSpPr/>
                <p:nvPr/>
              </p:nvSpPr>
              <p:spPr>
                <a:xfrm>
                  <a:off x="81438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7" name="Ellipse 97"/>
                <p:cNvSpPr/>
                <p:nvPr/>
              </p:nvSpPr>
              <p:spPr>
                <a:xfrm>
                  <a:off x="84296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8" name="Ellipse 98"/>
                <p:cNvSpPr/>
                <p:nvPr/>
              </p:nvSpPr>
              <p:spPr>
                <a:xfrm>
                  <a:off x="87153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99" name="Ellipse 99"/>
                <p:cNvSpPr/>
                <p:nvPr/>
              </p:nvSpPr>
              <p:spPr>
                <a:xfrm>
                  <a:off x="90011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0" name="Ellipse 100"/>
                <p:cNvSpPr/>
                <p:nvPr/>
              </p:nvSpPr>
              <p:spPr>
                <a:xfrm>
                  <a:off x="92868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1" name="Ellipse 101"/>
                <p:cNvSpPr/>
                <p:nvPr/>
              </p:nvSpPr>
              <p:spPr>
                <a:xfrm>
                  <a:off x="95726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2" name="Ellipse 102"/>
                <p:cNvSpPr/>
                <p:nvPr/>
              </p:nvSpPr>
              <p:spPr>
                <a:xfrm>
                  <a:off x="98583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3" name="Ellipse 103"/>
                <p:cNvSpPr/>
                <p:nvPr/>
              </p:nvSpPr>
              <p:spPr>
                <a:xfrm>
                  <a:off x="1014412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4" name="Ellipse 104"/>
                <p:cNvSpPr/>
                <p:nvPr/>
              </p:nvSpPr>
              <p:spPr>
                <a:xfrm>
                  <a:off x="10429875" y="30956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5" name="Ellipse 105"/>
                <p:cNvSpPr/>
                <p:nvPr/>
              </p:nvSpPr>
              <p:spPr>
                <a:xfrm>
                  <a:off x="61436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6" name="Ellipse 106"/>
                <p:cNvSpPr/>
                <p:nvPr/>
              </p:nvSpPr>
              <p:spPr>
                <a:xfrm>
                  <a:off x="64293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7" name="Ellipse 107"/>
                <p:cNvSpPr/>
                <p:nvPr/>
              </p:nvSpPr>
              <p:spPr>
                <a:xfrm>
                  <a:off x="67151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8" name="Ellipse 108"/>
                <p:cNvSpPr/>
                <p:nvPr/>
              </p:nvSpPr>
              <p:spPr>
                <a:xfrm>
                  <a:off x="70008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09" name="Ellipse 109"/>
                <p:cNvSpPr/>
                <p:nvPr/>
              </p:nvSpPr>
              <p:spPr>
                <a:xfrm>
                  <a:off x="72866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0" name="Ellipse 110"/>
                <p:cNvSpPr/>
                <p:nvPr/>
              </p:nvSpPr>
              <p:spPr>
                <a:xfrm>
                  <a:off x="75723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1" name="Ellipse 111"/>
                <p:cNvSpPr/>
                <p:nvPr/>
              </p:nvSpPr>
              <p:spPr>
                <a:xfrm>
                  <a:off x="78581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2" name="Ellipse 112"/>
                <p:cNvSpPr/>
                <p:nvPr/>
              </p:nvSpPr>
              <p:spPr>
                <a:xfrm>
                  <a:off x="81438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3" name="Ellipse 113"/>
                <p:cNvSpPr/>
                <p:nvPr/>
              </p:nvSpPr>
              <p:spPr>
                <a:xfrm>
                  <a:off x="84296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4" name="Ellipse 114"/>
                <p:cNvSpPr/>
                <p:nvPr/>
              </p:nvSpPr>
              <p:spPr>
                <a:xfrm>
                  <a:off x="87153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5" name="Ellipse 115"/>
                <p:cNvSpPr/>
                <p:nvPr/>
              </p:nvSpPr>
              <p:spPr>
                <a:xfrm>
                  <a:off x="90011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6" name="Ellipse 116"/>
                <p:cNvSpPr/>
                <p:nvPr/>
              </p:nvSpPr>
              <p:spPr>
                <a:xfrm>
                  <a:off x="92868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7" name="Ellipse 117"/>
                <p:cNvSpPr/>
                <p:nvPr/>
              </p:nvSpPr>
              <p:spPr>
                <a:xfrm>
                  <a:off x="95726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8" name="Ellipse 118"/>
                <p:cNvSpPr/>
                <p:nvPr/>
              </p:nvSpPr>
              <p:spPr>
                <a:xfrm>
                  <a:off x="98583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19" name="Ellipse 119"/>
                <p:cNvSpPr/>
                <p:nvPr/>
              </p:nvSpPr>
              <p:spPr>
                <a:xfrm>
                  <a:off x="1014412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0" name="Ellipse 120"/>
                <p:cNvSpPr/>
                <p:nvPr/>
              </p:nvSpPr>
              <p:spPr>
                <a:xfrm>
                  <a:off x="10429875" y="33813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1" name="Ellipse 121"/>
                <p:cNvSpPr/>
                <p:nvPr/>
              </p:nvSpPr>
              <p:spPr>
                <a:xfrm>
                  <a:off x="61436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2" name="Ellipse 122"/>
                <p:cNvSpPr/>
                <p:nvPr/>
              </p:nvSpPr>
              <p:spPr>
                <a:xfrm>
                  <a:off x="64293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3" name="Ellipse 123"/>
                <p:cNvSpPr/>
                <p:nvPr/>
              </p:nvSpPr>
              <p:spPr>
                <a:xfrm>
                  <a:off x="67151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4" name="Ellipse 124"/>
                <p:cNvSpPr/>
                <p:nvPr/>
              </p:nvSpPr>
              <p:spPr>
                <a:xfrm>
                  <a:off x="70008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5" name="Ellipse 125"/>
                <p:cNvSpPr/>
                <p:nvPr/>
              </p:nvSpPr>
              <p:spPr>
                <a:xfrm>
                  <a:off x="72866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6" name="Ellipse 126"/>
                <p:cNvSpPr/>
                <p:nvPr/>
              </p:nvSpPr>
              <p:spPr>
                <a:xfrm>
                  <a:off x="75723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7" name="Ellipse 127"/>
                <p:cNvSpPr/>
                <p:nvPr/>
              </p:nvSpPr>
              <p:spPr>
                <a:xfrm>
                  <a:off x="78581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8" name="Ellipse 128"/>
                <p:cNvSpPr/>
                <p:nvPr/>
              </p:nvSpPr>
              <p:spPr>
                <a:xfrm>
                  <a:off x="81438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29" name="Ellipse 129"/>
                <p:cNvSpPr/>
                <p:nvPr/>
              </p:nvSpPr>
              <p:spPr>
                <a:xfrm>
                  <a:off x="84296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0" name="Ellipse 130"/>
                <p:cNvSpPr/>
                <p:nvPr/>
              </p:nvSpPr>
              <p:spPr>
                <a:xfrm>
                  <a:off x="87153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1" name="Ellipse 131"/>
                <p:cNvSpPr/>
                <p:nvPr/>
              </p:nvSpPr>
              <p:spPr>
                <a:xfrm>
                  <a:off x="90011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2" name="Ellipse 132"/>
                <p:cNvSpPr/>
                <p:nvPr/>
              </p:nvSpPr>
              <p:spPr>
                <a:xfrm>
                  <a:off x="92868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3" name="Ellipse 133"/>
                <p:cNvSpPr/>
                <p:nvPr/>
              </p:nvSpPr>
              <p:spPr>
                <a:xfrm>
                  <a:off x="95726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4" name="Ellipse 134"/>
                <p:cNvSpPr/>
                <p:nvPr/>
              </p:nvSpPr>
              <p:spPr>
                <a:xfrm>
                  <a:off x="98583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5" name="Ellipse 135"/>
                <p:cNvSpPr/>
                <p:nvPr/>
              </p:nvSpPr>
              <p:spPr>
                <a:xfrm>
                  <a:off x="1014412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6" name="Ellipse 136"/>
                <p:cNvSpPr/>
                <p:nvPr/>
              </p:nvSpPr>
              <p:spPr>
                <a:xfrm>
                  <a:off x="10429875" y="366712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7" name="Ellipse 137"/>
                <p:cNvSpPr/>
                <p:nvPr/>
              </p:nvSpPr>
              <p:spPr>
                <a:xfrm>
                  <a:off x="61436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8" name="Ellipse 138"/>
                <p:cNvSpPr/>
                <p:nvPr/>
              </p:nvSpPr>
              <p:spPr>
                <a:xfrm>
                  <a:off x="64293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39" name="Ellipse 139"/>
                <p:cNvSpPr/>
                <p:nvPr/>
              </p:nvSpPr>
              <p:spPr>
                <a:xfrm>
                  <a:off x="67151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0" name="Ellipse 140"/>
                <p:cNvSpPr/>
                <p:nvPr/>
              </p:nvSpPr>
              <p:spPr>
                <a:xfrm>
                  <a:off x="70008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1" name="Ellipse 141"/>
                <p:cNvSpPr/>
                <p:nvPr/>
              </p:nvSpPr>
              <p:spPr>
                <a:xfrm>
                  <a:off x="72866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2" name="Ellipse 142"/>
                <p:cNvSpPr/>
                <p:nvPr/>
              </p:nvSpPr>
              <p:spPr>
                <a:xfrm>
                  <a:off x="75723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3" name="Ellipse 143"/>
                <p:cNvSpPr/>
                <p:nvPr/>
              </p:nvSpPr>
              <p:spPr>
                <a:xfrm>
                  <a:off x="78581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4" name="Ellipse 144"/>
                <p:cNvSpPr/>
                <p:nvPr/>
              </p:nvSpPr>
              <p:spPr>
                <a:xfrm>
                  <a:off x="81438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5" name="Ellipse 145"/>
                <p:cNvSpPr/>
                <p:nvPr/>
              </p:nvSpPr>
              <p:spPr>
                <a:xfrm>
                  <a:off x="84296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6" name="Ellipse 146"/>
                <p:cNvSpPr/>
                <p:nvPr/>
              </p:nvSpPr>
              <p:spPr>
                <a:xfrm>
                  <a:off x="87153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7" name="Ellipse 147"/>
                <p:cNvSpPr/>
                <p:nvPr/>
              </p:nvSpPr>
              <p:spPr>
                <a:xfrm>
                  <a:off x="90011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8" name="Ellipse 148"/>
                <p:cNvSpPr/>
                <p:nvPr/>
              </p:nvSpPr>
              <p:spPr>
                <a:xfrm>
                  <a:off x="92868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49" name="Ellipse 149"/>
                <p:cNvSpPr/>
                <p:nvPr/>
              </p:nvSpPr>
              <p:spPr>
                <a:xfrm>
                  <a:off x="95726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50" name="Ellipse 150"/>
                <p:cNvSpPr/>
                <p:nvPr/>
              </p:nvSpPr>
              <p:spPr>
                <a:xfrm>
                  <a:off x="98583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51" name="Ellipse 151"/>
                <p:cNvSpPr/>
                <p:nvPr/>
              </p:nvSpPr>
              <p:spPr>
                <a:xfrm>
                  <a:off x="1014412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  <p:sp>
              <p:nvSpPr>
                <p:cNvPr id="152" name="Ellipse 152"/>
                <p:cNvSpPr/>
                <p:nvPr/>
              </p:nvSpPr>
              <p:spPr>
                <a:xfrm>
                  <a:off x="10429875" y="3952875"/>
                  <a:ext cx="190500" cy="190500"/>
                </a:xfrm>
                <a:prstGeom prst="ellipse">
                  <a:avLst/>
                </a:prstGeom>
                <a:solidFill>
                  <a:srgbClr val="EDE5D5"/>
                </a:solidFill>
                <a:ln>
                  <a:noFill/>
                </a:ln>
              </p:spPr>
            </p:sp>
          </p:grpSp>
          <p:sp>
            <p:nvSpPr>
              <p:cNvPr id="154" name="Ellipse 154"/>
              <p:cNvSpPr/>
              <p:nvPr/>
            </p:nvSpPr>
            <p:spPr>
              <a:xfrm>
                <a:off x="6477000" y="4572000"/>
                <a:ext cx="190500" cy="1905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6749415" y="4601528"/>
                <a:ext cx="10771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激活的16个专家</a:t>
                </a:r>
              </a:p>
            </p:txBody>
          </p:sp>
          <p:sp>
            <p:nvSpPr>
              <p:cNvPr id="156" name="Ellipse 156"/>
              <p:cNvSpPr/>
              <p:nvPr/>
            </p:nvSpPr>
            <p:spPr>
              <a:xfrm>
                <a:off x="8382000" y="4572000"/>
                <a:ext cx="190500" cy="190500"/>
              </a:xfrm>
              <a:prstGeom prst="ellipse">
                <a:avLst/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57" name="TextBox 157"/>
              <p:cNvSpPr txBox="1"/>
              <p:nvPr/>
            </p:nvSpPr>
            <p:spPr>
              <a:xfrm>
                <a:off x="8654415" y="4601528"/>
                <a:ext cx="13531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未激活的880个专家</a:t>
                </a:r>
              </a:p>
            </p:txBody>
          </p:sp>
          <p:sp>
            <p:nvSpPr>
              <p:cNvPr id="158" name="Rectangle 158"/>
              <p:cNvSpPr/>
              <p:nvPr/>
            </p:nvSpPr>
            <p:spPr>
              <a:xfrm>
                <a:off x="6286500" y="4953000"/>
                <a:ext cx="43815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59" name="Rectangle 159"/>
              <p:cNvSpPr/>
              <p:nvPr/>
            </p:nvSpPr>
            <p:spPr>
              <a:xfrm>
                <a:off x="6286500" y="4953000"/>
                <a:ext cx="266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0" name="TextBox 160"/>
              <p:cNvSpPr txBox="1"/>
              <p:nvPr/>
            </p:nvSpPr>
            <p:spPr>
              <a:xfrm>
                <a:off x="6723364" y="5173028"/>
                <a:ext cx="3507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仅 1.8% 的专家被激活 · 实际干活参数远小于总参数</a:t>
                </a:r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7306104" y="5506402"/>
                <a:ext cx="23422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原生支持视觉理解——能看图和视频</a:t>
                </a:r>
              </a:p>
            </p:txBody>
          </p:sp>
        </p:grpSp>
        <p:sp>
          <p:nvSpPr>
            <p:cNvPr id="163" name="TextBox 163"/>
            <p:cNvSpPr txBox="1"/>
            <p:nvPr/>
          </p:nvSpPr>
          <p:spPr>
            <a:xfrm>
              <a:off x="560070" y="61893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数据来源：月之暗面官方技术报告</a:t>
              </a:r>
            </a:p>
          </p:txBody>
        </p:sp>
      </p:grpSp>
      <p:sp>
        <p:nvSpPr>
          <p:cNvPr id="165" name="TextBox 165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539115" y="343852"/>
            <a:ext cx="11081385" cy="5837873"/>
            <a:chOff x="539115" y="343852"/>
            <a:chExt cx="11081385" cy="5837873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35842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成绩单：四项硬数据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1320694" y="409575"/>
              <a:ext cx="275616" cy="284725"/>
              <a:chOff x="11320694" y="409575"/>
              <a:chExt cx="275616" cy="28472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1466662" y="580782"/>
                <a:ext cx="129648" cy="113518"/>
              </a:xfrm>
              <a:custGeom>
                <a:avLst/>
                <a:gdLst/>
                <a:ahLst/>
                <a:cxnLst/>
                <a:rect l="l" t="t" r="r" b="b"/>
                <a:pathLst>
                  <a:path w="129648" h="113518">
                    <a:moveTo>
                      <a:pt x="99012" y="0"/>
                    </a:moveTo>
                    <a:lnTo>
                      <a:pt x="127102" y="48663"/>
                    </a:lnTo>
                    <a:cubicBezTo>
                      <a:pt x="129448" y="52730"/>
                      <a:pt x="129648" y="57690"/>
                      <a:pt x="127638" y="61933"/>
                    </a:cubicBezTo>
                    <a:cubicBezTo>
                      <a:pt x="125628" y="66177"/>
                      <a:pt x="121662" y="69163"/>
                      <a:pt x="117029" y="69923"/>
                    </a:cubicBezTo>
                    <a:lnTo>
                      <a:pt x="115414" y="70080"/>
                    </a:lnTo>
                    <a:lnTo>
                      <a:pt x="113814" y="70066"/>
                    </a:lnTo>
                    <a:lnTo>
                      <a:pt x="71909" y="67351"/>
                    </a:lnTo>
                    <a:lnTo>
                      <a:pt x="53292" y="105013"/>
                    </a:lnTo>
                    <a:cubicBezTo>
                      <a:pt x="51242" y="109151"/>
                      <a:pt x="47320" y="112044"/>
                      <a:pt x="42761" y="112781"/>
                    </a:cubicBezTo>
                    <a:cubicBezTo>
                      <a:pt x="38202" y="113518"/>
                      <a:pt x="33568" y="112008"/>
                      <a:pt x="30318" y="108728"/>
                    </a:cubicBezTo>
                    <a:lnTo>
                      <a:pt x="29147" y="107385"/>
                    </a:lnTo>
                    <a:lnTo>
                      <a:pt x="28118" y="105813"/>
                    </a:lnTo>
                    <a:lnTo>
                      <a:pt x="0" y="57136"/>
                    </a:lnTo>
                    <a:cubicBezTo>
                      <a:pt x="40125" y="54628"/>
                      <a:pt x="76763" y="33485"/>
                      <a:pt x="99012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20694" y="580768"/>
                <a:ext cx="129737" cy="113375"/>
              </a:xfrm>
              <a:custGeom>
                <a:avLst/>
                <a:gdLst/>
                <a:ahLst/>
                <a:cxnLst/>
                <a:rect l="l" t="t" r="r" b="b"/>
                <a:pathLst>
                  <a:path w="129737" h="113375">
                    <a:moveTo>
                      <a:pt x="129737" y="57150"/>
                    </a:moveTo>
                    <a:lnTo>
                      <a:pt x="101648" y="105842"/>
                    </a:lnTo>
                    <a:cubicBezTo>
                      <a:pt x="99339" y="109844"/>
                      <a:pt x="95238" y="112484"/>
                      <a:pt x="90639" y="112929"/>
                    </a:cubicBezTo>
                    <a:cubicBezTo>
                      <a:pt x="86039" y="113375"/>
                      <a:pt x="81508" y="111570"/>
                      <a:pt x="78474" y="108085"/>
                    </a:cubicBezTo>
                    <a:lnTo>
                      <a:pt x="77388" y="106656"/>
                    </a:lnTo>
                    <a:lnTo>
                      <a:pt x="76474" y="105027"/>
                    </a:lnTo>
                    <a:lnTo>
                      <a:pt x="57843" y="67380"/>
                    </a:lnTo>
                    <a:lnTo>
                      <a:pt x="15966" y="70094"/>
                    </a:lnTo>
                    <a:cubicBezTo>
                      <a:pt x="11284" y="70396"/>
                      <a:pt x="6752" y="68381"/>
                      <a:pt x="3838" y="64703"/>
                    </a:cubicBezTo>
                    <a:cubicBezTo>
                      <a:pt x="924" y="61026"/>
                      <a:pt x="0" y="56153"/>
                      <a:pt x="1364" y="51664"/>
                    </a:cubicBezTo>
                    <a:lnTo>
                      <a:pt x="1936" y="50135"/>
                    </a:lnTo>
                    <a:lnTo>
                      <a:pt x="2650" y="48706"/>
                    </a:lnTo>
                    <a:lnTo>
                      <a:pt x="30768" y="0"/>
                    </a:lnTo>
                    <a:cubicBezTo>
                      <a:pt x="53002" y="33484"/>
                      <a:pt x="89623" y="54637"/>
                      <a:pt x="129737" y="5716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58562" y="409575"/>
                <a:ext cx="200027" cy="200111"/>
              </a:xfrm>
              <a:custGeom>
                <a:avLst/>
                <a:gdLst/>
                <a:ahLst/>
                <a:cxnLst/>
                <a:rect l="l" t="t" r="r" b="b"/>
                <a:pathLst>
                  <a:path w="200027" h="200111">
                    <a:moveTo>
                      <a:pt x="100013" y="0"/>
                    </a:moveTo>
                    <a:lnTo>
                      <a:pt x="103442" y="57"/>
                    </a:lnTo>
                    <a:cubicBezTo>
                      <a:pt x="157312" y="1905"/>
                      <a:pt x="200027" y="46111"/>
                      <a:pt x="200026" y="100012"/>
                    </a:cubicBezTo>
                    <a:lnTo>
                      <a:pt x="199983" y="102770"/>
                    </a:lnTo>
                    <a:lnTo>
                      <a:pt x="199883" y="105513"/>
                    </a:lnTo>
                    <a:lnTo>
                      <a:pt x="199626" y="109014"/>
                    </a:lnTo>
                    <a:lnTo>
                      <a:pt x="199254" y="112471"/>
                    </a:lnTo>
                    <a:lnTo>
                      <a:pt x="198911" y="115014"/>
                    </a:lnTo>
                    <a:cubicBezTo>
                      <a:pt x="197971" y="121182"/>
                      <a:pt x="196455" y="127247"/>
                      <a:pt x="194382" y="133131"/>
                    </a:cubicBezTo>
                    <a:lnTo>
                      <a:pt x="192725" y="137531"/>
                    </a:lnTo>
                    <a:lnTo>
                      <a:pt x="190539" y="142504"/>
                    </a:lnTo>
                    <a:cubicBezTo>
                      <a:pt x="174026" y="177681"/>
                      <a:pt x="138632" y="200111"/>
                      <a:pt x="99772" y="200025"/>
                    </a:cubicBezTo>
                    <a:cubicBezTo>
                      <a:pt x="60911" y="199939"/>
                      <a:pt x="25617" y="177354"/>
                      <a:pt x="9259" y="142103"/>
                    </a:cubicBezTo>
                    <a:lnTo>
                      <a:pt x="7402" y="137860"/>
                    </a:lnTo>
                    <a:lnTo>
                      <a:pt x="6659" y="135960"/>
                    </a:lnTo>
                    <a:lnTo>
                      <a:pt x="5516" y="132859"/>
                    </a:lnTo>
                    <a:lnTo>
                      <a:pt x="4159" y="128659"/>
                    </a:lnTo>
                    <a:cubicBezTo>
                      <a:pt x="3674" y="127032"/>
                      <a:pt x="3231" y="125393"/>
                      <a:pt x="2830" y="123744"/>
                    </a:cubicBezTo>
                    <a:lnTo>
                      <a:pt x="1973" y="119872"/>
                    </a:lnTo>
                    <a:lnTo>
                      <a:pt x="1272" y="116000"/>
                    </a:lnTo>
                    <a:lnTo>
                      <a:pt x="987" y="114014"/>
                    </a:lnTo>
                    <a:lnTo>
                      <a:pt x="430" y="109399"/>
                    </a:lnTo>
                    <a:lnTo>
                      <a:pt x="87" y="104184"/>
                    </a:lnTo>
                    <a:lnTo>
                      <a:pt x="1" y="100012"/>
                    </a:lnTo>
                    <a:cubicBezTo>
                      <a:pt x="0" y="46111"/>
                      <a:pt x="42715" y="1905"/>
                      <a:pt x="96584" y="57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1143000"/>
              <a:ext cx="11049000" cy="4457700"/>
              <a:chOff x="571500" y="1143000"/>
              <a:chExt cx="11049000" cy="44577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143000"/>
                <a:ext cx="11049000" cy="1028700"/>
              </a:xfrm>
              <a:prstGeom prst="roundRect">
                <a:avLst>
                  <a:gd name="adj" fmla="val 1111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4385" y="1346835"/>
                <a:ext cx="28368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Frontend Code Arena 前端代码榜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2476500" y="1619250"/>
                <a:ext cx="66675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476500" y="1619250"/>
                <a:ext cx="6667500" cy="2286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8B6F47"/>
                  </a:gs>
                  <a:gs pos="100000">
                    <a:srgbClr val="E8A87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307830" y="1573530"/>
                <a:ext cx="68131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1679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0096500" y="1619250"/>
                <a:ext cx="952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261330" y="170449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全球第一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8195" y="1950720"/>
                <a:ext cx="55041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开源模型首次在权威编程榜超过全部海外闭源模型 · 压过 Fable 5 (1631) / GPT-5.6 Sol (1618)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71500" y="2286000"/>
                <a:ext cx="11049000" cy="1028700"/>
              </a:xfrm>
              <a:prstGeom prst="roundRect">
                <a:avLst>
                  <a:gd name="adj" fmla="val 1111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94385" y="2489835"/>
                <a:ext cx="24227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Artificial Analysis 智能指数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476500" y="2762250"/>
                <a:ext cx="66675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476500" y="2762250"/>
                <a:ext cx="4533900" cy="2286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8B6F47"/>
                  </a:gs>
                  <a:gs pos="100000">
                    <a:srgbClr val="E8A87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174230" y="2716530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57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810500" y="2762250"/>
                <a:ext cx="952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975330" y="284749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全球第三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98195" y="3093720"/>
                <a:ext cx="28752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仅次于 Claude Fable 5 (60) / GPT-5.6 Sol (59)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71500" y="3429000"/>
                <a:ext cx="11049000" cy="1028700"/>
              </a:xfrm>
              <a:prstGeom prst="roundRect">
                <a:avLst>
                  <a:gd name="adj" fmla="val 1111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94385" y="3632835"/>
                <a:ext cx="231236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GDPval-AA v2 真实经济任务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476500" y="3905250"/>
                <a:ext cx="66675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476500" y="3905250"/>
                <a:ext cx="5867400" cy="2286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8B6F47"/>
                  </a:gs>
                  <a:gs pos="100000">
                    <a:srgbClr val="E8A87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507730" y="3859530"/>
                <a:ext cx="68131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1668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9144000" y="3905250"/>
                <a:ext cx="1333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159175" y="3990499"/>
                <a:ext cx="1303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全球第四·开源最高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98195" y="4236720"/>
                <a:ext cx="17842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来源：GDPval-AA v2 基准测试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571500" y="4572000"/>
                <a:ext cx="11049000" cy="1028700"/>
              </a:xfrm>
              <a:prstGeom prst="roundRect">
                <a:avLst>
                  <a:gd name="adj" fmla="val 11111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94385" y="4775835"/>
                <a:ext cx="2091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BrowseComp 长周期检索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2476500" y="5048250"/>
                <a:ext cx="66675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476500" y="5048250"/>
                <a:ext cx="6267450" cy="2286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8B6F47"/>
                  </a:gs>
                  <a:gs pos="100000">
                    <a:srgbClr val="E8A87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907780" y="5002530"/>
                <a:ext cx="68131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91.2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9525000" y="5048250"/>
                <a:ext cx="952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689830" y="513349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全球第一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8195" y="5379720"/>
                <a:ext cx="17579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来源：BrowseComp 基准测试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560070" y="5998845"/>
              <a:ext cx="51623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数据来源：Artificial Analysis / Frontend Code Arena / GDPval-AA v2 / BrowseComp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539115" y="343852"/>
            <a:ext cx="11271885" cy="5999798"/>
            <a:chOff x="539115" y="343852"/>
            <a:chExt cx="11271885" cy="599979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35842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Kimi K3 vs 闭源双雄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71500" y="1047750"/>
              <a:ext cx="11239500" cy="4810125"/>
              <a:chOff x="571500" y="1047750"/>
              <a:chExt cx="11239500" cy="4810125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047750"/>
                <a:ext cx="2667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613726" y="1280160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对比项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3429000" y="1047750"/>
                <a:ext cx="2667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4403762" y="1187768"/>
                <a:ext cx="7174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Kimi K3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3905250" y="1447800"/>
                <a:ext cx="762000" cy="171450"/>
              </a:xfrm>
              <a:prstGeom prst="roundRect">
                <a:avLst>
                  <a:gd name="adj" fmla="val 50000"/>
                </a:avLst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155281" y="1482566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开源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6286500" y="1047750"/>
                <a:ext cx="2667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5D4E37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909318" y="1187768"/>
                <a:ext cx="142136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Claude Fable 5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143750" y="1447800"/>
                <a:ext cx="762000" cy="171450"/>
              </a:xfrm>
              <a:prstGeom prst="roundRect">
                <a:avLst>
                  <a:gd name="adj" fmla="val 50000"/>
                </a:avLst>
              </a:prstGeom>
              <a:solidFill>
                <a:srgbClr val="8B7D6B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393781" y="1482566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闭源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9144000" y="1047750"/>
                <a:ext cx="2667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5D4E37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85858" y="1187768"/>
                <a:ext cx="11832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GPT-5.6 Sol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0001250" y="1447800"/>
                <a:ext cx="762000" cy="171450"/>
              </a:xfrm>
              <a:prstGeom prst="roundRect">
                <a:avLst>
                  <a:gd name="adj" fmla="val 50000"/>
                </a:avLst>
              </a:prstGeom>
              <a:solidFill>
                <a:srgbClr val="8B7D6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51281" y="1482566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闭源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1762125"/>
                <a:ext cx="11239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73289" y="2012156"/>
                <a:ext cx="16634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Frontend Code Arena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70506" y="1939290"/>
                <a:ext cx="58398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6B8E5A"/>
                    </a:solidFill>
                    <a:latin typeface="Georgia"/>
                    <a:ea typeface="Microsoft YaHei"/>
                    <a:cs typeface="Georgia"/>
                  </a:rPr>
                  <a:t>1679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73684" y="1939290"/>
                <a:ext cx="49263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1631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231183" y="1939290"/>
                <a:ext cx="49263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1618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71500" y="2476500"/>
                <a:ext cx="11239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447086" y="2726531"/>
                <a:ext cx="91582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AA 智能指数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95050" y="2653665"/>
                <a:ext cx="33489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57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45321" y="2653665"/>
                <a:ext cx="3493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6B8E5A"/>
                    </a:solidFill>
                    <a:latin typeface="Georgia"/>
                    <a:ea typeface="Microsoft YaHei"/>
                    <a:cs typeface="Georgia"/>
                  </a:rPr>
                  <a:t>60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310050" y="2653665"/>
                <a:ext cx="33489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59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71500" y="3190875"/>
                <a:ext cx="11239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389578" y="3440906"/>
                <a:ext cx="10308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GDPval-AA v2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83322" y="3368040"/>
                <a:ext cx="55835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1668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524845" y="336804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—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382345" y="336804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—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71500" y="3905250"/>
                <a:ext cx="11239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406009" y="4155281"/>
                <a:ext cx="9979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BrowseComp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470506" y="4082415"/>
                <a:ext cx="58398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6B8E5A"/>
                    </a:solidFill>
                    <a:latin typeface="Georgia"/>
                    <a:ea typeface="Microsoft YaHei"/>
                    <a:cs typeface="Georgia"/>
                  </a:rPr>
                  <a:t>91.2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24845" y="4082415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—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382345" y="4082415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5D4E37"/>
                    </a:solidFill>
                    <a:latin typeface="Georgia"/>
                    <a:ea typeface="Microsoft YaHei"/>
                    <a:cs typeface="Georgia"/>
                  </a:rPr>
                  <a:t>—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571500" y="4619625"/>
                <a:ext cx="11239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467624" y="4869656"/>
                <a:ext cx="8747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开源 / 闭源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4537075" y="4836897"/>
                <a:ext cx="233696" cy="234079"/>
              </a:xfrm>
              <a:custGeom>
                <a:avLst/>
                <a:gdLst/>
                <a:ahLst/>
                <a:cxnLst/>
                <a:rect l="l" t="t" r="r" b="b"/>
                <a:pathLst>
                  <a:path w="233696" h="234079">
                    <a:moveTo>
                      <a:pt x="166688" y="19868"/>
                    </a:moveTo>
                    <a:cubicBezTo>
                      <a:pt x="212998" y="46607"/>
                      <a:pt x="233696" y="102539"/>
                      <a:pt x="215949" y="152983"/>
                    </a:cubicBezTo>
                    <a:cubicBezTo>
                      <a:pt x="198202" y="203428"/>
                      <a:pt x="147043" y="234079"/>
                      <a:pt x="94192" y="225932"/>
                    </a:cubicBezTo>
                    <a:cubicBezTo>
                      <a:pt x="41341" y="217785"/>
                      <a:pt x="1788" y="173150"/>
                      <a:pt x="56" y="119703"/>
                    </a:cubicBezTo>
                    <a:lnTo>
                      <a:pt x="0" y="116103"/>
                    </a:lnTo>
                    <a:lnTo>
                      <a:pt x="56" y="112502"/>
                    </a:lnTo>
                    <a:cubicBezTo>
                      <a:pt x="1321" y="73464"/>
                      <a:pt x="22990" y="37956"/>
                      <a:pt x="57128" y="18978"/>
                    </a:cubicBezTo>
                    <a:cubicBezTo>
                      <a:pt x="91267" y="0"/>
                      <a:pt x="132862" y="338"/>
                      <a:pt x="166688" y="19868"/>
                    </a:cubicBezTo>
                    <a:close/>
                    <a:moveTo>
                      <a:pt x="152319" y="86021"/>
                    </a:moveTo>
                    <a:cubicBezTo>
                      <a:pt x="148360" y="82063"/>
                      <a:pt x="142074" y="81667"/>
                      <a:pt x="137651" y="85099"/>
                    </a:cubicBezTo>
                    <a:lnTo>
                      <a:pt x="136606" y="86021"/>
                    </a:lnTo>
                    <a:lnTo>
                      <a:pt x="100012" y="122604"/>
                    </a:lnTo>
                    <a:lnTo>
                      <a:pt x="85644" y="108246"/>
                    </a:lnTo>
                    <a:lnTo>
                      <a:pt x="84599" y="107324"/>
                    </a:lnTo>
                    <a:cubicBezTo>
                      <a:pt x="80176" y="103895"/>
                      <a:pt x="73892" y="104291"/>
                      <a:pt x="69934" y="108249"/>
                    </a:cubicBezTo>
                    <a:cubicBezTo>
                      <a:pt x="65976" y="112207"/>
                      <a:pt x="65580" y="118491"/>
                      <a:pt x="69009" y="122915"/>
                    </a:cubicBezTo>
                    <a:lnTo>
                      <a:pt x="69931" y="123959"/>
                    </a:lnTo>
                    <a:lnTo>
                      <a:pt x="92156" y="146184"/>
                    </a:lnTo>
                    <a:lnTo>
                      <a:pt x="93201" y="147107"/>
                    </a:lnTo>
                    <a:cubicBezTo>
                      <a:pt x="97209" y="150217"/>
                      <a:pt x="102816" y="150217"/>
                      <a:pt x="106824" y="147107"/>
                    </a:cubicBezTo>
                    <a:lnTo>
                      <a:pt x="107869" y="146184"/>
                    </a:lnTo>
                    <a:lnTo>
                      <a:pt x="152319" y="101734"/>
                    </a:lnTo>
                    <a:lnTo>
                      <a:pt x="153241" y="100690"/>
                    </a:lnTo>
                    <a:cubicBezTo>
                      <a:pt x="156673" y="96266"/>
                      <a:pt x="156278" y="89980"/>
                      <a:pt x="152319" y="86021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891088" y="4869656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开放权重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441406" y="4869656"/>
                <a:ext cx="3571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闭源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98906" y="4869656"/>
                <a:ext cx="3571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闭源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571500" y="5334000"/>
                <a:ext cx="1123950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8B6F47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730645" y="554450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态度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744706" y="5544502"/>
                <a:ext cx="20355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"整体仍落后于最强闭源模型"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564493" y="5544502"/>
                <a:ext cx="1110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421993" y="5544502"/>
                <a:ext cx="1110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</p:grpSp>
        <p:sp>
          <p:nvSpPr>
            <p:cNvPr id="51" name="Rectangle 51"/>
            <p:cNvSpPr/>
            <p:nvPr/>
          </p:nvSpPr>
          <p:spPr>
            <a:xfrm>
              <a:off x="571500" y="6000750"/>
              <a:ext cx="11049000" cy="342900"/>
            </a:xfrm>
            <a:prstGeom prst="roundRect">
              <a:avLst>
                <a:gd name="adj" fmla="val 22222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801547" y="6116002"/>
              <a:ext cx="4588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敢公开说自己不如人，这本身就很中国 AI 新势力 · 绿色 = 该行最优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1143000" y="486728"/>
            <a:ext cx="9906000" cy="5833110"/>
            <a:chOff x="1143000" y="486728"/>
            <a:chExt cx="9906000" cy="5833110"/>
          </a:xfrm>
        </p:grpSpPr>
        <p:sp>
          <p:nvSpPr>
            <p:cNvPr id="3" name="TextBox 3"/>
            <p:cNvSpPr txBox="1"/>
            <p:nvPr/>
          </p:nvSpPr>
          <p:spPr>
            <a:xfrm>
              <a:off x="3003658" y="486728"/>
              <a:ext cx="618468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I-Love-Q 中子星测试：真实生产力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88582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143000" y="1333500"/>
              <a:ext cx="4191000" cy="2857500"/>
              <a:chOff x="1143000" y="1333500"/>
              <a:chExt cx="4191000" cy="28575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1143000" y="1333500"/>
                <a:ext cx="4191000" cy="2857500"/>
              </a:xfrm>
              <a:prstGeom prst="roundRect">
                <a:avLst>
                  <a:gd name="adj" fmla="val 6667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2857500" y="1648817"/>
                <a:ext cx="400622" cy="401278"/>
              </a:xfrm>
              <a:custGeom>
                <a:avLst/>
                <a:gdLst/>
                <a:ahLst/>
                <a:cxnLst/>
                <a:rect l="l" t="t" r="r" b="b"/>
                <a:pathLst>
                  <a:path w="400622" h="401278">
                    <a:moveTo>
                      <a:pt x="285750" y="34060"/>
                    </a:moveTo>
                    <a:cubicBezTo>
                      <a:pt x="365139" y="79898"/>
                      <a:pt x="400622" y="175780"/>
                      <a:pt x="370199" y="262257"/>
                    </a:cubicBezTo>
                    <a:cubicBezTo>
                      <a:pt x="339775" y="348733"/>
                      <a:pt x="252074" y="401278"/>
                      <a:pt x="161473" y="387312"/>
                    </a:cubicBezTo>
                    <a:cubicBezTo>
                      <a:pt x="70871" y="373345"/>
                      <a:pt x="3064" y="296829"/>
                      <a:pt x="95" y="205205"/>
                    </a:cubicBezTo>
                    <a:lnTo>
                      <a:pt x="0" y="199033"/>
                    </a:lnTo>
                    <a:lnTo>
                      <a:pt x="95" y="192861"/>
                    </a:lnTo>
                    <a:cubicBezTo>
                      <a:pt x="2265" y="125938"/>
                      <a:pt x="39411" y="65068"/>
                      <a:pt x="97934" y="32534"/>
                    </a:cubicBezTo>
                    <a:cubicBezTo>
                      <a:pt x="156457" y="0"/>
                      <a:pt x="227764" y="579"/>
                      <a:pt x="285750" y="34060"/>
                    </a:cubicBezTo>
                    <a:close/>
                    <a:moveTo>
                      <a:pt x="190500" y="84733"/>
                    </a:moveTo>
                    <a:cubicBezTo>
                      <a:pt x="180842" y="84735"/>
                      <a:pt x="172713" y="91963"/>
                      <a:pt x="171583" y="101554"/>
                    </a:cubicBezTo>
                    <a:lnTo>
                      <a:pt x="171450" y="103783"/>
                    </a:lnTo>
                    <a:lnTo>
                      <a:pt x="171450" y="199033"/>
                    </a:lnTo>
                    <a:lnTo>
                      <a:pt x="171621" y="201529"/>
                    </a:lnTo>
                    <a:cubicBezTo>
                      <a:pt x="172056" y="204834"/>
                      <a:pt x="173350" y="207967"/>
                      <a:pt x="175374" y="210616"/>
                    </a:cubicBezTo>
                    <a:lnTo>
                      <a:pt x="177032" y="212521"/>
                    </a:lnTo>
                    <a:lnTo>
                      <a:pt x="234182" y="269671"/>
                    </a:lnTo>
                    <a:lnTo>
                      <a:pt x="235972" y="271233"/>
                    </a:lnTo>
                    <a:cubicBezTo>
                      <a:pt x="242845" y="276565"/>
                      <a:pt x="252455" y="276565"/>
                      <a:pt x="259328" y="271233"/>
                    </a:cubicBezTo>
                    <a:lnTo>
                      <a:pt x="261118" y="269652"/>
                    </a:lnTo>
                    <a:lnTo>
                      <a:pt x="262699" y="267861"/>
                    </a:lnTo>
                    <a:cubicBezTo>
                      <a:pt x="268031" y="260989"/>
                      <a:pt x="268031" y="251378"/>
                      <a:pt x="262699" y="244506"/>
                    </a:cubicBezTo>
                    <a:lnTo>
                      <a:pt x="261118" y="242715"/>
                    </a:lnTo>
                    <a:lnTo>
                      <a:pt x="209550" y="191127"/>
                    </a:lnTo>
                    <a:lnTo>
                      <a:pt x="209550" y="103783"/>
                    </a:lnTo>
                    <a:lnTo>
                      <a:pt x="209417" y="101554"/>
                    </a:lnTo>
                    <a:cubicBezTo>
                      <a:pt x="208287" y="91963"/>
                      <a:pt x="200158" y="84735"/>
                      <a:pt x="190500" y="84733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598010" y="1954530"/>
                <a:ext cx="1280979" cy="1341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600" b="1" dirty="0">
                    <a:solidFill>
                      <a:srgbClr val="8B6F47"/>
                    </a:solidFill>
                    <a:latin typeface="Georgia"/>
                    <a:ea typeface="Microsoft YaHei"/>
                    <a:cs typeface="Georgia"/>
                  </a:rPr>
                  <a:t>2h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575370" y="2886075"/>
                <a:ext cx="132626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Kimi K3 完成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2000250" y="3238500"/>
                <a:ext cx="2476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6B8E5A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534126" y="3326606"/>
                <a:ext cx="14087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自主完成全部研究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863095" y="26936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8B7D6B"/>
                  </a:solidFill>
                  <a:latin typeface="Georgia"/>
                  <a:ea typeface="Microsoft YaHei"/>
                  <a:cs typeface="Georgia"/>
                </a:rPr>
                <a:t>vs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858000" y="1333500"/>
              <a:ext cx="4191000" cy="2857500"/>
              <a:chOff x="6858000" y="1333500"/>
              <a:chExt cx="4191000" cy="2857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0" y="1333500"/>
                <a:ext cx="4191000" cy="2857500"/>
              </a:xfrm>
              <a:prstGeom prst="roundRect">
                <a:avLst>
                  <a:gd name="adj" fmla="val 6667"/>
                </a:avLst>
              </a:prstGeom>
              <a:solidFill>
                <a:srgbClr val="FAF7F2"/>
              </a:solidFill>
              <a:ln w="14288">
                <a:solidFill>
                  <a:srgbClr val="EDE5D5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8629650" y="1657350"/>
                <a:ext cx="266700" cy="381000"/>
                <a:chOff x="8629650" y="1657350"/>
                <a:chExt cx="266700" cy="3810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667750" y="16573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95250" y="0"/>
                      </a:moveTo>
                      <a:cubicBezTo>
                        <a:pt x="147855" y="0"/>
                        <a:pt x="190500" y="42645"/>
                        <a:pt x="190500" y="95250"/>
                      </a:cubicBezTo>
                      <a:cubicBezTo>
                        <a:pt x="190500" y="147855"/>
                        <a:pt x="147855" y="190500"/>
                        <a:pt x="95250" y="190500"/>
                      </a:cubicBezTo>
                      <a:cubicBezTo>
                        <a:pt x="42645" y="190500"/>
                        <a:pt x="0" y="147855"/>
                        <a:pt x="0" y="95250"/>
                      </a:cubicBezTo>
                      <a:lnTo>
                        <a:pt x="95" y="91116"/>
                      </a:lnTo>
                      <a:cubicBezTo>
                        <a:pt x="2308" y="40169"/>
                        <a:pt x="44255" y="3"/>
                        <a:pt x="95250" y="0"/>
                      </a:cubicBezTo>
                      <a:close/>
                    </a:path>
                  </a:pathLst>
                </a:custGeom>
                <a:solidFill>
                  <a:srgbClr val="8B7D6B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629650" y="1885950"/>
                  <a:ext cx="2667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2400">
                      <a:moveTo>
                        <a:pt x="171450" y="0"/>
                      </a:moveTo>
                      <a:cubicBezTo>
                        <a:pt x="224055" y="0"/>
                        <a:pt x="266700" y="42645"/>
                        <a:pt x="266700" y="95250"/>
                      </a:cubicBezTo>
                      <a:lnTo>
                        <a:pt x="266700" y="114300"/>
                      </a:lnTo>
                      <a:cubicBezTo>
                        <a:pt x="266700" y="135342"/>
                        <a:pt x="249642" y="152400"/>
                        <a:pt x="228600" y="152400"/>
                      </a:cubicBezTo>
                      <a:lnTo>
                        <a:pt x="38100" y="152400"/>
                      </a:lnTo>
                      <a:cubicBezTo>
                        <a:pt x="17058" y="152400"/>
                        <a:pt x="0" y="135342"/>
                        <a:pt x="0" y="114300"/>
                      </a:cubicBezTo>
                      <a:lnTo>
                        <a:pt x="0" y="95250"/>
                      </a:lnTo>
                      <a:cubicBezTo>
                        <a:pt x="0" y="42645"/>
                        <a:pt x="42645" y="0"/>
                        <a:pt x="95250" y="0"/>
                      </a:cubicBezTo>
                      <a:lnTo>
                        <a:pt x="171450" y="0"/>
                      </a:lnTo>
                      <a:close/>
                    </a:path>
                  </a:pathLst>
                </a:custGeom>
                <a:solidFill>
                  <a:srgbClr val="8B7D6B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8009230" y="2148840"/>
                <a:ext cx="1888541" cy="975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rgbClr val="8B7D6B"/>
                    </a:solidFill>
                    <a:latin typeface="Georgia"/>
                    <a:ea typeface="Microsoft YaHei"/>
                    <a:cs typeface="Georgia"/>
                  </a:rPr>
                  <a:t>1-2周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29349" y="2886075"/>
                <a:ext cx="16483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资深研究者完成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715250" y="3238500"/>
                <a:ext cx="2476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8B7D6B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64141" y="3326606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同等质量的研究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1143000" y="4476750"/>
              <a:ext cx="99060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08760" y="4680585"/>
              <a:ext cx="2542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I-Love-Q 中子星普适关系测试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539875" y="5027464"/>
              <a:ext cx="158750" cy="132266"/>
            </a:xfrm>
            <a:custGeom>
              <a:avLst/>
              <a:gdLst/>
              <a:ahLst/>
              <a:cxnLst/>
              <a:rect l="l" t="t" r="r" b="b"/>
              <a:pathLst>
                <a:path w="158750" h="132266">
                  <a:moveTo>
                    <a:pt x="154781" y="13913"/>
                  </a:moveTo>
                  <a:cubicBezTo>
                    <a:pt x="156949" y="15164"/>
                    <a:pt x="158399" y="17364"/>
                    <a:pt x="158694" y="19850"/>
                  </a:cubicBezTo>
                  <a:lnTo>
                    <a:pt x="158750" y="20786"/>
                  </a:lnTo>
                  <a:lnTo>
                    <a:pt x="158750" y="123974"/>
                  </a:lnTo>
                  <a:cubicBezTo>
                    <a:pt x="158750" y="126810"/>
                    <a:pt x="157237" y="129430"/>
                    <a:pt x="154781" y="130848"/>
                  </a:cubicBezTo>
                  <a:cubicBezTo>
                    <a:pt x="152325" y="132266"/>
                    <a:pt x="149300" y="132266"/>
                    <a:pt x="146844" y="130848"/>
                  </a:cubicBezTo>
                  <a:cubicBezTo>
                    <a:pt x="128582" y="120303"/>
                    <a:pt x="106276" y="119512"/>
                    <a:pt x="87313" y="128736"/>
                  </a:cubicBezTo>
                  <a:lnTo>
                    <a:pt x="87313" y="8293"/>
                  </a:lnTo>
                  <a:cubicBezTo>
                    <a:pt x="109513" y="0"/>
                    <a:pt x="134258" y="2061"/>
                    <a:pt x="154781" y="13913"/>
                  </a:cubicBezTo>
                  <a:moveTo>
                    <a:pt x="71438" y="8301"/>
                  </a:moveTo>
                  <a:lnTo>
                    <a:pt x="71445" y="128744"/>
                  </a:lnTo>
                  <a:cubicBezTo>
                    <a:pt x="53251" y="119887"/>
                    <a:pt x="31924" y="120232"/>
                    <a:pt x="14026" y="129673"/>
                  </a:cubicBezTo>
                  <a:lnTo>
                    <a:pt x="11430" y="131102"/>
                  </a:lnTo>
                  <a:lnTo>
                    <a:pt x="10612" y="131451"/>
                  </a:lnTo>
                  <a:lnTo>
                    <a:pt x="10224" y="131578"/>
                  </a:lnTo>
                  <a:lnTo>
                    <a:pt x="9350" y="131784"/>
                  </a:lnTo>
                  <a:lnTo>
                    <a:pt x="8866" y="131864"/>
                  </a:lnTo>
                  <a:lnTo>
                    <a:pt x="7938" y="131911"/>
                  </a:lnTo>
                  <a:lnTo>
                    <a:pt x="7604" y="131911"/>
                  </a:lnTo>
                  <a:lnTo>
                    <a:pt x="6731" y="131816"/>
                  </a:lnTo>
                  <a:lnTo>
                    <a:pt x="6120" y="131705"/>
                  </a:lnTo>
                  <a:lnTo>
                    <a:pt x="5263" y="131451"/>
                  </a:lnTo>
                  <a:lnTo>
                    <a:pt x="4262" y="131007"/>
                  </a:lnTo>
                  <a:lnTo>
                    <a:pt x="3508" y="130562"/>
                  </a:lnTo>
                  <a:lnTo>
                    <a:pt x="2802" y="130030"/>
                  </a:lnTo>
                  <a:lnTo>
                    <a:pt x="2326" y="129586"/>
                  </a:lnTo>
                  <a:lnTo>
                    <a:pt x="1746" y="128935"/>
                  </a:lnTo>
                  <a:lnTo>
                    <a:pt x="1238" y="128228"/>
                  </a:lnTo>
                  <a:lnTo>
                    <a:pt x="1064" y="127943"/>
                  </a:lnTo>
                  <a:lnTo>
                    <a:pt x="810" y="127466"/>
                  </a:lnTo>
                  <a:lnTo>
                    <a:pt x="460" y="126649"/>
                  </a:lnTo>
                  <a:lnTo>
                    <a:pt x="333" y="126260"/>
                  </a:lnTo>
                  <a:lnTo>
                    <a:pt x="127" y="125387"/>
                  </a:lnTo>
                  <a:lnTo>
                    <a:pt x="48" y="124903"/>
                  </a:lnTo>
                  <a:lnTo>
                    <a:pt x="16" y="124514"/>
                  </a:lnTo>
                  <a:lnTo>
                    <a:pt x="0" y="20786"/>
                  </a:lnTo>
                  <a:cubicBezTo>
                    <a:pt x="0" y="17951"/>
                    <a:pt x="1513" y="15330"/>
                    <a:pt x="3969" y="13913"/>
                  </a:cubicBezTo>
                  <a:cubicBezTo>
                    <a:pt x="24493" y="2064"/>
                    <a:pt x="49238" y="6"/>
                    <a:pt x="71438" y="83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96415" y="5039678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自主阅读 20+ 篇论文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635375" y="5016500"/>
              <a:ext cx="160292" cy="158750"/>
              <a:chOff x="3635375" y="5016500"/>
              <a:chExt cx="160292" cy="158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635375" y="50165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" y="0"/>
                    </a:moveTo>
                    <a:cubicBezTo>
                      <a:pt x="12321" y="0"/>
                      <a:pt x="15875" y="3554"/>
                      <a:pt x="15875" y="7938"/>
                    </a:cubicBezTo>
                    <a:lnTo>
                      <a:pt x="15875" y="142875"/>
                    </a:lnTo>
                    <a:lnTo>
                      <a:pt x="150812" y="142875"/>
                    </a:lnTo>
                    <a:cubicBezTo>
                      <a:pt x="154837" y="142876"/>
                      <a:pt x="158224" y="145887"/>
                      <a:pt x="158694" y="149884"/>
                    </a:cubicBezTo>
                    <a:lnTo>
                      <a:pt x="158750" y="150813"/>
                    </a:lnTo>
                    <a:cubicBezTo>
                      <a:pt x="158750" y="155196"/>
                      <a:pt x="155196" y="158750"/>
                      <a:pt x="150812" y="158750"/>
                    </a:cubicBezTo>
                    <a:lnTo>
                      <a:pt x="7937" y="158750"/>
                    </a:lnTo>
                    <a:cubicBezTo>
                      <a:pt x="3554" y="158750"/>
                      <a:pt x="0" y="155196"/>
                      <a:pt x="0" y="150813"/>
                    </a:cubicBezTo>
                    <a:lnTo>
                      <a:pt x="0" y="7938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664522" y="5032375"/>
                <a:ext cx="131145" cy="113525"/>
              </a:xfrm>
              <a:custGeom>
                <a:avLst/>
                <a:gdLst/>
                <a:ahLst/>
                <a:cxnLst/>
                <a:rect l="l" t="t" r="r" b="b"/>
                <a:pathLst>
                  <a:path w="131145" h="113525">
                    <a:moveTo>
                      <a:pt x="105791" y="0"/>
                    </a:moveTo>
                    <a:cubicBezTo>
                      <a:pt x="114909" y="21"/>
                      <a:pt x="123214" y="5246"/>
                      <a:pt x="127180" y="13456"/>
                    </a:cubicBezTo>
                    <a:cubicBezTo>
                      <a:pt x="131145" y="21666"/>
                      <a:pt x="130074" y="31420"/>
                      <a:pt x="124422" y="38574"/>
                    </a:cubicBezTo>
                    <a:cubicBezTo>
                      <a:pt x="118770" y="45729"/>
                      <a:pt x="109529" y="49027"/>
                      <a:pt x="100624" y="47069"/>
                    </a:cubicBezTo>
                    <a:lnTo>
                      <a:pt x="84733" y="72485"/>
                    </a:lnTo>
                    <a:cubicBezTo>
                      <a:pt x="92231" y="81906"/>
                      <a:pt x="91517" y="95441"/>
                      <a:pt x="83071" y="104021"/>
                    </a:cubicBezTo>
                    <a:cubicBezTo>
                      <a:pt x="74624" y="112601"/>
                      <a:pt x="61102" y="113525"/>
                      <a:pt x="51565" y="106176"/>
                    </a:cubicBezTo>
                    <a:cubicBezTo>
                      <a:pt x="42029" y="98826"/>
                      <a:pt x="39479" y="85514"/>
                      <a:pt x="45625" y="75160"/>
                    </a:cubicBezTo>
                    <a:lnTo>
                      <a:pt x="34687" y="62024"/>
                    </a:lnTo>
                    <a:cubicBezTo>
                      <a:pt x="23813" y="66050"/>
                      <a:pt x="11619" y="61658"/>
                      <a:pt x="5809" y="51623"/>
                    </a:cubicBezTo>
                    <a:cubicBezTo>
                      <a:pt x="0" y="41587"/>
                      <a:pt x="2264" y="28826"/>
                      <a:pt x="11171" y="21402"/>
                    </a:cubicBezTo>
                    <a:cubicBezTo>
                      <a:pt x="20078" y="13977"/>
                      <a:pt x="33039" y="14048"/>
                      <a:pt x="41864" y="21570"/>
                    </a:cubicBezTo>
                    <a:cubicBezTo>
                      <a:pt x="50689" y="29091"/>
                      <a:pt x="52814" y="41876"/>
                      <a:pt x="46895" y="51848"/>
                    </a:cubicBezTo>
                    <a:lnTo>
                      <a:pt x="57833" y="64976"/>
                    </a:lnTo>
                    <a:cubicBezTo>
                      <a:pt x="62130" y="63383"/>
                      <a:pt x="66797" y="63066"/>
                      <a:pt x="71271" y="64064"/>
                    </a:cubicBezTo>
                    <a:lnTo>
                      <a:pt x="87162" y="38640"/>
                    </a:lnTo>
                    <a:cubicBezTo>
                      <a:pt x="81469" y="31486"/>
                      <a:pt x="80375" y="21706"/>
                      <a:pt x="84345" y="13471"/>
                    </a:cubicBezTo>
                    <a:cubicBezTo>
                      <a:pt x="88315" y="5236"/>
                      <a:pt x="96649" y="1"/>
                      <a:pt x="105791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891915" y="5039678"/>
              <a:ext cx="15295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评估 300+ 种状态方程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11874" y="5012944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moveTo>
                    <a:pt x="69113" y="61444"/>
                  </a:moveTo>
                  <a:cubicBezTo>
                    <a:pt x="66013" y="58345"/>
                    <a:pt x="60989" y="58345"/>
                    <a:pt x="57889" y="61444"/>
                  </a:cubicBezTo>
                  <a:lnTo>
                    <a:pt x="42014" y="77319"/>
                  </a:lnTo>
                  <a:cubicBezTo>
                    <a:pt x="38916" y="80418"/>
                    <a:pt x="38916" y="85443"/>
                    <a:pt x="42014" y="88542"/>
                  </a:cubicBezTo>
                  <a:lnTo>
                    <a:pt x="57889" y="104417"/>
                  </a:lnTo>
                  <a:cubicBezTo>
                    <a:pt x="60989" y="107516"/>
                    <a:pt x="66013" y="107516"/>
                    <a:pt x="69113" y="104417"/>
                  </a:cubicBezTo>
                  <a:lnTo>
                    <a:pt x="69772" y="103671"/>
                  </a:lnTo>
                  <a:cubicBezTo>
                    <a:pt x="72223" y="100511"/>
                    <a:pt x="71940" y="96022"/>
                    <a:pt x="69113" y="93194"/>
                  </a:cubicBezTo>
                  <a:lnTo>
                    <a:pt x="58858" y="82931"/>
                  </a:lnTo>
                  <a:lnTo>
                    <a:pt x="69113" y="72667"/>
                  </a:lnTo>
                  <a:cubicBezTo>
                    <a:pt x="72211" y="69568"/>
                    <a:pt x="72211" y="64543"/>
                    <a:pt x="69113" y="61444"/>
                  </a:cubicBezTo>
                  <a:moveTo>
                    <a:pt x="100863" y="61444"/>
                  </a:moveTo>
                  <a:cubicBezTo>
                    <a:pt x="97763" y="58345"/>
                    <a:pt x="92739" y="58345"/>
                    <a:pt x="89639" y="61444"/>
                  </a:cubicBezTo>
                  <a:lnTo>
                    <a:pt x="88980" y="62190"/>
                  </a:lnTo>
                  <a:cubicBezTo>
                    <a:pt x="86529" y="65350"/>
                    <a:pt x="86812" y="69839"/>
                    <a:pt x="89639" y="72667"/>
                  </a:cubicBezTo>
                  <a:lnTo>
                    <a:pt x="99894" y="82931"/>
                  </a:lnTo>
                  <a:lnTo>
                    <a:pt x="89639" y="93194"/>
                  </a:lnTo>
                  <a:cubicBezTo>
                    <a:pt x="86631" y="96308"/>
                    <a:pt x="86674" y="101259"/>
                    <a:pt x="89736" y="104321"/>
                  </a:cubicBezTo>
                  <a:cubicBezTo>
                    <a:pt x="92798" y="107382"/>
                    <a:pt x="97748" y="107425"/>
                    <a:pt x="100863" y="104417"/>
                  </a:cubicBezTo>
                  <a:lnTo>
                    <a:pt x="116738" y="88542"/>
                  </a:lnTo>
                  <a:cubicBezTo>
                    <a:pt x="119836" y="85443"/>
                    <a:pt x="119836" y="80418"/>
                    <a:pt x="116738" y="77319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68415" y="5039678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 3000+ 行 Python 代码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524000" y="5381625"/>
              <a:ext cx="9144000" cy="285750"/>
            </a:xfrm>
            <a:prstGeom prst="roundRect">
              <a:avLst>
                <a:gd name="adj" fmla="val 26667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26270" y="5468302"/>
              <a:ext cx="39394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马斯克在评测下留言："Impressive（令人印象深刻）"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33187" y="60455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这不是刷榜，是真实生产力。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952500"/>
            <a:ext cx="4762500" cy="47625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3810000"/>
            <a:ext cx="3429000" cy="3429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4551283" y="1695450"/>
            <a:ext cx="3089434" cy="3100926"/>
            <a:chOff x="4551283" y="1695450"/>
            <a:chExt cx="3089434" cy="3100926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6954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51283" y="3007995"/>
              <a:ext cx="308943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怎么做到的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0" y="3667125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981575" y="3981450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底层重构，不是堆参数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33403" y="45053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181322" y="4505325"/>
              <a:ext cx="286556" cy="285750"/>
              <a:chOff x="6181322" y="4505325"/>
              <a:chExt cx="286556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181322" y="46339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310312" y="4505325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424210" y="46339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217481" y="4541061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390143" y="4541080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281738" y="47339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231606" y="4562475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sp>
        <p:nvSpPr>
          <p:cNvPr id="19" name="TextBox 19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571500" y="391478"/>
            <a:ext cx="11049000" cy="6009322"/>
            <a:chOff x="571500" y="391478"/>
            <a:chExt cx="11049000" cy="6009322"/>
          </a:xfrm>
        </p:grpSpPr>
        <p:sp>
          <p:nvSpPr>
            <p:cNvPr id="3" name="TextBox 3"/>
            <p:cNvSpPr txBox="1"/>
            <p:nvPr/>
          </p:nvSpPr>
          <p:spPr>
            <a:xfrm>
              <a:off x="4108371" y="391478"/>
              <a:ext cx="39752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底层重构，不是堆参数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905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356824" y="1124902"/>
              <a:ext cx="54783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杨植麟 GTC 2026："必须对优化器、注意力机制、残差连接这些底层基石做重构"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0" y="1714500"/>
              <a:ext cx="3048000" cy="76200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93335" y="1965008"/>
              <a:ext cx="22053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Transformer 底座</a:t>
              </a:r>
            </a:p>
          </p:txBody>
        </p:sp>
        <p:sp>
          <p:nvSpPr>
            <p:cNvPr id="8" name="Line 8"/>
            <p:cNvSpPr/>
            <p:nvPr/>
          </p:nvSpPr>
          <p:spPr>
            <a:xfrm flipH="1">
              <a:off x="2286000" y="2571750"/>
              <a:ext cx="1714500" cy="476250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2571750"/>
              <a:ext cx="1" cy="476250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8191500" y="2571750"/>
              <a:ext cx="1714500" cy="476250"/>
            </a:xfrm>
            <a:prstGeom prst="line">
              <a:avLst/>
            </a:prstGeom>
            <a:noFill/>
            <a:ln w="28575">
              <a:solidFill>
                <a:srgbClr val="E8A87C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3143250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31432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2083" y="3492500"/>
              <a:ext cx="349926" cy="254000"/>
            </a:xfrm>
            <a:custGeom>
              <a:avLst/>
              <a:gdLst/>
              <a:ahLst/>
              <a:cxnLst/>
              <a:rect l="l" t="t" r="r" b="b"/>
              <a:pathLst>
                <a:path w="349926" h="254000">
                  <a:moveTo>
                    <a:pt x="175317" y="0"/>
                  </a:moveTo>
                  <a:cubicBezTo>
                    <a:pt x="243420" y="0"/>
                    <a:pt x="300142" y="38560"/>
                    <a:pt x="344624" y="113570"/>
                  </a:cubicBezTo>
                  <a:lnTo>
                    <a:pt x="348116" y="119586"/>
                  </a:lnTo>
                  <a:lnTo>
                    <a:pt x="348830" y="121174"/>
                  </a:lnTo>
                  <a:lnTo>
                    <a:pt x="349307" y="122491"/>
                  </a:lnTo>
                  <a:lnTo>
                    <a:pt x="349529" y="123365"/>
                  </a:lnTo>
                  <a:lnTo>
                    <a:pt x="349751" y="124666"/>
                  </a:lnTo>
                  <a:lnTo>
                    <a:pt x="349926" y="126254"/>
                  </a:lnTo>
                  <a:lnTo>
                    <a:pt x="349926" y="128000"/>
                  </a:lnTo>
                  <a:lnTo>
                    <a:pt x="349704" y="129762"/>
                  </a:lnTo>
                  <a:cubicBezTo>
                    <a:pt x="349599" y="130352"/>
                    <a:pt x="349461" y="130935"/>
                    <a:pt x="349291" y="131509"/>
                  </a:cubicBezTo>
                  <a:lnTo>
                    <a:pt x="348672" y="133223"/>
                  </a:lnTo>
                  <a:lnTo>
                    <a:pt x="348100" y="134414"/>
                  </a:lnTo>
                  <a:lnTo>
                    <a:pt x="347846" y="134890"/>
                  </a:lnTo>
                  <a:cubicBezTo>
                    <a:pt x="303968" y="211661"/>
                    <a:pt x="247834" y="252047"/>
                    <a:pt x="180286" y="253936"/>
                  </a:cubicBezTo>
                  <a:lnTo>
                    <a:pt x="175317" y="254000"/>
                  </a:lnTo>
                  <a:cubicBezTo>
                    <a:pt x="105530" y="254000"/>
                    <a:pt x="47729" y="213535"/>
                    <a:pt x="2787" y="134874"/>
                  </a:cubicBezTo>
                  <a:cubicBezTo>
                    <a:pt x="0" y="129995"/>
                    <a:pt x="0" y="124005"/>
                    <a:pt x="2787" y="119126"/>
                  </a:cubicBezTo>
                  <a:cubicBezTo>
                    <a:pt x="47729" y="40465"/>
                    <a:pt x="105530" y="0"/>
                    <a:pt x="175317" y="0"/>
                  </a:cubicBezTo>
                  <a:close/>
                  <a:moveTo>
                    <a:pt x="175317" y="79375"/>
                  </a:moveTo>
                  <a:cubicBezTo>
                    <a:pt x="149014" y="79375"/>
                    <a:pt x="127692" y="100697"/>
                    <a:pt x="127692" y="127000"/>
                  </a:cubicBezTo>
                  <a:cubicBezTo>
                    <a:pt x="127692" y="153303"/>
                    <a:pt x="149014" y="174625"/>
                    <a:pt x="175317" y="174625"/>
                  </a:cubicBezTo>
                  <a:cubicBezTo>
                    <a:pt x="201619" y="174625"/>
                    <a:pt x="222942" y="153303"/>
                    <a:pt x="222942" y="127000"/>
                  </a:cubicBezTo>
                  <a:cubicBezTo>
                    <a:pt x="222942" y="100697"/>
                    <a:pt x="201619" y="79375"/>
                    <a:pt x="175317" y="79375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97629" y="393382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KDA 注意力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82579" y="426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自研混合线性注意力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5902" y="450627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不同通道不同衰减速率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82579" y="47444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长文本效率大幅提升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238250" y="5048250"/>
              <a:ext cx="2095500" cy="266700"/>
            </a:xfrm>
            <a:prstGeom prst="roundRect">
              <a:avLst>
                <a:gd name="adj" fmla="val 50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38163" y="512397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推理效率提升 ~25%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81500" y="3143250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31432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39681" y="3460750"/>
              <a:ext cx="255438" cy="323390"/>
            </a:xfrm>
            <a:custGeom>
              <a:avLst/>
              <a:gdLst/>
              <a:ahLst/>
              <a:cxnLst/>
              <a:rect l="l" t="t" r="r" b="b"/>
              <a:pathLst>
                <a:path w="255438" h="323390">
                  <a:moveTo>
                    <a:pt x="143594" y="0"/>
                  </a:moveTo>
                  <a:lnTo>
                    <a:pt x="143880" y="16"/>
                  </a:lnTo>
                  <a:lnTo>
                    <a:pt x="144134" y="32"/>
                  </a:lnTo>
                  <a:lnTo>
                    <a:pt x="145451" y="111"/>
                  </a:lnTo>
                  <a:lnTo>
                    <a:pt x="145626" y="143"/>
                  </a:lnTo>
                  <a:lnTo>
                    <a:pt x="145800" y="143"/>
                  </a:lnTo>
                  <a:lnTo>
                    <a:pt x="146404" y="286"/>
                  </a:lnTo>
                  <a:lnTo>
                    <a:pt x="147229" y="413"/>
                  </a:lnTo>
                  <a:lnTo>
                    <a:pt x="147483" y="508"/>
                  </a:lnTo>
                  <a:lnTo>
                    <a:pt x="147658" y="524"/>
                  </a:lnTo>
                  <a:lnTo>
                    <a:pt x="148118" y="698"/>
                  </a:lnTo>
                  <a:lnTo>
                    <a:pt x="148944" y="921"/>
                  </a:lnTo>
                  <a:lnTo>
                    <a:pt x="149245" y="1064"/>
                  </a:lnTo>
                  <a:lnTo>
                    <a:pt x="149483" y="1127"/>
                  </a:lnTo>
                  <a:lnTo>
                    <a:pt x="149928" y="1349"/>
                  </a:lnTo>
                  <a:lnTo>
                    <a:pt x="150563" y="1619"/>
                  </a:lnTo>
                  <a:lnTo>
                    <a:pt x="150896" y="1810"/>
                  </a:lnTo>
                  <a:lnTo>
                    <a:pt x="151246" y="1969"/>
                  </a:lnTo>
                  <a:lnTo>
                    <a:pt x="151611" y="2207"/>
                  </a:lnTo>
                  <a:lnTo>
                    <a:pt x="152103" y="2476"/>
                  </a:lnTo>
                  <a:lnTo>
                    <a:pt x="152643" y="2858"/>
                  </a:lnTo>
                  <a:lnTo>
                    <a:pt x="152928" y="3032"/>
                  </a:lnTo>
                  <a:lnTo>
                    <a:pt x="153135" y="3223"/>
                  </a:lnTo>
                  <a:lnTo>
                    <a:pt x="153516" y="3493"/>
                  </a:lnTo>
                  <a:lnTo>
                    <a:pt x="154119" y="4032"/>
                  </a:lnTo>
                  <a:lnTo>
                    <a:pt x="154468" y="4302"/>
                  </a:lnTo>
                  <a:lnTo>
                    <a:pt x="154595" y="4461"/>
                  </a:lnTo>
                  <a:lnTo>
                    <a:pt x="154817" y="4651"/>
                  </a:lnTo>
                  <a:lnTo>
                    <a:pt x="155389" y="5302"/>
                  </a:lnTo>
                  <a:lnTo>
                    <a:pt x="155802" y="5731"/>
                  </a:lnTo>
                  <a:lnTo>
                    <a:pt x="155897" y="5874"/>
                  </a:lnTo>
                  <a:cubicBezTo>
                    <a:pt x="157802" y="8207"/>
                    <a:pt x="159008" y="10986"/>
                    <a:pt x="159358" y="14018"/>
                  </a:cubicBezTo>
                  <a:lnTo>
                    <a:pt x="159374" y="14208"/>
                  </a:lnTo>
                  <a:lnTo>
                    <a:pt x="159405" y="14859"/>
                  </a:lnTo>
                  <a:lnTo>
                    <a:pt x="159469" y="15875"/>
                  </a:lnTo>
                  <a:lnTo>
                    <a:pt x="159469" y="111125"/>
                  </a:lnTo>
                  <a:lnTo>
                    <a:pt x="238844" y="111125"/>
                  </a:lnTo>
                  <a:cubicBezTo>
                    <a:pt x="244506" y="111124"/>
                    <a:pt x="249741" y="114138"/>
                    <a:pt x="252581" y="119037"/>
                  </a:cubicBezTo>
                  <a:cubicBezTo>
                    <a:pt x="255421" y="123936"/>
                    <a:pt x="255438" y="129976"/>
                    <a:pt x="252623" y="134890"/>
                  </a:cubicBezTo>
                  <a:lnTo>
                    <a:pt x="251671" y="136334"/>
                  </a:lnTo>
                  <a:lnTo>
                    <a:pt x="124671" y="310960"/>
                  </a:lnTo>
                  <a:cubicBezTo>
                    <a:pt x="115654" y="323390"/>
                    <a:pt x="95969" y="316992"/>
                    <a:pt x="95969" y="301625"/>
                  </a:cubicBezTo>
                  <a:lnTo>
                    <a:pt x="95969" y="206375"/>
                  </a:lnTo>
                  <a:lnTo>
                    <a:pt x="16594" y="206375"/>
                  </a:lnTo>
                  <a:cubicBezTo>
                    <a:pt x="10931" y="206376"/>
                    <a:pt x="5697" y="203362"/>
                    <a:pt x="2856" y="198463"/>
                  </a:cubicBezTo>
                  <a:cubicBezTo>
                    <a:pt x="16" y="193564"/>
                    <a:pt x="0" y="187524"/>
                    <a:pt x="2814" y="182610"/>
                  </a:cubicBezTo>
                  <a:lnTo>
                    <a:pt x="3767" y="181166"/>
                  </a:lnTo>
                  <a:lnTo>
                    <a:pt x="130767" y="6541"/>
                  </a:lnTo>
                  <a:lnTo>
                    <a:pt x="130926" y="6334"/>
                  </a:lnTo>
                  <a:lnTo>
                    <a:pt x="131211" y="5953"/>
                  </a:lnTo>
                  <a:lnTo>
                    <a:pt x="131735" y="5350"/>
                  </a:lnTo>
                  <a:lnTo>
                    <a:pt x="132021" y="5001"/>
                  </a:lnTo>
                  <a:lnTo>
                    <a:pt x="132164" y="4874"/>
                  </a:lnTo>
                  <a:lnTo>
                    <a:pt x="132370" y="4651"/>
                  </a:lnTo>
                  <a:lnTo>
                    <a:pt x="133005" y="4080"/>
                  </a:lnTo>
                  <a:lnTo>
                    <a:pt x="133450" y="3667"/>
                  </a:lnTo>
                  <a:lnTo>
                    <a:pt x="133577" y="3572"/>
                  </a:lnTo>
                  <a:cubicBezTo>
                    <a:pt x="135437" y="2049"/>
                    <a:pt x="137619" y="969"/>
                    <a:pt x="139958" y="413"/>
                  </a:cubicBezTo>
                  <a:lnTo>
                    <a:pt x="140133" y="397"/>
                  </a:lnTo>
                  <a:lnTo>
                    <a:pt x="140562" y="318"/>
                  </a:lnTo>
                  <a:lnTo>
                    <a:pt x="141736" y="111"/>
                  </a:lnTo>
                  <a:lnTo>
                    <a:pt x="141911" y="95"/>
                  </a:lnTo>
                  <a:lnTo>
                    <a:pt x="142562" y="63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77600" y="3933825"/>
              <a:ext cx="163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Linear Tension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92579" y="426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自研线性注意力机制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11427" y="4506278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上下文扩大 10 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1398" y="474440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训练成本同步扩大 10 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48250" y="5048250"/>
              <a:ext cx="2095500" cy="266700"/>
            </a:xfrm>
            <a:prstGeom prst="roundRect">
              <a:avLst>
                <a:gd name="adj" fmla="val 50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10783" y="51239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长上下文的工程底气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3143250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91500" y="31432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518203" y="3460750"/>
              <a:ext cx="318395" cy="317500"/>
              <a:chOff x="9518203" y="3460750"/>
              <a:chExt cx="318395" cy="317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518203" y="360362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7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1525" y="3460750"/>
                <a:ext cx="31750" cy="48072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48072">
                    <a:moveTo>
                      <a:pt x="15875" y="0"/>
                    </a:moveTo>
                    <a:cubicBezTo>
                      <a:pt x="23923" y="1"/>
                      <a:pt x="30697" y="6025"/>
                      <a:pt x="31639" y="14018"/>
                    </a:cubicBezTo>
                    <a:lnTo>
                      <a:pt x="31750" y="15875"/>
                    </a:lnTo>
                    <a:lnTo>
                      <a:pt x="31750" y="31750"/>
                    </a:lnTo>
                    <a:cubicBezTo>
                      <a:pt x="31741" y="40149"/>
                      <a:pt x="25190" y="47088"/>
                      <a:pt x="16805" y="47580"/>
                    </a:cubicBezTo>
                    <a:cubicBezTo>
                      <a:pt x="8420" y="48072"/>
                      <a:pt x="1103" y="41948"/>
                      <a:pt x="111" y="33607"/>
                    </a:cubicBezTo>
                    <a:lnTo>
                      <a:pt x="0" y="31750"/>
                    </a:ln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788078" y="360362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7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558379" y="3500457"/>
                <a:ext cx="45956" cy="46217"/>
              </a:xfrm>
              <a:custGeom>
                <a:avLst/>
                <a:gdLst/>
                <a:ahLst/>
                <a:cxnLst/>
                <a:rect l="l" t="t" r="r" b="b"/>
                <a:pathLst>
                  <a:path w="45956" h="46217">
                    <a:moveTo>
                      <a:pt x="6197" y="6220"/>
                    </a:moveTo>
                    <a:cubicBezTo>
                      <a:pt x="11853" y="565"/>
                      <a:pt x="20833" y="0"/>
                      <a:pt x="27152" y="4902"/>
                    </a:cubicBezTo>
                    <a:lnTo>
                      <a:pt x="28645" y="6220"/>
                    </a:lnTo>
                    <a:lnTo>
                      <a:pt x="39757" y="17332"/>
                    </a:lnTo>
                    <a:cubicBezTo>
                      <a:pt x="45666" y="23261"/>
                      <a:pt x="45956" y="32759"/>
                      <a:pt x="40420" y="39038"/>
                    </a:cubicBezTo>
                    <a:cubicBezTo>
                      <a:pt x="34884" y="45316"/>
                      <a:pt x="25424" y="46217"/>
                      <a:pt x="18802" y="41097"/>
                    </a:cubicBezTo>
                    <a:lnTo>
                      <a:pt x="17310" y="39780"/>
                    </a:lnTo>
                    <a:lnTo>
                      <a:pt x="6197" y="28667"/>
                    </a:lnTo>
                    <a:cubicBezTo>
                      <a:pt x="0" y="22468"/>
                      <a:pt x="0" y="12419"/>
                      <a:pt x="6197" y="622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50226" y="3500477"/>
                <a:ext cx="46435" cy="45958"/>
              </a:xfrm>
              <a:custGeom>
                <a:avLst/>
                <a:gdLst/>
                <a:ahLst/>
                <a:cxnLst/>
                <a:rect l="l" t="t" r="r" b="b"/>
                <a:pathLst>
                  <a:path w="46435" h="45958">
                    <a:moveTo>
                      <a:pt x="17550" y="6199"/>
                    </a:moveTo>
                    <a:cubicBezTo>
                      <a:pt x="23479" y="290"/>
                      <a:pt x="32977" y="0"/>
                      <a:pt x="39256" y="5536"/>
                    </a:cubicBezTo>
                    <a:cubicBezTo>
                      <a:pt x="45534" y="11072"/>
                      <a:pt x="46435" y="20532"/>
                      <a:pt x="41315" y="27154"/>
                    </a:cubicBezTo>
                    <a:lnTo>
                      <a:pt x="39998" y="28646"/>
                    </a:lnTo>
                    <a:lnTo>
                      <a:pt x="28885" y="39759"/>
                    </a:lnTo>
                    <a:cubicBezTo>
                      <a:pt x="22956" y="45667"/>
                      <a:pt x="13458" y="45958"/>
                      <a:pt x="7180" y="40421"/>
                    </a:cubicBezTo>
                    <a:cubicBezTo>
                      <a:pt x="901" y="34885"/>
                      <a:pt x="0" y="25426"/>
                      <a:pt x="5120" y="18804"/>
                    </a:cubicBezTo>
                    <a:lnTo>
                      <a:pt x="6438" y="17311"/>
                    </a:lnTo>
                    <a:lnTo>
                      <a:pt x="17550" y="619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629775" y="37147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79375" y="0"/>
                    </a:moveTo>
                    <a:cubicBezTo>
                      <a:pt x="88143" y="0"/>
                      <a:pt x="95250" y="7107"/>
                      <a:pt x="95250" y="15875"/>
                    </a:cubicBezTo>
                    <a:cubicBezTo>
                      <a:pt x="95250" y="42178"/>
                      <a:pt x="73928" y="63500"/>
                      <a:pt x="47625" y="63500"/>
                    </a:cubicBezTo>
                    <a:cubicBezTo>
                      <a:pt x="21322" y="63500"/>
                      <a:pt x="0" y="42178"/>
                      <a:pt x="0" y="15875"/>
                    </a:cubicBezTo>
                    <a:cubicBezTo>
                      <a:pt x="1" y="7827"/>
                      <a:pt x="6025" y="1053"/>
                      <a:pt x="14018" y="111"/>
                    </a:cubicBezTo>
                    <a:lnTo>
                      <a:pt x="15875" y="0"/>
                    </a:lnTo>
                    <a:lnTo>
                      <a:pt x="79375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574073" y="3524250"/>
                <a:ext cx="206654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206654" h="174625">
                    <a:moveTo>
                      <a:pt x="103327" y="0"/>
                    </a:moveTo>
                    <a:cubicBezTo>
                      <a:pt x="144325" y="0"/>
                      <a:pt x="180724" y="26235"/>
                      <a:pt x="193689" y="65129"/>
                    </a:cubicBezTo>
                    <a:cubicBezTo>
                      <a:pt x="206654" y="104024"/>
                      <a:pt x="193276" y="146851"/>
                      <a:pt x="160477" y="171450"/>
                    </a:cubicBezTo>
                    <a:cubicBezTo>
                      <a:pt x="158289" y="173093"/>
                      <a:pt x="155713" y="174143"/>
                      <a:pt x="153000" y="174498"/>
                    </a:cubicBezTo>
                    <a:lnTo>
                      <a:pt x="150952" y="174625"/>
                    </a:lnTo>
                    <a:lnTo>
                      <a:pt x="55702" y="174625"/>
                    </a:lnTo>
                    <a:cubicBezTo>
                      <a:pt x="52267" y="174625"/>
                      <a:pt x="48925" y="173511"/>
                      <a:pt x="46177" y="171450"/>
                    </a:cubicBezTo>
                    <a:cubicBezTo>
                      <a:pt x="13378" y="146851"/>
                      <a:pt x="0" y="104024"/>
                      <a:pt x="12965" y="65129"/>
                    </a:cubicBezTo>
                    <a:cubicBezTo>
                      <a:pt x="25930" y="26235"/>
                      <a:pt x="62328" y="0"/>
                      <a:pt x="103327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380887" y="3933825"/>
              <a:ext cx="10502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Moon Clip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55931" y="42681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全新二阶优化器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10567" y="4506278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20T 数据跑出 40T 效果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9255" y="47444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训练成本直接减半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58250" y="5048250"/>
              <a:ext cx="2095500" cy="266700"/>
            </a:xfrm>
            <a:prstGeom prst="roundRect">
              <a:avLst>
                <a:gd name="adj" fmla="val 50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20783" y="512397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首次用于大模型训练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99125" y="6156960"/>
              <a:ext cx="3793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在沿用近十年的 AI 基础机制上做了系统性重写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720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539115" y="343852"/>
            <a:ext cx="11081385" cy="5752148"/>
            <a:chOff x="539115" y="343852"/>
            <a:chExt cx="11081385" cy="575214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54221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自研一：Kimi Delta Attention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71500" y="1047750"/>
              <a:ext cx="5334000" cy="5048250"/>
              <a:chOff x="571500" y="1047750"/>
              <a:chExt cx="5334000" cy="50482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047750"/>
                <a:ext cx="5334000" cy="5048250"/>
              </a:xfrm>
              <a:prstGeom prst="roundRect">
                <a:avLst>
                  <a:gd name="adj" fmla="val 3019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38200" y="1314450"/>
                <a:ext cx="16483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混合线性注意力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42962" y="1640681"/>
                <a:ext cx="37829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传统 Transformer 的全注意力复杂度是二次方的，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42962" y="1850231"/>
                <a:ext cx="13430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文本越长越爆炸。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857250" y="2190750"/>
                <a:ext cx="4762500" cy="19050"/>
              </a:xfrm>
              <a:prstGeom prst="rect">
                <a:avLst/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42010" y="2394585"/>
                <a:ext cx="11254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KDA 的解法：</a:t>
                </a:r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894919" y="2781300"/>
                <a:ext cx="153263" cy="194034"/>
              </a:xfrm>
              <a:custGeom>
                <a:avLst/>
                <a:gdLst/>
                <a:ahLst/>
                <a:cxnLst/>
                <a:rect l="l" t="t" r="r" b="b"/>
                <a:pathLst>
                  <a:path w="153263" h="194034">
                    <a:moveTo>
                      <a:pt x="86156" y="0"/>
                    </a:moveTo>
                    <a:lnTo>
                      <a:pt x="86328" y="10"/>
                    </a:lnTo>
                    <a:lnTo>
                      <a:pt x="86480" y="19"/>
                    </a:lnTo>
                    <a:lnTo>
                      <a:pt x="87271" y="67"/>
                    </a:lnTo>
                    <a:lnTo>
                      <a:pt x="87375" y="86"/>
                    </a:lnTo>
                    <a:lnTo>
                      <a:pt x="87480" y="86"/>
                    </a:lnTo>
                    <a:lnTo>
                      <a:pt x="87842" y="171"/>
                    </a:lnTo>
                    <a:lnTo>
                      <a:pt x="88337" y="248"/>
                    </a:lnTo>
                    <a:lnTo>
                      <a:pt x="88490" y="305"/>
                    </a:lnTo>
                    <a:lnTo>
                      <a:pt x="88595" y="314"/>
                    </a:lnTo>
                    <a:lnTo>
                      <a:pt x="88871" y="419"/>
                    </a:lnTo>
                    <a:lnTo>
                      <a:pt x="89366" y="552"/>
                    </a:lnTo>
                    <a:lnTo>
                      <a:pt x="89547" y="638"/>
                    </a:lnTo>
                    <a:lnTo>
                      <a:pt x="89690" y="676"/>
                    </a:lnTo>
                    <a:lnTo>
                      <a:pt x="89957" y="810"/>
                    </a:lnTo>
                    <a:lnTo>
                      <a:pt x="90338" y="972"/>
                    </a:lnTo>
                    <a:lnTo>
                      <a:pt x="90538" y="1086"/>
                    </a:lnTo>
                    <a:lnTo>
                      <a:pt x="90747" y="1181"/>
                    </a:lnTo>
                    <a:lnTo>
                      <a:pt x="90966" y="1324"/>
                    </a:lnTo>
                    <a:lnTo>
                      <a:pt x="91262" y="1486"/>
                    </a:lnTo>
                    <a:lnTo>
                      <a:pt x="91586" y="1715"/>
                    </a:lnTo>
                    <a:lnTo>
                      <a:pt x="91757" y="1819"/>
                    </a:lnTo>
                    <a:lnTo>
                      <a:pt x="91881" y="1934"/>
                    </a:lnTo>
                    <a:lnTo>
                      <a:pt x="92109" y="2095"/>
                    </a:lnTo>
                    <a:lnTo>
                      <a:pt x="92471" y="2419"/>
                    </a:lnTo>
                    <a:lnTo>
                      <a:pt x="92681" y="2581"/>
                    </a:lnTo>
                    <a:lnTo>
                      <a:pt x="92757" y="2677"/>
                    </a:lnTo>
                    <a:lnTo>
                      <a:pt x="92890" y="2791"/>
                    </a:lnTo>
                    <a:lnTo>
                      <a:pt x="93233" y="3181"/>
                    </a:lnTo>
                    <a:lnTo>
                      <a:pt x="93481" y="3439"/>
                    </a:lnTo>
                    <a:lnTo>
                      <a:pt x="93538" y="3524"/>
                    </a:lnTo>
                    <a:cubicBezTo>
                      <a:pt x="94681" y="4924"/>
                      <a:pt x="95405" y="6591"/>
                      <a:pt x="95615" y="8411"/>
                    </a:cubicBezTo>
                    <a:lnTo>
                      <a:pt x="95624" y="8525"/>
                    </a:lnTo>
                    <a:lnTo>
                      <a:pt x="95643" y="8915"/>
                    </a:lnTo>
                    <a:lnTo>
                      <a:pt x="95681" y="9525"/>
                    </a:lnTo>
                    <a:lnTo>
                      <a:pt x="95681" y="66675"/>
                    </a:lnTo>
                    <a:lnTo>
                      <a:pt x="143306" y="66675"/>
                    </a:lnTo>
                    <a:cubicBezTo>
                      <a:pt x="146704" y="66674"/>
                      <a:pt x="149844" y="68483"/>
                      <a:pt x="151549" y="71422"/>
                    </a:cubicBezTo>
                    <a:cubicBezTo>
                      <a:pt x="153253" y="74361"/>
                      <a:pt x="153263" y="77986"/>
                      <a:pt x="151574" y="80934"/>
                    </a:cubicBezTo>
                    <a:lnTo>
                      <a:pt x="151002" y="81801"/>
                    </a:lnTo>
                    <a:lnTo>
                      <a:pt x="74802" y="186576"/>
                    </a:lnTo>
                    <a:cubicBezTo>
                      <a:pt x="69392" y="194034"/>
                      <a:pt x="57581" y="190195"/>
                      <a:pt x="57581" y="180975"/>
                    </a:cubicBezTo>
                    <a:lnTo>
                      <a:pt x="57581" y="123825"/>
                    </a:lnTo>
                    <a:lnTo>
                      <a:pt x="9956" y="123825"/>
                    </a:lnTo>
                    <a:cubicBezTo>
                      <a:pt x="6559" y="123826"/>
                      <a:pt x="3418" y="122017"/>
                      <a:pt x="1714" y="119078"/>
                    </a:cubicBezTo>
                    <a:cubicBezTo>
                      <a:pt x="10" y="116139"/>
                      <a:pt x="0" y="112514"/>
                      <a:pt x="1689" y="109566"/>
                    </a:cubicBezTo>
                    <a:lnTo>
                      <a:pt x="2260" y="108699"/>
                    </a:lnTo>
                    <a:lnTo>
                      <a:pt x="78460" y="3924"/>
                    </a:lnTo>
                    <a:lnTo>
                      <a:pt x="78555" y="3800"/>
                    </a:lnTo>
                    <a:lnTo>
                      <a:pt x="78727" y="3572"/>
                    </a:lnTo>
                    <a:lnTo>
                      <a:pt x="79041" y="3210"/>
                    </a:lnTo>
                    <a:lnTo>
                      <a:pt x="79213" y="3000"/>
                    </a:lnTo>
                    <a:lnTo>
                      <a:pt x="79298" y="2924"/>
                    </a:lnTo>
                    <a:lnTo>
                      <a:pt x="79422" y="2791"/>
                    </a:lnTo>
                    <a:lnTo>
                      <a:pt x="79803" y="2448"/>
                    </a:lnTo>
                    <a:lnTo>
                      <a:pt x="80070" y="2200"/>
                    </a:lnTo>
                    <a:lnTo>
                      <a:pt x="80146" y="2143"/>
                    </a:lnTo>
                    <a:cubicBezTo>
                      <a:pt x="81262" y="1229"/>
                      <a:pt x="82572" y="581"/>
                      <a:pt x="83975" y="248"/>
                    </a:cubicBezTo>
                    <a:lnTo>
                      <a:pt x="84080" y="238"/>
                    </a:lnTo>
                    <a:lnTo>
                      <a:pt x="84337" y="190"/>
                    </a:lnTo>
                    <a:lnTo>
                      <a:pt x="85042" y="67"/>
                    </a:lnTo>
                    <a:lnTo>
                      <a:pt x="85147" y="57"/>
                    </a:lnTo>
                    <a:lnTo>
                      <a:pt x="85537" y="3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77290" y="2820352"/>
                <a:ext cx="26336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在不同通道上用不同衰减速率管理记忆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894919" y="3162300"/>
                <a:ext cx="153263" cy="194034"/>
              </a:xfrm>
              <a:custGeom>
                <a:avLst/>
                <a:gdLst/>
                <a:ahLst/>
                <a:cxnLst/>
                <a:rect l="l" t="t" r="r" b="b"/>
                <a:pathLst>
                  <a:path w="153263" h="194034">
                    <a:moveTo>
                      <a:pt x="86156" y="0"/>
                    </a:moveTo>
                    <a:lnTo>
                      <a:pt x="86328" y="10"/>
                    </a:lnTo>
                    <a:lnTo>
                      <a:pt x="86480" y="19"/>
                    </a:lnTo>
                    <a:lnTo>
                      <a:pt x="87271" y="67"/>
                    </a:lnTo>
                    <a:lnTo>
                      <a:pt x="87375" y="86"/>
                    </a:lnTo>
                    <a:lnTo>
                      <a:pt x="87480" y="86"/>
                    </a:lnTo>
                    <a:lnTo>
                      <a:pt x="87842" y="171"/>
                    </a:lnTo>
                    <a:lnTo>
                      <a:pt x="88337" y="248"/>
                    </a:lnTo>
                    <a:lnTo>
                      <a:pt x="88490" y="305"/>
                    </a:lnTo>
                    <a:lnTo>
                      <a:pt x="88595" y="314"/>
                    </a:lnTo>
                    <a:lnTo>
                      <a:pt x="88871" y="419"/>
                    </a:lnTo>
                    <a:lnTo>
                      <a:pt x="89366" y="552"/>
                    </a:lnTo>
                    <a:lnTo>
                      <a:pt x="89547" y="638"/>
                    </a:lnTo>
                    <a:lnTo>
                      <a:pt x="89690" y="676"/>
                    </a:lnTo>
                    <a:lnTo>
                      <a:pt x="89957" y="810"/>
                    </a:lnTo>
                    <a:lnTo>
                      <a:pt x="90338" y="972"/>
                    </a:lnTo>
                    <a:lnTo>
                      <a:pt x="90538" y="1086"/>
                    </a:lnTo>
                    <a:lnTo>
                      <a:pt x="90747" y="1181"/>
                    </a:lnTo>
                    <a:lnTo>
                      <a:pt x="90966" y="1324"/>
                    </a:lnTo>
                    <a:lnTo>
                      <a:pt x="91262" y="1486"/>
                    </a:lnTo>
                    <a:lnTo>
                      <a:pt x="91586" y="1715"/>
                    </a:lnTo>
                    <a:lnTo>
                      <a:pt x="91757" y="1819"/>
                    </a:lnTo>
                    <a:lnTo>
                      <a:pt x="91881" y="1934"/>
                    </a:lnTo>
                    <a:lnTo>
                      <a:pt x="92109" y="2095"/>
                    </a:lnTo>
                    <a:lnTo>
                      <a:pt x="92471" y="2419"/>
                    </a:lnTo>
                    <a:lnTo>
                      <a:pt x="92681" y="2581"/>
                    </a:lnTo>
                    <a:lnTo>
                      <a:pt x="92757" y="2677"/>
                    </a:lnTo>
                    <a:lnTo>
                      <a:pt x="92890" y="2791"/>
                    </a:lnTo>
                    <a:lnTo>
                      <a:pt x="93233" y="3181"/>
                    </a:lnTo>
                    <a:lnTo>
                      <a:pt x="93481" y="3439"/>
                    </a:lnTo>
                    <a:lnTo>
                      <a:pt x="93538" y="3524"/>
                    </a:lnTo>
                    <a:cubicBezTo>
                      <a:pt x="94681" y="4924"/>
                      <a:pt x="95405" y="6591"/>
                      <a:pt x="95615" y="8411"/>
                    </a:cubicBezTo>
                    <a:lnTo>
                      <a:pt x="95624" y="8525"/>
                    </a:lnTo>
                    <a:lnTo>
                      <a:pt x="95643" y="8915"/>
                    </a:lnTo>
                    <a:lnTo>
                      <a:pt x="95681" y="9525"/>
                    </a:lnTo>
                    <a:lnTo>
                      <a:pt x="95681" y="66675"/>
                    </a:lnTo>
                    <a:lnTo>
                      <a:pt x="143306" y="66675"/>
                    </a:lnTo>
                    <a:cubicBezTo>
                      <a:pt x="146704" y="66674"/>
                      <a:pt x="149844" y="68483"/>
                      <a:pt x="151549" y="71422"/>
                    </a:cubicBezTo>
                    <a:cubicBezTo>
                      <a:pt x="153253" y="74361"/>
                      <a:pt x="153263" y="77986"/>
                      <a:pt x="151574" y="80934"/>
                    </a:cubicBezTo>
                    <a:lnTo>
                      <a:pt x="151002" y="81801"/>
                    </a:lnTo>
                    <a:lnTo>
                      <a:pt x="74802" y="186576"/>
                    </a:lnTo>
                    <a:cubicBezTo>
                      <a:pt x="69392" y="194034"/>
                      <a:pt x="57581" y="190195"/>
                      <a:pt x="57581" y="180975"/>
                    </a:cubicBezTo>
                    <a:lnTo>
                      <a:pt x="57581" y="123825"/>
                    </a:lnTo>
                    <a:lnTo>
                      <a:pt x="9956" y="123825"/>
                    </a:lnTo>
                    <a:cubicBezTo>
                      <a:pt x="6559" y="123826"/>
                      <a:pt x="3418" y="122017"/>
                      <a:pt x="1714" y="119078"/>
                    </a:cubicBezTo>
                    <a:cubicBezTo>
                      <a:pt x="10" y="116139"/>
                      <a:pt x="0" y="112514"/>
                      <a:pt x="1689" y="109566"/>
                    </a:cubicBezTo>
                    <a:lnTo>
                      <a:pt x="2260" y="108699"/>
                    </a:lnTo>
                    <a:lnTo>
                      <a:pt x="78460" y="3924"/>
                    </a:lnTo>
                    <a:lnTo>
                      <a:pt x="78555" y="3800"/>
                    </a:lnTo>
                    <a:lnTo>
                      <a:pt x="78727" y="3572"/>
                    </a:lnTo>
                    <a:lnTo>
                      <a:pt x="79041" y="3210"/>
                    </a:lnTo>
                    <a:lnTo>
                      <a:pt x="79213" y="3000"/>
                    </a:lnTo>
                    <a:lnTo>
                      <a:pt x="79298" y="2924"/>
                    </a:lnTo>
                    <a:lnTo>
                      <a:pt x="79422" y="2791"/>
                    </a:lnTo>
                    <a:lnTo>
                      <a:pt x="79803" y="2448"/>
                    </a:lnTo>
                    <a:lnTo>
                      <a:pt x="80070" y="2200"/>
                    </a:lnTo>
                    <a:lnTo>
                      <a:pt x="80146" y="2143"/>
                    </a:lnTo>
                    <a:cubicBezTo>
                      <a:pt x="81262" y="1229"/>
                      <a:pt x="82572" y="581"/>
                      <a:pt x="83975" y="248"/>
                    </a:cubicBezTo>
                    <a:lnTo>
                      <a:pt x="84080" y="238"/>
                    </a:lnTo>
                    <a:lnTo>
                      <a:pt x="84337" y="190"/>
                    </a:lnTo>
                    <a:lnTo>
                      <a:pt x="85042" y="67"/>
                    </a:lnTo>
                    <a:lnTo>
                      <a:pt x="85147" y="57"/>
                    </a:lnTo>
                    <a:lnTo>
                      <a:pt x="85537" y="3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77290" y="3201352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关键信息保留，噪声淡出</a:t>
                </a:r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894919" y="3543300"/>
                <a:ext cx="153263" cy="194034"/>
              </a:xfrm>
              <a:custGeom>
                <a:avLst/>
                <a:gdLst/>
                <a:ahLst/>
                <a:cxnLst/>
                <a:rect l="l" t="t" r="r" b="b"/>
                <a:pathLst>
                  <a:path w="153263" h="194034">
                    <a:moveTo>
                      <a:pt x="86156" y="0"/>
                    </a:moveTo>
                    <a:lnTo>
                      <a:pt x="86328" y="10"/>
                    </a:lnTo>
                    <a:lnTo>
                      <a:pt x="86480" y="19"/>
                    </a:lnTo>
                    <a:lnTo>
                      <a:pt x="87271" y="67"/>
                    </a:lnTo>
                    <a:lnTo>
                      <a:pt x="87375" y="86"/>
                    </a:lnTo>
                    <a:lnTo>
                      <a:pt x="87480" y="86"/>
                    </a:lnTo>
                    <a:lnTo>
                      <a:pt x="87842" y="171"/>
                    </a:lnTo>
                    <a:lnTo>
                      <a:pt x="88337" y="248"/>
                    </a:lnTo>
                    <a:lnTo>
                      <a:pt x="88490" y="305"/>
                    </a:lnTo>
                    <a:lnTo>
                      <a:pt x="88595" y="314"/>
                    </a:lnTo>
                    <a:lnTo>
                      <a:pt x="88871" y="419"/>
                    </a:lnTo>
                    <a:lnTo>
                      <a:pt x="89366" y="552"/>
                    </a:lnTo>
                    <a:lnTo>
                      <a:pt x="89547" y="638"/>
                    </a:lnTo>
                    <a:lnTo>
                      <a:pt x="89690" y="676"/>
                    </a:lnTo>
                    <a:lnTo>
                      <a:pt x="89957" y="810"/>
                    </a:lnTo>
                    <a:lnTo>
                      <a:pt x="90338" y="972"/>
                    </a:lnTo>
                    <a:lnTo>
                      <a:pt x="90538" y="1086"/>
                    </a:lnTo>
                    <a:lnTo>
                      <a:pt x="90747" y="1181"/>
                    </a:lnTo>
                    <a:lnTo>
                      <a:pt x="90966" y="1324"/>
                    </a:lnTo>
                    <a:lnTo>
                      <a:pt x="91262" y="1486"/>
                    </a:lnTo>
                    <a:lnTo>
                      <a:pt x="91586" y="1715"/>
                    </a:lnTo>
                    <a:lnTo>
                      <a:pt x="91757" y="1819"/>
                    </a:lnTo>
                    <a:lnTo>
                      <a:pt x="91881" y="1934"/>
                    </a:lnTo>
                    <a:lnTo>
                      <a:pt x="92109" y="2095"/>
                    </a:lnTo>
                    <a:lnTo>
                      <a:pt x="92471" y="2419"/>
                    </a:lnTo>
                    <a:lnTo>
                      <a:pt x="92681" y="2581"/>
                    </a:lnTo>
                    <a:lnTo>
                      <a:pt x="92757" y="2677"/>
                    </a:lnTo>
                    <a:lnTo>
                      <a:pt x="92890" y="2791"/>
                    </a:lnTo>
                    <a:lnTo>
                      <a:pt x="93233" y="3181"/>
                    </a:lnTo>
                    <a:lnTo>
                      <a:pt x="93481" y="3439"/>
                    </a:lnTo>
                    <a:lnTo>
                      <a:pt x="93538" y="3524"/>
                    </a:lnTo>
                    <a:cubicBezTo>
                      <a:pt x="94681" y="4924"/>
                      <a:pt x="95405" y="6591"/>
                      <a:pt x="95615" y="8411"/>
                    </a:cubicBezTo>
                    <a:lnTo>
                      <a:pt x="95624" y="8525"/>
                    </a:lnTo>
                    <a:lnTo>
                      <a:pt x="95643" y="8915"/>
                    </a:lnTo>
                    <a:lnTo>
                      <a:pt x="95681" y="9525"/>
                    </a:lnTo>
                    <a:lnTo>
                      <a:pt x="95681" y="66675"/>
                    </a:lnTo>
                    <a:lnTo>
                      <a:pt x="143306" y="66675"/>
                    </a:lnTo>
                    <a:cubicBezTo>
                      <a:pt x="146704" y="66674"/>
                      <a:pt x="149844" y="68483"/>
                      <a:pt x="151549" y="71422"/>
                    </a:cubicBezTo>
                    <a:cubicBezTo>
                      <a:pt x="153253" y="74361"/>
                      <a:pt x="153263" y="77986"/>
                      <a:pt x="151574" y="80934"/>
                    </a:cubicBezTo>
                    <a:lnTo>
                      <a:pt x="151002" y="81801"/>
                    </a:lnTo>
                    <a:lnTo>
                      <a:pt x="74802" y="186576"/>
                    </a:lnTo>
                    <a:cubicBezTo>
                      <a:pt x="69392" y="194034"/>
                      <a:pt x="57581" y="190195"/>
                      <a:pt x="57581" y="180975"/>
                    </a:cubicBezTo>
                    <a:lnTo>
                      <a:pt x="57581" y="123825"/>
                    </a:lnTo>
                    <a:lnTo>
                      <a:pt x="9956" y="123825"/>
                    </a:lnTo>
                    <a:cubicBezTo>
                      <a:pt x="6559" y="123826"/>
                      <a:pt x="3418" y="122017"/>
                      <a:pt x="1714" y="119078"/>
                    </a:cubicBezTo>
                    <a:cubicBezTo>
                      <a:pt x="10" y="116139"/>
                      <a:pt x="0" y="112514"/>
                      <a:pt x="1689" y="109566"/>
                    </a:cubicBezTo>
                    <a:lnTo>
                      <a:pt x="2260" y="108699"/>
                    </a:lnTo>
                    <a:lnTo>
                      <a:pt x="78460" y="3924"/>
                    </a:lnTo>
                    <a:lnTo>
                      <a:pt x="78555" y="3800"/>
                    </a:lnTo>
                    <a:lnTo>
                      <a:pt x="78727" y="3572"/>
                    </a:lnTo>
                    <a:lnTo>
                      <a:pt x="79041" y="3210"/>
                    </a:lnTo>
                    <a:lnTo>
                      <a:pt x="79213" y="3000"/>
                    </a:lnTo>
                    <a:lnTo>
                      <a:pt x="79298" y="2924"/>
                    </a:lnTo>
                    <a:lnTo>
                      <a:pt x="79422" y="2791"/>
                    </a:lnTo>
                    <a:lnTo>
                      <a:pt x="79803" y="2448"/>
                    </a:lnTo>
                    <a:lnTo>
                      <a:pt x="80070" y="2200"/>
                    </a:lnTo>
                    <a:lnTo>
                      <a:pt x="80146" y="2143"/>
                    </a:lnTo>
                    <a:cubicBezTo>
                      <a:pt x="81262" y="1229"/>
                      <a:pt x="82572" y="581"/>
                      <a:pt x="83975" y="248"/>
                    </a:cubicBezTo>
                    <a:lnTo>
                      <a:pt x="84080" y="238"/>
                    </a:lnTo>
                    <a:lnTo>
                      <a:pt x="84337" y="190"/>
                    </a:lnTo>
                    <a:lnTo>
                      <a:pt x="85042" y="67"/>
                    </a:lnTo>
                    <a:lnTo>
                      <a:pt x="85147" y="57"/>
                    </a:lnTo>
                    <a:lnTo>
                      <a:pt x="85537" y="3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77290" y="358235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长文本效率大幅提升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57250" y="3952875"/>
                <a:ext cx="4762500" cy="19050"/>
              </a:xfrm>
              <a:prstGeom prst="rect">
                <a:avLst/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42010" y="4156710"/>
                <a:ext cx="23767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配合 Attention Residuals：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3915" y="443960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优化多层网络间的信息传递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3915" y="4649152"/>
                <a:ext cx="26720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让 2.8 万亿参数的巨无霸既能稳定训练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3915" y="4858702"/>
                <a:ext cx="15525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推理效率还提升约 25%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857250" y="5238750"/>
                <a:ext cx="28575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6B8E5A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538496" y="5345906"/>
                <a:ext cx="14950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推理效率提升 ~25%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286500" y="1047750"/>
              <a:ext cx="5334000" cy="5048250"/>
              <a:chOff x="6286500" y="1047750"/>
              <a:chExt cx="5334000" cy="50482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286500" y="1047750"/>
                <a:ext cx="5334000" cy="5048250"/>
              </a:xfrm>
              <a:prstGeom prst="roundRect">
                <a:avLst>
                  <a:gd name="adj" fmla="val 3019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04739" y="1330642"/>
                <a:ext cx="18975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长序列记忆衰减示意</a:t>
                </a:r>
              </a:p>
            </p:txBody>
          </p:sp>
          <p:grpSp>
            <p:nvGrpSpPr>
              <p:cNvPr id="47" name="Group 47"/>
              <p:cNvGrpSpPr/>
              <p:nvPr/>
            </p:nvGrpSpPr>
            <p:grpSpPr>
              <a:xfrm>
                <a:off x="6667500" y="1809750"/>
                <a:ext cx="4191000" cy="857250"/>
                <a:chOff x="6667500" y="1809750"/>
                <a:chExt cx="4191000" cy="857250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666750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790706" y="1960245"/>
                  <a:ext cx="13458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AF7F2"/>
                      </a:solidFill>
                      <a:latin typeface="Consolas"/>
                      <a:ea typeface="Microsoft YaHei"/>
                      <a:cs typeface="Consolas"/>
                    </a:rPr>
                    <a:t>T1</a:t>
                  </a:r>
                </a:p>
              </p:txBody>
            </p:sp>
            <p:sp>
              <p:nvSpPr>
                <p:cNvPr id="29" name="Rectangle 29"/>
                <p:cNvSpPr/>
                <p:nvPr/>
              </p:nvSpPr>
              <p:spPr>
                <a:xfrm>
                  <a:off x="714375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85000"/>
                  </a:srgbClr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25052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AF7F2"/>
                      </a:solidFill>
                      <a:latin typeface="Consolas"/>
                      <a:ea typeface="Microsoft YaHei"/>
                      <a:cs typeface="Consolas"/>
                    </a:rPr>
                    <a:t>T2</a:t>
                  </a:r>
                </a:p>
              </p:txBody>
            </p:sp>
            <p:sp>
              <p:nvSpPr>
                <p:cNvPr id="31" name="Rectangle 31"/>
                <p:cNvSpPr/>
                <p:nvPr/>
              </p:nvSpPr>
              <p:spPr>
                <a:xfrm>
                  <a:off x="762000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30000"/>
                  </a:srgbClr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72677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Consolas"/>
                      <a:ea typeface="Microsoft YaHei"/>
                      <a:cs typeface="Consolas"/>
                    </a:rPr>
                    <a:t>T3</a:t>
                  </a:r>
                </a:p>
              </p:txBody>
            </p:sp>
            <p:sp>
              <p:nvSpPr>
                <p:cNvPr id="33" name="Rectangle 33"/>
                <p:cNvSpPr/>
                <p:nvPr/>
              </p:nvSpPr>
              <p:spPr>
                <a:xfrm>
                  <a:off x="809625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820302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Consolas"/>
                      <a:ea typeface="Microsoft YaHei"/>
                      <a:cs typeface="Consolas"/>
                    </a:rPr>
                    <a:t>T4</a:t>
                  </a:r>
                </a:p>
              </p:txBody>
            </p:sp>
            <p:sp>
              <p:nvSpPr>
                <p:cNvPr id="35" name="Rectangle 35"/>
                <p:cNvSpPr/>
                <p:nvPr/>
              </p:nvSpPr>
              <p:spPr>
                <a:xfrm>
                  <a:off x="857250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90000"/>
                  </a:srgbClr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67927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AF7F2"/>
                      </a:solidFill>
                      <a:latin typeface="Consolas"/>
                      <a:ea typeface="Microsoft YaHei"/>
                      <a:cs typeface="Consolas"/>
                    </a:rPr>
                    <a:t>T5</a:t>
                  </a:r>
                </a:p>
              </p:txBody>
            </p:sp>
            <p:sp>
              <p:nvSpPr>
                <p:cNvPr id="37" name="Rectangle 37"/>
                <p:cNvSpPr/>
                <p:nvPr/>
              </p:nvSpPr>
              <p:spPr>
                <a:xfrm>
                  <a:off x="904875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15000"/>
                  </a:srgbClr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15552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Consolas"/>
                      <a:ea typeface="Microsoft YaHei"/>
                      <a:cs typeface="Consolas"/>
                    </a:rPr>
                    <a:t>T6</a:t>
                  </a:r>
                </a:p>
              </p:txBody>
            </p:sp>
            <p:sp>
              <p:nvSpPr>
                <p:cNvPr id="39" name="Rectangle 39"/>
                <p:cNvSpPr/>
                <p:nvPr/>
              </p:nvSpPr>
              <p:spPr>
                <a:xfrm>
                  <a:off x="952500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10000"/>
                  </a:srgbClr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63177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Consolas"/>
                      <a:ea typeface="Microsoft YaHei"/>
                      <a:cs typeface="Consolas"/>
                    </a:rPr>
                    <a:t>T7</a:t>
                  </a:r>
                </a:p>
              </p:txBody>
            </p:sp>
            <p:sp>
              <p:nvSpPr>
                <p:cNvPr id="41" name="Rectangle 41"/>
                <p:cNvSpPr/>
                <p:nvPr/>
              </p:nvSpPr>
              <p:spPr>
                <a:xfrm>
                  <a:off x="1000125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70000"/>
                  </a:srgbClr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010802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AF7F2"/>
                      </a:solidFill>
                      <a:latin typeface="Consolas"/>
                      <a:ea typeface="Microsoft YaHei"/>
                      <a:cs typeface="Consolas"/>
                    </a:rPr>
                    <a:t>T8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10477500" y="180975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15000"/>
                  </a:srgbClr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0584275" y="196024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Consolas"/>
                      <a:ea typeface="Microsoft YaHei"/>
                      <a:cs typeface="Consolas"/>
                    </a:rPr>
                    <a:t>T9</a:t>
                  </a:r>
                </a:p>
              </p:txBody>
            </p:sp>
            <p:sp>
              <p:nvSpPr>
                <p:cNvPr id="45" name="Rectangle 45"/>
                <p:cNvSpPr/>
                <p:nvPr/>
              </p:nvSpPr>
              <p:spPr>
                <a:xfrm>
                  <a:off x="6667500" y="2286000"/>
                  <a:ext cx="3810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E8A87C">
                    <a:alpha val="10000"/>
                  </a:srgbClr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774275" y="2436495"/>
                  <a:ext cx="1674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Consolas"/>
                      <a:ea typeface="Microsoft YaHei"/>
                      <a:cs typeface="Consolas"/>
                    </a:rPr>
                    <a:t>..</a:t>
                  </a:r>
                </a:p>
              </p:txBody>
            </p:sp>
          </p:grpSp>
          <p:sp>
            <p:nvSpPr>
              <p:cNvPr id="48" name="Rectangle 48"/>
              <p:cNvSpPr/>
              <p:nvPr/>
            </p:nvSpPr>
            <p:spPr>
              <a:xfrm>
                <a:off x="6858000" y="2857500"/>
                <a:ext cx="285750" cy="152400"/>
              </a:xfrm>
              <a:prstGeom prst="roundRect">
                <a:avLst>
                  <a:gd name="adj" fmla="val 2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226618" y="2876074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关键信息（高保留）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858250" y="2857500"/>
                <a:ext cx="285750" cy="152400"/>
              </a:xfrm>
              <a:prstGeom prst="roundRect">
                <a:avLst>
                  <a:gd name="adj" fmla="val 25000"/>
                </a:avLst>
              </a:prstGeom>
              <a:solidFill>
                <a:srgbClr val="E8A8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226868" y="2876074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噪声（低保留）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294180" y="3347085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多通道衰减速率</a:t>
                </a:r>
              </a:p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6435090" y="3667125"/>
                <a:ext cx="4423410" cy="2085975"/>
                <a:chOff x="6435090" y="3667125"/>
                <a:chExt cx="4423410" cy="2085975"/>
              </a:xfrm>
            </p:grpSpPr>
            <p:sp>
              <p:nvSpPr>
                <p:cNvPr id="53" name="Line 53"/>
                <p:cNvSpPr/>
                <p:nvPr/>
              </p:nvSpPr>
              <p:spPr>
                <a:xfrm>
                  <a:off x="6858000" y="5381625"/>
                  <a:ext cx="400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0" h="9525">
                      <a:moveTo>
                        <a:pt x="0" y="0"/>
                      </a:moveTo>
                      <a:lnTo>
                        <a:pt x="4000500" y="0"/>
                      </a:lnTo>
                    </a:path>
                  </a:pathLst>
                </a:custGeom>
                <a:noFill/>
                <a:ln w="19050">
                  <a:solidFill>
                    <a:srgbClr val="EDE5D5"/>
                  </a:solidFill>
                </a:ln>
              </p:spPr>
            </p:sp>
            <p:sp>
              <p:nvSpPr>
                <p:cNvPr id="54" name="Line 54"/>
                <p:cNvSpPr/>
                <p:nvPr/>
              </p:nvSpPr>
              <p:spPr>
                <a:xfrm>
                  <a:off x="6858000" y="3667125"/>
                  <a:ext cx="9525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0">
                      <a:moveTo>
                        <a:pt x="0" y="0"/>
                      </a:moveTo>
                      <a:lnTo>
                        <a:pt x="0" y="1714500"/>
                      </a:lnTo>
                    </a:path>
                  </a:pathLst>
                </a:custGeom>
                <a:noFill/>
                <a:ln w="19050">
                  <a:solidFill>
                    <a:srgbClr val="EDE5D5"/>
                  </a:solidFill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528066" y="5570220"/>
                  <a:ext cx="6603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Arial"/>
                      <a:ea typeface="Microsoft YaHei"/>
                      <a:cs typeface="Arial"/>
                    </a:rPr>
                    <a:t>序列位置 →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 rot="-5400000">
                  <a:off x="6435090" y="4432935"/>
                  <a:ext cx="54864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8B7D6B"/>
                      </a:solidFill>
                      <a:latin typeface="Arial"/>
                      <a:ea typeface="Microsoft YaHei"/>
                      <a:cs typeface="Arial"/>
                    </a:rPr>
                    <a:t>记忆强度</a:t>
                  </a:r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6953250" y="3762375"/>
                  <a:ext cx="3714750" cy="13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1333500">
                      <a:moveTo>
                        <a:pt x="0" y="0"/>
                      </a:moveTo>
                      <a:cubicBezTo>
                        <a:pt x="571500" y="127000"/>
                        <a:pt x="1174750" y="349250"/>
                        <a:pt x="1809750" y="666750"/>
                      </a:cubicBezTo>
                      <a:cubicBezTo>
                        <a:pt x="2444750" y="984250"/>
                        <a:pt x="3079750" y="1206500"/>
                        <a:pt x="3714750" y="1333500"/>
                      </a:cubicBezTo>
                    </a:path>
                  </a:pathLst>
                </a:custGeom>
                <a:noFill/>
                <a:ln w="23812">
                  <a:solidFill>
                    <a:srgbClr val="8B6F47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6953250" y="3762375"/>
                  <a:ext cx="3714750" cy="158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1587500">
                      <a:moveTo>
                        <a:pt x="0" y="0"/>
                      </a:moveTo>
                      <a:cubicBezTo>
                        <a:pt x="444500" y="317500"/>
                        <a:pt x="920750" y="666750"/>
                        <a:pt x="1428750" y="1047750"/>
                      </a:cubicBezTo>
                      <a:cubicBezTo>
                        <a:pt x="1936750" y="1428750"/>
                        <a:pt x="2698750" y="1587500"/>
                        <a:pt x="3714750" y="1524000"/>
                      </a:cubicBezTo>
                    </a:path>
                  </a:pathLst>
                </a:custGeom>
                <a:noFill/>
                <a:ln w="23812">
                  <a:solidFill>
                    <a:srgbClr val="E8A87C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953250" y="3762375"/>
                  <a:ext cx="3714750" cy="186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1866900">
                      <a:moveTo>
                        <a:pt x="0" y="0"/>
                      </a:moveTo>
                      <a:cubicBezTo>
                        <a:pt x="254000" y="444500"/>
                        <a:pt x="539750" y="889000"/>
                        <a:pt x="857250" y="1333500"/>
                      </a:cubicBezTo>
                      <a:cubicBezTo>
                        <a:pt x="1174750" y="1778000"/>
                        <a:pt x="2127250" y="1866900"/>
                        <a:pt x="3714750" y="1600200"/>
                      </a:cubicBezTo>
                    </a:path>
                  </a:pathLst>
                </a:custGeom>
                <a:noFill/>
                <a:ln w="23812">
                  <a:solidFill>
                    <a:srgbClr val="B8926A"/>
                  </a:solidFill>
                  <a:custDash>
                    <a:ds d="240000" sp="160000"/>
                  </a:custDash>
                </a:ln>
              </p:spPr>
            </p:sp>
          </p:grpSp>
        </p:grpSp>
      </p:grpSp>
      <p:sp>
        <p:nvSpPr>
          <p:cNvPr id="63" name="TextBox 6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39115" y="343852"/>
            <a:ext cx="11081385" cy="5656898"/>
            <a:chOff x="539115" y="343852"/>
            <a:chExt cx="11081385" cy="565689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20786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自研二 &amp; 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04775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047750"/>
              <a:ext cx="5334000" cy="762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2742337" y="1466850"/>
              <a:ext cx="306525" cy="388068"/>
            </a:xfrm>
            <a:custGeom>
              <a:avLst/>
              <a:gdLst/>
              <a:ahLst/>
              <a:cxnLst/>
              <a:rect l="l" t="t" r="r" b="b"/>
              <a:pathLst>
                <a:path w="306525" h="388068">
                  <a:moveTo>
                    <a:pt x="172313" y="0"/>
                  </a:moveTo>
                  <a:lnTo>
                    <a:pt x="172655" y="19"/>
                  </a:lnTo>
                  <a:lnTo>
                    <a:pt x="172960" y="38"/>
                  </a:lnTo>
                  <a:lnTo>
                    <a:pt x="174541" y="133"/>
                  </a:lnTo>
                  <a:lnTo>
                    <a:pt x="174751" y="171"/>
                  </a:lnTo>
                  <a:lnTo>
                    <a:pt x="174960" y="171"/>
                  </a:lnTo>
                  <a:lnTo>
                    <a:pt x="175684" y="343"/>
                  </a:lnTo>
                  <a:lnTo>
                    <a:pt x="176675" y="495"/>
                  </a:lnTo>
                  <a:lnTo>
                    <a:pt x="176980" y="610"/>
                  </a:lnTo>
                  <a:lnTo>
                    <a:pt x="177189" y="629"/>
                  </a:lnTo>
                  <a:lnTo>
                    <a:pt x="177742" y="838"/>
                  </a:lnTo>
                  <a:lnTo>
                    <a:pt x="178732" y="1105"/>
                  </a:lnTo>
                  <a:lnTo>
                    <a:pt x="179094" y="1276"/>
                  </a:lnTo>
                  <a:lnTo>
                    <a:pt x="179380" y="1353"/>
                  </a:lnTo>
                  <a:lnTo>
                    <a:pt x="179913" y="1619"/>
                  </a:lnTo>
                  <a:lnTo>
                    <a:pt x="180675" y="1943"/>
                  </a:lnTo>
                  <a:lnTo>
                    <a:pt x="181076" y="2172"/>
                  </a:lnTo>
                  <a:lnTo>
                    <a:pt x="181495" y="2362"/>
                  </a:lnTo>
                  <a:lnTo>
                    <a:pt x="181933" y="2648"/>
                  </a:lnTo>
                  <a:lnTo>
                    <a:pt x="182523" y="2972"/>
                  </a:lnTo>
                  <a:lnTo>
                    <a:pt x="183171" y="3429"/>
                  </a:lnTo>
                  <a:lnTo>
                    <a:pt x="183514" y="3639"/>
                  </a:lnTo>
                  <a:lnTo>
                    <a:pt x="183762" y="3867"/>
                  </a:lnTo>
                  <a:lnTo>
                    <a:pt x="184219" y="4191"/>
                  </a:lnTo>
                  <a:lnTo>
                    <a:pt x="184943" y="4839"/>
                  </a:lnTo>
                  <a:lnTo>
                    <a:pt x="185362" y="5163"/>
                  </a:lnTo>
                  <a:lnTo>
                    <a:pt x="185514" y="5353"/>
                  </a:lnTo>
                  <a:lnTo>
                    <a:pt x="185781" y="5582"/>
                  </a:lnTo>
                  <a:lnTo>
                    <a:pt x="186467" y="6363"/>
                  </a:lnTo>
                  <a:lnTo>
                    <a:pt x="186962" y="6877"/>
                  </a:lnTo>
                  <a:lnTo>
                    <a:pt x="187076" y="7049"/>
                  </a:lnTo>
                  <a:cubicBezTo>
                    <a:pt x="189362" y="9849"/>
                    <a:pt x="190810" y="13183"/>
                    <a:pt x="191229" y="16821"/>
                  </a:cubicBezTo>
                  <a:lnTo>
                    <a:pt x="191248" y="17050"/>
                  </a:lnTo>
                  <a:lnTo>
                    <a:pt x="191286" y="17831"/>
                  </a:lnTo>
                  <a:lnTo>
                    <a:pt x="191363" y="19050"/>
                  </a:lnTo>
                  <a:lnTo>
                    <a:pt x="191363" y="133350"/>
                  </a:lnTo>
                  <a:lnTo>
                    <a:pt x="286613" y="133350"/>
                  </a:lnTo>
                  <a:cubicBezTo>
                    <a:pt x="293407" y="133348"/>
                    <a:pt x="299689" y="136966"/>
                    <a:pt x="303097" y="142844"/>
                  </a:cubicBezTo>
                  <a:cubicBezTo>
                    <a:pt x="306506" y="148723"/>
                    <a:pt x="306525" y="155971"/>
                    <a:pt x="303148" y="161868"/>
                  </a:cubicBezTo>
                  <a:lnTo>
                    <a:pt x="302005" y="163601"/>
                  </a:lnTo>
                  <a:lnTo>
                    <a:pt x="149605" y="373151"/>
                  </a:lnTo>
                  <a:cubicBezTo>
                    <a:pt x="138785" y="388068"/>
                    <a:pt x="115163" y="380390"/>
                    <a:pt x="115163" y="361950"/>
                  </a:cubicBezTo>
                  <a:lnTo>
                    <a:pt x="115163" y="247650"/>
                  </a:lnTo>
                  <a:lnTo>
                    <a:pt x="19913" y="247650"/>
                  </a:lnTo>
                  <a:cubicBezTo>
                    <a:pt x="13118" y="247652"/>
                    <a:pt x="6836" y="244034"/>
                    <a:pt x="3428" y="238156"/>
                  </a:cubicBezTo>
                  <a:cubicBezTo>
                    <a:pt x="19" y="232277"/>
                    <a:pt x="0" y="225029"/>
                    <a:pt x="3377" y="219132"/>
                  </a:cubicBezTo>
                  <a:lnTo>
                    <a:pt x="4520" y="217399"/>
                  </a:lnTo>
                  <a:lnTo>
                    <a:pt x="156920" y="7849"/>
                  </a:lnTo>
                  <a:lnTo>
                    <a:pt x="157111" y="7601"/>
                  </a:lnTo>
                  <a:lnTo>
                    <a:pt x="157454" y="7144"/>
                  </a:lnTo>
                  <a:lnTo>
                    <a:pt x="158082" y="6420"/>
                  </a:lnTo>
                  <a:lnTo>
                    <a:pt x="158425" y="6001"/>
                  </a:lnTo>
                  <a:lnTo>
                    <a:pt x="158597" y="5848"/>
                  </a:lnTo>
                  <a:lnTo>
                    <a:pt x="158844" y="5582"/>
                  </a:lnTo>
                  <a:lnTo>
                    <a:pt x="159606" y="4896"/>
                  </a:lnTo>
                  <a:lnTo>
                    <a:pt x="160140" y="4401"/>
                  </a:lnTo>
                  <a:lnTo>
                    <a:pt x="160292" y="4286"/>
                  </a:lnTo>
                  <a:cubicBezTo>
                    <a:pt x="162525" y="2459"/>
                    <a:pt x="165143" y="1163"/>
                    <a:pt x="167950" y="495"/>
                  </a:cubicBezTo>
                  <a:lnTo>
                    <a:pt x="168160" y="476"/>
                  </a:lnTo>
                  <a:lnTo>
                    <a:pt x="168674" y="381"/>
                  </a:lnTo>
                  <a:lnTo>
                    <a:pt x="170084" y="133"/>
                  </a:lnTo>
                  <a:lnTo>
                    <a:pt x="170293" y="114"/>
                  </a:lnTo>
                  <a:lnTo>
                    <a:pt x="171074" y="76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52782" y="2091690"/>
              <a:ext cx="25714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Kimi Linear Tension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34590" y="24898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自研线性注意力机制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2952750"/>
              <a:ext cx="4572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2510" y="3204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解决的问题：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47900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传统线性注意力处理超长任务时性能衰减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2510" y="3918585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效果：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47750" y="4238625"/>
              <a:ext cx="4191000" cy="571500"/>
            </a:xfrm>
            <a:prstGeom prst="roundRect">
              <a:avLst>
                <a:gd name="adj" fmla="val 20000"/>
              </a:avLst>
            </a:prstGeom>
            <a:solidFill>
              <a:srgbClr val="6B8E5A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11479" y="425005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6B8E5A"/>
                  </a:solidFill>
                  <a:latin typeface="Georgia"/>
                  <a:ea typeface="Microsoft YaHei"/>
                  <a:cs typeface="Georgia"/>
                </a:rPr>
                <a:t>上下文 × 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5238" y="4601528"/>
              <a:ext cx="2856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训练成本同步扩大 10 倍（不是指数爆炸）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5048250"/>
              <a:ext cx="4191000" cy="342900"/>
            </a:xfrm>
            <a:prstGeom prst="roundRect">
              <a:avLst>
                <a:gd name="adj" fmla="val 22222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56448" y="51635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这就是长上下文能力的工程底气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1047750"/>
              <a:ext cx="5334000" cy="4953000"/>
            </a:xfrm>
            <a:prstGeom prst="roundRect">
              <a:avLst>
                <a:gd name="adj" fmla="val 307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047750"/>
              <a:ext cx="5334000" cy="762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419563" y="1466850"/>
              <a:ext cx="382074" cy="381000"/>
              <a:chOff x="8419563" y="1466850"/>
              <a:chExt cx="382074" cy="381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19563" y="16383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91550" y="14668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43413" y="16383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67775" y="15144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97991" y="15145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53450" y="17716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486608" y="15430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323364" y="2091690"/>
              <a:ext cx="12602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Moon Clip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0" y="2489835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全新二阶优化器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67500" y="2952750"/>
              <a:ext cx="4572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47510" y="32042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核心能力：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48462" y="3479006"/>
              <a:ext cx="2082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由 Kimi 首次用到大模型训练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7510" y="3918585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效果：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62750" y="4238625"/>
              <a:ext cx="4191000" cy="571500"/>
            </a:xfrm>
            <a:prstGeom prst="roundRect">
              <a:avLst>
                <a:gd name="adj" fmla="val 20000"/>
              </a:avLst>
            </a:prstGeom>
            <a:solidFill>
              <a:srgbClr val="6B8E5A">
                <a:alpha val="8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44694" y="4250055"/>
              <a:ext cx="22271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6B8E5A"/>
                  </a:solidFill>
                  <a:latin typeface="Georgia"/>
                  <a:ea typeface="Microsoft YaHei"/>
                  <a:cs typeface="Georgia"/>
                </a:rPr>
                <a:t>20T → 40T 效果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64742" y="460152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同等性能下训练成本和算力功耗直接减半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62750" y="5048250"/>
              <a:ext cx="4191000" cy="342900"/>
            </a:xfrm>
            <a:prstGeom prst="roundRect">
              <a:avLst>
                <a:gd name="adj" fmla="val 22222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48124" y="51635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训练效率翻倍，省的就是利润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E8A87C">
              <a:alpha val="5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905000" y="1568768"/>
            <a:ext cx="7715250" cy="4150994"/>
            <a:chOff x="1905000" y="1568768"/>
            <a:chExt cx="7715250" cy="4150994"/>
          </a:xfrm>
        </p:grpSpPr>
        <p:sp>
          <p:nvSpPr>
            <p:cNvPr id="4" name="TextBox 4"/>
            <p:cNvSpPr txBox="1"/>
            <p:nvPr/>
          </p:nvSpPr>
          <p:spPr>
            <a:xfrm>
              <a:off x="5250752" y="15687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整体扩展效率提升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191429" y="2200275"/>
              <a:ext cx="3809143" cy="2133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2.5×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3619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437096" y="3933825"/>
              <a:ext cx="53178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同样把算力换成智能，K3 比上一代 K2 效率高出一大截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905000" y="4476750"/>
              <a:ext cx="7715250" cy="381000"/>
              <a:chOff x="1905000" y="4476750"/>
              <a:chExt cx="7715250" cy="381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905000" y="4476750"/>
                <a:ext cx="23812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683765" y="4611052"/>
                <a:ext cx="8237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KDA 注意力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4572000" y="4476750"/>
                <a:ext cx="23812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189745" y="4611052"/>
                <a:ext cx="11457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Linear Tension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239000" y="4476750"/>
                <a:ext cx="23812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062046" y="4611052"/>
                <a:ext cx="735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Moon Clip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45843" y="5204460"/>
              <a:ext cx="51003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"不是堆钱，是在沿用近十年的 AI 基础机制上做了系统性重写"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32521" y="55064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这比单纯把参数做大，值钱得多。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952500"/>
            <a:ext cx="4762500" cy="47625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3810000"/>
            <a:ext cx="3429000" cy="3429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3654171" y="1695450"/>
            <a:ext cx="4883658" cy="3096028"/>
            <a:chOff x="3654171" y="1695450"/>
            <a:chExt cx="4883658" cy="3096028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6954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54171" y="300799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为什么全球都紧张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3667125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43425" y="398145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算力挤兑、蒸馏争议、地缘博弈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743090" y="4489009"/>
              <a:ext cx="222668" cy="302469"/>
              <a:chOff x="5743090" y="4489009"/>
              <a:chExt cx="222668" cy="30246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762625" y="4533898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8" y="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743090" y="4489009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819775" y="4705350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62222" y="4762500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14" name="Freeform 14"/>
            <p:cNvSpPr/>
            <p:nvPr/>
          </p:nvSpPr>
          <p:spPr>
            <a:xfrm>
              <a:off x="6175256" y="450532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1905000" y="391478"/>
            <a:ext cx="8382000" cy="5514022"/>
            <a:chOff x="1905000" y="391478"/>
            <a:chExt cx="8382000" cy="5514022"/>
          </a:xfrm>
        </p:grpSpPr>
        <p:sp>
          <p:nvSpPr>
            <p:cNvPr id="3" name="TextBox 3"/>
            <p:cNvSpPr txBox="1"/>
            <p:nvPr/>
          </p:nvSpPr>
          <p:spPr>
            <a:xfrm>
              <a:off x="4157252" y="391478"/>
              <a:ext cx="387749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"DeepSeek 2.0 时刻"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905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286000" y="1238250"/>
              <a:ext cx="7620000" cy="476250"/>
            </a:xfrm>
            <a:prstGeom prst="roundRect">
              <a:avLst>
                <a:gd name="adj" fmla="val 24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42610" y="14135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服务器负载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381250" y="1333500"/>
              <a:ext cx="7429500" cy="285750"/>
            </a:xfrm>
            <a:prstGeom prst="roundRect">
              <a:avLst>
                <a:gd name="adj" fmla="val 26667"/>
              </a:avLst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381250" y="1333500"/>
              <a:ext cx="7048500" cy="285750"/>
            </a:xfrm>
            <a:prstGeom prst="roundRect">
              <a:avLst>
                <a:gd name="adj" fmla="val 26667"/>
              </a:avLst>
            </a:prstGeom>
            <a:solidFill>
              <a:srgbClr val="C75B4A">
                <a:alpha val="8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31618" y="142827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75B4A"/>
                  </a:solidFill>
                  <a:latin typeface="Arial"/>
                  <a:ea typeface="Microsoft YaHei"/>
                  <a:cs typeface="Arial"/>
                </a:rPr>
                <a:t>95%+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2000250"/>
              <a:ext cx="8382000" cy="2667000"/>
            </a:xfrm>
            <a:prstGeom prst="roundRect">
              <a:avLst>
                <a:gd name="adj" fmla="val 7143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619750" y="2301931"/>
              <a:ext cx="381000" cy="507944"/>
            </a:xfrm>
            <a:custGeom>
              <a:avLst/>
              <a:gdLst/>
              <a:ahLst/>
              <a:cxnLst/>
              <a:rect l="l" t="t" r="r" b="b"/>
              <a:pathLst>
                <a:path w="381000" h="507944">
                  <a:moveTo>
                    <a:pt x="142875" y="31694"/>
                  </a:moveTo>
                  <a:cubicBezTo>
                    <a:pt x="142875" y="10739"/>
                    <a:pt x="168021" y="0"/>
                    <a:pt x="183166" y="14502"/>
                  </a:cubicBezTo>
                  <a:cubicBezTo>
                    <a:pt x="229791" y="59174"/>
                    <a:pt x="256889" y="157258"/>
                    <a:pt x="224838" y="231672"/>
                  </a:cubicBezTo>
                  <a:lnTo>
                    <a:pt x="222933" y="235815"/>
                  </a:lnTo>
                  <a:lnTo>
                    <a:pt x="223218" y="235887"/>
                  </a:lnTo>
                  <a:cubicBezTo>
                    <a:pt x="238101" y="239054"/>
                    <a:pt x="251865" y="225647"/>
                    <a:pt x="278059" y="184142"/>
                  </a:cubicBezTo>
                  <a:lnTo>
                    <a:pt x="281392" y="178808"/>
                  </a:lnTo>
                  <a:cubicBezTo>
                    <a:pt x="285309" y="172504"/>
                    <a:pt x="291940" y="168386"/>
                    <a:pt x="299327" y="167672"/>
                  </a:cubicBezTo>
                  <a:cubicBezTo>
                    <a:pt x="306714" y="166957"/>
                    <a:pt x="314012" y="169728"/>
                    <a:pt x="319064" y="175165"/>
                  </a:cubicBezTo>
                  <a:cubicBezTo>
                    <a:pt x="350830" y="209336"/>
                    <a:pt x="381000" y="279392"/>
                    <a:pt x="381000" y="324469"/>
                  </a:cubicBezTo>
                  <a:cubicBezTo>
                    <a:pt x="381000" y="426029"/>
                    <a:pt x="295489" y="507944"/>
                    <a:pt x="190500" y="507944"/>
                  </a:cubicBezTo>
                  <a:cubicBezTo>
                    <a:pt x="85511" y="507944"/>
                    <a:pt x="0" y="426029"/>
                    <a:pt x="0" y="324445"/>
                  </a:cubicBezTo>
                  <a:cubicBezTo>
                    <a:pt x="0" y="270820"/>
                    <a:pt x="24336" y="212146"/>
                    <a:pt x="62675" y="174403"/>
                  </a:cubicBezTo>
                  <a:lnTo>
                    <a:pt x="77081" y="160377"/>
                  </a:lnTo>
                  <a:cubicBezTo>
                    <a:pt x="82820" y="154757"/>
                    <a:pt x="87416" y="150138"/>
                    <a:pt x="91797" y="145518"/>
                  </a:cubicBezTo>
                  <a:cubicBezTo>
                    <a:pt x="125849" y="109514"/>
                    <a:pt x="142875" y="75890"/>
                    <a:pt x="142875" y="31694"/>
                  </a:cubicBezTo>
                </a:path>
              </a:pathLst>
            </a:custGeom>
            <a:solidFill>
              <a:srgbClr val="C75B4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50267" y="3155632"/>
              <a:ext cx="20914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 发布 48 小时内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4348" y="3521392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用户请求量远超预估，逼近集群承载极限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3750" y="3905250"/>
              <a:ext cx="5524500" cy="381000"/>
            </a:xfrm>
            <a:prstGeom prst="roundRect">
              <a:avLst>
                <a:gd name="adj" fmla="val 20000"/>
              </a:avLst>
            </a:prstGeom>
            <a:solidFill>
              <a:srgbClr val="C75B4A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93069" y="4016692"/>
              <a:ext cx="42058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75B4A"/>
                  </a:solidFill>
                  <a:latin typeface="Arial"/>
                  <a:ea typeface="Microsoft YaHei"/>
                  <a:cs typeface="Arial"/>
                </a:rPr>
                <a:t>暂停 C 端新用户订阅，算力全留给付费老用户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05000" y="4953000"/>
              <a:ext cx="8382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03420" y="5156835"/>
              <a:ext cx="31851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还记得去年 DeepSeek 服务器被挤爆吗？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90402" y="5410200"/>
              <a:ext cx="48111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这次更猛 —— 业内称之为 "DeepSeek 2.0 时刻"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539115" y="343852"/>
            <a:ext cx="11094720" cy="5847398"/>
            <a:chOff x="539115" y="343852"/>
            <a:chExt cx="11094720" cy="584739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362331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"蒸馏"指控站不住脚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75886" y="458152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AI专家内森·兰伯特 + 独立研究者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047750"/>
              <a:ext cx="11049000" cy="1285875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47750"/>
              <a:ext cx="57150" cy="1285875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09625" y="1190625"/>
              <a:ext cx="342900" cy="34290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7521" y="12668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4450" y="124777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性能无法靠蒸馏获得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9212" y="1574006"/>
              <a:ext cx="5401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Vals AI 指数全球第二 · Artificial Analysis 排第三 · 前端代码榜全球第一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0165" y="1839278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靠蒸馏根本做不出 K3 这种前沿性能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077575" y="135567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476500"/>
              <a:ext cx="11049000" cy="1285875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476500"/>
              <a:ext cx="57150" cy="1285875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9625" y="2619375"/>
              <a:ext cx="342900" cy="34290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8767" y="26955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26765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开源技术报告可复核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9212" y="3002756"/>
              <a:ext cx="25588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 是开放权重的，技术报告全公开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0165" y="3268028"/>
              <a:ext cx="32394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你蒸出来的应该是别人的架构，不是自己的 KDA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077575" y="27844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3905250"/>
              <a:ext cx="11049000" cy="1285875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3905250"/>
              <a:ext cx="57150" cy="1285875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9625" y="4048125"/>
              <a:ext cx="342900" cy="34290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8767" y="41243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14450" y="41052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时间线对不上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19212" y="4431506"/>
              <a:ext cx="27396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 开发周期与 Fable 发布时间不匹配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0165" y="4696778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K3 的训练在 Fable 公开前就已在进行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1077575" y="421317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54292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6B8E5A">
                <a:alpha val="6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23440" y="5632009"/>
              <a:ext cx="222668" cy="302469"/>
              <a:chOff x="923440" y="5632009"/>
              <a:chExt cx="222668" cy="30246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42975" y="5676898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7" y="2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23440" y="5632009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00125" y="5848350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42572" y="5905500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316355" y="5635942"/>
              <a:ext cx="4112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近 200 家硅谷公司联名反对制裁中国 AI 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0165" y="590645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担心制裁开源模型只会把全球开发者推向中国生态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381000" y="343852"/>
            <a:ext cx="11252834" cy="5866448"/>
            <a:chOff x="381000" y="343852"/>
            <a:chExt cx="11252834" cy="586644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05346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从"卡芯片"到"卡算法"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33697" y="4581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地缘博弈时间轴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2476500"/>
              <a:ext cx="10668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5B4A"/>
                </a:gs>
                <a:gs pos="50000">
                  <a:srgbClr val="E8A87C"/>
                </a:gs>
                <a:gs pos="100000">
                  <a:srgbClr val="6B8E5A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381000" y="1619250"/>
              <a:ext cx="1714500" cy="1000125"/>
              <a:chOff x="381000" y="1619250"/>
              <a:chExt cx="1714500" cy="10001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23950" y="2390775"/>
                <a:ext cx="228600" cy="228600"/>
              </a:xfrm>
              <a:prstGeom prst="ellipse">
                <a:avLst/>
              </a:prstGeom>
              <a:solidFill>
                <a:srgbClr val="C75B4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381000" y="1619250"/>
                <a:ext cx="1714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06900" y="1715452"/>
                <a:ext cx="6626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75B4A"/>
                    </a:solidFill>
                    <a:latin typeface="Arial"/>
                    <a:ea typeface="Microsoft YaHei"/>
                    <a:cs typeface="Arial"/>
                  </a:rPr>
                  <a:t>禁运 GPU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6762" y="1922145"/>
                <a:ext cx="9429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英伟达高端芯片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01040" y="20935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出口管制持续升级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667000" y="2390775"/>
              <a:ext cx="1714500" cy="1133475"/>
              <a:chOff x="2667000" y="2390775"/>
              <a:chExt cx="1714500" cy="11334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409950" y="2390775"/>
                <a:ext cx="228600" cy="228600"/>
              </a:xfrm>
              <a:prstGeom prst="ellipse">
                <a:avLst/>
              </a:prstGeom>
              <a:solidFill>
                <a:srgbClr val="C75B4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667000" y="2762250"/>
                <a:ext cx="1714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188875" y="285845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75B4A"/>
                    </a:solidFill>
                    <a:latin typeface="Arial"/>
                    <a:ea typeface="Microsoft YaHei"/>
                    <a:cs typeface="Arial"/>
                  </a:rPr>
                  <a:t>指控蒸馏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052762" y="3065145"/>
                <a:ext cx="9429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白宫科技政策办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0043" y="3236595"/>
                <a:ext cx="10284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7月22日公开指控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953000" y="1619250"/>
              <a:ext cx="1714500" cy="1000125"/>
              <a:chOff x="4953000" y="1619250"/>
              <a:chExt cx="1714500" cy="10001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695950" y="2390775"/>
                <a:ext cx="228600" cy="2286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953000" y="1619250"/>
                <a:ext cx="1714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394365" y="17154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商务部调查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181028" y="1922145"/>
                <a:ext cx="12584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BIS确认调查月之暗面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223748" y="2093595"/>
                <a:ext cx="117300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获取GB300芯片报道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239000" y="2390775"/>
              <a:ext cx="1714500" cy="1133475"/>
              <a:chOff x="7239000" y="2390775"/>
              <a:chExt cx="1714500" cy="113347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981950" y="2390775"/>
                <a:ext cx="228600" cy="228600"/>
              </a:xfrm>
              <a:prstGeom prst="ellipse">
                <a:avLst/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239000" y="2762250"/>
                <a:ext cx="1714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499217" y="2858452"/>
                <a:ext cx="11940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硅谷 200 家反对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90485" y="306514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联名反对制裁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59040" y="32365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担心推向中国生态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525000" y="1619250"/>
              <a:ext cx="1714500" cy="1000125"/>
              <a:chOff x="9525000" y="1619250"/>
              <a:chExt cx="1714500" cy="1000125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10267950" y="2390775"/>
                <a:ext cx="228600" cy="228600"/>
              </a:xfrm>
              <a:prstGeom prst="ellipse">
                <a:avLst/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525000" y="1619250"/>
                <a:ext cx="1714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46875" y="171545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中方反控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940338" y="1922145"/>
                <a:ext cx="8838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"缺乏事实依据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884474" y="2093595"/>
                <a:ext cx="9955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典型AI霸权主义"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762000" y="4191000"/>
              <a:ext cx="106680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69856" y="44100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08760" y="4423410"/>
              <a:ext cx="3931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美国的遏制链条，正从"卡芯片"延伸到"卡算法"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0665" y="4668202"/>
              <a:ext cx="4473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你强了，就说你偷。但这次不一样的是，连硅谷自己人都不买账。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5238750"/>
              <a:ext cx="10668000" cy="381000"/>
            </a:xfrm>
            <a:prstGeom prst="roundRect">
              <a:avLst>
                <a:gd name="adj" fmla="val 20000"/>
              </a:avLst>
            </a:prstGeom>
            <a:solidFill>
              <a:srgbClr val="6B8E5A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35797" y="5373052"/>
              <a:ext cx="47204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截至 8 月初，月之暗面尚未被列入实体清单，这场博弈还在进行中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00588" y="5966460"/>
              <a:ext cx="2790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我的判断：这恰恰说明他们慌了。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952500"/>
            <a:ext cx="4762500" cy="47625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3810000"/>
            <a:ext cx="3429000" cy="3429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543425" y="1695450"/>
            <a:ext cx="3105150" cy="3096028"/>
            <a:chOff x="4543425" y="1695450"/>
            <a:chExt cx="3105150" cy="3096028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6954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51283" y="3007995"/>
              <a:ext cx="308943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为什么重要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0" y="3667125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43425" y="398145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趋势信号、开源突围、资本定价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34050" y="4505204"/>
              <a:ext cx="228600" cy="286274"/>
            </a:xfrm>
            <a:custGeom>
              <a:avLst/>
              <a:gdLst/>
              <a:ahLst/>
              <a:cxnLst/>
              <a:rect l="l" t="t" r="r" b="b"/>
              <a:pathLst>
                <a:path w="228600" h="286274">
                  <a:moveTo>
                    <a:pt x="0" y="42984"/>
                  </a:moveTo>
                  <a:cubicBezTo>
                    <a:pt x="1" y="39146"/>
                    <a:pt x="1545" y="35469"/>
                    <a:pt x="4286" y="32782"/>
                  </a:cubicBezTo>
                  <a:cubicBezTo>
                    <a:pt x="36605" y="1101"/>
                    <a:pt x="87983" y="0"/>
                    <a:pt x="121629" y="30268"/>
                  </a:cubicBezTo>
                  <a:lnTo>
                    <a:pt x="126644" y="34954"/>
                  </a:lnTo>
                  <a:cubicBezTo>
                    <a:pt x="148201" y="53841"/>
                    <a:pt x="180412" y="53841"/>
                    <a:pt x="201968" y="34954"/>
                  </a:cubicBezTo>
                  <a:lnTo>
                    <a:pt x="205526" y="31711"/>
                  </a:lnTo>
                  <a:cubicBezTo>
                    <a:pt x="214241" y="24810"/>
                    <a:pt x="227343" y="30325"/>
                    <a:pt x="228529" y="41369"/>
                  </a:cubicBezTo>
                  <a:lnTo>
                    <a:pt x="228600" y="42984"/>
                  </a:lnTo>
                  <a:lnTo>
                    <a:pt x="228600" y="171571"/>
                  </a:lnTo>
                  <a:cubicBezTo>
                    <a:pt x="228599" y="175409"/>
                    <a:pt x="227055" y="179086"/>
                    <a:pt x="224314" y="181772"/>
                  </a:cubicBezTo>
                  <a:cubicBezTo>
                    <a:pt x="191995" y="213454"/>
                    <a:pt x="140617" y="214555"/>
                    <a:pt x="106971" y="184287"/>
                  </a:cubicBezTo>
                  <a:lnTo>
                    <a:pt x="101956" y="179601"/>
                  </a:lnTo>
                  <a:cubicBezTo>
                    <a:pt x="81122" y="161347"/>
                    <a:pt x="50198" y="160660"/>
                    <a:pt x="28575" y="177972"/>
                  </a:cubicBezTo>
                  <a:lnTo>
                    <a:pt x="28575" y="271584"/>
                  </a:lnTo>
                  <a:cubicBezTo>
                    <a:pt x="28567" y="279143"/>
                    <a:pt x="22671" y="285388"/>
                    <a:pt x="15125" y="285831"/>
                  </a:cubicBezTo>
                  <a:cubicBezTo>
                    <a:pt x="7578" y="286274"/>
                    <a:pt x="993" y="280762"/>
                    <a:pt x="100" y="273255"/>
                  </a:cubicBezTo>
                  <a:lnTo>
                    <a:pt x="0" y="271584"/>
                  </a:lnTo>
                  <a:lnTo>
                    <a:pt x="0" y="42984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96012" y="4519612"/>
              <a:ext cx="257175" cy="271462"/>
            </a:xfrm>
            <a:custGeom>
              <a:avLst/>
              <a:gdLst/>
              <a:ahLst/>
              <a:cxnLst/>
              <a:rect l="l" t="t" r="r" b="b"/>
              <a:pathLst>
                <a:path w="257175" h="271462">
                  <a:moveTo>
                    <a:pt x="242888" y="185738"/>
                  </a:moveTo>
                  <a:cubicBezTo>
                    <a:pt x="250778" y="185738"/>
                    <a:pt x="257175" y="192134"/>
                    <a:pt x="257175" y="200025"/>
                  </a:cubicBezTo>
                  <a:lnTo>
                    <a:pt x="257175" y="228600"/>
                  </a:lnTo>
                  <a:cubicBezTo>
                    <a:pt x="257175" y="252272"/>
                    <a:pt x="237985" y="271462"/>
                    <a:pt x="214312" y="271462"/>
                  </a:cubicBezTo>
                  <a:lnTo>
                    <a:pt x="42862" y="271462"/>
                  </a:lnTo>
                  <a:cubicBezTo>
                    <a:pt x="19190" y="271462"/>
                    <a:pt x="0" y="252272"/>
                    <a:pt x="0" y="228600"/>
                  </a:cubicBezTo>
                  <a:lnTo>
                    <a:pt x="0" y="200025"/>
                  </a:lnTo>
                  <a:cubicBezTo>
                    <a:pt x="0" y="192134"/>
                    <a:pt x="6397" y="185738"/>
                    <a:pt x="14288" y="185738"/>
                  </a:cubicBezTo>
                  <a:cubicBezTo>
                    <a:pt x="22178" y="185738"/>
                    <a:pt x="28575" y="192134"/>
                    <a:pt x="28575" y="200025"/>
                  </a:cubicBezTo>
                  <a:lnTo>
                    <a:pt x="28575" y="228600"/>
                  </a:lnTo>
                  <a:cubicBezTo>
                    <a:pt x="28575" y="236491"/>
                    <a:pt x="34972" y="242888"/>
                    <a:pt x="42862" y="242888"/>
                  </a:cubicBezTo>
                  <a:lnTo>
                    <a:pt x="214312" y="242888"/>
                  </a:lnTo>
                  <a:cubicBezTo>
                    <a:pt x="222203" y="242888"/>
                    <a:pt x="228600" y="236491"/>
                    <a:pt x="228600" y="228600"/>
                  </a:cubicBezTo>
                  <a:lnTo>
                    <a:pt x="228600" y="200025"/>
                  </a:lnTo>
                  <a:cubicBezTo>
                    <a:pt x="228600" y="192134"/>
                    <a:pt x="234997" y="185738"/>
                    <a:pt x="242888" y="185738"/>
                  </a:cubicBezTo>
                  <a:moveTo>
                    <a:pt x="128588" y="0"/>
                  </a:moveTo>
                  <a:cubicBezTo>
                    <a:pt x="136478" y="0"/>
                    <a:pt x="142875" y="6397"/>
                    <a:pt x="142875" y="14288"/>
                  </a:cubicBezTo>
                  <a:lnTo>
                    <a:pt x="142875" y="151233"/>
                  </a:lnTo>
                  <a:lnTo>
                    <a:pt x="189924" y="104199"/>
                  </a:lnTo>
                  <a:cubicBezTo>
                    <a:pt x="195530" y="98784"/>
                    <a:pt x="204441" y="98862"/>
                    <a:pt x="209952" y="104373"/>
                  </a:cubicBezTo>
                  <a:cubicBezTo>
                    <a:pt x="215463" y="109884"/>
                    <a:pt x="215541" y="118795"/>
                    <a:pt x="210126" y="124401"/>
                  </a:cubicBezTo>
                  <a:lnTo>
                    <a:pt x="138689" y="195839"/>
                  </a:lnTo>
                  <a:cubicBezTo>
                    <a:pt x="138283" y="196245"/>
                    <a:pt x="137854" y="196627"/>
                    <a:pt x="137403" y="196982"/>
                  </a:cubicBezTo>
                  <a:lnTo>
                    <a:pt x="138689" y="195839"/>
                  </a:lnTo>
                  <a:cubicBezTo>
                    <a:pt x="136124" y="198401"/>
                    <a:pt x="132682" y="199892"/>
                    <a:pt x="129059" y="200011"/>
                  </a:cubicBezTo>
                  <a:lnTo>
                    <a:pt x="128588" y="200025"/>
                  </a:lnTo>
                  <a:lnTo>
                    <a:pt x="128130" y="200025"/>
                  </a:lnTo>
                  <a:lnTo>
                    <a:pt x="127359" y="199968"/>
                  </a:lnTo>
                  <a:lnTo>
                    <a:pt x="128588" y="200025"/>
                  </a:lnTo>
                  <a:cubicBezTo>
                    <a:pt x="125391" y="200025"/>
                    <a:pt x="122287" y="198954"/>
                    <a:pt x="119772" y="196982"/>
                  </a:cubicBezTo>
                  <a:cubicBezTo>
                    <a:pt x="119321" y="196627"/>
                    <a:pt x="118892" y="196245"/>
                    <a:pt x="118486" y="195839"/>
                  </a:cubicBezTo>
                  <a:lnTo>
                    <a:pt x="47049" y="124401"/>
                  </a:lnTo>
                  <a:cubicBezTo>
                    <a:pt x="41634" y="118795"/>
                    <a:pt x="41712" y="109884"/>
                    <a:pt x="47223" y="104373"/>
                  </a:cubicBezTo>
                  <a:cubicBezTo>
                    <a:pt x="52734" y="98862"/>
                    <a:pt x="61645" y="98784"/>
                    <a:pt x="67251" y="104199"/>
                  </a:cubicBezTo>
                  <a:lnTo>
                    <a:pt x="114300" y="151233"/>
                  </a:lnTo>
                  <a:lnTo>
                    <a:pt x="114300" y="14288"/>
                  </a:lnTo>
                  <a:cubicBezTo>
                    <a:pt x="114300" y="6397"/>
                    <a:pt x="120697" y="0"/>
                    <a:pt x="128588" y="0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762000" y="391478"/>
            <a:ext cx="10477500" cy="5390197"/>
            <a:chOff x="762000" y="391478"/>
            <a:chExt cx="10477500" cy="5390197"/>
          </a:xfrm>
        </p:grpSpPr>
        <p:sp>
          <p:nvSpPr>
            <p:cNvPr id="3" name="TextBox 3"/>
            <p:cNvSpPr txBox="1"/>
            <p:nvPr/>
          </p:nvSpPr>
          <p:spPr>
            <a:xfrm>
              <a:off x="4499420" y="391478"/>
              <a:ext cx="31931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不是偶然，是趋势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90575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608903" y="1069181"/>
              <a:ext cx="4974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 出来时有人说是灵光一现。K3 出来，你不能再这么说了。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2952750"/>
              <a:ext cx="10287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B6F47"/>
                </a:gs>
                <a:gs pos="100000">
                  <a:srgbClr val="6B8E5A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62000" y="1809750"/>
              <a:ext cx="1524000" cy="1304925"/>
              <a:chOff x="762000" y="1809750"/>
              <a:chExt cx="1524000" cy="13049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390650" y="2847975"/>
                <a:ext cx="266700" cy="266700"/>
              </a:xfrm>
              <a:prstGeom prst="ellipse">
                <a:avLst/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809750"/>
                <a:ext cx="1524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98096" y="1927860"/>
                <a:ext cx="105180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DeepSeek R1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4421" y="2180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推理能力突破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12580" y="23712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2025年初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33750" y="2847975"/>
              <a:ext cx="1524000" cy="1247775"/>
              <a:chOff x="3333750" y="2847975"/>
              <a:chExt cx="1524000" cy="12477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962400" y="2847975"/>
                <a:ext cx="266700" cy="266700"/>
              </a:xfrm>
              <a:prstGeom prst="ellipse">
                <a:avLst/>
              </a:prstGeom>
              <a:solidFill>
                <a:srgbClr val="B8926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333750" y="3143250"/>
                <a:ext cx="1524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546843" y="3261360"/>
                <a:ext cx="1097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8926A"/>
                    </a:solidFill>
                    <a:latin typeface="Arial"/>
                    <a:ea typeface="Microsoft YaHei"/>
                    <a:cs typeface="Arial"/>
                  </a:rPr>
                  <a:t>DeepSeek V3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45491" y="3514249"/>
                <a:ext cx="9005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MoE 架构创新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84330" y="37047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2025年中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096000" y="1809750"/>
              <a:ext cx="1524000" cy="1304925"/>
              <a:chOff x="6096000" y="1809750"/>
              <a:chExt cx="1524000" cy="13049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724650" y="2847975"/>
                <a:ext cx="266700" cy="2667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096000" y="1809750"/>
                <a:ext cx="1524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539122" y="1927860"/>
                <a:ext cx="6377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Kimi K2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18421" y="2180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月之暗面发力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46580" y="23712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2026年初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953500" y="2752725"/>
              <a:ext cx="1714500" cy="1438275"/>
              <a:chOff x="8953500" y="2752725"/>
              <a:chExt cx="1714500" cy="143827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9658350" y="2828925"/>
                <a:ext cx="304800" cy="304800"/>
              </a:xfrm>
              <a:prstGeom prst="ellipse">
                <a:avLst/>
              </a:pr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9582150" y="2752725"/>
                <a:ext cx="457200" cy="457200"/>
              </a:xfrm>
              <a:prstGeom prst="ellipse">
                <a:avLst/>
              </a:prstGeom>
              <a:solidFill>
                <a:srgbClr val="6B8E5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953500" y="3143250"/>
                <a:ext cx="17145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AF7F2"/>
              </a:solidFill>
              <a:ln w="14288">
                <a:solidFill>
                  <a:srgbClr val="6B8E5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452012" y="3245168"/>
                <a:ext cx="7174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Kimi K3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71171" y="35332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开源全球第一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60170" y="3723799"/>
                <a:ext cx="7011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2026年7月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334500" y="3924300"/>
                <a:ext cx="9525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6B8E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547241" y="3987641"/>
                <a:ext cx="5270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密度最高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919805" y="5172075"/>
              <a:ext cx="6352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中国 AI 公司正在系统性地逼近、甚至局部超越美国顶级实验室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8576" y="5537835"/>
              <a:ext cx="2974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密度越来越高，不是一次，是趋势。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539115" y="343852"/>
            <a:ext cx="11094721" cy="5656898"/>
            <a:chOff x="539115" y="343852"/>
            <a:chExt cx="11094721" cy="565689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2020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开源三件套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2242" y="458152"/>
              <a:ext cx="20815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7月27日深夜 · 修改版MIT许可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82287" y="1013460"/>
              <a:ext cx="30274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"不仅给了菜谱，还给了整套厨房设备"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428750"/>
              <a:ext cx="342900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21985" y="1857375"/>
              <a:ext cx="347643" cy="267360"/>
            </a:xfrm>
            <a:custGeom>
              <a:avLst/>
              <a:gdLst/>
              <a:ahLst/>
              <a:cxnLst/>
              <a:rect l="l" t="t" r="r" b="b"/>
              <a:pathLst>
                <a:path w="347643" h="267360">
                  <a:moveTo>
                    <a:pt x="342946" y="162935"/>
                  </a:moveTo>
                  <a:cubicBezTo>
                    <a:pt x="347643" y="172341"/>
                    <a:pt x="343832" y="183774"/>
                    <a:pt x="334430" y="188481"/>
                  </a:cubicBezTo>
                  <a:lnTo>
                    <a:pt x="182030" y="264681"/>
                  </a:lnTo>
                  <a:cubicBezTo>
                    <a:pt x="176669" y="267360"/>
                    <a:pt x="170360" y="267360"/>
                    <a:pt x="165000" y="264681"/>
                  </a:cubicBezTo>
                  <a:lnTo>
                    <a:pt x="12600" y="188481"/>
                  </a:lnTo>
                  <a:cubicBezTo>
                    <a:pt x="3541" y="183596"/>
                    <a:pt x="0" y="172399"/>
                    <a:pt x="4603" y="163194"/>
                  </a:cubicBezTo>
                  <a:cubicBezTo>
                    <a:pt x="9205" y="153989"/>
                    <a:pt x="20287" y="150103"/>
                    <a:pt x="29630" y="154419"/>
                  </a:cubicBezTo>
                  <a:lnTo>
                    <a:pt x="173515" y="226314"/>
                  </a:lnTo>
                  <a:lnTo>
                    <a:pt x="317419" y="154400"/>
                  </a:lnTo>
                  <a:cubicBezTo>
                    <a:pt x="326825" y="149703"/>
                    <a:pt x="338258" y="153514"/>
                    <a:pt x="342965" y="162916"/>
                  </a:cubicBezTo>
                  <a:moveTo>
                    <a:pt x="173667" y="0"/>
                  </a:moveTo>
                  <a:cubicBezTo>
                    <a:pt x="174379" y="0"/>
                    <a:pt x="175083" y="44"/>
                    <a:pt x="175782" y="133"/>
                  </a:cubicBezTo>
                  <a:lnTo>
                    <a:pt x="177896" y="514"/>
                  </a:lnTo>
                  <a:lnTo>
                    <a:pt x="179535" y="972"/>
                  </a:lnTo>
                  <a:lnTo>
                    <a:pt x="179763" y="1086"/>
                  </a:lnTo>
                  <a:lnTo>
                    <a:pt x="179992" y="1124"/>
                  </a:lnTo>
                  <a:lnTo>
                    <a:pt x="180544" y="1391"/>
                  </a:lnTo>
                  <a:lnTo>
                    <a:pt x="181497" y="1753"/>
                  </a:lnTo>
                  <a:lnTo>
                    <a:pt x="181802" y="1924"/>
                  </a:lnTo>
                  <a:lnTo>
                    <a:pt x="182030" y="2019"/>
                  </a:lnTo>
                  <a:lnTo>
                    <a:pt x="334430" y="78219"/>
                  </a:lnTo>
                  <a:cubicBezTo>
                    <a:pt x="340875" y="81449"/>
                    <a:pt x="344945" y="88041"/>
                    <a:pt x="344945" y="95250"/>
                  </a:cubicBezTo>
                  <a:cubicBezTo>
                    <a:pt x="344945" y="102459"/>
                    <a:pt x="340875" y="109051"/>
                    <a:pt x="334430" y="112281"/>
                  </a:cubicBezTo>
                  <a:lnTo>
                    <a:pt x="182030" y="188481"/>
                  </a:lnTo>
                  <a:cubicBezTo>
                    <a:pt x="176669" y="191160"/>
                    <a:pt x="170360" y="191160"/>
                    <a:pt x="165000" y="188481"/>
                  </a:cubicBezTo>
                  <a:lnTo>
                    <a:pt x="12600" y="112281"/>
                  </a:lnTo>
                  <a:cubicBezTo>
                    <a:pt x="6155" y="109051"/>
                    <a:pt x="2085" y="102459"/>
                    <a:pt x="2085" y="95250"/>
                  </a:cubicBezTo>
                  <a:cubicBezTo>
                    <a:pt x="2085" y="88041"/>
                    <a:pt x="6155" y="81449"/>
                    <a:pt x="12600" y="78219"/>
                  </a:cubicBezTo>
                  <a:lnTo>
                    <a:pt x="165000" y="2019"/>
                  </a:lnTo>
                  <a:lnTo>
                    <a:pt x="165209" y="1924"/>
                  </a:lnTo>
                  <a:lnTo>
                    <a:pt x="165552" y="1734"/>
                  </a:lnTo>
                  <a:lnTo>
                    <a:pt x="167038" y="1124"/>
                  </a:lnTo>
                  <a:lnTo>
                    <a:pt x="167247" y="1086"/>
                  </a:lnTo>
                  <a:lnTo>
                    <a:pt x="167495" y="972"/>
                  </a:lnTo>
                  <a:lnTo>
                    <a:pt x="169133" y="514"/>
                  </a:lnTo>
                  <a:lnTo>
                    <a:pt x="171229" y="133"/>
                  </a:lnTo>
                  <a:lnTo>
                    <a:pt x="172296" y="38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22240" y="2393632"/>
              <a:ext cx="9275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MoonEP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7519" y="2736056"/>
              <a:ext cx="1416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高性能 MoE 通信库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048000"/>
              <a:ext cx="2667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9255" y="3268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优化混合专家模型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5931" y="34871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节点间通信效率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6733" y="3706178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支撑 2.8 万亿参数训练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238250" y="4095750"/>
              <a:ext cx="2095500" cy="28575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99821" y="41905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通信层开源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81500" y="1428750"/>
              <a:ext cx="342900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14287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752237" y="1800225"/>
              <a:ext cx="306525" cy="388068"/>
            </a:xfrm>
            <a:custGeom>
              <a:avLst/>
              <a:gdLst/>
              <a:ahLst/>
              <a:cxnLst/>
              <a:rect l="l" t="t" r="r" b="b"/>
              <a:pathLst>
                <a:path w="306525" h="388068">
                  <a:moveTo>
                    <a:pt x="172313" y="0"/>
                  </a:moveTo>
                  <a:lnTo>
                    <a:pt x="172655" y="19"/>
                  </a:lnTo>
                  <a:lnTo>
                    <a:pt x="172960" y="38"/>
                  </a:lnTo>
                  <a:lnTo>
                    <a:pt x="174541" y="133"/>
                  </a:lnTo>
                  <a:lnTo>
                    <a:pt x="174751" y="171"/>
                  </a:lnTo>
                  <a:lnTo>
                    <a:pt x="174960" y="171"/>
                  </a:lnTo>
                  <a:lnTo>
                    <a:pt x="175684" y="343"/>
                  </a:lnTo>
                  <a:lnTo>
                    <a:pt x="176675" y="495"/>
                  </a:lnTo>
                  <a:lnTo>
                    <a:pt x="176980" y="610"/>
                  </a:lnTo>
                  <a:lnTo>
                    <a:pt x="177189" y="629"/>
                  </a:lnTo>
                  <a:lnTo>
                    <a:pt x="177742" y="838"/>
                  </a:lnTo>
                  <a:lnTo>
                    <a:pt x="178732" y="1105"/>
                  </a:lnTo>
                  <a:lnTo>
                    <a:pt x="179094" y="1276"/>
                  </a:lnTo>
                  <a:lnTo>
                    <a:pt x="179380" y="1353"/>
                  </a:lnTo>
                  <a:lnTo>
                    <a:pt x="179913" y="1619"/>
                  </a:lnTo>
                  <a:lnTo>
                    <a:pt x="180675" y="1943"/>
                  </a:lnTo>
                  <a:lnTo>
                    <a:pt x="181076" y="2172"/>
                  </a:lnTo>
                  <a:lnTo>
                    <a:pt x="181495" y="2362"/>
                  </a:lnTo>
                  <a:lnTo>
                    <a:pt x="181933" y="2648"/>
                  </a:lnTo>
                  <a:lnTo>
                    <a:pt x="182523" y="2972"/>
                  </a:lnTo>
                  <a:lnTo>
                    <a:pt x="183171" y="3429"/>
                  </a:lnTo>
                  <a:lnTo>
                    <a:pt x="183514" y="3639"/>
                  </a:lnTo>
                  <a:lnTo>
                    <a:pt x="183762" y="3867"/>
                  </a:lnTo>
                  <a:lnTo>
                    <a:pt x="184219" y="4191"/>
                  </a:lnTo>
                  <a:lnTo>
                    <a:pt x="184943" y="4839"/>
                  </a:lnTo>
                  <a:lnTo>
                    <a:pt x="185362" y="5163"/>
                  </a:lnTo>
                  <a:lnTo>
                    <a:pt x="185514" y="5353"/>
                  </a:lnTo>
                  <a:lnTo>
                    <a:pt x="185781" y="5582"/>
                  </a:lnTo>
                  <a:lnTo>
                    <a:pt x="186467" y="6363"/>
                  </a:lnTo>
                  <a:lnTo>
                    <a:pt x="186962" y="6877"/>
                  </a:lnTo>
                  <a:lnTo>
                    <a:pt x="187076" y="7049"/>
                  </a:lnTo>
                  <a:cubicBezTo>
                    <a:pt x="189362" y="9849"/>
                    <a:pt x="190810" y="13183"/>
                    <a:pt x="191229" y="16821"/>
                  </a:cubicBezTo>
                  <a:lnTo>
                    <a:pt x="191248" y="17050"/>
                  </a:lnTo>
                  <a:lnTo>
                    <a:pt x="191286" y="17831"/>
                  </a:lnTo>
                  <a:lnTo>
                    <a:pt x="191363" y="19050"/>
                  </a:lnTo>
                  <a:lnTo>
                    <a:pt x="191363" y="133350"/>
                  </a:lnTo>
                  <a:lnTo>
                    <a:pt x="286613" y="133350"/>
                  </a:lnTo>
                  <a:cubicBezTo>
                    <a:pt x="293407" y="133348"/>
                    <a:pt x="299689" y="136966"/>
                    <a:pt x="303097" y="142844"/>
                  </a:cubicBezTo>
                  <a:cubicBezTo>
                    <a:pt x="306506" y="148723"/>
                    <a:pt x="306525" y="155971"/>
                    <a:pt x="303148" y="161868"/>
                  </a:cubicBezTo>
                  <a:lnTo>
                    <a:pt x="302005" y="163601"/>
                  </a:lnTo>
                  <a:lnTo>
                    <a:pt x="149605" y="373151"/>
                  </a:lnTo>
                  <a:cubicBezTo>
                    <a:pt x="138785" y="388068"/>
                    <a:pt x="115163" y="380390"/>
                    <a:pt x="115163" y="361950"/>
                  </a:cubicBezTo>
                  <a:lnTo>
                    <a:pt x="115163" y="247650"/>
                  </a:lnTo>
                  <a:lnTo>
                    <a:pt x="19913" y="247650"/>
                  </a:lnTo>
                  <a:cubicBezTo>
                    <a:pt x="13118" y="247652"/>
                    <a:pt x="6836" y="244034"/>
                    <a:pt x="3428" y="238156"/>
                  </a:cubicBezTo>
                  <a:cubicBezTo>
                    <a:pt x="19" y="232277"/>
                    <a:pt x="0" y="225029"/>
                    <a:pt x="3377" y="219132"/>
                  </a:cubicBezTo>
                  <a:lnTo>
                    <a:pt x="4520" y="217399"/>
                  </a:lnTo>
                  <a:lnTo>
                    <a:pt x="156920" y="7849"/>
                  </a:lnTo>
                  <a:lnTo>
                    <a:pt x="157111" y="7601"/>
                  </a:lnTo>
                  <a:lnTo>
                    <a:pt x="157454" y="7144"/>
                  </a:lnTo>
                  <a:lnTo>
                    <a:pt x="158082" y="6420"/>
                  </a:lnTo>
                  <a:lnTo>
                    <a:pt x="158425" y="6001"/>
                  </a:lnTo>
                  <a:lnTo>
                    <a:pt x="158597" y="5848"/>
                  </a:lnTo>
                  <a:lnTo>
                    <a:pt x="158844" y="5582"/>
                  </a:lnTo>
                  <a:lnTo>
                    <a:pt x="159606" y="4896"/>
                  </a:lnTo>
                  <a:lnTo>
                    <a:pt x="160140" y="4401"/>
                  </a:lnTo>
                  <a:lnTo>
                    <a:pt x="160292" y="4286"/>
                  </a:lnTo>
                  <a:cubicBezTo>
                    <a:pt x="162525" y="2459"/>
                    <a:pt x="165143" y="1163"/>
                    <a:pt x="167950" y="495"/>
                  </a:cubicBezTo>
                  <a:lnTo>
                    <a:pt x="168160" y="476"/>
                  </a:lnTo>
                  <a:lnTo>
                    <a:pt x="168674" y="381"/>
                  </a:lnTo>
                  <a:lnTo>
                    <a:pt x="170084" y="133"/>
                  </a:lnTo>
                  <a:lnTo>
                    <a:pt x="170293" y="114"/>
                  </a:lnTo>
                  <a:lnTo>
                    <a:pt x="171074" y="76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550004" y="2393632"/>
              <a:ext cx="10919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FlashKDA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4289" y="2736056"/>
              <a:ext cx="1663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KDA 注意力高性能算子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762500" y="3048000"/>
              <a:ext cx="2667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68613" y="3268028"/>
              <a:ext cx="854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Prefill 阶段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0750" y="3373755"/>
              <a:ext cx="21305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6B8E5A"/>
                  </a:solidFill>
                  <a:latin typeface="Georgia"/>
                  <a:ea typeface="Microsoft YaHei"/>
                  <a:cs typeface="Georgia"/>
                </a:rPr>
                <a:t>提速 1.7-2.2×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9255" y="37728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推理加速核心组件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48250" y="4095750"/>
              <a:ext cx="2095500" cy="285750"/>
            </a:xfrm>
            <a:prstGeom prst="roundRect">
              <a:avLst>
                <a:gd name="adj" fmla="val 50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09821" y="41905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算子层开源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1428750"/>
              <a:ext cx="342900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91500" y="14287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B8926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544049" y="1800225"/>
              <a:ext cx="342901" cy="381000"/>
              <a:chOff x="9544049" y="1800225"/>
              <a:chExt cx="342901" cy="381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544050" y="2061801"/>
                <a:ext cx="342900" cy="11942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19424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89421"/>
                      <a:pt x="268700" y="118205"/>
                      <a:pt x="177298" y="119386"/>
                    </a:cubicBezTo>
                    <a:lnTo>
                      <a:pt x="171450" y="119424"/>
                    </a:lnTo>
                    <a:cubicBezTo>
                      <a:pt x="77381" y="119424"/>
                      <a:pt x="0" y="90411"/>
                      <a:pt x="0" y="43224"/>
                    </a:cubicBezTo>
                    <a:close/>
                  </a:path>
                </a:pathLst>
              </a:custGeom>
              <a:solidFill>
                <a:srgbClr val="B8926A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544050" y="1947501"/>
                <a:ext cx="342900" cy="11942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19424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90411"/>
                      <a:pt x="265519" y="119424"/>
                      <a:pt x="171450" y="119424"/>
                    </a:cubicBezTo>
                    <a:cubicBezTo>
                      <a:pt x="80048" y="119424"/>
                      <a:pt x="4382" y="92031"/>
                      <a:pt x="400" y="47130"/>
                    </a:cubicBezTo>
                    <a:lnTo>
                      <a:pt x="95" y="45206"/>
                    </a:lnTo>
                    <a:lnTo>
                      <a:pt x="0" y="43224"/>
                    </a:lnTo>
                    <a:close/>
                  </a:path>
                </a:pathLst>
              </a:custGeom>
              <a:solidFill>
                <a:srgbClr val="B8926A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544049" y="1800225"/>
                <a:ext cx="342901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1" h="152400">
                    <a:moveTo>
                      <a:pt x="171451" y="0"/>
                    </a:moveTo>
                    <a:cubicBezTo>
                      <a:pt x="191283" y="0"/>
                      <a:pt x="210390" y="1295"/>
                      <a:pt x="228163" y="3772"/>
                    </a:cubicBezTo>
                    <a:lnTo>
                      <a:pt x="237098" y="5124"/>
                    </a:lnTo>
                    <a:cubicBezTo>
                      <a:pt x="247766" y="6902"/>
                      <a:pt x="257837" y="9112"/>
                      <a:pt x="267311" y="11754"/>
                    </a:cubicBezTo>
                    <a:lnTo>
                      <a:pt x="275693" y="14249"/>
                    </a:lnTo>
                    <a:lnTo>
                      <a:pt x="277122" y="14707"/>
                    </a:lnTo>
                    <a:cubicBezTo>
                      <a:pt x="282306" y="16411"/>
                      <a:pt x="287422" y="18318"/>
                      <a:pt x="292457" y="20422"/>
                    </a:cubicBezTo>
                    <a:lnTo>
                      <a:pt x="296248" y="22060"/>
                    </a:lnTo>
                    <a:cubicBezTo>
                      <a:pt x="303043" y="25133"/>
                      <a:pt x="309183" y="28499"/>
                      <a:pt x="314669" y="32156"/>
                    </a:cubicBezTo>
                    <a:cubicBezTo>
                      <a:pt x="316765" y="33553"/>
                      <a:pt x="318752" y="34982"/>
                      <a:pt x="320632" y="36443"/>
                    </a:cubicBezTo>
                    <a:cubicBezTo>
                      <a:pt x="325393" y="40137"/>
                      <a:pt x="329675" y="44412"/>
                      <a:pt x="333376" y="49168"/>
                    </a:cubicBezTo>
                    <a:lnTo>
                      <a:pt x="335110" y="51606"/>
                    </a:lnTo>
                    <a:cubicBezTo>
                      <a:pt x="335999" y="52940"/>
                      <a:pt x="336818" y="54280"/>
                      <a:pt x="337567" y="55626"/>
                    </a:cubicBezTo>
                    <a:lnTo>
                      <a:pt x="338901" y="58274"/>
                    </a:lnTo>
                    <a:cubicBezTo>
                      <a:pt x="340971" y="62719"/>
                      <a:pt x="342241" y="67354"/>
                      <a:pt x="342711" y="72180"/>
                    </a:cubicBezTo>
                    <a:lnTo>
                      <a:pt x="342901" y="76200"/>
                    </a:lnTo>
                    <a:cubicBezTo>
                      <a:pt x="342901" y="123387"/>
                      <a:pt x="265520" y="152400"/>
                      <a:pt x="171451" y="152400"/>
                    </a:cubicBezTo>
                    <a:cubicBezTo>
                      <a:pt x="80050" y="152400"/>
                      <a:pt x="4383" y="125006"/>
                      <a:pt x="402" y="80105"/>
                    </a:cubicBezTo>
                    <a:cubicBezTo>
                      <a:pt x="134" y="78821"/>
                      <a:pt x="0" y="77512"/>
                      <a:pt x="1" y="76200"/>
                    </a:cubicBezTo>
                    <a:lnTo>
                      <a:pt x="97" y="74219"/>
                    </a:lnTo>
                    <a:lnTo>
                      <a:pt x="402" y="72314"/>
                    </a:lnTo>
                    <a:cubicBezTo>
                      <a:pt x="4307" y="28384"/>
                      <a:pt x="76792" y="1200"/>
                      <a:pt x="165508" y="38"/>
                    </a:cubicBezTo>
                    <a:close/>
                  </a:path>
                </a:pathLst>
              </a:custGeom>
              <a:solidFill>
                <a:srgbClr val="B8926A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328375" y="2393632"/>
              <a:ext cx="11552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B8926A"/>
                  </a:solidFill>
                  <a:latin typeface="Arial"/>
                  <a:ea typeface="Microsoft YaHei"/>
                  <a:cs typeface="Arial"/>
                </a:rPr>
                <a:t>AgentEnv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1428" y="2736056"/>
              <a:ext cx="17291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大规模 Agent 训练沙箱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72500" y="3048000"/>
              <a:ext cx="2667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29095" y="326802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提供 Agent 训练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55931" y="34871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所需的完整环境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55931" y="37061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支撑大规模部署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858250" y="4095750"/>
              <a:ext cx="2095500" cy="285750"/>
            </a:xfrm>
            <a:prstGeom prst="roundRect">
              <a:avLst>
                <a:gd name="adj" fmla="val 50000"/>
              </a:avLst>
            </a:prstGeom>
            <a:solidFill>
              <a:srgbClr val="B8926A">
                <a:alpha val="12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45061" y="41905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8926A"/>
                  </a:solidFill>
                  <a:latin typeface="Arial"/>
                  <a:ea typeface="Microsoft YaHei"/>
                  <a:cs typeface="Arial"/>
                </a:rPr>
                <a:t>训练环境开源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4953000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0112" y="5281612"/>
              <a:ext cx="257175" cy="271462"/>
            </a:xfrm>
            <a:custGeom>
              <a:avLst/>
              <a:gdLst/>
              <a:ahLst/>
              <a:cxnLst/>
              <a:rect l="l" t="t" r="r" b="b"/>
              <a:pathLst>
                <a:path w="257175" h="271462">
                  <a:moveTo>
                    <a:pt x="242888" y="185738"/>
                  </a:moveTo>
                  <a:cubicBezTo>
                    <a:pt x="250778" y="185738"/>
                    <a:pt x="257175" y="192134"/>
                    <a:pt x="257175" y="200025"/>
                  </a:cubicBezTo>
                  <a:lnTo>
                    <a:pt x="257175" y="228600"/>
                  </a:lnTo>
                  <a:cubicBezTo>
                    <a:pt x="257175" y="252272"/>
                    <a:pt x="237985" y="271462"/>
                    <a:pt x="214312" y="271462"/>
                  </a:cubicBezTo>
                  <a:lnTo>
                    <a:pt x="42862" y="271462"/>
                  </a:lnTo>
                  <a:cubicBezTo>
                    <a:pt x="19190" y="271462"/>
                    <a:pt x="0" y="252272"/>
                    <a:pt x="0" y="228600"/>
                  </a:cubicBezTo>
                  <a:lnTo>
                    <a:pt x="0" y="200025"/>
                  </a:lnTo>
                  <a:cubicBezTo>
                    <a:pt x="0" y="192134"/>
                    <a:pt x="6397" y="185738"/>
                    <a:pt x="14288" y="185738"/>
                  </a:cubicBezTo>
                  <a:cubicBezTo>
                    <a:pt x="22178" y="185738"/>
                    <a:pt x="28575" y="192134"/>
                    <a:pt x="28575" y="200025"/>
                  </a:cubicBezTo>
                  <a:lnTo>
                    <a:pt x="28575" y="228600"/>
                  </a:lnTo>
                  <a:cubicBezTo>
                    <a:pt x="28575" y="236491"/>
                    <a:pt x="34972" y="242888"/>
                    <a:pt x="42862" y="242888"/>
                  </a:cubicBezTo>
                  <a:lnTo>
                    <a:pt x="214312" y="242888"/>
                  </a:lnTo>
                  <a:cubicBezTo>
                    <a:pt x="222203" y="242888"/>
                    <a:pt x="228600" y="236491"/>
                    <a:pt x="228600" y="228600"/>
                  </a:cubicBezTo>
                  <a:lnTo>
                    <a:pt x="228600" y="200025"/>
                  </a:lnTo>
                  <a:cubicBezTo>
                    <a:pt x="228600" y="192134"/>
                    <a:pt x="234997" y="185738"/>
                    <a:pt x="242888" y="185738"/>
                  </a:cubicBezTo>
                  <a:moveTo>
                    <a:pt x="128588" y="0"/>
                  </a:moveTo>
                  <a:cubicBezTo>
                    <a:pt x="136478" y="0"/>
                    <a:pt x="142875" y="6397"/>
                    <a:pt x="142875" y="14288"/>
                  </a:cubicBezTo>
                  <a:lnTo>
                    <a:pt x="142875" y="151233"/>
                  </a:lnTo>
                  <a:lnTo>
                    <a:pt x="189924" y="104199"/>
                  </a:lnTo>
                  <a:cubicBezTo>
                    <a:pt x="195530" y="98784"/>
                    <a:pt x="204441" y="98862"/>
                    <a:pt x="209952" y="104373"/>
                  </a:cubicBezTo>
                  <a:cubicBezTo>
                    <a:pt x="215463" y="109884"/>
                    <a:pt x="215541" y="118795"/>
                    <a:pt x="210126" y="124401"/>
                  </a:cubicBezTo>
                  <a:lnTo>
                    <a:pt x="138689" y="195839"/>
                  </a:lnTo>
                  <a:cubicBezTo>
                    <a:pt x="138283" y="196245"/>
                    <a:pt x="137854" y="196627"/>
                    <a:pt x="137403" y="196982"/>
                  </a:cubicBezTo>
                  <a:lnTo>
                    <a:pt x="138689" y="195839"/>
                  </a:lnTo>
                  <a:cubicBezTo>
                    <a:pt x="136124" y="198401"/>
                    <a:pt x="132682" y="199892"/>
                    <a:pt x="129059" y="200011"/>
                  </a:cubicBezTo>
                  <a:lnTo>
                    <a:pt x="128588" y="200025"/>
                  </a:lnTo>
                  <a:lnTo>
                    <a:pt x="128130" y="200025"/>
                  </a:lnTo>
                  <a:lnTo>
                    <a:pt x="127359" y="199968"/>
                  </a:lnTo>
                  <a:lnTo>
                    <a:pt x="128588" y="200025"/>
                  </a:lnTo>
                  <a:cubicBezTo>
                    <a:pt x="125391" y="200025"/>
                    <a:pt x="122287" y="198954"/>
                    <a:pt x="119772" y="196982"/>
                  </a:cubicBezTo>
                  <a:cubicBezTo>
                    <a:pt x="119321" y="196627"/>
                    <a:pt x="118892" y="196245"/>
                    <a:pt x="118486" y="195839"/>
                  </a:cubicBezTo>
                  <a:lnTo>
                    <a:pt x="47049" y="124401"/>
                  </a:lnTo>
                  <a:cubicBezTo>
                    <a:pt x="41634" y="118795"/>
                    <a:pt x="41712" y="109884"/>
                    <a:pt x="47223" y="104373"/>
                  </a:cubicBezTo>
                  <a:cubicBezTo>
                    <a:pt x="52734" y="98862"/>
                    <a:pt x="61645" y="98784"/>
                    <a:pt x="67251" y="104199"/>
                  </a:cubicBezTo>
                  <a:lnTo>
                    <a:pt x="114300" y="151233"/>
                  </a:lnTo>
                  <a:lnTo>
                    <a:pt x="114300" y="14288"/>
                  </a:lnTo>
                  <a:cubicBezTo>
                    <a:pt x="114300" y="6397"/>
                    <a:pt x="120697" y="0"/>
                    <a:pt x="128588" y="0"/>
                  </a:cubicBezTo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20165" y="5220652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Hugging Face 上线 30 分钟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06830" y="5345430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B8E5A"/>
                  </a:solidFill>
                  <a:latin typeface="Georgia"/>
                  <a:ea typeface="Microsoft YaHei"/>
                  <a:cs typeface="Georgia"/>
                </a:rPr>
                <a:t>登顶趋势榜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28010" y="54425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· 下载量超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73830" y="5345430"/>
              <a:ext cx="9228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113万+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86500" y="4953000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53212" y="516493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生态适配：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683375" y="5489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21818" y="5524024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华为昇腾 Day 0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207375" y="5489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45818" y="55240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阿里云超节点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9636125" y="5489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3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3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874568" y="55240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vLLM 生产级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56070" y="5789295"/>
              <a:ext cx="24151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社区 NVFP4 量化版 · M1 MacBook 也能跑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1714500" y="343852"/>
            <a:ext cx="8763000" cy="6240304"/>
            <a:chOff x="1714500" y="343852"/>
            <a:chExt cx="8763000" cy="6240304"/>
          </a:xfrm>
        </p:grpSpPr>
        <p:sp>
          <p:nvSpPr>
            <p:cNvPr id="3" name="TextBox 3"/>
            <p:cNvSpPr txBox="1"/>
            <p:nvPr/>
          </p:nvSpPr>
          <p:spPr>
            <a:xfrm>
              <a:off x="4890468" y="343852"/>
              <a:ext cx="24110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资本生态闭环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429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4762500" y="1619250"/>
              <a:ext cx="2667000" cy="1188244"/>
              <a:chOff x="4762500" y="1619250"/>
              <a:chExt cx="2667000" cy="1188244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4762500" y="1619250"/>
                <a:ext cx="26670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AF7F2"/>
              </a:solidFill>
              <a:ln w="19050">
                <a:solidFill>
                  <a:srgbClr val="8B6F47"/>
                </a:solidFill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5119688" y="1933575"/>
                <a:ext cx="200025" cy="285750"/>
                <a:chOff x="5119688" y="1933575"/>
                <a:chExt cx="200025" cy="28575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5148262" y="193357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110891" y="0"/>
                        <a:pt x="142875" y="31984"/>
                        <a:pt x="142875" y="71438"/>
                      </a:cubicBez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lnTo>
                        <a:pt x="71" y="68337"/>
                      </a:lnTo>
                      <a:cubicBezTo>
                        <a:pt x="1731" y="30127"/>
                        <a:pt x="33191" y="2"/>
                        <a:pt x="71438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5119688" y="2105025"/>
                  <a:ext cx="2000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14300">
                      <a:moveTo>
                        <a:pt x="128588" y="0"/>
                      </a:moveTo>
                      <a:cubicBezTo>
                        <a:pt x="168041" y="0"/>
                        <a:pt x="200025" y="31984"/>
                        <a:pt x="200025" y="71438"/>
                      </a:cubicBezTo>
                      <a:lnTo>
                        <a:pt x="200025" y="85725"/>
                      </a:lnTo>
                      <a:cubicBezTo>
                        <a:pt x="200025" y="101507"/>
                        <a:pt x="187232" y="114300"/>
                        <a:pt x="171450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71438"/>
                      </a:lnTo>
                      <a:cubicBezTo>
                        <a:pt x="0" y="31984"/>
                        <a:pt x="31984" y="0"/>
                        <a:pt x="71438" y="0"/>
                      </a:cubicBezTo>
                      <a:lnTo>
                        <a:pt x="12858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5507355" y="194976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顶尖人才回流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512118" y="2228374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清华姚班姚顺雨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12118" y="2418874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前智谱联合创始人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12118" y="2609374"/>
                <a:ext cx="7367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首席科学家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715250" y="2571750"/>
              <a:ext cx="323850" cy="476250"/>
              <a:chOff x="7715250" y="2571750"/>
              <a:chExt cx="323850" cy="4762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715250" y="2571750"/>
                <a:ext cx="285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76250">
                    <a:moveTo>
                      <a:pt x="0" y="0"/>
                    </a:moveTo>
                    <a:lnTo>
                      <a:pt x="285750" y="476250"/>
                    </a:lnTo>
                  </a:path>
                </a:pathLst>
              </a:custGeom>
              <a:noFill/>
              <a:ln w="23812" cap="rnd">
                <a:solidFill>
                  <a:srgbClr val="8B6F47"/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7924800" y="29718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76200" y="76200"/>
                    </a:moveTo>
                    <a:lnTo>
                      <a:pt x="0" y="0"/>
                    </a:lnTo>
                    <a:lnTo>
                      <a:pt x="114300" y="1905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7810500" y="3238500"/>
              <a:ext cx="2667000" cy="1188244"/>
              <a:chOff x="7810500" y="3238500"/>
              <a:chExt cx="2667000" cy="1188244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810500" y="3238500"/>
                <a:ext cx="26670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AF7F2"/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4823" y="3546425"/>
                <a:ext cx="300850" cy="302024"/>
              </a:xfrm>
              <a:custGeom>
                <a:avLst/>
                <a:gdLst/>
                <a:ahLst/>
                <a:cxnLst/>
                <a:rect l="l" t="t" r="r" b="b"/>
                <a:pathLst>
                  <a:path w="300850" h="302024">
                    <a:moveTo>
                      <a:pt x="214314" y="25545"/>
                    </a:moveTo>
                    <a:cubicBezTo>
                      <a:pt x="274362" y="60214"/>
                      <a:pt x="300850" y="132991"/>
                      <a:pt x="277135" y="198146"/>
                    </a:cubicBezTo>
                    <a:cubicBezTo>
                      <a:pt x="253420" y="263301"/>
                      <a:pt x="186348" y="302024"/>
                      <a:pt x="118064" y="289983"/>
                    </a:cubicBezTo>
                    <a:cubicBezTo>
                      <a:pt x="49781" y="277941"/>
                      <a:pt x="0" y="218612"/>
                      <a:pt x="2" y="149275"/>
                    </a:cubicBezTo>
                    <a:lnTo>
                      <a:pt x="73" y="144646"/>
                    </a:lnTo>
                    <a:cubicBezTo>
                      <a:pt x="1701" y="94454"/>
                      <a:pt x="29560" y="48801"/>
                      <a:pt x="73452" y="24400"/>
                    </a:cubicBezTo>
                    <a:cubicBezTo>
                      <a:pt x="117344" y="0"/>
                      <a:pt x="170824" y="435"/>
                      <a:pt x="214314" y="25545"/>
                    </a:cubicBezTo>
                    <a:close/>
                    <a:moveTo>
                      <a:pt x="142877" y="63550"/>
                    </a:moveTo>
                    <a:cubicBezTo>
                      <a:pt x="134986" y="63550"/>
                      <a:pt x="128589" y="69947"/>
                      <a:pt x="128589" y="77837"/>
                    </a:cubicBezTo>
                    <a:cubicBezTo>
                      <a:pt x="104917" y="77837"/>
                      <a:pt x="85727" y="97028"/>
                      <a:pt x="85727" y="120700"/>
                    </a:cubicBezTo>
                    <a:cubicBezTo>
                      <a:pt x="85727" y="144372"/>
                      <a:pt x="104917" y="163562"/>
                      <a:pt x="128589" y="163562"/>
                    </a:cubicBezTo>
                    <a:lnTo>
                      <a:pt x="128589" y="192137"/>
                    </a:lnTo>
                    <a:cubicBezTo>
                      <a:pt x="123780" y="192394"/>
                      <a:pt x="119153" y="190267"/>
                      <a:pt x="116216" y="186451"/>
                    </a:cubicBezTo>
                    <a:lnTo>
                      <a:pt x="115245" y="185008"/>
                    </a:lnTo>
                    <a:cubicBezTo>
                      <a:pt x="111181" y="178454"/>
                      <a:pt x="102650" y="176308"/>
                      <a:pt x="95969" y="180158"/>
                    </a:cubicBezTo>
                    <a:cubicBezTo>
                      <a:pt x="89288" y="184008"/>
                      <a:pt x="86867" y="192465"/>
                      <a:pt x="90499" y="199267"/>
                    </a:cubicBezTo>
                    <a:cubicBezTo>
                      <a:pt x="97913" y="212126"/>
                      <a:pt x="111453" y="220233"/>
                      <a:pt x="126289" y="220698"/>
                    </a:cubicBezTo>
                    <a:lnTo>
                      <a:pt x="128589" y="220698"/>
                    </a:lnTo>
                    <a:cubicBezTo>
                      <a:pt x="128583" y="227947"/>
                      <a:pt x="134006" y="234052"/>
                      <a:pt x="141205" y="234900"/>
                    </a:cubicBezTo>
                    <a:lnTo>
                      <a:pt x="142877" y="235000"/>
                    </a:lnTo>
                    <a:cubicBezTo>
                      <a:pt x="150768" y="235000"/>
                      <a:pt x="157164" y="228603"/>
                      <a:pt x="157164" y="220712"/>
                    </a:cubicBezTo>
                    <a:lnTo>
                      <a:pt x="159679" y="220641"/>
                    </a:lnTo>
                    <a:cubicBezTo>
                      <a:pt x="182839" y="219302"/>
                      <a:pt x="200730" y="199781"/>
                      <a:pt x="200050" y="176592"/>
                    </a:cubicBezTo>
                    <a:cubicBezTo>
                      <a:pt x="199369" y="153404"/>
                      <a:pt x="180363" y="134965"/>
                      <a:pt x="157164" y="134987"/>
                    </a:cubicBezTo>
                    <a:lnTo>
                      <a:pt x="157164" y="106412"/>
                    </a:lnTo>
                    <a:cubicBezTo>
                      <a:pt x="162279" y="106241"/>
                      <a:pt x="166751" y="108413"/>
                      <a:pt x="169537" y="112099"/>
                    </a:cubicBezTo>
                    <a:lnTo>
                      <a:pt x="170509" y="113542"/>
                    </a:lnTo>
                    <a:cubicBezTo>
                      <a:pt x="174572" y="120095"/>
                      <a:pt x="183103" y="122242"/>
                      <a:pt x="189785" y="118392"/>
                    </a:cubicBezTo>
                    <a:cubicBezTo>
                      <a:pt x="196466" y="114542"/>
                      <a:pt x="198887" y="106085"/>
                      <a:pt x="195255" y="99283"/>
                    </a:cubicBezTo>
                    <a:cubicBezTo>
                      <a:pt x="187844" y="86418"/>
                      <a:pt x="174304" y="78305"/>
                      <a:pt x="159465" y="77837"/>
                    </a:cubicBezTo>
                    <a:lnTo>
                      <a:pt x="157164" y="77837"/>
                    </a:lnTo>
                    <a:cubicBezTo>
                      <a:pt x="157164" y="69947"/>
                      <a:pt x="150768" y="63550"/>
                      <a:pt x="142877" y="63550"/>
                    </a:cubicBezTo>
                    <a:close/>
                    <a:moveTo>
                      <a:pt x="157164" y="163562"/>
                    </a:moveTo>
                    <a:cubicBezTo>
                      <a:pt x="165055" y="163562"/>
                      <a:pt x="171452" y="169959"/>
                      <a:pt x="171452" y="177850"/>
                    </a:cubicBezTo>
                    <a:cubicBezTo>
                      <a:pt x="171452" y="185741"/>
                      <a:pt x="165055" y="192137"/>
                      <a:pt x="157164" y="192137"/>
                    </a:cubicBezTo>
                    <a:lnTo>
                      <a:pt x="157164" y="163562"/>
                    </a:lnTo>
                    <a:close/>
                    <a:moveTo>
                      <a:pt x="128589" y="106412"/>
                    </a:moveTo>
                    <a:lnTo>
                      <a:pt x="128589" y="134987"/>
                    </a:lnTo>
                    <a:cubicBezTo>
                      <a:pt x="120698" y="134987"/>
                      <a:pt x="114302" y="128591"/>
                      <a:pt x="114302" y="120700"/>
                    </a:cubicBezTo>
                    <a:cubicBezTo>
                      <a:pt x="114302" y="112809"/>
                      <a:pt x="120698" y="106412"/>
                      <a:pt x="128589" y="10641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555355" y="356901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高估值融资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560118" y="3847624"/>
                <a:ext cx="9574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35 亿美元 F 轮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60118" y="4038124"/>
                <a:ext cx="10144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350 亿美元估值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60118" y="4228624"/>
                <a:ext cx="8008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中国 AI 最高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677150" y="4572000"/>
              <a:ext cx="323850" cy="476250"/>
              <a:chOff x="7677150" y="4572000"/>
              <a:chExt cx="323850" cy="4762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715250" y="4572000"/>
                <a:ext cx="285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76250">
                    <a:moveTo>
                      <a:pt x="28575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23812" cap="rnd">
                <a:solidFill>
                  <a:srgbClr val="E8A87C"/>
                </a:solidFill>
              </a:ln>
            </p:spPr>
          </p:sp>
          <p:sp>
            <p:nvSpPr>
              <p:cNvPr id="25" name="Polygon 25"/>
              <p:cNvSpPr/>
              <p:nvPr/>
            </p:nvSpPr>
            <p:spPr>
              <a:xfrm>
                <a:off x="7677150" y="49720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38100" y="76200"/>
                    </a:moveTo>
                    <a:lnTo>
                      <a:pt x="11430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762500" y="4572000"/>
              <a:ext cx="2667000" cy="1188244"/>
              <a:chOff x="4762500" y="4572000"/>
              <a:chExt cx="2667000" cy="1188244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762500" y="4572000"/>
                <a:ext cx="26670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AF7F2"/>
              </a:solidFill>
              <a:ln w="19050">
                <a:solidFill>
                  <a:srgbClr val="6B8E5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75610" y="4886139"/>
                <a:ext cx="272678" cy="285936"/>
              </a:xfrm>
              <a:custGeom>
                <a:avLst/>
                <a:gdLst/>
                <a:ahLst/>
                <a:cxnLst/>
                <a:rect l="l" t="t" r="r" b="b"/>
                <a:pathLst>
                  <a:path w="272678" h="285936">
                    <a:moveTo>
                      <a:pt x="48578" y="1614"/>
                    </a:moveTo>
                    <a:cubicBezTo>
                      <a:pt x="59879" y="0"/>
                      <a:pt x="75724" y="3686"/>
                      <a:pt x="96198" y="15416"/>
                    </a:cubicBezTo>
                    <a:lnTo>
                      <a:pt x="100085" y="17717"/>
                    </a:lnTo>
                    <a:lnTo>
                      <a:pt x="102371" y="19145"/>
                    </a:lnTo>
                    <a:lnTo>
                      <a:pt x="108043" y="17959"/>
                    </a:lnTo>
                    <a:cubicBezTo>
                      <a:pt x="129671" y="13780"/>
                      <a:pt x="151861" y="13393"/>
                      <a:pt x="173622" y="16816"/>
                    </a:cubicBezTo>
                    <a:lnTo>
                      <a:pt x="180137" y="17959"/>
                    </a:lnTo>
                    <a:lnTo>
                      <a:pt x="185795" y="19145"/>
                    </a:lnTo>
                    <a:lnTo>
                      <a:pt x="188096" y="17717"/>
                    </a:lnTo>
                    <a:cubicBezTo>
                      <a:pt x="207884" y="5715"/>
                      <a:pt x="223629" y="1000"/>
                      <a:pt x="235559" y="1314"/>
                    </a:cubicBezTo>
                    <a:lnTo>
                      <a:pt x="237902" y="1429"/>
                    </a:lnTo>
                    <a:lnTo>
                      <a:pt x="240002" y="1672"/>
                    </a:lnTo>
                    <a:lnTo>
                      <a:pt x="241088" y="1872"/>
                    </a:lnTo>
                    <a:lnTo>
                      <a:pt x="241802" y="2029"/>
                    </a:lnTo>
                    <a:lnTo>
                      <a:pt x="243860" y="2700"/>
                    </a:lnTo>
                    <a:cubicBezTo>
                      <a:pt x="247228" y="4093"/>
                      <a:pt x="249937" y="6720"/>
                      <a:pt x="251432" y="10044"/>
                    </a:cubicBezTo>
                    <a:cubicBezTo>
                      <a:pt x="257278" y="23070"/>
                      <a:pt x="259248" y="37505"/>
                      <a:pt x="257104" y="51621"/>
                    </a:cubicBezTo>
                    <a:lnTo>
                      <a:pt x="256433" y="55436"/>
                    </a:lnTo>
                    <a:lnTo>
                      <a:pt x="255775" y="58236"/>
                    </a:lnTo>
                    <a:lnTo>
                      <a:pt x="257533" y="60565"/>
                    </a:lnTo>
                    <a:cubicBezTo>
                      <a:pt x="265734" y="71923"/>
                      <a:pt x="270820" y="85254"/>
                      <a:pt x="272249" y="99241"/>
                    </a:cubicBezTo>
                    <a:lnTo>
                      <a:pt x="272577" y="103456"/>
                    </a:lnTo>
                    <a:lnTo>
                      <a:pt x="272678" y="107342"/>
                    </a:lnTo>
                    <a:cubicBezTo>
                      <a:pt x="272678" y="162420"/>
                      <a:pt x="248975" y="191395"/>
                      <a:pt x="206326" y="202782"/>
                    </a:cubicBezTo>
                    <a:lnTo>
                      <a:pt x="202826" y="203654"/>
                    </a:lnTo>
                    <a:lnTo>
                      <a:pt x="200940" y="204068"/>
                    </a:lnTo>
                    <a:lnTo>
                      <a:pt x="201140" y="206369"/>
                    </a:lnTo>
                    <a:lnTo>
                      <a:pt x="201254" y="208612"/>
                    </a:lnTo>
                    <a:lnTo>
                      <a:pt x="201311" y="213827"/>
                    </a:lnTo>
                    <a:lnTo>
                      <a:pt x="201283" y="216870"/>
                    </a:lnTo>
                    <a:lnTo>
                      <a:pt x="201240" y="271648"/>
                    </a:lnTo>
                    <a:cubicBezTo>
                      <a:pt x="201239" y="278892"/>
                      <a:pt x="195818" y="284988"/>
                      <a:pt x="188624" y="285836"/>
                    </a:cubicBezTo>
                    <a:lnTo>
                      <a:pt x="186953" y="285936"/>
                    </a:lnTo>
                    <a:lnTo>
                      <a:pt x="101228" y="285936"/>
                    </a:lnTo>
                    <a:cubicBezTo>
                      <a:pt x="93984" y="285935"/>
                      <a:pt x="87887" y="280514"/>
                      <a:pt x="87040" y="273320"/>
                    </a:cubicBezTo>
                    <a:lnTo>
                      <a:pt x="86940" y="271648"/>
                    </a:lnTo>
                    <a:lnTo>
                      <a:pt x="86940" y="261161"/>
                    </a:lnTo>
                    <a:cubicBezTo>
                      <a:pt x="60965" y="264876"/>
                      <a:pt x="43649" y="255103"/>
                      <a:pt x="28218" y="234329"/>
                    </a:cubicBezTo>
                    <a:lnTo>
                      <a:pt x="20575" y="223385"/>
                    </a:lnTo>
                    <a:cubicBezTo>
                      <a:pt x="16574" y="217727"/>
                      <a:pt x="14074" y="215113"/>
                      <a:pt x="12159" y="214184"/>
                    </a:cubicBezTo>
                    <a:lnTo>
                      <a:pt x="11473" y="213912"/>
                    </a:lnTo>
                    <a:cubicBezTo>
                      <a:pt x="4118" y="211522"/>
                      <a:pt x="0" y="203713"/>
                      <a:pt x="2182" y="196294"/>
                    </a:cubicBezTo>
                    <a:cubicBezTo>
                      <a:pt x="4364" y="188874"/>
                      <a:pt x="12053" y="184537"/>
                      <a:pt x="19532" y="186509"/>
                    </a:cubicBezTo>
                    <a:cubicBezTo>
                      <a:pt x="28704" y="189195"/>
                      <a:pt x="34876" y="194624"/>
                      <a:pt x="41963" y="204211"/>
                    </a:cubicBezTo>
                    <a:lnTo>
                      <a:pt x="49650" y="215198"/>
                    </a:lnTo>
                    <a:cubicBezTo>
                      <a:pt x="60508" y="230615"/>
                      <a:pt x="69081" y="236044"/>
                      <a:pt x="86926" y="232215"/>
                    </a:cubicBezTo>
                    <a:lnTo>
                      <a:pt x="86940" y="222528"/>
                    </a:lnTo>
                    <a:lnTo>
                      <a:pt x="86683" y="220128"/>
                    </a:lnTo>
                    <a:cubicBezTo>
                      <a:pt x="86261" y="216218"/>
                      <a:pt x="86161" y="212281"/>
                      <a:pt x="86383" y="208355"/>
                    </a:cubicBezTo>
                    <a:lnTo>
                      <a:pt x="86626" y="205711"/>
                    </a:lnTo>
                    <a:lnTo>
                      <a:pt x="86897" y="203997"/>
                    </a:lnTo>
                    <a:lnTo>
                      <a:pt x="85354" y="203654"/>
                    </a:lnTo>
                    <a:cubicBezTo>
                      <a:pt x="42834" y="193510"/>
                      <a:pt x="18160" y="166892"/>
                      <a:pt x="15703" y="115943"/>
                    </a:cubicBezTo>
                    <a:lnTo>
                      <a:pt x="15560" y="111514"/>
                    </a:lnTo>
                    <a:lnTo>
                      <a:pt x="15503" y="107342"/>
                    </a:lnTo>
                    <a:cubicBezTo>
                      <a:pt x="15519" y="91863"/>
                      <a:pt x="20025" y="76720"/>
                      <a:pt x="28476" y="63751"/>
                    </a:cubicBezTo>
                    <a:lnTo>
                      <a:pt x="30647" y="60579"/>
                    </a:lnTo>
                    <a:lnTo>
                      <a:pt x="32390" y="58250"/>
                    </a:lnTo>
                    <a:lnTo>
                      <a:pt x="31747" y="55450"/>
                    </a:lnTo>
                    <a:cubicBezTo>
                      <a:pt x="29172" y="42899"/>
                      <a:pt x="29885" y="29896"/>
                      <a:pt x="33819" y="17702"/>
                    </a:cubicBezTo>
                    <a:lnTo>
                      <a:pt x="35248" y="13673"/>
                    </a:lnTo>
                    <a:lnTo>
                      <a:pt x="36762" y="10058"/>
                    </a:lnTo>
                    <a:cubicBezTo>
                      <a:pt x="38254" y="6737"/>
                      <a:pt x="40957" y="4110"/>
                      <a:pt x="44320" y="2715"/>
                    </a:cubicBezTo>
                    <a:lnTo>
                      <a:pt x="46378" y="2043"/>
                    </a:lnTo>
                    <a:lnTo>
                      <a:pt x="48578" y="1614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507355" y="49025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开源生态扩张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512118" y="5181124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月之暗面开源模型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12118" y="5371624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全球最高下载量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12118" y="5562124"/>
                <a:ext cx="9788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超越 DeepSeek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191000" y="4572000"/>
              <a:ext cx="323850" cy="476250"/>
              <a:chOff x="4191000" y="4572000"/>
              <a:chExt cx="323850" cy="4762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4191000" y="4572000"/>
                <a:ext cx="285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76250">
                    <a:moveTo>
                      <a:pt x="0" y="0"/>
                    </a:moveTo>
                    <a:lnTo>
                      <a:pt x="285750" y="476250"/>
                    </a:lnTo>
                  </a:path>
                </a:pathLst>
              </a:custGeom>
              <a:noFill/>
              <a:ln w="23812" cap="rnd">
                <a:solidFill>
                  <a:srgbClr val="6B8E5A"/>
                </a:solidFill>
              </a:ln>
            </p:spPr>
          </p:sp>
          <p:sp>
            <p:nvSpPr>
              <p:cNvPr id="35" name="Polygon 35"/>
              <p:cNvSpPr/>
              <p:nvPr/>
            </p:nvSpPr>
            <p:spPr>
              <a:xfrm>
                <a:off x="4400550" y="49720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76200" y="76200"/>
                    </a:moveTo>
                    <a:lnTo>
                      <a:pt x="0" y="0"/>
                    </a:lnTo>
                    <a:lnTo>
                      <a:pt x="114300" y="19050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1714500" y="3238500"/>
              <a:ext cx="2667000" cy="1188244"/>
              <a:chOff x="1714500" y="3238500"/>
              <a:chExt cx="2667000" cy="1188244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1714500" y="3238500"/>
                <a:ext cx="26670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AF7F2"/>
              </a:solidFill>
              <a:ln w="19050">
                <a:solidFill>
                  <a:srgbClr val="B8926A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2042710" y="3593909"/>
                <a:ext cx="257980" cy="216091"/>
                <a:chOff x="2042710" y="3593909"/>
                <a:chExt cx="257980" cy="216091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2042710" y="3781425"/>
                  <a:ext cx="25798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980" h="28575">
                      <a:moveTo>
                        <a:pt x="243290" y="0"/>
                      </a:moveTo>
                      <a:cubicBezTo>
                        <a:pt x="250850" y="8"/>
                        <a:pt x="257094" y="5904"/>
                        <a:pt x="257537" y="13450"/>
                      </a:cubicBezTo>
                      <a:cubicBezTo>
                        <a:pt x="257980" y="20997"/>
                        <a:pt x="252468" y="27582"/>
                        <a:pt x="244962" y="28475"/>
                      </a:cubicBezTo>
                      <a:lnTo>
                        <a:pt x="243290" y="28575"/>
                      </a:lnTo>
                      <a:lnTo>
                        <a:pt x="14690" y="28575"/>
                      </a:lnTo>
                      <a:cubicBezTo>
                        <a:pt x="7131" y="28567"/>
                        <a:pt x="886" y="22671"/>
                        <a:pt x="443" y="15125"/>
                      </a:cubicBezTo>
                      <a:cubicBezTo>
                        <a:pt x="0" y="7578"/>
                        <a:pt x="5512" y="993"/>
                        <a:pt x="13018" y="100"/>
                      </a:cubicBezTo>
                      <a:lnTo>
                        <a:pt x="14690" y="0"/>
                      </a:lnTo>
                      <a:lnTo>
                        <a:pt x="243290" y="0"/>
                      </a:lnTo>
                      <a:close/>
                    </a:path>
                  </a:pathLst>
                </a:custGeom>
                <a:solidFill>
                  <a:srgbClr val="B8926A"/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2043112" y="3593909"/>
                  <a:ext cx="257175" cy="158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58941">
                      <a:moveTo>
                        <a:pt x="174593" y="7137"/>
                      </a:moveTo>
                      <a:cubicBezTo>
                        <a:pt x="179471" y="1049"/>
                        <a:pt x="188330" y="0"/>
                        <a:pt x="194496" y="4779"/>
                      </a:cubicBezTo>
                      <a:lnTo>
                        <a:pt x="195839" y="5965"/>
                      </a:lnTo>
                      <a:lnTo>
                        <a:pt x="252989" y="63115"/>
                      </a:lnTo>
                      <a:cubicBezTo>
                        <a:pt x="255209" y="65337"/>
                        <a:pt x="256635" y="68230"/>
                        <a:pt x="257046" y="71345"/>
                      </a:cubicBezTo>
                      <a:lnTo>
                        <a:pt x="257175" y="73216"/>
                      </a:lnTo>
                      <a:lnTo>
                        <a:pt x="257175" y="144654"/>
                      </a:lnTo>
                      <a:cubicBezTo>
                        <a:pt x="257174" y="151897"/>
                        <a:pt x="251753" y="157994"/>
                        <a:pt x="244559" y="158841"/>
                      </a:cubicBezTo>
                      <a:lnTo>
                        <a:pt x="242888" y="158941"/>
                      </a:lnTo>
                      <a:lnTo>
                        <a:pt x="13973" y="158941"/>
                      </a:lnTo>
                      <a:lnTo>
                        <a:pt x="12402" y="158813"/>
                      </a:lnTo>
                      <a:lnTo>
                        <a:pt x="10830" y="158527"/>
                      </a:lnTo>
                      <a:lnTo>
                        <a:pt x="9301" y="158041"/>
                      </a:lnTo>
                      <a:lnTo>
                        <a:pt x="7801" y="157384"/>
                      </a:lnTo>
                      <a:lnTo>
                        <a:pt x="6372" y="156541"/>
                      </a:lnTo>
                      <a:lnTo>
                        <a:pt x="5029" y="155541"/>
                      </a:lnTo>
                      <a:lnTo>
                        <a:pt x="4172" y="154755"/>
                      </a:lnTo>
                      <a:lnTo>
                        <a:pt x="3143" y="153583"/>
                      </a:lnTo>
                      <a:lnTo>
                        <a:pt x="2229" y="152312"/>
                      </a:lnTo>
                      <a:lnTo>
                        <a:pt x="1457" y="150940"/>
                      </a:lnTo>
                      <a:lnTo>
                        <a:pt x="1229" y="150440"/>
                      </a:lnTo>
                      <a:lnTo>
                        <a:pt x="657" y="148969"/>
                      </a:lnTo>
                      <a:lnTo>
                        <a:pt x="271" y="147454"/>
                      </a:lnTo>
                      <a:lnTo>
                        <a:pt x="57" y="145911"/>
                      </a:lnTo>
                      <a:lnTo>
                        <a:pt x="0" y="144339"/>
                      </a:lnTo>
                      <a:lnTo>
                        <a:pt x="129" y="142768"/>
                      </a:lnTo>
                      <a:lnTo>
                        <a:pt x="400" y="141268"/>
                      </a:lnTo>
                      <a:cubicBezTo>
                        <a:pt x="543" y="140696"/>
                        <a:pt x="714" y="140168"/>
                        <a:pt x="900" y="139667"/>
                      </a:cubicBezTo>
                      <a:lnTo>
                        <a:pt x="1557" y="138167"/>
                      </a:lnTo>
                      <a:lnTo>
                        <a:pt x="2400" y="136739"/>
                      </a:lnTo>
                      <a:lnTo>
                        <a:pt x="59550" y="51014"/>
                      </a:lnTo>
                      <a:cubicBezTo>
                        <a:pt x="63169" y="45565"/>
                        <a:pt x="70026" y="43270"/>
                        <a:pt x="76195" y="45441"/>
                      </a:cubicBezTo>
                      <a:lnTo>
                        <a:pt x="77824" y="46156"/>
                      </a:lnTo>
                      <a:lnTo>
                        <a:pt x="124644" y="69559"/>
                      </a:lnTo>
                      <a:lnTo>
                        <a:pt x="174579" y="7137"/>
                      </a:lnTo>
                      <a:close/>
                    </a:path>
                  </a:pathLst>
                </a:custGeom>
                <a:solidFill>
                  <a:srgbClr val="B8926A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2459355" y="3569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8926A"/>
                    </a:solidFill>
                    <a:latin typeface="Arial"/>
                    <a:ea typeface="Microsoft YaHei"/>
                    <a:cs typeface="Arial"/>
                  </a:rPr>
                  <a:t>估值持续上涨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464118" y="3847624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技术突破驱动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464118" y="4038124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生态反哺训练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64118" y="4228624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形成正向飞轮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91000" y="2571750"/>
              <a:ext cx="323850" cy="476250"/>
              <a:chOff x="4191000" y="2571750"/>
              <a:chExt cx="323850" cy="4762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191000" y="2571750"/>
                <a:ext cx="285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76250">
                    <a:moveTo>
                      <a:pt x="0" y="476250"/>
                    </a:moveTo>
                    <a:lnTo>
                      <a:pt x="285750" y="0"/>
                    </a:lnTo>
                  </a:path>
                </a:pathLst>
              </a:custGeom>
              <a:noFill/>
              <a:ln w="23812" cap="rnd">
                <a:solidFill>
                  <a:srgbClr val="B8926A"/>
                </a:solidFill>
              </a:ln>
            </p:spPr>
          </p:sp>
          <p:sp>
            <p:nvSpPr>
              <p:cNvPr id="47" name="Polygon 47"/>
              <p:cNvSpPr/>
              <p:nvPr/>
            </p:nvSpPr>
            <p:spPr>
              <a:xfrm>
                <a:off x="4400550" y="2571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76200" y="0"/>
                    </a:moveTo>
                    <a:lnTo>
                      <a:pt x="0" y="76200"/>
                    </a:lnTo>
                    <a:lnTo>
                      <a:pt x="114300" y="57150"/>
                    </a:lnTo>
                    <a:close/>
                  </a:path>
                </a:pathLst>
              </a:custGeom>
              <a:solidFill>
                <a:srgbClr val="B8926A"/>
              </a:solidFill>
              <a:ln>
                <a:noFill/>
              </a:ln>
            </p:spPr>
          </p:sp>
        </p:grpSp>
        <p:sp>
          <p:nvSpPr>
            <p:cNvPr id="49" name="Ellipse 49"/>
            <p:cNvSpPr/>
            <p:nvPr/>
          </p:nvSpPr>
          <p:spPr>
            <a:xfrm>
              <a:off x="5715000" y="3429000"/>
              <a:ext cx="762000" cy="762000"/>
            </a:xfrm>
            <a:prstGeom prst="ellipse">
              <a:avLst/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21645" y="36585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生态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21645" y="38300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闭环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63578" y="6355556"/>
              <a:ext cx="44648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估值驱动人才、人才驱动技术、技术驱动开源、开源反哺估值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497491" y="343852"/>
            <a:ext cx="11136344" cy="5942648"/>
            <a:chOff x="497491" y="343852"/>
            <a:chExt cx="11136344" cy="594264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31931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月之暗面估值飙升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58305" y="45815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2024年初 → 2026年7月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1047750"/>
              <a:ext cx="10287000" cy="4286250"/>
            </a:xfrm>
            <a:prstGeom prst="rect">
              <a:avLst/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7491" y="1236345"/>
              <a:ext cx="3711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350亿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1285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7491" y="1998345"/>
              <a:ext cx="3711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250亿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047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0352" y="2760345"/>
              <a:ext cx="3383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150亿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52500" y="2809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9785" y="35223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80亿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3571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785" y="42843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30亿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52500" y="4333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525" y="5046345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5095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8B7D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0236" y="5244941"/>
              <a:ext cx="406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2024初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49486" y="5244941"/>
              <a:ext cx="406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2024中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8736" y="5244941"/>
              <a:ext cx="406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2024末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7986" y="5244941"/>
              <a:ext cx="406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2025初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07236" y="5244941"/>
              <a:ext cx="406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2025末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26486" y="5244941"/>
              <a:ext cx="406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9212" y="5244941"/>
              <a:ext cx="4185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2026.7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333500" y="1285875"/>
              <a:ext cx="9525000" cy="3810000"/>
            </a:xfrm>
            <a:custGeom>
              <a:avLst/>
              <a:gdLst/>
              <a:ahLst/>
              <a:cxnLst/>
              <a:rect l="l" t="t" r="r" b="b"/>
              <a:pathLst>
                <a:path w="9525000" h="3810000">
                  <a:moveTo>
                    <a:pt x="0" y="3524250"/>
                  </a:moveTo>
                  <a:lnTo>
                    <a:pt x="1619250" y="3143250"/>
                  </a:lnTo>
                  <a:lnTo>
                    <a:pt x="3238500" y="2667000"/>
                  </a:lnTo>
                  <a:lnTo>
                    <a:pt x="4857750" y="2286000"/>
                  </a:lnTo>
                  <a:lnTo>
                    <a:pt x="6477000" y="1524000"/>
                  </a:lnTo>
                  <a:lnTo>
                    <a:pt x="8096250" y="952500"/>
                  </a:lnTo>
                  <a:lnTo>
                    <a:pt x="9525000" y="0"/>
                  </a:lnTo>
                  <a:lnTo>
                    <a:pt x="9525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333500" y="1285875"/>
              <a:ext cx="9525000" cy="3524250"/>
            </a:xfrm>
            <a:custGeom>
              <a:avLst/>
              <a:gdLst/>
              <a:ahLst/>
              <a:cxnLst/>
              <a:rect l="l" t="t" r="r" b="b"/>
              <a:pathLst>
                <a:path w="9525000" h="3524250">
                  <a:moveTo>
                    <a:pt x="0" y="3524250"/>
                  </a:moveTo>
                  <a:lnTo>
                    <a:pt x="1619250" y="3143250"/>
                  </a:lnTo>
                  <a:lnTo>
                    <a:pt x="3238500" y="2667000"/>
                  </a:lnTo>
                  <a:lnTo>
                    <a:pt x="4857750" y="2286000"/>
                  </a:lnTo>
                  <a:lnTo>
                    <a:pt x="6477000" y="1524000"/>
                  </a:lnTo>
                  <a:lnTo>
                    <a:pt x="8096250" y="952500"/>
                  </a:lnTo>
                  <a:lnTo>
                    <a:pt x="9525000" y="0"/>
                  </a:lnTo>
                </a:path>
              </a:pathLst>
            </a:custGeom>
            <a:noFill/>
            <a:ln w="28575" cap="rnd">
              <a:solidFill>
                <a:srgbClr val="8B6F47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1285875" y="4762500"/>
              <a:ext cx="95250" cy="952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905125" y="4381500"/>
              <a:ext cx="95250" cy="952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524375" y="3905250"/>
              <a:ext cx="95250" cy="952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143625" y="3524250"/>
              <a:ext cx="95250" cy="952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762875" y="2762250"/>
              <a:ext cx="95250" cy="9525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382125" y="2190750"/>
              <a:ext cx="95250" cy="9525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782300" y="1209675"/>
              <a:ext cx="152400" cy="152400"/>
            </a:xfrm>
            <a:prstGeom prst="ellipse">
              <a:avLst/>
            </a:prstGeom>
            <a:solidFill>
              <a:srgbClr val="6B8E5A"/>
            </a:solidFill>
            <a:ln w="28575">
              <a:solidFill>
                <a:srgbClr val="FAF7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63372" y="4625816"/>
              <a:ext cx="3402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~30亿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21122" y="3387566"/>
              <a:ext cx="3402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~43亿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70793" y="1029652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350亿美元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286750" y="1619250"/>
              <a:ext cx="1714500" cy="381000"/>
            </a:xfrm>
            <a:prstGeom prst="roundRect">
              <a:avLst>
                <a:gd name="adj" fmla="val 25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27297" y="1737360"/>
              <a:ext cx="1033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约 15 倍增长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2500" y="5619750"/>
              <a:ext cx="10287000" cy="666750"/>
            </a:xfrm>
            <a:prstGeom prst="roundRect">
              <a:avLst>
                <a:gd name="adj" fmla="val 1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266825" y="5834062"/>
              <a:ext cx="285750" cy="200025"/>
            </a:xfrm>
            <a:custGeom>
              <a:avLst/>
              <a:gdLst/>
              <a:ahLst/>
              <a:cxnLst/>
              <a:rect l="l" t="t" r="r" b="b"/>
              <a:pathLst>
                <a:path w="285750" h="200025">
                  <a:moveTo>
                    <a:pt x="242888" y="0"/>
                  </a:moveTo>
                  <a:cubicBezTo>
                    <a:pt x="266560" y="0"/>
                    <a:pt x="285750" y="19190"/>
                    <a:pt x="285750" y="42862"/>
                  </a:cubicBezTo>
                  <a:lnTo>
                    <a:pt x="285750" y="157162"/>
                  </a:lnTo>
                  <a:cubicBezTo>
                    <a:pt x="285750" y="180835"/>
                    <a:pt x="266560" y="200025"/>
                    <a:pt x="242888" y="200025"/>
                  </a:cubicBezTo>
                  <a:lnTo>
                    <a:pt x="42862" y="200025"/>
                  </a:lnTo>
                  <a:cubicBezTo>
                    <a:pt x="19190" y="200025"/>
                    <a:pt x="0" y="180835"/>
                    <a:pt x="0" y="157162"/>
                  </a:cubicBezTo>
                  <a:lnTo>
                    <a:pt x="0" y="42862"/>
                  </a:lnTo>
                  <a:cubicBezTo>
                    <a:pt x="0" y="19190"/>
                    <a:pt x="19190" y="0"/>
                    <a:pt x="42862" y="0"/>
                  </a:cubicBezTo>
                  <a:close/>
                  <a:moveTo>
                    <a:pt x="142875" y="57150"/>
                  </a:moveTo>
                  <a:cubicBezTo>
                    <a:pt x="120037" y="57152"/>
                    <a:pt x="101212" y="75060"/>
                    <a:pt x="100070" y="97869"/>
                  </a:cubicBezTo>
                  <a:lnTo>
                    <a:pt x="100012" y="100012"/>
                  </a:lnTo>
                  <a:cubicBezTo>
                    <a:pt x="100012" y="123685"/>
                    <a:pt x="119203" y="142875"/>
                    <a:pt x="142875" y="142875"/>
                  </a:cubicBezTo>
                  <a:cubicBezTo>
                    <a:pt x="166547" y="142875"/>
                    <a:pt x="185738" y="123685"/>
                    <a:pt x="185738" y="100012"/>
                  </a:cubicBezTo>
                  <a:cubicBezTo>
                    <a:pt x="185738" y="76340"/>
                    <a:pt x="166547" y="57150"/>
                    <a:pt x="142875" y="57150"/>
                  </a:cubicBezTo>
                  <a:moveTo>
                    <a:pt x="228743" y="85725"/>
                  </a:moveTo>
                  <a:lnTo>
                    <a:pt x="228600" y="85725"/>
                  </a:lnTo>
                  <a:cubicBezTo>
                    <a:pt x="220709" y="85725"/>
                    <a:pt x="214312" y="92122"/>
                    <a:pt x="214312" y="100012"/>
                  </a:cubicBezTo>
                  <a:cubicBezTo>
                    <a:pt x="214312" y="107903"/>
                    <a:pt x="220709" y="114300"/>
                    <a:pt x="228600" y="114300"/>
                  </a:cubicBezTo>
                  <a:lnTo>
                    <a:pt x="228743" y="114300"/>
                  </a:lnTo>
                  <a:cubicBezTo>
                    <a:pt x="236634" y="114300"/>
                    <a:pt x="243030" y="107903"/>
                    <a:pt x="243030" y="100012"/>
                  </a:cubicBezTo>
                  <a:cubicBezTo>
                    <a:pt x="243030" y="92122"/>
                    <a:pt x="236634" y="85725"/>
                    <a:pt x="228743" y="85725"/>
                  </a:cubicBezTo>
                  <a:moveTo>
                    <a:pt x="57293" y="85725"/>
                  </a:moveTo>
                  <a:lnTo>
                    <a:pt x="57150" y="85725"/>
                  </a:lnTo>
                  <a:cubicBezTo>
                    <a:pt x="52046" y="85751"/>
                    <a:pt x="47342" y="88497"/>
                    <a:pt x="44812" y="92931"/>
                  </a:cubicBezTo>
                  <a:cubicBezTo>
                    <a:pt x="42282" y="97364"/>
                    <a:pt x="42309" y="102810"/>
                    <a:pt x="44884" y="107218"/>
                  </a:cubicBezTo>
                  <a:cubicBezTo>
                    <a:pt x="47458" y="111626"/>
                    <a:pt x="52188" y="114326"/>
                    <a:pt x="57293" y="114300"/>
                  </a:cubicBezTo>
                  <a:cubicBezTo>
                    <a:pt x="65184" y="114300"/>
                    <a:pt x="71580" y="107903"/>
                    <a:pt x="71580" y="100012"/>
                  </a:cubicBezTo>
                  <a:cubicBezTo>
                    <a:pt x="71580" y="92122"/>
                    <a:pt x="65184" y="85725"/>
                    <a:pt x="57293" y="85725"/>
                  </a:cubicBezTo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699260" y="5804535"/>
              <a:ext cx="2735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腾讯、阿里、IDG 等巨头持续加注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02118" y="6057424"/>
              <a:ext cx="4154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F轮投资方阵容空前，资本对中国 AI 的信心超过对大多数硅谷公司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-285750"/>
            <a:ext cx="2857500" cy="28575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762500" y="1695450"/>
            <a:ext cx="2667000" cy="3081337"/>
            <a:chOff x="4762500" y="1695450"/>
            <a:chExt cx="2667000" cy="3081337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6954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50320" y="300799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本地部署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0" y="3667125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62500" y="3981450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门槛很高，但正在快速降低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05475" y="4519612"/>
              <a:ext cx="285750" cy="257175"/>
            </a:xfrm>
            <a:custGeom>
              <a:avLst/>
              <a:gdLst/>
              <a:ahLst/>
              <a:cxnLst/>
              <a:rect l="l" t="t" r="r" b="b"/>
              <a:pathLst>
                <a:path w="285750" h="257175">
                  <a:moveTo>
                    <a:pt x="71438" y="257175"/>
                  </a:moveTo>
                  <a:cubicBezTo>
                    <a:pt x="63547" y="257175"/>
                    <a:pt x="57150" y="250778"/>
                    <a:pt x="57150" y="242888"/>
                  </a:cubicBezTo>
                  <a:cubicBezTo>
                    <a:pt x="57150" y="234997"/>
                    <a:pt x="63547" y="228600"/>
                    <a:pt x="71438" y="228600"/>
                  </a:cubicBezTo>
                  <a:lnTo>
                    <a:pt x="85725" y="228600"/>
                  </a:lnTo>
                  <a:lnTo>
                    <a:pt x="85725" y="200025"/>
                  </a:lnTo>
                  <a:lnTo>
                    <a:pt x="28575" y="200025"/>
                  </a:lnTo>
                  <a:cubicBezTo>
                    <a:pt x="12793" y="200025"/>
                    <a:pt x="0" y="187232"/>
                    <a:pt x="0" y="1714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257175" y="0"/>
                  </a:lnTo>
                  <a:cubicBezTo>
                    <a:pt x="272957" y="0"/>
                    <a:pt x="285750" y="12793"/>
                    <a:pt x="285750" y="28575"/>
                  </a:cubicBezTo>
                  <a:lnTo>
                    <a:pt x="285750" y="171450"/>
                  </a:lnTo>
                  <a:cubicBezTo>
                    <a:pt x="285750" y="187232"/>
                    <a:pt x="272957" y="200025"/>
                    <a:pt x="257175" y="200025"/>
                  </a:cubicBezTo>
                  <a:lnTo>
                    <a:pt x="200025" y="200025"/>
                  </a:lnTo>
                  <a:lnTo>
                    <a:pt x="200025" y="228600"/>
                  </a:lnTo>
                  <a:lnTo>
                    <a:pt x="214312" y="228600"/>
                  </a:lnTo>
                  <a:cubicBezTo>
                    <a:pt x="222203" y="228600"/>
                    <a:pt x="228600" y="234997"/>
                    <a:pt x="228600" y="242888"/>
                  </a:cubicBezTo>
                  <a:cubicBezTo>
                    <a:pt x="228600" y="250778"/>
                    <a:pt x="222203" y="257175"/>
                    <a:pt x="214312" y="257175"/>
                  </a:cubicBezTo>
                  <a:close/>
                  <a:moveTo>
                    <a:pt x="171450" y="200025"/>
                  </a:moveTo>
                  <a:lnTo>
                    <a:pt x="114300" y="200025"/>
                  </a:lnTo>
                  <a:lnTo>
                    <a:pt x="114300" y="228600"/>
                  </a:lnTo>
                  <a:lnTo>
                    <a:pt x="171450" y="22860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67438" y="4548188"/>
              <a:ext cx="314325" cy="200025"/>
            </a:xfrm>
            <a:custGeom>
              <a:avLst/>
              <a:gdLst/>
              <a:ahLst/>
              <a:cxnLst/>
              <a:rect l="l" t="t" r="r" b="b"/>
              <a:pathLst>
                <a:path w="314325" h="200025">
                  <a:moveTo>
                    <a:pt x="271462" y="0"/>
                  </a:moveTo>
                  <a:cubicBezTo>
                    <a:pt x="295135" y="0"/>
                    <a:pt x="314325" y="19190"/>
                    <a:pt x="314325" y="42862"/>
                  </a:cubicBezTo>
                  <a:lnTo>
                    <a:pt x="314325" y="157162"/>
                  </a:lnTo>
                  <a:cubicBezTo>
                    <a:pt x="314325" y="180835"/>
                    <a:pt x="295135" y="200025"/>
                    <a:pt x="271462" y="200025"/>
                  </a:cubicBezTo>
                  <a:lnTo>
                    <a:pt x="42862" y="200025"/>
                  </a:lnTo>
                  <a:cubicBezTo>
                    <a:pt x="19190" y="200025"/>
                    <a:pt x="0" y="180835"/>
                    <a:pt x="0" y="157162"/>
                  </a:cubicBezTo>
                  <a:lnTo>
                    <a:pt x="0" y="42862"/>
                  </a:lnTo>
                  <a:cubicBezTo>
                    <a:pt x="0" y="19190"/>
                    <a:pt x="19190" y="0"/>
                    <a:pt x="42862" y="0"/>
                  </a:cubicBezTo>
                  <a:close/>
                  <a:moveTo>
                    <a:pt x="100012" y="57150"/>
                  </a:moveTo>
                  <a:lnTo>
                    <a:pt x="98341" y="57250"/>
                  </a:lnTo>
                  <a:cubicBezTo>
                    <a:pt x="91147" y="58097"/>
                    <a:pt x="85726" y="64194"/>
                    <a:pt x="85725" y="71438"/>
                  </a:cubicBezTo>
                  <a:lnTo>
                    <a:pt x="85725" y="85725"/>
                  </a:lnTo>
                  <a:lnTo>
                    <a:pt x="71438" y="85725"/>
                  </a:lnTo>
                  <a:cubicBezTo>
                    <a:pt x="63547" y="85725"/>
                    <a:pt x="57150" y="92122"/>
                    <a:pt x="57150" y="100012"/>
                  </a:cubicBezTo>
                  <a:lnTo>
                    <a:pt x="57250" y="101684"/>
                  </a:lnTo>
                  <a:cubicBezTo>
                    <a:pt x="58097" y="108878"/>
                    <a:pt x="64194" y="114299"/>
                    <a:pt x="71438" y="114300"/>
                  </a:cubicBezTo>
                  <a:lnTo>
                    <a:pt x="85725" y="114300"/>
                  </a:lnTo>
                  <a:lnTo>
                    <a:pt x="85725" y="128588"/>
                  </a:lnTo>
                  <a:cubicBezTo>
                    <a:pt x="85725" y="136478"/>
                    <a:pt x="92122" y="142875"/>
                    <a:pt x="100012" y="142875"/>
                  </a:cubicBezTo>
                  <a:lnTo>
                    <a:pt x="101684" y="142775"/>
                  </a:lnTo>
                  <a:cubicBezTo>
                    <a:pt x="108878" y="141928"/>
                    <a:pt x="114299" y="135831"/>
                    <a:pt x="114300" y="128588"/>
                  </a:cubicBezTo>
                  <a:lnTo>
                    <a:pt x="114300" y="114300"/>
                  </a:lnTo>
                  <a:lnTo>
                    <a:pt x="128588" y="114300"/>
                  </a:lnTo>
                  <a:cubicBezTo>
                    <a:pt x="136478" y="114300"/>
                    <a:pt x="142875" y="107903"/>
                    <a:pt x="142875" y="100012"/>
                  </a:cubicBezTo>
                  <a:lnTo>
                    <a:pt x="142775" y="98341"/>
                  </a:lnTo>
                  <a:cubicBezTo>
                    <a:pt x="141928" y="91147"/>
                    <a:pt x="135831" y="85726"/>
                    <a:pt x="128588" y="85725"/>
                  </a:cubicBezTo>
                  <a:lnTo>
                    <a:pt x="114300" y="85725"/>
                  </a:lnTo>
                  <a:lnTo>
                    <a:pt x="114300" y="71438"/>
                  </a:lnTo>
                  <a:cubicBezTo>
                    <a:pt x="114300" y="63547"/>
                    <a:pt x="107903" y="57150"/>
                    <a:pt x="100012" y="57150"/>
                  </a:cubicBezTo>
                  <a:moveTo>
                    <a:pt x="242888" y="100012"/>
                  </a:moveTo>
                  <a:cubicBezTo>
                    <a:pt x="234997" y="100012"/>
                    <a:pt x="228600" y="106409"/>
                    <a:pt x="228600" y="114300"/>
                  </a:cubicBezTo>
                  <a:lnTo>
                    <a:pt x="228600" y="114443"/>
                  </a:lnTo>
                  <a:cubicBezTo>
                    <a:pt x="228600" y="122334"/>
                    <a:pt x="234997" y="128730"/>
                    <a:pt x="242888" y="128730"/>
                  </a:cubicBezTo>
                  <a:cubicBezTo>
                    <a:pt x="250778" y="128730"/>
                    <a:pt x="257175" y="122334"/>
                    <a:pt x="257175" y="114443"/>
                  </a:cubicBezTo>
                  <a:lnTo>
                    <a:pt x="257175" y="114300"/>
                  </a:lnTo>
                  <a:cubicBezTo>
                    <a:pt x="257175" y="106409"/>
                    <a:pt x="250778" y="100012"/>
                    <a:pt x="242888" y="100012"/>
                  </a:cubicBezTo>
                  <a:moveTo>
                    <a:pt x="200025" y="71438"/>
                  </a:moveTo>
                  <a:cubicBezTo>
                    <a:pt x="192134" y="71438"/>
                    <a:pt x="185738" y="77834"/>
                    <a:pt x="185738" y="85725"/>
                  </a:cubicBezTo>
                  <a:lnTo>
                    <a:pt x="185738" y="85868"/>
                  </a:lnTo>
                  <a:cubicBezTo>
                    <a:pt x="185738" y="93759"/>
                    <a:pt x="192134" y="100155"/>
                    <a:pt x="200025" y="100155"/>
                  </a:cubicBezTo>
                  <a:cubicBezTo>
                    <a:pt x="207916" y="100155"/>
                    <a:pt x="214312" y="93759"/>
                    <a:pt x="214312" y="85868"/>
                  </a:cubicBezTo>
                  <a:lnTo>
                    <a:pt x="214312" y="85725"/>
                  </a:ln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539115" y="343852"/>
            <a:ext cx="11094720" cy="5895023"/>
            <a:chOff x="539115" y="343852"/>
            <a:chExt cx="11094720" cy="5895023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34082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64 卡 H100 / GB300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905000" y="4953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6B8E5A">
                <a:alpha val="15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45875" y="5629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推荐方案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82270" y="458152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8 节点 × 8 卡 · 8TB HBM3e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44235" y="1131570"/>
              <a:ext cx="150353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8TB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36019" y="1902142"/>
              <a:ext cx="31199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HBM3e 显存总量 · BF16 全精度部署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33625"/>
              <a:ext cx="5334000" cy="2190750"/>
            </a:xfrm>
            <a:prstGeom prst="roundRect">
              <a:avLst>
                <a:gd name="adj" fmla="val 695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521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硬件配置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2781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0438" y="3040062"/>
              <a:ext cx="174625" cy="111125"/>
            </a:xfrm>
            <a:custGeom>
              <a:avLst/>
              <a:gdLst/>
              <a:ahLst/>
              <a:cxnLst/>
              <a:rect l="l" t="t" r="r" b="b"/>
              <a:pathLst>
                <a:path w="174625" h="111125">
                  <a:moveTo>
                    <a:pt x="150813" y="0"/>
                  </a:moveTo>
                  <a:cubicBezTo>
                    <a:pt x="163964" y="0"/>
                    <a:pt x="174625" y="10661"/>
                    <a:pt x="174625" y="23812"/>
                  </a:cubicBezTo>
                  <a:lnTo>
                    <a:pt x="174625" y="87312"/>
                  </a:lnTo>
                  <a:cubicBezTo>
                    <a:pt x="174625" y="100464"/>
                    <a:pt x="163964" y="111125"/>
                    <a:pt x="150813" y="111125"/>
                  </a:cubicBezTo>
                  <a:lnTo>
                    <a:pt x="23812" y="111125"/>
                  </a:lnTo>
                  <a:cubicBezTo>
                    <a:pt x="10661" y="111125"/>
                    <a:pt x="0" y="100464"/>
                    <a:pt x="0" y="8731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close/>
                  <a:moveTo>
                    <a:pt x="55563" y="31750"/>
                  </a:moveTo>
                  <a:lnTo>
                    <a:pt x="54634" y="31806"/>
                  </a:lnTo>
                  <a:cubicBezTo>
                    <a:pt x="50637" y="32276"/>
                    <a:pt x="47626" y="35663"/>
                    <a:pt x="47625" y="39687"/>
                  </a:cubicBezTo>
                  <a:lnTo>
                    <a:pt x="47625" y="47625"/>
                  </a:lnTo>
                  <a:lnTo>
                    <a:pt x="39688" y="47625"/>
                  </a:lnTo>
                  <a:cubicBezTo>
                    <a:pt x="35304" y="47625"/>
                    <a:pt x="31750" y="51179"/>
                    <a:pt x="31750" y="55562"/>
                  </a:cubicBezTo>
                  <a:lnTo>
                    <a:pt x="31806" y="56491"/>
                  </a:lnTo>
                  <a:cubicBezTo>
                    <a:pt x="32276" y="60488"/>
                    <a:pt x="35663" y="63499"/>
                    <a:pt x="39688" y="63500"/>
                  </a:cubicBezTo>
                  <a:lnTo>
                    <a:pt x="47625" y="63500"/>
                  </a:lnTo>
                  <a:lnTo>
                    <a:pt x="47625" y="71438"/>
                  </a:lnTo>
                  <a:cubicBezTo>
                    <a:pt x="47625" y="75821"/>
                    <a:pt x="51179" y="79375"/>
                    <a:pt x="55563" y="79375"/>
                  </a:cubicBezTo>
                  <a:lnTo>
                    <a:pt x="56491" y="79319"/>
                  </a:lnTo>
                  <a:cubicBezTo>
                    <a:pt x="60488" y="78849"/>
                    <a:pt x="63499" y="75462"/>
                    <a:pt x="63500" y="71438"/>
                  </a:cubicBezTo>
                  <a:lnTo>
                    <a:pt x="63500" y="63500"/>
                  </a:lnTo>
                  <a:lnTo>
                    <a:pt x="71438" y="63500"/>
                  </a:lnTo>
                  <a:cubicBezTo>
                    <a:pt x="75821" y="63500"/>
                    <a:pt x="79375" y="59946"/>
                    <a:pt x="79375" y="55562"/>
                  </a:cubicBezTo>
                  <a:lnTo>
                    <a:pt x="79319" y="54634"/>
                  </a:lnTo>
                  <a:cubicBezTo>
                    <a:pt x="78849" y="50637"/>
                    <a:pt x="75462" y="47626"/>
                    <a:pt x="71438" y="47625"/>
                  </a:cubicBezTo>
                  <a:lnTo>
                    <a:pt x="63500" y="47625"/>
                  </a:lnTo>
                  <a:lnTo>
                    <a:pt x="63500" y="39687"/>
                  </a:lnTo>
                  <a:cubicBezTo>
                    <a:pt x="63500" y="35304"/>
                    <a:pt x="59946" y="31750"/>
                    <a:pt x="55563" y="31750"/>
                  </a:cubicBezTo>
                  <a:moveTo>
                    <a:pt x="134938" y="55562"/>
                  </a:moveTo>
                  <a:cubicBezTo>
                    <a:pt x="130554" y="55562"/>
                    <a:pt x="127000" y="59116"/>
                    <a:pt x="127000" y="63500"/>
                  </a:cubicBezTo>
                  <a:lnTo>
                    <a:pt x="127000" y="63579"/>
                  </a:lnTo>
                  <a:cubicBezTo>
                    <a:pt x="127000" y="67963"/>
                    <a:pt x="130554" y="71517"/>
                    <a:pt x="134938" y="71517"/>
                  </a:cubicBezTo>
                  <a:cubicBezTo>
                    <a:pt x="139321" y="71517"/>
                    <a:pt x="142875" y="67963"/>
                    <a:pt x="142875" y="63579"/>
                  </a:cubicBezTo>
                  <a:lnTo>
                    <a:pt x="142875" y="63500"/>
                  </a:lnTo>
                  <a:cubicBezTo>
                    <a:pt x="142875" y="59116"/>
                    <a:pt x="139321" y="55562"/>
                    <a:pt x="134938" y="55562"/>
                  </a:cubicBezTo>
                  <a:moveTo>
                    <a:pt x="111125" y="39687"/>
                  </a:moveTo>
                  <a:cubicBezTo>
                    <a:pt x="106741" y="39687"/>
                    <a:pt x="103188" y="43241"/>
                    <a:pt x="103188" y="47625"/>
                  </a:cubicBezTo>
                  <a:lnTo>
                    <a:pt x="103188" y="47704"/>
                  </a:lnTo>
                  <a:cubicBezTo>
                    <a:pt x="103188" y="52088"/>
                    <a:pt x="106741" y="55642"/>
                    <a:pt x="111125" y="55642"/>
                  </a:cubicBezTo>
                  <a:cubicBezTo>
                    <a:pt x="115509" y="55642"/>
                    <a:pt x="119062" y="52088"/>
                    <a:pt x="119062" y="47704"/>
                  </a:cubicBezTo>
                  <a:lnTo>
                    <a:pt x="119062" y="47625"/>
                  </a:lnTo>
                  <a:cubicBezTo>
                    <a:pt x="119062" y="43241"/>
                    <a:pt x="115509" y="39687"/>
                    <a:pt x="111125" y="39687"/>
                  </a:cubicBezTo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5865" y="3039428"/>
              <a:ext cx="16752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GPU：64 × H100 / GB300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76312" y="3330575"/>
              <a:ext cx="142876" cy="158750"/>
              <a:chOff x="976312" y="3330575"/>
              <a:chExt cx="142876" cy="1587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76312" y="3439565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259"/>
                      <a:pt x="111958" y="49252"/>
                      <a:pt x="73874" y="49744"/>
                    </a:cubicBezTo>
                    <a:lnTo>
                      <a:pt x="71438" y="49760"/>
                    </a:lnTo>
                    <a:cubicBezTo>
                      <a:pt x="32242" y="49760"/>
                      <a:pt x="0" y="37671"/>
                      <a:pt x="0" y="1801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76312" y="3391940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671"/>
                      <a:pt x="110633" y="49760"/>
                      <a:pt x="71438" y="49760"/>
                    </a:cubicBezTo>
                    <a:cubicBezTo>
                      <a:pt x="33353" y="49760"/>
                      <a:pt x="1826" y="38346"/>
                      <a:pt x="167" y="19637"/>
                    </a:cubicBezTo>
                    <a:lnTo>
                      <a:pt x="40" y="18836"/>
                    </a:lnTo>
                    <a:lnTo>
                      <a:pt x="0" y="1801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76312" y="3330575"/>
                <a:ext cx="14287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2876" h="63500">
                    <a:moveTo>
                      <a:pt x="71438" y="0"/>
                    </a:moveTo>
                    <a:cubicBezTo>
                      <a:pt x="79701" y="0"/>
                      <a:pt x="87662" y="540"/>
                      <a:pt x="95068" y="1572"/>
                    </a:cubicBezTo>
                    <a:lnTo>
                      <a:pt x="98791" y="2135"/>
                    </a:lnTo>
                    <a:cubicBezTo>
                      <a:pt x="103236" y="2876"/>
                      <a:pt x="107432" y="3797"/>
                      <a:pt x="111380" y="4897"/>
                    </a:cubicBezTo>
                    <a:lnTo>
                      <a:pt x="114872" y="5937"/>
                    </a:lnTo>
                    <a:lnTo>
                      <a:pt x="115467" y="6128"/>
                    </a:lnTo>
                    <a:cubicBezTo>
                      <a:pt x="117628" y="6838"/>
                      <a:pt x="119759" y="7632"/>
                      <a:pt x="121857" y="8509"/>
                    </a:cubicBezTo>
                    <a:lnTo>
                      <a:pt x="123437" y="9192"/>
                    </a:lnTo>
                    <a:cubicBezTo>
                      <a:pt x="126268" y="10472"/>
                      <a:pt x="128826" y="11875"/>
                      <a:pt x="131112" y="13398"/>
                    </a:cubicBezTo>
                    <a:cubicBezTo>
                      <a:pt x="131985" y="13981"/>
                      <a:pt x="132814" y="14576"/>
                      <a:pt x="133597" y="15184"/>
                    </a:cubicBezTo>
                    <a:cubicBezTo>
                      <a:pt x="135581" y="16724"/>
                      <a:pt x="137364" y="18505"/>
                      <a:pt x="138907" y="20487"/>
                    </a:cubicBezTo>
                    <a:lnTo>
                      <a:pt x="139629" y="21503"/>
                    </a:lnTo>
                    <a:cubicBezTo>
                      <a:pt x="140000" y="22058"/>
                      <a:pt x="140341" y="22617"/>
                      <a:pt x="140653" y="23178"/>
                    </a:cubicBezTo>
                    <a:lnTo>
                      <a:pt x="141209" y="24281"/>
                    </a:lnTo>
                    <a:cubicBezTo>
                      <a:pt x="142071" y="26133"/>
                      <a:pt x="142600" y="28064"/>
                      <a:pt x="142796" y="30075"/>
                    </a:cubicBezTo>
                    <a:lnTo>
                      <a:pt x="142876" y="31750"/>
                    </a:lnTo>
                    <a:cubicBezTo>
                      <a:pt x="142876" y="51411"/>
                      <a:pt x="110633" y="63500"/>
                      <a:pt x="71438" y="63500"/>
                    </a:cubicBezTo>
                    <a:cubicBezTo>
                      <a:pt x="33354" y="63500"/>
                      <a:pt x="1826" y="52086"/>
                      <a:pt x="167" y="33377"/>
                    </a:cubicBezTo>
                    <a:cubicBezTo>
                      <a:pt x="56" y="32842"/>
                      <a:pt x="0" y="32297"/>
                      <a:pt x="1" y="31750"/>
                    </a:cubicBezTo>
                    <a:lnTo>
                      <a:pt x="40" y="30925"/>
                    </a:lnTo>
                    <a:lnTo>
                      <a:pt x="167" y="30131"/>
                    </a:lnTo>
                    <a:cubicBezTo>
                      <a:pt x="1794" y="11827"/>
                      <a:pt x="31997" y="500"/>
                      <a:pt x="68962" y="1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05865" y="3353752"/>
              <a:ext cx="22732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显存：8TB HBM3e（64 × 128GB）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67829" y="3645106"/>
              <a:ext cx="159831" cy="158330"/>
              <a:chOff x="967829" y="3645106"/>
              <a:chExt cx="159831" cy="1583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3552" y="3756025"/>
                <a:ext cx="66945" cy="47411"/>
              </a:xfrm>
              <a:custGeom>
                <a:avLst/>
                <a:gdLst/>
                <a:ahLst/>
                <a:cxnLst/>
                <a:rect l="l" t="t" r="r" b="b"/>
                <a:pathLst>
                  <a:path w="66945" h="47411">
                    <a:moveTo>
                      <a:pt x="66945" y="0"/>
                    </a:moveTo>
                    <a:cubicBezTo>
                      <a:pt x="55159" y="27004"/>
                      <a:pt x="29385" y="45257"/>
                      <a:pt x="0" y="47411"/>
                    </a:cubicBezTo>
                    <a:cubicBezTo>
                      <a:pt x="2033" y="46926"/>
                      <a:pt x="3792" y="45660"/>
                      <a:pt x="4897" y="43886"/>
                    </a:cubicBezTo>
                    <a:cubicBezTo>
                      <a:pt x="13334" y="30372"/>
                      <a:pt x="19451" y="15541"/>
                      <a:pt x="22995" y="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75003" y="3756025"/>
                <a:ext cx="66937" cy="47411"/>
              </a:xfrm>
              <a:custGeom>
                <a:avLst/>
                <a:gdLst/>
                <a:ahLst/>
                <a:cxnLst/>
                <a:rect l="l" t="t" r="r" b="b"/>
                <a:pathLst>
                  <a:path w="66937" h="47411">
                    <a:moveTo>
                      <a:pt x="43950" y="0"/>
                    </a:moveTo>
                    <a:cubicBezTo>
                      <a:pt x="47492" y="15538"/>
                      <a:pt x="53609" y="30375"/>
                      <a:pt x="62047" y="43894"/>
                    </a:cubicBezTo>
                    <a:cubicBezTo>
                      <a:pt x="63152" y="45663"/>
                      <a:pt x="64908" y="46926"/>
                      <a:pt x="66937" y="47411"/>
                    </a:cubicBezTo>
                    <a:cubicBezTo>
                      <a:pt x="37555" y="45254"/>
                      <a:pt x="11785" y="2700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35288" y="3756025"/>
                <a:ext cx="24924" cy="30829"/>
              </a:xfrm>
              <a:custGeom>
                <a:avLst/>
                <a:gdLst/>
                <a:ahLst/>
                <a:cxnLst/>
                <a:rect l="l" t="t" r="r" b="b"/>
                <a:pathLst>
                  <a:path w="24924" h="30829">
                    <a:moveTo>
                      <a:pt x="24924" y="0"/>
                    </a:moveTo>
                    <a:cubicBezTo>
                      <a:pt x="22139" y="10778"/>
                      <a:pt x="17949" y="21143"/>
                      <a:pt x="12462" y="30829"/>
                    </a:cubicBezTo>
                    <a:cubicBezTo>
                      <a:pt x="6975" y="21143"/>
                      <a:pt x="2785" y="10778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67829" y="3708400"/>
                <a:ext cx="4844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440" h="31750">
                    <a:moveTo>
                      <a:pt x="48440" y="0"/>
                    </a:moveTo>
                    <a:cubicBezTo>
                      <a:pt x="47261" y="10550"/>
                      <a:pt x="47261" y="21200"/>
                      <a:pt x="48440" y="31750"/>
                    </a:cubicBezTo>
                    <a:lnTo>
                      <a:pt x="2149" y="31750"/>
                    </a:lnTo>
                    <a:cubicBezTo>
                      <a:pt x="5" y="21276"/>
                      <a:pt x="0" y="10476"/>
                      <a:pt x="213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30928" y="3708400"/>
                <a:ext cx="33644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3644" h="31750">
                    <a:moveTo>
                      <a:pt x="32316" y="0"/>
                    </a:moveTo>
                    <a:cubicBezTo>
                      <a:pt x="33644" y="10542"/>
                      <a:pt x="33644" y="21208"/>
                      <a:pt x="32316" y="31750"/>
                    </a:cubicBezTo>
                    <a:lnTo>
                      <a:pt x="1328" y="31750"/>
                    </a:lnTo>
                    <a:cubicBezTo>
                      <a:pt x="0" y="21208"/>
                      <a:pt x="0" y="10542"/>
                      <a:pt x="132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79230" y="3708400"/>
                <a:ext cx="4843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430" h="31750">
                    <a:moveTo>
                      <a:pt x="46307" y="0"/>
                    </a:moveTo>
                    <a:cubicBezTo>
                      <a:pt x="48430" y="10477"/>
                      <a:pt x="48424" y="21275"/>
                      <a:pt x="46291" y="31750"/>
                    </a:cubicBezTo>
                    <a:lnTo>
                      <a:pt x="0" y="31750"/>
                    </a:lnTo>
                    <a:cubicBezTo>
                      <a:pt x="1183" y="21201"/>
                      <a:pt x="1183" y="10557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4979" y="3645114"/>
                <a:ext cx="66953" cy="47411"/>
              </a:xfrm>
              <a:custGeom>
                <a:avLst/>
                <a:gdLst/>
                <a:ahLst/>
                <a:cxnLst/>
                <a:rect l="l" t="t" r="r" b="b"/>
                <a:pathLst>
                  <a:path w="66953" h="47411">
                    <a:moveTo>
                      <a:pt x="66953" y="0"/>
                    </a:moveTo>
                    <a:cubicBezTo>
                      <a:pt x="64926" y="488"/>
                      <a:pt x="63172" y="1754"/>
                      <a:pt x="62071" y="3524"/>
                    </a:cubicBezTo>
                    <a:cubicBezTo>
                      <a:pt x="53634" y="17042"/>
                      <a:pt x="47517" y="31875"/>
                      <a:pt x="43974" y="47411"/>
                    </a:cubicBezTo>
                    <a:lnTo>
                      <a:pt x="0" y="47411"/>
                    </a:lnTo>
                    <a:cubicBezTo>
                      <a:pt x="11682" y="20675"/>
                      <a:pt x="37077" y="2492"/>
                      <a:pt x="66151" y="4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35288" y="3661696"/>
                <a:ext cx="24924" cy="30837"/>
              </a:xfrm>
              <a:custGeom>
                <a:avLst/>
                <a:gdLst/>
                <a:ahLst/>
                <a:cxnLst/>
                <a:rect l="l" t="t" r="r" b="b"/>
                <a:pathLst>
                  <a:path w="24924" h="30837">
                    <a:moveTo>
                      <a:pt x="12462" y="0"/>
                    </a:moveTo>
                    <a:cubicBezTo>
                      <a:pt x="17950" y="9688"/>
                      <a:pt x="22140" y="20056"/>
                      <a:pt x="24924" y="30837"/>
                    </a:cubicBezTo>
                    <a:lnTo>
                      <a:pt x="0" y="30837"/>
                    </a:lnTo>
                    <a:cubicBezTo>
                      <a:pt x="2699" y="20383"/>
                      <a:pt x="6747" y="10200"/>
                      <a:pt x="12144" y="54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3568" y="3645106"/>
                <a:ext cx="66953" cy="47419"/>
              </a:xfrm>
              <a:custGeom>
                <a:avLst/>
                <a:gdLst/>
                <a:ahLst/>
                <a:cxnLst/>
                <a:rect l="l" t="t" r="r" b="b"/>
                <a:pathLst>
                  <a:path w="66953" h="47419">
                    <a:moveTo>
                      <a:pt x="0" y="0"/>
                    </a:moveTo>
                    <a:cubicBezTo>
                      <a:pt x="29383" y="2170"/>
                      <a:pt x="55153" y="20421"/>
                      <a:pt x="66953" y="47419"/>
                    </a:cubicBezTo>
                    <a:lnTo>
                      <a:pt x="22979" y="47419"/>
                    </a:lnTo>
                    <a:cubicBezTo>
                      <a:pt x="19437" y="31880"/>
                      <a:pt x="13320" y="17044"/>
                      <a:pt x="4882" y="3524"/>
                    </a:cubicBezTo>
                    <a:cubicBezTo>
                      <a:pt x="3927" y="1995"/>
                      <a:pt x="2479" y="836"/>
                      <a:pt x="778" y="23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05865" y="3668078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互联：NVSwitch / NVLink 全连接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968375" y="3959225"/>
              <a:ext cx="158750" cy="158750"/>
              <a:chOff x="968375" y="3959225"/>
              <a:chExt cx="158750" cy="1587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00125" y="39592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29107"/>
                    </a:moveTo>
                    <a:cubicBezTo>
                      <a:pt x="0" y="13032"/>
                      <a:pt x="13032" y="0"/>
                      <a:pt x="29107" y="0"/>
                    </a:cubicBezTo>
                    <a:lnTo>
                      <a:pt x="97893" y="0"/>
                    </a:lnTo>
                    <a:cubicBezTo>
                      <a:pt x="105613" y="0"/>
                      <a:pt x="113016" y="3067"/>
                      <a:pt x="118475" y="8525"/>
                    </a:cubicBezTo>
                    <a:cubicBezTo>
                      <a:pt x="123933" y="13984"/>
                      <a:pt x="127000" y="21387"/>
                      <a:pt x="127000" y="29107"/>
                    </a:cubicBezTo>
                    <a:lnTo>
                      <a:pt x="127000" y="97893"/>
                    </a:lnTo>
                    <a:cubicBezTo>
                      <a:pt x="127000" y="105613"/>
                      <a:pt x="123933" y="113016"/>
                      <a:pt x="118475" y="118475"/>
                    </a:cubicBezTo>
                    <a:cubicBezTo>
                      <a:pt x="113016" y="123933"/>
                      <a:pt x="105613" y="127000"/>
                      <a:pt x="97893" y="127000"/>
                    </a:cubicBezTo>
                    <a:lnTo>
                      <a:pt x="29107" y="127000"/>
                    </a:lnTo>
                    <a:cubicBezTo>
                      <a:pt x="13032" y="127000"/>
                      <a:pt x="0" y="113968"/>
                      <a:pt x="0" y="9789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8375" y="3993813"/>
                <a:ext cx="125276" cy="124162"/>
              </a:xfrm>
              <a:custGeom>
                <a:avLst/>
                <a:gdLst/>
                <a:ahLst/>
                <a:cxnLst/>
                <a:rect l="l" t="t" r="r" b="b"/>
                <a:pathLst>
                  <a:path w="125276" h="124162">
                    <a:moveTo>
                      <a:pt x="0" y="20974"/>
                    </a:moveTo>
                    <a:cubicBezTo>
                      <a:pt x="0" y="12291"/>
                      <a:pt x="4231" y="6464"/>
                      <a:pt x="12017" y="2131"/>
                    </a:cubicBezTo>
                    <a:cubicBezTo>
                      <a:pt x="15849" y="0"/>
                      <a:pt x="20682" y="1379"/>
                      <a:pt x="22812" y="5210"/>
                    </a:cubicBezTo>
                    <a:cubicBezTo>
                      <a:pt x="24943" y="9042"/>
                      <a:pt x="23564" y="13875"/>
                      <a:pt x="19733" y="16005"/>
                    </a:cubicBezTo>
                    <a:cubicBezTo>
                      <a:pt x="16573" y="17759"/>
                      <a:pt x="15875" y="18720"/>
                      <a:pt x="15875" y="20974"/>
                    </a:cubicBezTo>
                    <a:lnTo>
                      <a:pt x="15875" y="100349"/>
                    </a:lnTo>
                    <a:cubicBezTo>
                      <a:pt x="15875" y="104699"/>
                      <a:pt x="19463" y="108287"/>
                      <a:pt x="23812" y="108287"/>
                    </a:cubicBezTo>
                    <a:lnTo>
                      <a:pt x="103172" y="108287"/>
                    </a:lnTo>
                    <a:cubicBezTo>
                      <a:pt x="105712" y="108287"/>
                      <a:pt x="108077" y="107064"/>
                      <a:pt x="109561" y="105056"/>
                    </a:cubicBezTo>
                    <a:lnTo>
                      <a:pt x="110077" y="104262"/>
                    </a:lnTo>
                    <a:cubicBezTo>
                      <a:pt x="111481" y="101798"/>
                      <a:pt x="114093" y="100270"/>
                      <a:pt x="116929" y="100253"/>
                    </a:cubicBezTo>
                    <a:cubicBezTo>
                      <a:pt x="119765" y="100237"/>
                      <a:pt x="122394" y="101735"/>
                      <a:pt x="123826" y="104182"/>
                    </a:cubicBezTo>
                    <a:cubicBezTo>
                      <a:pt x="125259" y="106630"/>
                      <a:pt x="125276" y="109656"/>
                      <a:pt x="123873" y="112120"/>
                    </a:cubicBezTo>
                    <a:cubicBezTo>
                      <a:pt x="119642" y="119560"/>
                      <a:pt x="111745" y="124156"/>
                      <a:pt x="103187" y="124162"/>
                    </a:cubicBezTo>
                    <a:lnTo>
                      <a:pt x="23812" y="124162"/>
                    </a:lnTo>
                    <a:cubicBezTo>
                      <a:pt x="10700" y="124162"/>
                      <a:pt x="0" y="113462"/>
                      <a:pt x="0" y="100349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205865" y="3982402"/>
              <a:ext cx="2710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架构：8 节点 × 8 卡，节点内 NVSwitch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86500" y="2333625"/>
              <a:ext cx="5334000" cy="2190750"/>
            </a:xfrm>
            <a:prstGeom prst="roundRect">
              <a:avLst>
                <a:gd name="adj" fmla="val 695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0355" y="2521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推理性能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781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4165" y="307752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单并发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51545" y="3012758"/>
              <a:ext cx="12311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~30 tok/s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4165" y="3458528"/>
              <a:ext cx="6324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200 并发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51545" y="3393758"/>
              <a:ext cx="15854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12,800 tok/s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4165" y="38395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吞吐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59165" y="3839528"/>
              <a:ext cx="1100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每秒 100 条回答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4165" y="4220528"/>
              <a:ext cx="26643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vLLM 0.9.1 · TP=8 × PP=8 流水线并行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76250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C75B4A">
                <a:alpha val="8000"/>
              </a:srgbClr>
            </a:solidFill>
            <a:ln w="9525">
              <a:solidFill>
                <a:srgbClr val="C75B4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79475" y="4932362"/>
              <a:ext cx="222250" cy="155575"/>
            </a:xfrm>
            <a:custGeom>
              <a:avLst/>
              <a:gdLst/>
              <a:ahLst/>
              <a:cxnLst/>
              <a:rect l="l" t="t" r="r" b="b"/>
              <a:pathLst>
                <a:path w="222250" h="155575">
                  <a:moveTo>
                    <a:pt x="188913" y="0"/>
                  </a:moveTo>
                  <a:cubicBezTo>
                    <a:pt x="207324" y="0"/>
                    <a:pt x="222250" y="14926"/>
                    <a:pt x="222250" y="33338"/>
                  </a:cubicBezTo>
                  <a:lnTo>
                    <a:pt x="222250" y="122237"/>
                  </a:lnTo>
                  <a:cubicBezTo>
                    <a:pt x="222250" y="140649"/>
                    <a:pt x="207324" y="155575"/>
                    <a:pt x="188913" y="155575"/>
                  </a:cubicBezTo>
                  <a:lnTo>
                    <a:pt x="33338" y="155575"/>
                  </a:lnTo>
                  <a:cubicBezTo>
                    <a:pt x="14926" y="155575"/>
                    <a:pt x="0" y="140649"/>
                    <a:pt x="0" y="122237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  <a:moveTo>
                    <a:pt x="111125" y="44450"/>
                  </a:moveTo>
                  <a:cubicBezTo>
                    <a:pt x="93362" y="44451"/>
                    <a:pt x="78720" y="58380"/>
                    <a:pt x="77832" y="76121"/>
                  </a:cubicBezTo>
                  <a:lnTo>
                    <a:pt x="77788" y="77787"/>
                  </a:lnTo>
                  <a:cubicBezTo>
                    <a:pt x="77788" y="96199"/>
                    <a:pt x="92713" y="111125"/>
                    <a:pt x="111125" y="111125"/>
                  </a:cubicBezTo>
                  <a:cubicBezTo>
                    <a:pt x="129537" y="111125"/>
                    <a:pt x="144463" y="96199"/>
                    <a:pt x="144463" y="77787"/>
                  </a:cubicBezTo>
                  <a:cubicBezTo>
                    <a:pt x="144463" y="59376"/>
                    <a:pt x="129537" y="44450"/>
                    <a:pt x="111125" y="44450"/>
                  </a:cubicBezTo>
                  <a:moveTo>
                    <a:pt x="177911" y="66675"/>
                  </a:moveTo>
                  <a:lnTo>
                    <a:pt x="177800" y="66675"/>
                  </a:lnTo>
                  <a:cubicBezTo>
                    <a:pt x="171663" y="66675"/>
                    <a:pt x="166688" y="71650"/>
                    <a:pt x="166688" y="77787"/>
                  </a:cubicBezTo>
                  <a:cubicBezTo>
                    <a:pt x="166688" y="83925"/>
                    <a:pt x="171663" y="88900"/>
                    <a:pt x="177800" y="88900"/>
                  </a:cubicBezTo>
                  <a:lnTo>
                    <a:pt x="177911" y="88900"/>
                  </a:lnTo>
                  <a:cubicBezTo>
                    <a:pt x="184048" y="88900"/>
                    <a:pt x="189024" y="83925"/>
                    <a:pt x="189024" y="77787"/>
                  </a:cubicBezTo>
                  <a:cubicBezTo>
                    <a:pt x="189024" y="71650"/>
                    <a:pt x="184048" y="66675"/>
                    <a:pt x="177911" y="66675"/>
                  </a:cubicBezTo>
                  <a:moveTo>
                    <a:pt x="44561" y="66675"/>
                  </a:moveTo>
                  <a:lnTo>
                    <a:pt x="44450" y="66675"/>
                  </a:lnTo>
                  <a:cubicBezTo>
                    <a:pt x="40480" y="66695"/>
                    <a:pt x="36822" y="68831"/>
                    <a:pt x="34854" y="72279"/>
                  </a:cubicBezTo>
                  <a:cubicBezTo>
                    <a:pt x="32886" y="75728"/>
                    <a:pt x="32907" y="79964"/>
                    <a:pt x="34910" y="83392"/>
                  </a:cubicBezTo>
                  <a:cubicBezTo>
                    <a:pt x="36912" y="86820"/>
                    <a:pt x="40591" y="88920"/>
                    <a:pt x="44561" y="88900"/>
                  </a:cubicBezTo>
                  <a:cubicBezTo>
                    <a:pt x="50698" y="88900"/>
                    <a:pt x="55674" y="83925"/>
                    <a:pt x="55674" y="77787"/>
                  </a:cubicBezTo>
                  <a:cubicBezTo>
                    <a:pt x="55674" y="71650"/>
                    <a:pt x="50698" y="66675"/>
                    <a:pt x="44561" y="66675"/>
                  </a:cubicBezTo>
                </a:path>
              </a:pathLst>
            </a:custGeom>
            <a:solidFill>
              <a:srgbClr val="C75B4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23010" y="4966335"/>
              <a:ext cx="3112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75B4A"/>
                  </a:solidFill>
                  <a:latin typeface="Arial"/>
                  <a:ea typeface="Microsoft YaHei"/>
                  <a:cs typeface="Arial"/>
                </a:rPr>
                <a:t>月租 ~450 万美元 · 约 3200 万人民币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0415" y="4982528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全球仅 5 个组织拥有此集群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5572125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79162" y="5737225"/>
              <a:ext cx="222876" cy="222250"/>
              <a:chOff x="879162" y="5737225"/>
              <a:chExt cx="222876" cy="2222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79162" y="5837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79488" y="57372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68074" y="5837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7285" y="57650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41578" y="57650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57262" y="5915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18271" y="578167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223010" y="5756910"/>
              <a:ext cx="49070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月之暗面选择了更聪明的方式：TP=4 部署，单卡跑更多任务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25868" y="6009799"/>
              <a:ext cx="3008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8TB 显存绰绰有余，用更少的卡、更高的吞吐量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539115" y="343852"/>
            <a:ext cx="11094720" cy="6145054"/>
            <a:chOff x="539115" y="343852"/>
            <a:chExt cx="11094720" cy="6145054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260658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B300 单机方案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91221" y="458152"/>
              <a:ext cx="2242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GB300 NVL72 架构 · 12TB HBM3e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047750"/>
              <a:ext cx="5715000" cy="3048000"/>
            </a:xfrm>
            <a:prstGeom prst="roundRect">
              <a:avLst>
                <a:gd name="adj" fmla="val 5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5355" y="1235392"/>
              <a:ext cx="17112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GB300 NVL72 单机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952500" y="1619250"/>
              <a:ext cx="5238750" cy="381000"/>
              <a:chOff x="952500" y="1619250"/>
              <a:chExt cx="5238750" cy="381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5250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5429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0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61925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738301" y="1760220"/>
                <a:ext cx="33339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228600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38779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95275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05454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3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61950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72129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4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28625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38804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5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495300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05479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6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619750" y="1619250"/>
                <a:ext cx="571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721548" y="1760220"/>
                <a:ext cx="3679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GPU 7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952500" y="2143125"/>
              <a:ext cx="4953000" cy="95250"/>
            </a:xfrm>
            <a:prstGeom prst="roundRect">
              <a:avLst>
                <a:gd name="adj" fmla="val 50000"/>
              </a:avLst>
            </a:prstGeom>
            <a:solidFill>
              <a:srgbClr val="B8926A">
                <a:alpha val="3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71477" y="2368391"/>
              <a:ext cx="15150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B8926A"/>
                  </a:solidFill>
                  <a:latin typeface="Arial"/>
                  <a:ea typeface="Microsoft YaHei"/>
                  <a:cs typeface="Arial"/>
                </a:rPr>
                <a:t>NVSwitch · 全互联 1.8TB/s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165" y="2696528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显存：12TB HBM3e（72 × 168GB）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9165" y="293465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带宽：~6TB/s 跨 GPU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3172778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算力：~1200 PFLOPS FP16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9165" y="3410902"/>
              <a:ext cx="1950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单机可承载 K3 BF16 全精度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9165" y="3649028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预计 2026 Q3 量产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67500" y="1047750"/>
              <a:ext cx="4953000" cy="3048000"/>
            </a:xfrm>
            <a:prstGeom prst="roundRect">
              <a:avLst>
                <a:gd name="adj" fmla="val 5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31355" y="1235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显存分配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120198" y="1643614"/>
              <a:ext cx="1852131" cy="2047323"/>
              <a:chOff x="8120198" y="1643614"/>
              <a:chExt cx="1852131" cy="2047323"/>
            </a:xfrm>
          </p:grpSpPr>
          <p:sp>
            <p:nvSpPr>
              <p:cNvPr id="34" name="Arc 34"/>
              <p:cNvSpPr/>
              <p:nvPr/>
            </p:nvSpPr>
            <p:spPr>
              <a:xfrm>
                <a:off x="8120198" y="1643614"/>
                <a:ext cx="1625470" cy="2047323"/>
              </a:xfrm>
              <a:custGeom>
                <a:avLst/>
                <a:gdLst/>
                <a:ahLst/>
                <a:cxnLst/>
                <a:rect l="l" t="t" r="r" b="b"/>
                <a:pathLst>
                  <a:path w="1625470" h="2047323">
                    <a:moveTo>
                      <a:pt x="1024125" y="2047323"/>
                    </a:moveTo>
                    <a:lnTo>
                      <a:pt x="922704" y="2042320"/>
                    </a:lnTo>
                    <a:lnTo>
                      <a:pt x="822278" y="2027296"/>
                    </a:lnTo>
                    <a:lnTo>
                      <a:pt x="723834" y="2002399"/>
                    </a:lnTo>
                    <a:lnTo>
                      <a:pt x="628340" y="1967874"/>
                    </a:lnTo>
                    <a:lnTo>
                      <a:pt x="536735" y="1924060"/>
                    </a:lnTo>
                    <a:lnTo>
                      <a:pt x="449920" y="1871388"/>
                    </a:lnTo>
                    <a:lnTo>
                      <a:pt x="368749" y="1810376"/>
                    </a:lnTo>
                    <a:lnTo>
                      <a:pt x="294021" y="1741625"/>
                    </a:lnTo>
                    <a:lnTo>
                      <a:pt x="226469" y="1665809"/>
                    </a:lnTo>
                    <a:lnTo>
                      <a:pt x="166759" y="1583676"/>
                    </a:lnTo>
                    <a:lnTo>
                      <a:pt x="115478" y="1496033"/>
                    </a:lnTo>
                    <a:lnTo>
                      <a:pt x="73130" y="1403741"/>
                    </a:lnTo>
                    <a:lnTo>
                      <a:pt x="40131" y="1307709"/>
                    </a:lnTo>
                    <a:lnTo>
                      <a:pt x="16807" y="1208880"/>
                    </a:lnTo>
                    <a:lnTo>
                      <a:pt x="3386" y="1108227"/>
                    </a:lnTo>
                    <a:lnTo>
                      <a:pt x="0" y="1006740"/>
                    </a:lnTo>
                    <a:lnTo>
                      <a:pt x="6683" y="905416"/>
                    </a:lnTo>
                    <a:lnTo>
                      <a:pt x="23369" y="805253"/>
                    </a:lnTo>
                    <a:lnTo>
                      <a:pt x="49894" y="707235"/>
                    </a:lnTo>
                    <a:lnTo>
                      <a:pt x="85997" y="612326"/>
                    </a:lnTo>
                    <a:lnTo>
                      <a:pt x="131323" y="521460"/>
                    </a:lnTo>
                    <a:lnTo>
                      <a:pt x="185427" y="435530"/>
                    </a:lnTo>
                    <a:lnTo>
                      <a:pt x="247775" y="355381"/>
                    </a:lnTo>
                    <a:lnTo>
                      <a:pt x="317756" y="281802"/>
                    </a:lnTo>
                    <a:lnTo>
                      <a:pt x="394680" y="215516"/>
                    </a:lnTo>
                    <a:lnTo>
                      <a:pt x="477791" y="157176"/>
                    </a:lnTo>
                    <a:lnTo>
                      <a:pt x="566272" y="107354"/>
                    </a:lnTo>
                    <a:lnTo>
                      <a:pt x="659253" y="66541"/>
                    </a:lnTo>
                    <a:lnTo>
                      <a:pt x="755819" y="35138"/>
                    </a:lnTo>
                    <a:lnTo>
                      <a:pt x="855021" y="13455"/>
                    </a:lnTo>
                    <a:lnTo>
                      <a:pt x="955882" y="1703"/>
                    </a:lnTo>
                    <a:lnTo>
                      <a:pt x="1057411" y="0"/>
                    </a:lnTo>
                    <a:lnTo>
                      <a:pt x="1158610" y="8361"/>
                    </a:lnTo>
                    <a:lnTo>
                      <a:pt x="1258483" y="26705"/>
                    </a:lnTo>
                    <a:lnTo>
                      <a:pt x="1356049" y="54851"/>
                    </a:lnTo>
                    <a:lnTo>
                      <a:pt x="1450346" y="92521"/>
                    </a:lnTo>
                    <a:lnTo>
                      <a:pt x="1540449" y="139347"/>
                    </a:lnTo>
                    <a:lnTo>
                      <a:pt x="1625470" y="194867"/>
                    </a:lnTo>
                    <a:lnTo>
                      <a:pt x="1429578" y="464617"/>
                    </a:lnTo>
                    <a:lnTo>
                      <a:pt x="1372238" y="427174"/>
                    </a:lnTo>
                    <a:lnTo>
                      <a:pt x="1311471" y="395594"/>
                    </a:lnTo>
                    <a:lnTo>
                      <a:pt x="1247875" y="370188"/>
                    </a:lnTo>
                    <a:lnTo>
                      <a:pt x="1182076" y="351206"/>
                    </a:lnTo>
                    <a:lnTo>
                      <a:pt x="1114719" y="338834"/>
                    </a:lnTo>
                    <a:lnTo>
                      <a:pt x="1046469" y="333195"/>
                    </a:lnTo>
                    <a:lnTo>
                      <a:pt x="977996" y="334344"/>
                    </a:lnTo>
                    <a:lnTo>
                      <a:pt x="909973" y="342269"/>
                    </a:lnTo>
                    <a:lnTo>
                      <a:pt x="843069" y="356893"/>
                    </a:lnTo>
                    <a:lnTo>
                      <a:pt x="777943" y="378072"/>
                    </a:lnTo>
                    <a:lnTo>
                      <a:pt x="715235" y="405597"/>
                    </a:lnTo>
                    <a:lnTo>
                      <a:pt x="655562" y="439198"/>
                    </a:lnTo>
                    <a:lnTo>
                      <a:pt x="599510" y="478544"/>
                    </a:lnTo>
                    <a:lnTo>
                      <a:pt x="547631" y="523248"/>
                    </a:lnTo>
                    <a:lnTo>
                      <a:pt x="500435" y="572871"/>
                    </a:lnTo>
                    <a:lnTo>
                      <a:pt x="458386" y="626925"/>
                    </a:lnTo>
                    <a:lnTo>
                      <a:pt x="421898" y="684878"/>
                    </a:lnTo>
                    <a:lnTo>
                      <a:pt x="391329" y="746159"/>
                    </a:lnTo>
                    <a:lnTo>
                      <a:pt x="366981" y="810168"/>
                    </a:lnTo>
                    <a:lnTo>
                      <a:pt x="349092" y="876273"/>
                    </a:lnTo>
                    <a:lnTo>
                      <a:pt x="337838" y="943825"/>
                    </a:lnTo>
                    <a:lnTo>
                      <a:pt x="333331" y="1012160"/>
                    </a:lnTo>
                    <a:lnTo>
                      <a:pt x="335614" y="1080604"/>
                    </a:lnTo>
                    <a:lnTo>
                      <a:pt x="344666" y="1148487"/>
                    </a:lnTo>
                    <a:lnTo>
                      <a:pt x="360396" y="1215138"/>
                    </a:lnTo>
                    <a:lnTo>
                      <a:pt x="382651" y="1279905"/>
                    </a:lnTo>
                    <a:lnTo>
                      <a:pt x="411212" y="1342148"/>
                    </a:lnTo>
                    <a:lnTo>
                      <a:pt x="445797" y="1401256"/>
                    </a:lnTo>
                    <a:lnTo>
                      <a:pt x="486066" y="1456648"/>
                    </a:lnTo>
                    <a:lnTo>
                      <a:pt x="531624" y="1507779"/>
                    </a:lnTo>
                    <a:lnTo>
                      <a:pt x="582022" y="1554147"/>
                    </a:lnTo>
                    <a:lnTo>
                      <a:pt x="636765" y="1595294"/>
                    </a:lnTo>
                    <a:lnTo>
                      <a:pt x="695315" y="1630817"/>
                    </a:lnTo>
                    <a:lnTo>
                      <a:pt x="757095" y="1660366"/>
                    </a:lnTo>
                    <a:lnTo>
                      <a:pt x="821498" y="1683651"/>
                    </a:lnTo>
                    <a:lnTo>
                      <a:pt x="887891" y="1700442"/>
                    </a:lnTo>
                    <a:lnTo>
                      <a:pt x="955620" y="1710574"/>
                    </a:lnTo>
                    <a:lnTo>
                      <a:pt x="1024020" y="1713948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Arc 35"/>
              <p:cNvSpPr/>
              <p:nvPr/>
            </p:nvSpPr>
            <p:spPr>
              <a:xfrm>
                <a:off x="8541810" y="1643863"/>
                <a:ext cx="1430519" cy="617184"/>
              </a:xfrm>
              <a:custGeom>
                <a:avLst/>
                <a:gdLst/>
                <a:ahLst/>
                <a:cxnLst/>
                <a:rect l="l" t="t" r="r" b="b"/>
                <a:pathLst>
                  <a:path w="1430519" h="617184">
                    <a:moveTo>
                      <a:pt x="0" y="194997"/>
                    </a:moveTo>
                    <a:lnTo>
                      <a:pt x="84089" y="139949"/>
                    </a:lnTo>
                    <a:lnTo>
                      <a:pt x="173170" y="93411"/>
                    </a:lnTo>
                    <a:lnTo>
                      <a:pt x="266383" y="55830"/>
                    </a:lnTo>
                    <a:lnTo>
                      <a:pt x="362833" y="27568"/>
                    </a:lnTo>
                    <a:lnTo>
                      <a:pt x="461588" y="8898"/>
                    </a:lnTo>
                    <a:lnTo>
                      <a:pt x="561698" y="0"/>
                    </a:lnTo>
                    <a:lnTo>
                      <a:pt x="662198" y="959"/>
                    </a:lnTo>
                    <a:lnTo>
                      <a:pt x="762120" y="11766"/>
                    </a:lnTo>
                    <a:lnTo>
                      <a:pt x="860501" y="32317"/>
                    </a:lnTo>
                    <a:lnTo>
                      <a:pt x="956393" y="62414"/>
                    </a:lnTo>
                    <a:lnTo>
                      <a:pt x="1048873" y="101767"/>
                    </a:lnTo>
                    <a:lnTo>
                      <a:pt x="1137049" y="149997"/>
                    </a:lnTo>
                    <a:lnTo>
                      <a:pt x="1220073" y="206639"/>
                    </a:lnTo>
                    <a:lnTo>
                      <a:pt x="1297143" y="271147"/>
                    </a:lnTo>
                    <a:lnTo>
                      <a:pt x="1367518" y="342901"/>
                    </a:lnTo>
                    <a:lnTo>
                      <a:pt x="1430519" y="421208"/>
                    </a:lnTo>
                    <a:lnTo>
                      <a:pt x="1160830" y="617184"/>
                    </a:lnTo>
                    <a:lnTo>
                      <a:pt x="1118341" y="564373"/>
                    </a:lnTo>
                    <a:lnTo>
                      <a:pt x="1070879" y="515981"/>
                    </a:lnTo>
                    <a:lnTo>
                      <a:pt x="1018901" y="472475"/>
                    </a:lnTo>
                    <a:lnTo>
                      <a:pt x="962909" y="434275"/>
                    </a:lnTo>
                    <a:lnTo>
                      <a:pt x="903441" y="401748"/>
                    </a:lnTo>
                    <a:lnTo>
                      <a:pt x="841071" y="375207"/>
                    </a:lnTo>
                    <a:lnTo>
                      <a:pt x="776399" y="354909"/>
                    </a:lnTo>
                    <a:lnTo>
                      <a:pt x="710049" y="341049"/>
                    </a:lnTo>
                    <a:lnTo>
                      <a:pt x="642660" y="333761"/>
                    </a:lnTo>
                    <a:lnTo>
                      <a:pt x="574881" y="333114"/>
                    </a:lnTo>
                    <a:lnTo>
                      <a:pt x="507365" y="339115"/>
                    </a:lnTo>
                    <a:lnTo>
                      <a:pt x="440763" y="351707"/>
                    </a:lnTo>
                    <a:lnTo>
                      <a:pt x="375716" y="370767"/>
                    </a:lnTo>
                    <a:lnTo>
                      <a:pt x="312851" y="396112"/>
                    </a:lnTo>
                    <a:lnTo>
                      <a:pt x="252773" y="427499"/>
                    </a:lnTo>
                    <a:lnTo>
                      <a:pt x="196062" y="46462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6" name="Arc 36"/>
              <p:cNvSpPr/>
              <p:nvPr/>
            </p:nvSpPr>
            <p:spPr>
              <a:xfrm>
                <a:off x="8120242" y="2351535"/>
                <a:ext cx="465373" cy="917916"/>
              </a:xfrm>
              <a:custGeom>
                <a:avLst/>
                <a:gdLst/>
                <a:ahLst/>
                <a:cxnLst/>
                <a:rect l="l" t="t" r="r" b="b"/>
                <a:pathLst>
                  <a:path w="465373" h="917916">
                    <a:moveTo>
                      <a:pt x="195807" y="917916"/>
                    </a:moveTo>
                    <a:lnTo>
                      <a:pt x="161786" y="868143"/>
                    </a:lnTo>
                    <a:lnTo>
                      <a:pt x="130752" y="816453"/>
                    </a:lnTo>
                    <a:lnTo>
                      <a:pt x="102814" y="763027"/>
                    </a:lnTo>
                    <a:lnTo>
                      <a:pt x="78070" y="708049"/>
                    </a:lnTo>
                    <a:lnTo>
                      <a:pt x="56603" y="651710"/>
                    </a:lnTo>
                    <a:lnTo>
                      <a:pt x="38490" y="594206"/>
                    </a:lnTo>
                    <a:lnTo>
                      <a:pt x="23793" y="535735"/>
                    </a:lnTo>
                    <a:lnTo>
                      <a:pt x="12562" y="476500"/>
                    </a:lnTo>
                    <a:lnTo>
                      <a:pt x="4838" y="416707"/>
                    </a:lnTo>
                    <a:lnTo>
                      <a:pt x="645" y="356564"/>
                    </a:lnTo>
                    <a:lnTo>
                      <a:pt x="0" y="296277"/>
                    </a:lnTo>
                    <a:lnTo>
                      <a:pt x="2904" y="236057"/>
                    </a:lnTo>
                    <a:lnTo>
                      <a:pt x="9347" y="176113"/>
                    </a:lnTo>
                    <a:lnTo>
                      <a:pt x="19307" y="116651"/>
                    </a:lnTo>
                    <a:lnTo>
                      <a:pt x="32749" y="57879"/>
                    </a:lnTo>
                    <a:lnTo>
                      <a:pt x="49628" y="0"/>
                    </a:lnTo>
                    <a:lnTo>
                      <a:pt x="366786" y="102710"/>
                    </a:lnTo>
                    <a:lnTo>
                      <a:pt x="355403" y="141744"/>
                    </a:lnTo>
                    <a:lnTo>
                      <a:pt x="346338" y="181381"/>
                    </a:lnTo>
                    <a:lnTo>
                      <a:pt x="339620" y="221483"/>
                    </a:lnTo>
                    <a:lnTo>
                      <a:pt x="335275" y="261911"/>
                    </a:lnTo>
                    <a:lnTo>
                      <a:pt x="333316" y="302524"/>
                    </a:lnTo>
                    <a:lnTo>
                      <a:pt x="333752" y="343183"/>
                    </a:lnTo>
                    <a:lnTo>
                      <a:pt x="336579" y="383745"/>
                    </a:lnTo>
                    <a:lnTo>
                      <a:pt x="341789" y="424070"/>
                    </a:lnTo>
                    <a:lnTo>
                      <a:pt x="349363" y="464019"/>
                    </a:lnTo>
                    <a:lnTo>
                      <a:pt x="359275" y="503453"/>
                    </a:lnTo>
                    <a:lnTo>
                      <a:pt x="371491" y="542235"/>
                    </a:lnTo>
                    <a:lnTo>
                      <a:pt x="385968" y="580231"/>
                    </a:lnTo>
                    <a:lnTo>
                      <a:pt x="402656" y="617309"/>
                    </a:lnTo>
                    <a:lnTo>
                      <a:pt x="421498" y="653341"/>
                    </a:lnTo>
                    <a:lnTo>
                      <a:pt x="442428" y="688201"/>
                    </a:lnTo>
                    <a:lnTo>
                      <a:pt x="465373" y="721769"/>
                    </a:lnTo>
                    <a:close/>
                  </a:path>
                </a:pathLst>
              </a:custGeom>
              <a:solidFill>
                <a:srgbClr val="B8926A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876339" y="2441258"/>
                <a:ext cx="5353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5D4E37"/>
                    </a:solidFill>
                    <a:latin typeface="Georgia"/>
                    <a:ea typeface="SimSun"/>
                    <a:cs typeface="Georgia"/>
                  </a:rPr>
                  <a:t>12TB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938689" y="2741295"/>
                <a:ext cx="4106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HBM3e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7048500" y="18097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64718" y="1828324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模型权重 60%（~3.4TB）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48500" y="20955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64718" y="21140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KV Cache 25%（~1.4TB）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048500" y="23812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B8926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64718" y="2399824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系统/激活 15%（~0.85TB）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1500" y="4333875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71500" y="433387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7712" y="4526756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BF16 全精度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618" y="4781074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需 ~3.4TB 显存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5019199"/>
              <a:ext cx="864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4× B300 单机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618" y="52573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性能无损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0570" y="550354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或 64× H100（8节点）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381500" y="4333875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381500" y="433387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57712" y="4526756"/>
              <a:ext cx="710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FP8 精度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59618" y="4781074"/>
              <a:ext cx="971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需 ~1.7TB 显存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59618" y="5019199"/>
              <a:ext cx="864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2× B300 单机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59618" y="5257324"/>
              <a:ext cx="877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8926A"/>
                  </a:solidFill>
                  <a:latin typeface="Arial"/>
                  <a:ea typeface="Microsoft YaHei"/>
                  <a:cs typeface="Arial"/>
                </a:rPr>
                <a:t>精度损失 &lt;1%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60570" y="55035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Kimi 原生支持 FP8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191500" y="4333875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91500" y="433387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67712" y="4526756"/>
              <a:ext cx="8998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NVFP4 量化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9618" y="4781074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需 ~850GB 显存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69618" y="5019199"/>
              <a:ext cx="829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1× B300 单机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69618" y="5257324"/>
              <a:ext cx="914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75B4A"/>
                  </a:solidFill>
                  <a:latin typeface="Arial"/>
                  <a:ea typeface="Microsoft YaHei"/>
                  <a:cs typeface="Arial"/>
                </a:rPr>
                <a:t>精度损失 ~3%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70570" y="5503545"/>
              <a:ext cx="1120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社区 NVFP4 量化版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28706" y="6260306"/>
              <a:ext cx="41345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B300 量产前：推荐 64× H100 + FP8 方案，性价比最优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539115" y="343852"/>
            <a:ext cx="11094720" cy="5466398"/>
            <a:chOff x="539115" y="343852"/>
            <a:chExt cx="11094720" cy="5466398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24110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三条部署路线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697926" y="458152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从消费级 Mac 到企业级集群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047750"/>
              <a:ext cx="3429000" cy="4762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477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943094" y="1419219"/>
              <a:ext cx="304813" cy="381013"/>
            </a:xfrm>
            <a:custGeom>
              <a:avLst/>
              <a:gdLst/>
              <a:ahLst/>
              <a:cxnLst/>
              <a:rect l="l" t="t" r="r" b="b"/>
              <a:pathLst>
                <a:path w="304813" h="381013">
                  <a:moveTo>
                    <a:pt x="266706" y="6"/>
                  </a:moveTo>
                  <a:cubicBezTo>
                    <a:pt x="286645" y="0"/>
                    <a:pt x="303216" y="15367"/>
                    <a:pt x="304711" y="35249"/>
                  </a:cubicBezTo>
                  <a:lnTo>
                    <a:pt x="304806" y="38106"/>
                  </a:lnTo>
                  <a:lnTo>
                    <a:pt x="304806" y="342906"/>
                  </a:lnTo>
                  <a:cubicBezTo>
                    <a:pt x="304813" y="362845"/>
                    <a:pt x="289446" y="379416"/>
                    <a:pt x="269564" y="380911"/>
                  </a:cubicBezTo>
                  <a:lnTo>
                    <a:pt x="266706" y="381006"/>
                  </a:lnTo>
                  <a:lnTo>
                    <a:pt x="38106" y="381006"/>
                  </a:lnTo>
                  <a:cubicBezTo>
                    <a:pt x="18168" y="381013"/>
                    <a:pt x="1597" y="365646"/>
                    <a:pt x="102" y="345764"/>
                  </a:cubicBezTo>
                  <a:lnTo>
                    <a:pt x="6" y="342906"/>
                  </a:lnTo>
                  <a:lnTo>
                    <a:pt x="6" y="38106"/>
                  </a:lnTo>
                  <a:cubicBezTo>
                    <a:pt x="0" y="18168"/>
                    <a:pt x="15367" y="1597"/>
                    <a:pt x="35249" y="102"/>
                  </a:cubicBezTo>
                  <a:lnTo>
                    <a:pt x="38106" y="6"/>
                  </a:lnTo>
                  <a:lnTo>
                    <a:pt x="266706" y="6"/>
                  </a:lnTo>
                  <a:close/>
                  <a:moveTo>
                    <a:pt x="152406" y="247656"/>
                  </a:moveTo>
                  <a:cubicBezTo>
                    <a:pt x="133592" y="247656"/>
                    <a:pt x="117595" y="261388"/>
                    <a:pt x="114744" y="279984"/>
                  </a:cubicBezTo>
                  <a:lnTo>
                    <a:pt x="114402" y="282918"/>
                  </a:lnTo>
                  <a:lnTo>
                    <a:pt x="114306" y="285756"/>
                  </a:lnTo>
                  <a:lnTo>
                    <a:pt x="114402" y="288614"/>
                  </a:lnTo>
                  <a:cubicBezTo>
                    <a:pt x="115952" y="309225"/>
                    <a:pt x="133653" y="324841"/>
                    <a:pt x="154296" y="323809"/>
                  </a:cubicBezTo>
                  <a:cubicBezTo>
                    <a:pt x="174940" y="322777"/>
                    <a:pt x="190995" y="305474"/>
                    <a:pt x="190483" y="284811"/>
                  </a:cubicBezTo>
                  <a:cubicBezTo>
                    <a:pt x="189970" y="264148"/>
                    <a:pt x="173075" y="247663"/>
                    <a:pt x="152406" y="247656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1878" y="198120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消费级体验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2286000"/>
              <a:ext cx="2286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165" y="2506028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Mac M 系列 + NVFP4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18" y="2799874"/>
              <a:ext cx="1106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MacBook M4 Pro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0118" y="301894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48GB 统一内存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0118" y="3304699"/>
              <a:ext cx="1213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社区 NVFP4 量化版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352377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精度损失约 3%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4000500"/>
              <a:ext cx="2667000" cy="476250"/>
            </a:xfrm>
            <a:prstGeom prst="roundRect">
              <a:avLst>
                <a:gd name="adj" fmla="val 20000"/>
              </a:avLst>
            </a:prstGeom>
            <a:solidFill>
              <a:srgbClr val="6B8E5A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20424" y="4045268"/>
              <a:ext cx="5311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B8E5A"/>
                  </a:solidFill>
                  <a:latin typeface="Georgia"/>
                  <a:ea typeface="SimSun"/>
                  <a:cs typeface="Georgia"/>
                </a:rPr>
                <a:t>~0 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4049" y="429244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已有硬件即可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4648200"/>
              <a:ext cx="2667000" cy="266700"/>
            </a:xfrm>
            <a:prstGeom prst="roundRect">
              <a:avLst>
                <a:gd name="adj" fmla="val 50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43141" y="4732020"/>
              <a:ext cx="1285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入门体验 · 学习研究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381500" y="1047750"/>
              <a:ext cx="3429000" cy="4762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10477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715000" y="1438275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95250" y="342900"/>
                  </a:moveTo>
                  <a:cubicBezTo>
                    <a:pt x="84729" y="342900"/>
                    <a:pt x="76200" y="334371"/>
                    <a:pt x="76200" y="323850"/>
                  </a:cubicBezTo>
                  <a:cubicBezTo>
                    <a:pt x="76200" y="313329"/>
                    <a:pt x="84729" y="304800"/>
                    <a:pt x="95250" y="304800"/>
                  </a:cubicBezTo>
                  <a:lnTo>
                    <a:pt x="114300" y="304800"/>
                  </a:lnTo>
                  <a:lnTo>
                    <a:pt x="114300" y="266700"/>
                  </a:ln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lnTo>
                    <a:pt x="342900" y="0"/>
                  </a:lnTo>
                  <a:cubicBezTo>
                    <a:pt x="363942" y="0"/>
                    <a:pt x="381000" y="17058"/>
                    <a:pt x="381000" y="38100"/>
                  </a:cubicBezTo>
                  <a:lnTo>
                    <a:pt x="381000" y="228600"/>
                  </a:lnTo>
                  <a:cubicBezTo>
                    <a:pt x="381000" y="249642"/>
                    <a:pt x="363942" y="266700"/>
                    <a:pt x="342900" y="266700"/>
                  </a:cubicBezTo>
                  <a:lnTo>
                    <a:pt x="266700" y="266700"/>
                  </a:lnTo>
                  <a:lnTo>
                    <a:pt x="266700" y="304800"/>
                  </a:lnTo>
                  <a:lnTo>
                    <a:pt x="285750" y="304800"/>
                  </a:lnTo>
                  <a:cubicBezTo>
                    <a:pt x="296271" y="304800"/>
                    <a:pt x="304800" y="313329"/>
                    <a:pt x="304800" y="323850"/>
                  </a:cubicBezTo>
                  <a:cubicBezTo>
                    <a:pt x="304800" y="334371"/>
                    <a:pt x="296271" y="342900"/>
                    <a:pt x="285750" y="342900"/>
                  </a:cubicBezTo>
                  <a:close/>
                  <a:moveTo>
                    <a:pt x="228600" y="266700"/>
                  </a:moveTo>
                  <a:lnTo>
                    <a:pt x="152400" y="266700"/>
                  </a:lnTo>
                  <a:lnTo>
                    <a:pt x="152400" y="304800"/>
                  </a:lnTo>
                  <a:lnTo>
                    <a:pt x="228600" y="30480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01878" y="198120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单机专业级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53000" y="2286000"/>
              <a:ext cx="2286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49165" y="2506028"/>
              <a:ext cx="17415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B300 NVL72 / H100 集群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0118" y="2799874"/>
              <a:ext cx="10642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FP8 精度 ~1.7TB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0118" y="301894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BF16 全精度 ~3.4TB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0118" y="3304699"/>
              <a:ext cx="13775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vLLM 0.9.1 原生支持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0118" y="3523774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TP=4 或 TP=8 部署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62500" y="4000500"/>
              <a:ext cx="2667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40588" y="4045268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~500万美元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94521" y="4292441"/>
              <a:ext cx="10029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年租赁 / 采购成本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762500" y="4648200"/>
              <a:ext cx="2667000" cy="2667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2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84132" y="4732020"/>
              <a:ext cx="14237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企业级部署 · 生产环境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91500" y="1047750"/>
              <a:ext cx="3429000" cy="4762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91500" y="1047750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505950" y="1450429"/>
              <a:ext cx="419100" cy="292722"/>
            </a:xfrm>
            <a:custGeom>
              <a:avLst/>
              <a:gdLst/>
              <a:ahLst/>
              <a:cxnLst/>
              <a:rect l="l" t="t" r="r" b="b"/>
              <a:pathLst>
                <a:path w="419100" h="292722">
                  <a:moveTo>
                    <a:pt x="172212" y="12706"/>
                  </a:moveTo>
                  <a:cubicBezTo>
                    <a:pt x="214027" y="0"/>
                    <a:pt x="260128" y="8439"/>
                    <a:pt x="293370" y="35109"/>
                  </a:cubicBezTo>
                  <a:cubicBezTo>
                    <a:pt x="319773" y="56217"/>
                    <a:pt x="335051" y="86277"/>
                    <a:pt x="336271" y="117786"/>
                  </a:cubicBezTo>
                  <a:lnTo>
                    <a:pt x="336328" y="121825"/>
                  </a:lnTo>
                  <a:lnTo>
                    <a:pt x="338061" y="121882"/>
                  </a:lnTo>
                  <a:cubicBezTo>
                    <a:pt x="381876" y="123920"/>
                    <a:pt x="416985" y="159239"/>
                    <a:pt x="419024" y="203225"/>
                  </a:cubicBezTo>
                  <a:lnTo>
                    <a:pt x="419100" y="207245"/>
                  </a:lnTo>
                  <a:cubicBezTo>
                    <a:pt x="419100" y="253098"/>
                    <a:pt x="383191" y="290532"/>
                    <a:pt x="338042" y="292627"/>
                  </a:cubicBezTo>
                  <a:lnTo>
                    <a:pt x="334042" y="292722"/>
                  </a:lnTo>
                  <a:lnTo>
                    <a:pt x="107766" y="292722"/>
                  </a:lnTo>
                  <a:lnTo>
                    <a:pt x="103537" y="292570"/>
                  </a:lnTo>
                  <a:cubicBezTo>
                    <a:pt x="47530" y="290474"/>
                    <a:pt x="2248" y="246869"/>
                    <a:pt x="95" y="192310"/>
                  </a:cubicBezTo>
                  <a:lnTo>
                    <a:pt x="0" y="188195"/>
                  </a:lnTo>
                  <a:cubicBezTo>
                    <a:pt x="0" y="135865"/>
                    <a:pt x="39624" y="92754"/>
                    <a:pt x="91135" y="85001"/>
                  </a:cubicBezTo>
                  <a:lnTo>
                    <a:pt x="93307" y="84696"/>
                  </a:lnTo>
                  <a:lnTo>
                    <a:pt x="94640" y="81248"/>
                  </a:lnTo>
                  <a:cubicBezTo>
                    <a:pt x="107271" y="50387"/>
                    <a:pt x="133807" y="25889"/>
                    <a:pt x="167583" y="14230"/>
                  </a:cubicBezTo>
                  <a:lnTo>
                    <a:pt x="172231" y="12706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61397" y="1981200"/>
              <a:ext cx="8892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云端 API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63000" y="2286000"/>
              <a:ext cx="2286000" cy="19050"/>
            </a:xfrm>
            <a:prstGeom prst="rect">
              <a:avLst/>
            </a:prstGeom>
            <a:solidFill>
              <a:srgbClr val="EDE5D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59165" y="2506028"/>
              <a:ext cx="1709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 OpenRouter / API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0118" y="2799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kimi-k3-0725 模型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60118" y="30189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无需任何硬件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60118" y="3304699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按 token 计费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60118" y="35237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适合开发测试阶段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72500" y="4000500"/>
              <a:ext cx="26670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60939" y="4045268"/>
              <a:ext cx="10901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~几千元/月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3803" y="42924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按用量弹性付费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572500" y="4648200"/>
              <a:ext cx="2667000" cy="266700"/>
            </a:xfrm>
            <a:prstGeom prst="roundRect">
              <a:avLst>
                <a:gd name="adj" fmla="val 50000"/>
              </a:avLst>
            </a:prstGeom>
            <a:solidFill>
              <a:srgbClr val="8B6F47">
                <a:alpha val="12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63141" y="4732020"/>
              <a:ext cx="12857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快速上手 · 灵活扩展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5238750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6B8E5A">
                <a:alpha val="6000"/>
              </a:srgbClr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83912" y="5356225"/>
              <a:ext cx="222876" cy="222250"/>
              <a:chOff x="783912" y="5356225"/>
              <a:chExt cx="222876" cy="2222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83912" y="5456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84238" y="53562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72824" y="5456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035" y="53840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46328" y="53840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62012" y="5534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3021" y="540067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128712" y="541258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推荐路线：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81212" y="5412581"/>
              <a:ext cx="4382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API 快速验证 → FP8 单机部署 → 按需扩展到 BF16 全精度集群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571500" y="343852"/>
            <a:ext cx="11049000" cy="6037898"/>
            <a:chOff x="571500" y="343852"/>
            <a:chExt cx="11049000" cy="6037898"/>
          </a:xfrm>
        </p:grpSpPr>
        <p:sp>
          <p:nvSpPr>
            <p:cNvPr id="3" name="TextBox 3"/>
            <p:cNvSpPr txBox="1"/>
            <p:nvPr/>
          </p:nvSpPr>
          <p:spPr>
            <a:xfrm>
              <a:off x="5085993" y="343852"/>
              <a:ext cx="2020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总结与判断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429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095375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09537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285875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7890" y="138398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55420" y="1364932"/>
              <a:ext cx="29264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 不是蒸馏，是架构创新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62088" y="1735931"/>
              <a:ext cx="41198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KDA 注意力 + Linear Tension + Moon Clip 三项原创技术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3040" y="2001202"/>
              <a:ext cx="34771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2.8 万亿参数 MoE · 训练效率 2.5 倍于同量级模型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524125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52412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57250" y="2714625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6261" y="281273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5420" y="2793682"/>
              <a:ext cx="25722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开源不是慈善，是战略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2088" y="3164681"/>
              <a:ext cx="4243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MoonEP + FlashKDA + AgentEnv 三件套，构建开发者生态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63040" y="3429952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Hugging Face 30 分钟登顶趋势榜 · 下载量超 113 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952875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395287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7250" y="4143375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6261" y="42414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55420" y="4222432"/>
              <a:ext cx="39512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中国 AI 正在系统性地改写全球格局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62088" y="4593431"/>
              <a:ext cx="44812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DeepSeek → Kimi K2 → K3，密度越来越高，不是一次，是趋势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63040" y="4858702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350 亿美元估值 · 资本用真金白银投票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905000" y="5524500"/>
              <a:ext cx="8382000" cy="857250"/>
            </a:xfrm>
            <a:prstGeom prst="roundRect">
              <a:avLst>
                <a:gd name="adj" fmla="val 17778"/>
              </a:avLst>
            </a:prstGeom>
            <a:solidFill>
              <a:srgbClr val="8B6F47">
                <a:alpha val="8000"/>
              </a:srgbClr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2222053" y="5746750"/>
              <a:ext cx="318395" cy="317500"/>
              <a:chOff x="2222053" y="5746750"/>
              <a:chExt cx="318395" cy="317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222053" y="588962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7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365375" y="5746750"/>
                <a:ext cx="31750" cy="48072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48072">
                    <a:moveTo>
                      <a:pt x="15875" y="0"/>
                    </a:moveTo>
                    <a:cubicBezTo>
                      <a:pt x="23923" y="1"/>
                      <a:pt x="30697" y="6025"/>
                      <a:pt x="31639" y="14018"/>
                    </a:cubicBezTo>
                    <a:lnTo>
                      <a:pt x="31750" y="15875"/>
                    </a:lnTo>
                    <a:lnTo>
                      <a:pt x="31750" y="31750"/>
                    </a:lnTo>
                    <a:cubicBezTo>
                      <a:pt x="31741" y="40149"/>
                      <a:pt x="25190" y="47088"/>
                      <a:pt x="16805" y="47580"/>
                    </a:cubicBezTo>
                    <a:cubicBezTo>
                      <a:pt x="8420" y="48072"/>
                      <a:pt x="1103" y="41948"/>
                      <a:pt x="111" y="33607"/>
                    </a:cubicBezTo>
                    <a:lnTo>
                      <a:pt x="0" y="31750"/>
                    </a:ln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491928" y="5889625"/>
                <a:ext cx="4852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8520" h="31750">
                    <a:moveTo>
                      <a:pt x="32197" y="0"/>
                    </a:moveTo>
                    <a:cubicBezTo>
                      <a:pt x="40597" y="9"/>
                      <a:pt x="47535" y="6560"/>
                      <a:pt x="48027" y="14945"/>
                    </a:cubicBezTo>
                    <a:cubicBezTo>
                      <a:pt x="48520" y="23330"/>
                      <a:pt x="42395" y="30647"/>
                      <a:pt x="34055" y="31639"/>
                    </a:cubicBezTo>
                    <a:lnTo>
                      <a:pt x="32197" y="31750"/>
                    </a:lnTo>
                    <a:lnTo>
                      <a:pt x="16322" y="31750"/>
                    </a:lnTo>
                    <a:cubicBezTo>
                      <a:pt x="7923" y="31741"/>
                      <a:pt x="984" y="25190"/>
                      <a:pt x="492" y="16805"/>
                    </a:cubicBezTo>
                    <a:cubicBezTo>
                      <a:pt x="0" y="8420"/>
                      <a:pt x="6124" y="1103"/>
                      <a:pt x="14465" y="111"/>
                    </a:cubicBezTo>
                    <a:lnTo>
                      <a:pt x="16322" y="0"/>
                    </a:lnTo>
                    <a:lnTo>
                      <a:pt x="32197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262229" y="5786457"/>
                <a:ext cx="45956" cy="46217"/>
              </a:xfrm>
              <a:custGeom>
                <a:avLst/>
                <a:gdLst/>
                <a:ahLst/>
                <a:cxnLst/>
                <a:rect l="l" t="t" r="r" b="b"/>
                <a:pathLst>
                  <a:path w="45956" h="46217">
                    <a:moveTo>
                      <a:pt x="6197" y="6220"/>
                    </a:moveTo>
                    <a:cubicBezTo>
                      <a:pt x="11853" y="565"/>
                      <a:pt x="20833" y="0"/>
                      <a:pt x="27152" y="4902"/>
                    </a:cubicBezTo>
                    <a:lnTo>
                      <a:pt x="28645" y="6220"/>
                    </a:lnTo>
                    <a:lnTo>
                      <a:pt x="39757" y="17332"/>
                    </a:lnTo>
                    <a:cubicBezTo>
                      <a:pt x="45666" y="23261"/>
                      <a:pt x="45956" y="32759"/>
                      <a:pt x="40420" y="39038"/>
                    </a:cubicBezTo>
                    <a:cubicBezTo>
                      <a:pt x="34884" y="45316"/>
                      <a:pt x="25424" y="46217"/>
                      <a:pt x="18802" y="41097"/>
                    </a:cubicBezTo>
                    <a:lnTo>
                      <a:pt x="17310" y="39780"/>
                    </a:lnTo>
                    <a:lnTo>
                      <a:pt x="6197" y="28667"/>
                    </a:lnTo>
                    <a:cubicBezTo>
                      <a:pt x="0" y="22468"/>
                      <a:pt x="0" y="12419"/>
                      <a:pt x="6197" y="622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454076" y="5786477"/>
                <a:ext cx="46435" cy="45958"/>
              </a:xfrm>
              <a:custGeom>
                <a:avLst/>
                <a:gdLst/>
                <a:ahLst/>
                <a:cxnLst/>
                <a:rect l="l" t="t" r="r" b="b"/>
                <a:pathLst>
                  <a:path w="46435" h="45958">
                    <a:moveTo>
                      <a:pt x="17550" y="6199"/>
                    </a:moveTo>
                    <a:cubicBezTo>
                      <a:pt x="23479" y="290"/>
                      <a:pt x="32977" y="0"/>
                      <a:pt x="39256" y="5536"/>
                    </a:cubicBezTo>
                    <a:cubicBezTo>
                      <a:pt x="45534" y="11072"/>
                      <a:pt x="46435" y="20532"/>
                      <a:pt x="41315" y="27154"/>
                    </a:cubicBezTo>
                    <a:lnTo>
                      <a:pt x="39998" y="28646"/>
                    </a:lnTo>
                    <a:lnTo>
                      <a:pt x="28885" y="39759"/>
                    </a:lnTo>
                    <a:cubicBezTo>
                      <a:pt x="22956" y="45667"/>
                      <a:pt x="13458" y="45958"/>
                      <a:pt x="7180" y="40421"/>
                    </a:cubicBezTo>
                    <a:cubicBezTo>
                      <a:pt x="901" y="34885"/>
                      <a:pt x="0" y="25426"/>
                      <a:pt x="5120" y="18804"/>
                    </a:cubicBezTo>
                    <a:lnTo>
                      <a:pt x="6438" y="17311"/>
                    </a:lnTo>
                    <a:lnTo>
                      <a:pt x="17550" y="619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333625" y="60007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79375" y="0"/>
                    </a:moveTo>
                    <a:cubicBezTo>
                      <a:pt x="88143" y="0"/>
                      <a:pt x="95250" y="7107"/>
                      <a:pt x="95250" y="15875"/>
                    </a:cubicBezTo>
                    <a:cubicBezTo>
                      <a:pt x="95250" y="42178"/>
                      <a:pt x="73928" y="63500"/>
                      <a:pt x="47625" y="63500"/>
                    </a:cubicBezTo>
                    <a:cubicBezTo>
                      <a:pt x="21322" y="63500"/>
                      <a:pt x="0" y="42178"/>
                      <a:pt x="0" y="15875"/>
                    </a:cubicBezTo>
                    <a:cubicBezTo>
                      <a:pt x="1" y="7827"/>
                      <a:pt x="6025" y="1053"/>
                      <a:pt x="14018" y="111"/>
                    </a:cubicBezTo>
                    <a:lnTo>
                      <a:pt x="15875" y="0"/>
                    </a:lnTo>
                    <a:lnTo>
                      <a:pt x="7937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277923" y="5810250"/>
                <a:ext cx="206654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206654" h="174625">
                    <a:moveTo>
                      <a:pt x="103327" y="0"/>
                    </a:moveTo>
                    <a:cubicBezTo>
                      <a:pt x="144325" y="0"/>
                      <a:pt x="180724" y="26235"/>
                      <a:pt x="193689" y="65129"/>
                    </a:cubicBezTo>
                    <a:cubicBezTo>
                      <a:pt x="206654" y="104024"/>
                      <a:pt x="193276" y="146851"/>
                      <a:pt x="160477" y="171450"/>
                    </a:cubicBezTo>
                    <a:cubicBezTo>
                      <a:pt x="158289" y="173093"/>
                      <a:pt x="155713" y="174143"/>
                      <a:pt x="153000" y="174498"/>
                    </a:cubicBezTo>
                    <a:lnTo>
                      <a:pt x="150952" y="174625"/>
                    </a:lnTo>
                    <a:lnTo>
                      <a:pt x="55702" y="174625"/>
                    </a:lnTo>
                    <a:cubicBezTo>
                      <a:pt x="52267" y="174625"/>
                      <a:pt x="48925" y="173511"/>
                      <a:pt x="46177" y="171450"/>
                    </a:cubicBezTo>
                    <a:cubicBezTo>
                      <a:pt x="13378" y="146851"/>
                      <a:pt x="0" y="104024"/>
                      <a:pt x="12965" y="65129"/>
                    </a:cubicBezTo>
                    <a:cubicBezTo>
                      <a:pt x="25930" y="26235"/>
                      <a:pt x="62328" y="0"/>
                      <a:pt x="103327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2743200" y="5743575"/>
              <a:ext cx="31204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 不只是月之暗面的里程碑，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43200" y="6029325"/>
              <a:ext cx="45121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它是中国 AI 开源生态走向全球第一的信号。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62000" y="285750"/>
            <a:ext cx="2286000" cy="2286000"/>
          </a:xfrm>
          <a:prstGeom prst="ellipse">
            <a:avLst/>
          </a:prstGeom>
          <a:solidFill>
            <a:srgbClr val="FAF7F2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858250" y="4095750"/>
            <a:ext cx="2857500" cy="2857500"/>
          </a:xfrm>
          <a:prstGeom prst="ellipse">
            <a:avLst/>
          </a:prstGeom>
          <a:solidFill>
            <a:srgbClr val="FAF7F2">
              <a:alpha val="3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4310634" y="1706880"/>
            <a:ext cx="3570732" cy="3284220"/>
            <a:chOff x="4310634" y="1706880"/>
            <a:chExt cx="3570732" cy="3284220"/>
          </a:xfrm>
        </p:grpSpPr>
        <p:sp>
          <p:nvSpPr>
            <p:cNvPr id="6" name="TextBox 6"/>
            <p:cNvSpPr txBox="1"/>
            <p:nvPr/>
          </p:nvSpPr>
          <p:spPr>
            <a:xfrm>
              <a:off x="4946142" y="1706880"/>
              <a:ext cx="2299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感谢观看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0" y="2286000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67715" y="2774632"/>
              <a:ext cx="2656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AI大家学 · 前沿AI认知篇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78230" y="3140392"/>
              <a:ext cx="2035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7F2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E01 · Kimi K3 深度解读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064125" y="3857625"/>
              <a:ext cx="349250" cy="285750"/>
            </a:xfrm>
            <a:custGeom>
              <a:avLst/>
              <a:gdLst/>
              <a:ahLst/>
              <a:cxnLst/>
              <a:rect l="l" t="t" r="r" b="b"/>
              <a:pathLst>
                <a:path w="349250" h="285750">
                  <a:moveTo>
                    <a:pt x="269875" y="0"/>
                  </a:moveTo>
                  <a:cubicBezTo>
                    <a:pt x="313713" y="0"/>
                    <a:pt x="349250" y="35537"/>
                    <a:pt x="349250" y="79375"/>
                  </a:cubicBezTo>
                  <a:lnTo>
                    <a:pt x="349250" y="206375"/>
                  </a:lnTo>
                  <a:cubicBezTo>
                    <a:pt x="349250" y="250213"/>
                    <a:pt x="313713" y="285750"/>
                    <a:pt x="269875" y="285750"/>
                  </a:cubicBezTo>
                  <a:lnTo>
                    <a:pt x="79375" y="285750"/>
                  </a:lnTo>
                  <a:cubicBezTo>
                    <a:pt x="35537" y="285750"/>
                    <a:pt x="0" y="250213"/>
                    <a:pt x="0" y="20637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  <a:moveTo>
                    <a:pt x="127000" y="95250"/>
                  </a:moveTo>
                  <a:lnTo>
                    <a:pt x="127000" y="190500"/>
                  </a:lnTo>
                  <a:cubicBezTo>
                    <a:pt x="127005" y="196215"/>
                    <a:pt x="130081" y="201487"/>
                    <a:pt x="135055" y="204303"/>
                  </a:cubicBezTo>
                  <a:cubicBezTo>
                    <a:pt x="140029" y="207118"/>
                    <a:pt x="146132" y="207043"/>
                    <a:pt x="151035" y="204105"/>
                  </a:cubicBezTo>
                  <a:lnTo>
                    <a:pt x="230410" y="156480"/>
                  </a:lnTo>
                  <a:cubicBezTo>
                    <a:pt x="235184" y="153609"/>
                    <a:pt x="238104" y="148446"/>
                    <a:pt x="238104" y="142875"/>
                  </a:cubicBezTo>
                  <a:cubicBezTo>
                    <a:pt x="238104" y="137304"/>
                    <a:pt x="235184" y="132141"/>
                    <a:pt x="230410" y="129270"/>
                  </a:cubicBezTo>
                  <a:lnTo>
                    <a:pt x="151035" y="81645"/>
                  </a:lnTo>
                  <a:cubicBezTo>
                    <a:pt x="146132" y="78707"/>
                    <a:pt x="140029" y="78632"/>
                    <a:pt x="135055" y="81447"/>
                  </a:cubicBezTo>
                  <a:cubicBezTo>
                    <a:pt x="130081" y="84263"/>
                    <a:pt x="127005" y="89535"/>
                    <a:pt x="127000" y="95250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00700" y="3886200"/>
              <a:ext cx="19473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关注 · 点赞 · 转发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10634" y="4299585"/>
              <a:ext cx="3570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下一集预告：大模型技术篇 · Agent 底层原理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86400" y="4914900"/>
              <a:ext cx="76200" cy="76200"/>
            </a:xfrm>
            <a:prstGeom prst="ellipse">
              <a:avLst/>
            </a:prstGeom>
            <a:solidFill>
              <a:srgbClr val="E8A87C">
                <a:alpha val="4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867400" y="4914900"/>
              <a:ext cx="76200" cy="76200"/>
            </a:xfrm>
            <a:prstGeom prst="ellipse">
              <a:avLst/>
            </a:prstGeom>
            <a:solidFill>
              <a:srgbClr val="FAF7F2">
                <a:alpha val="3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248400" y="4914900"/>
              <a:ext cx="76200" cy="76200"/>
            </a:xfrm>
            <a:prstGeom prst="ellipse">
              <a:avLst/>
            </a:prstGeom>
            <a:solidFill>
              <a:srgbClr val="E8A87C">
                <a:alpha val="4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629400" y="4914900"/>
              <a:ext cx="76200" cy="76200"/>
            </a:xfrm>
            <a:prstGeom prst="ellipse">
              <a:avLst/>
            </a:prstGeom>
            <a:solidFill>
              <a:srgbClr val="FAF7F2">
                <a:alpha val="30000"/>
              </a:srgbClr>
            </a:solidFill>
            <a:ln>
              <a:noFill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369570" y="6522720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AI大家学 · 前沿AI认知篇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AF7F2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