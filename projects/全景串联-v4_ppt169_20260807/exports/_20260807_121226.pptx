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2023 年，你说你会用 ChatGPT，你就是科技达人。2024 年，你说你会写 Prompt，你就是行业专家。2025 年，你说你懂 Agent，你就是技术大牛。2026 年，你打开 AI 圈，看到 Harness、OpenClaw、Hermes——这是啥？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名词层出不穷，每隔一段时间就蹦出来一个新的。LLM、Token、Embedding、RAG、Prompt、Agent、Skill、MCP、Harness、OpenClaw、Hermes……这些词大家或多或少可能听过一些，但你能准确说出它们的含义吗？能否区分它们跟我们日常用的 DeepSeek、豆包等软件有什么关系吗？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这几年 AI 名词涌现的速度太快了。原因除了大模型技术本身确实发展很快，还因为 AI 圈确实有一些风气——同一套大模型技术，这家改一改，那家包装一下，换个自家的高级名字，就能发论文、拉投资、上热搜。比如前段时间各家大厂搞的那个"养龙虾"——龙虾 OpenClaw 是个好用的开源 AI Agent 工具，结果热度起来了，各大厂都把自家 Agent 工具改名叫 XXClaw，硬生生炒成了一场全民养虾运动。今天这十几分钟就是要拨开这些商业炒作的迷雾，从最底层的技术视角出发，把这些概念的底层逻辑都讲清楚。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我们直接从最底层、最核心的 LLM 开始。LLM，全称 Large Language Model，大语言模型。你现在用的 DeepSeek、Qwen、Kimi、GPT 这些都是 LLM，底层全是用的 Transformer 这个基础架构。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的核心能力说出来其实挺朴素的——给一段文字，预测下一个最可能出现的词。举个具体例子，我给你一句话："今天天气真好，我们去公园——"你会填什么？"散步"、"玩"、"跑步"——都有可能。LLM 做的事情和你一样，只不过它不是在脑子里猜，而是通过一个复杂的数学函数，基于训练时看过的几千亿字的文本，算出每个候选词的概率。就这么简单？对，就这么简单。但这个"简单"的事情做到极致之后，涌现出来的能力是惊人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但这个"算概率"的过程，不是简单的统计。它靠的核心机制叫 Attention——注意力。再看一个例子："小明在北京参加了一场关于什么的学术研讨会。"要填这个空，模型不能只看"关于"后面的内容，它需要同时关注到"北京"和"学术研讨会"这两个关键信息。这个"同时看到并关联远距离信息"的能力，就是 Attention。所以你可以把 LLM 理解成：一个通过 Attention 机制来理解上下文关系，然后预测下一个词的概率机器。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那问题来了——Transformer 论文 2017 年就发了，为什么到 2022 年底 ChatGPT 才突然爆火？这不只是一个技术突破的故事，更是工程化落地创新的结果——五个因素叠加。第一层：自回归语言模型，让模型能学。第二层：海量无监督预训练，让它学得广。第三层：大量代码训练，让它学得深。第四层：有监督指令微调 SFT，让它会对话。第五层：RLHF 人类反馈强化学习，让它说得好。每一层解决一个不同的问题，叠在一起，产生了质变。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好，理解了 LLM 是什么之后，接下来我们看一个更底层的东西——模型是怎么"读"你的文字的。LLM 是"预测下一个词"的机器。但这里有个问题——模型不认识"字"，也不认识"词"，它认识的是 Token。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是什么？简单说就是模型把文本切成的碎片。看个真实的例子。我用 Qwen 的 Tokenizer 跑了一句话："我喜欢吃苹果"。你猜切成几个 Token？不是 5 个字，也不是 1 个词。它被切成了 6 个 Token：我、喜、欢、吃、苹、果。为什么这样切？因为 Token 的切分规则来自一个叫 BPE——字节对编码——的算法。BPE 的核心思想很简单：统计训练语料里哪些字符经常挨在一起出现，就把它们合并成一个 Token。比如"人工"出现得多就合并成"人工"，"人工智能"出现得也够多，还会进一步合并成一个完整的 Token。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不同模型的 Tokenizer 也不一样。同样是"我喜欢吃苹果"，GPT-4 把"喜欢"合并成了一个 Token，总共 5 个；而 Qwen 和 Claude 把"喜"和"欢"拆开了，总共 6 个。就是因为每个模型的训练数据不同，BPE 统计出来的高频组合不同，最终生成的词表也就不一样。GPT 的词表里有"喜欢"这个合并项，Qwen 的没有，就这么简单。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还直接决定了你的使用成本。所有大模型 API 都是按 Token 计费的。以 DeepSeek-V3 为例，输入 2 块钱一百万 Token，输出 8 块钱一百万 Token。你问了一句中文问题大概 50 个 Token，模型回了一段 500 个 Token 的回答，这一次调用不到半分钱。但如果你是做产品，每天 10 万次调用，一个月就是 12000 左右。另外要特别注意——同样的内容，中文消耗的 Token 数通常比英文多 1.5 到 2 倍，这也是中文场景下成本控制更重要的原因。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另外，Tokenizer 还会生成一些你看不到的特殊 Token。比如 bos 标记文本开头，eos 标记文本结束——模型看到这个就知道该停下来了，pad 用来补齐让不同长度的输入对齐。这些特殊 Token 不承载语义，但对模型的运行机制至关重要。比如模型生成回答时，就是不断预测下一个 Token，直到预测出 eos 才停止。好，现在我们知道模型通过 Token 来"读"文字了。那下一个问题就是——模型一次能"读"多少 Token？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这是很多人没意识到的一个关键点——大模型每次对话，都是"失忆"的。大模型没有"记忆"。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什么意思呢？你在 Kimi 里问了一个问题，它给你写好了。然后你接着追问，它也能改。看起来它"记住"了上一轮对话对吧？其实没有。真相是：你的客户端在每一轮对话时，都把前面所有的聊天记录重新发给了模型。模型每次收到的都是完整的对话历史，然后只生成最新一轮的回答。你看，第二轮请求里，第一轮的问题和回答全都在，一起重新发给模型。模型并不是"回忆"起了上一轮——它是重新"读"了一遍全部对话，然后回答最新的问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这就引出了两个概念：Context 上下文——你发给模型的这整段内容；Context Window 上下文窗口——模型一次能"读"的最大 Token 数量。现在主流模型的窗口大小：GPT-5.6 达到了 105 万 Token，Claude Opus 5 是 100 万 Token，Gemini 也到了 100 万级别。国内的 DeepSeek-V3 和 Kimi K3 是 128K。100 万 Token 差不多能一次性读完三四本书的内容。但要注意：模型对不同位置的注意力是不均匀的，并不是窗口里的每个 Token 都能被同等关注。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你可能还注意到一个现象：跟 AI 聊天的时候，前几轮回复很快，聊久了越来越慢。这不是你的错觉。原因是模型在处理每一轮 Context 时，会为每个 Token 计算一对 Key-Value 中间结果，叫做 KV Cache。第一轮只需要算 100 个 Token 的 KV Cache，第二轮要算 300 个，到了第十轮可能要算 5000 个。KV Cache 要占显存，而且整体管理的开销也在增长。这就是为什么超长上下文的推理成本非常高——不是模型变笨了，是"记忆"的物理代价在增长。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理解了模型每次都在重新"读"你的全部对话之后，一个很自然的问题就是——你往这个 Context 里放什么内容，直接决定了模型回答的质量。你发给模型的这整段输入文字，就叫 Prompt。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同样的模型，不同的问法，效果差距巨大。你说"帮我写个排序算法"，模型可能给你冒泡排序、给你插入排序、给你解释什么是排序——不确定。但如果你说"用 Python 实现快速排序，输入是整数列表，要求原地排序，返回升序结果，时间复杂度 O(n log n)"，这个结果就很确定了。为什么？因为你在 Prompt 里放了更多的约束条件，相当于缩小了模型预测下一个词时的搜索空间。所谓 Prompt Engineering，说白了就是研究怎么把你的需求说得更精确、更结构化。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这里面有两个非常实用的技巧。第一个叫 Few-shot——少样本学习。在 Prompt 里给模型几个示范，它就能照着来。比如给两个翻译例子，模型就知道你要翻译，直接输出结果。第二个叫 CoT——Chain of Thought，思维链。让模型"一步步想"，而不是直接给答案。就是在问题前面加一句"请一步一步思考"，准确率就能从 17.7% 飙升到 78.7%。为什么？因为直接回答时模型在"猜最终答案"，而 CoT 让模型在"推理每一步"——推理比猜测容易得多。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给你一个很实用的技巧——如果你有一段很长的背景资料要喂给模型，记得把核心问题或指令放在最前面或最后面，别夹在中间。有研究发现，放在中间的信息，模型最容易"走神"，开头和结尾的信息模型能准确回答。这个现象叫"Lost in the Middle"。128K 不等于完美处理 128K，受限于大模型现在的位置编码设计，还没有完美解决办法，先记住这个技巧就行。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但你有没有发现一个问题——每次对话你都得重新说一遍"我要 Python"、"我要简洁的代码"？能不能一次性设好？能。在 API 调用里，消息有个字段叫 role，可以是 user、assistant、还有一种叫 system。System 消息放在最前面，就是你给模型设的"人设"和"规矩"。它就像给新员工发的内部手册——你是谁、你的边界在哪里、你不能做什么。这里我要说一个很多开发者都不知道的事情：从技术实现上看，System Prompt 和 User Prompt 没有本质区别。它们都是 Token，都进入同一个 Context Window。System Prompt 就是一个被放在最前面的、优先级更高的 Prompt。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Prompt 到 System Prompt，你大概已经发现我们一直在做同一件事——想办法往 Context Window 里塞更好的信息。但不管你怎么塞，再大的窗口终究有限。那怎么办？要回答这个问题，我们先学一个关键的基础技术——Embedding。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还记得 Token 吗？Token 只是一串数字编号，这个编号本身不包含任何语义信息。那模型怎么知道"苹果"和"水果"很接近，而和"汽车"差很远？答案是 Embedding——向量嵌入。Embedding 做的事情是把每个 Token 映射成高维空间里的坐标点。语义越接近的词，在空间里的距离越近。实际维度是 1536 维，这里简化成二维方便理解。这些 Embedding 是怎么训练出来的？核心方法叫对比学习——把语义相似的文本对在向量空间里拉近，把语义不相似的文本对推远。Embedding 不只是用在模型内部，它还是一个极其重要的外部工具——语义搜索就是建立在 Embedding 之上的。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 Embedding，接下来就可以解决一个很现实的问题——怎么让 AI 访问它训练时没见过的知识？答案就是 RAG——Retrieval-Augmented Generation，检索增强生成。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的思路非常直白：让 AI 先查资料，再回答。具体分三步走。第一步：建库。把所有文档切成小段，通过 Embedding 模型把每段变成一个向量，存进向量数据库。向量数据库存的不是文字，而是向量，靠向量距离来搜索。第二步：检索。用户提了一个问题，先把问题也变成向量，然后去向量数据库里找语义最接近的几段文档。第三步：生成。把检索到的文档塞进 Context Window，连同用户的问题一起发给 LLM，让它基于参考资料来回答。整个流程一句话总结：RAG = 搜索引擎 + 大模型。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 RAG 和 Fine-tuning 微调有什么区别？这是经常被问到的问题。简单说，RAG 像开卷考试——给你参考资料，你照着回答。成本低、可以随时更新资料、有引用来源。Fine-tuning 像上课学习——用你的数据继续训练模型，把知识"烧进"模型权重里。回答更快更自然，但成本高，更新知识得重新训练。实际项目中，两者经常结合使用：用 Fine-tuning 让模型学会你的行业术语和表达风格，用 RAG 提供具体的事实信息。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好，到现在为止我们讲的都是怎么让 AI 更好地"说"——理解知识、检索资料、生成回答。但在实际工作中，光会说还不够，我们还需要 AI 能做事。接下来进入 Function Calling 的世界。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天生是不会查天气、读文件的。它就是个文本预测机器，你让它查天气，它只能"编"一个温度出来。那怎么办？答案是 Function Calling——函数调用。给模型描述它有哪些"工具"可以用，让它在需要的时候输出一个结构化的调用指令，由你的程序去真正执行，然后把结果喂回给模型。整个流程就是：用户提问、模型判断要调工具、输出调用指令、程序执行、结果回传、模型生成最终回答。模型自己不会查天气，它只是学会了"在合适的时候调用工具"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这里有一个关键的问题——模型怎么知道什么时候该调工具、调哪个、参数填什么？这不是天生的，是训出来的。大模型在预训练之后，还有一个指令微调 SFT 的阶段。开发者会构造大量对话数据——用户问了一件事、assistant 输出 tool_calls、tool 返回结果、assistant 再总结——然后让模型学习这种模式。模型看了成千上万条这样的数据对，通过 SFT 学会了三件事：什么时候该调工具、该调哪个工具、参数怎么填。所以 Tool 能力的本质是：用结构化的对话数据，通过指令微调教会模型在合适的时机输出特定格式的调用指令。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 解决了"模型能调工具"的问题。但新的问题来了——每个 AI 应用对接每个工具，格式还都不一样。这就像 USB 接口混乱的年代，每个手机一个充电口。MCP 就是来统一标准的。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MCP，全称 Model Context Protocol，是 Anthropic 2024 年底提出的开放协议。给 AI 连接外部工具定了一套通用规矩。没有 MCP 之前，4 个 AI 应用对接 4 个工具，需要 16 个对接——这就是 N 乘 M 的适配地狱。有了 MCP 之后，只需要 4 加 4 等于 8 个对接——每加一个工具或 AI，只需对接一次。类比 USB 标准——以前每个设备一根专用线，USB 之后所有设备共用一个接口。MCP 就是 AI 工具世界的 USB。到 2025 年它已经成为行业事实标准，几乎所有 AI 工具都支持 MCP。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好，到现在为止，所有流程都是你说一句，模型做一步。它不会自己决定下一步该干什么。接下来讲的 Agent，就是把这最后一步也自动化了。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的核心是一个循环：观察当前状态、思考该做什么、执行动作、观察结果、再思考……这个循环有一个学术名字，叫 ReAct 模式——Reasoning + Acting。举个具体场景，你让 Agent 帮你写周报。循环 1：需要知道本周做了什么，读取日历和 Git 记录。循环 2：需要分类整理，按项目归类生成大纲。循环 3：需要写成文档，生成周报 Markdown。循环 4：需要发给老板，发送邮件。任务完成。每个循环都是一次 Think、Act、Observe，直到 Agent 判断任务完成。Agent 并不是一项单独的新技术，它是把前面讲的 LLM 推理、工具调用、上下文记忆组合成一个自动循环。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能自主干活了，但你很快会发现一个问题——每次遇到类似的任务，它都要从头"想"一遍该怎么做。接下来讲一个让 Agent 有"经验"可用的组件。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 就是把这些"最佳实践"封装成可复用的标准化模块。你可以把 Skill 理解成一本操作手册。Agent 就像是一个全能型员工，基础能力很强，但不知道怎么生成一份专业 PPT。Skill 就是一本岗位培训手册——告诉它工作流程、规范约束、工具调用方式。Agent 读完就知道该怎么干活。比如你现在用的 ppt-master 就是一个 Skill！它教会 Claude 怎么一步步生成 42 页 PPT。Skill 和 Prompt 的关系——Prompt 是你临时写的，Skill 是预先封装好、反复使用的。如果说 Prompt 是即兴发言，Skill 就是排练过的演讲稿。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只是 Harness 的一个组件。有了 Skill，Agent 有经验可用；但要让 Agent 真正稳定可靠地跑起来，还缺一整套系统。这就是 Harness Engineering。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听起来很美好对吧？但实际用起来你会发现一个大问题——不稳定。同一个任务，跑一次成功了，跑一次失败了。这不是模型不够聪明的问题——是模型周围的环境没搭好。Harness Engineering 就是模型以外的一切。Anthropic 把它拆成了六个部分：System Prompt 人设规则、Memory 记忆管理、Tools 工具调用、Skills 技能系统、Hooks 钩子检查、Sub-agents 子代理。前四个决定了 Agent 能做什么，后两个决定了它做得稳不稳。同一个 LLM，配上简陋的 Harness 可能删掉你的数据库；配上精心设计的 Harness 就是可靠的生产力工具。模型没变，变的是 Harness。Claude Code 就是一个完整的 Harness 实例。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让我们回顾一下 AI 的进化路线。2023 年 ChatGPT 时代，问答式交互，一次问一次答。2024 年 Function Calling 时代，学会调用工具，RAG 检索增强。2025 年 Agent 时代，自主规划任务，MCP 统一接口，ReAct 循环执行。2026 年 Harness 时代，Vibe Coding，多 Agent 协作，Skill 按需加载。进化方向很清楚：被动回答、工具调用、自主任务、系统工程化协作。人类的角色从"写代码"变成了"做决策"。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最后讲三个 2026 年最新的东西，帮你把视野拉到最前沿。OpenClaw、Hermes、Vibe Coding。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第一个是 OpenClaw——开源 Agent 基础设施联盟。阿里、腾讯、字节等联合发起，统一 Agent 工具协议和标准。上线第二天就突破 10 万 Stars，三个月超过 Linux 成为 GitHub 历史 Star 数第一。它证明了 Agent 从实验室 Demo 到日常生产力工具这条路已经走通了。第二个是 Hermes——Agent 间通信协议。让多个 Agent 互相沟通、协作完成更复杂的任务。最大的亮点是自我学习循环——Agent 在执行任务的过程中自动总结经验、生成新的 Skill。第三个是 Vibe Coding——氛围编程。你不再写代码，你只是用自然语言描述你想要什么，AI 直接帮你生成整个项目。配合 Claude Code、Cursor 这些工具，一个人就能干过去一个小团队的活。共同趋势是：AI 从"工具"变成"同事"。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好，最后我把今天讲的所有概念用一张图串起来。从底层的 LLM 只会猜词，Token 定义阅读粒度，Embedding 赋予语义坐标，Context 管理信息容量，Prompt 决定输入质量，RAG 检索外部知识，Tool 让 AI 行动，MCP 统一接口标准，Agent 自主循环，Skill 封装经验，Harness 驾驭一切。每一个层级都在解决上一个层级的瓶颈。从"猜下一个字"到"自主完成一个项目"，这不是一堆名词的堆砌，而是每一层都在解决上一层解决不了的问题。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理解这条链，你以后看任何 AI 新闻都不再是碎片。从 Token 到 Agent，你已经掌握了 AI 的全景地图。LLM 预测下一个词，Token 是阅读单位，Embedding 赋予语义，RAG 检索真实信息，Tool 让 AI 行动，Agent 自主完成任务，Harness 驾驭一切——你就是那个指挥 AI 的人。关注 AI大家学，下一期 VibeCoding 实战见！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497330" y="1710690"/>
            <a:ext cx="7476173" cy="3442335"/>
            <a:chOff x="1497330" y="1710690"/>
            <a:chExt cx="7476173" cy="3442335"/>
          </a:xfrm>
        </p:grpSpPr>
        <p:sp>
          <p:nvSpPr>
            <p:cNvPr id="3" name="TextBox 3"/>
            <p:cNvSpPr txBox="1"/>
            <p:nvPr/>
          </p:nvSpPr>
          <p:spPr>
            <a:xfrm>
              <a:off x="1501140" y="1710690"/>
              <a:ext cx="6000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2023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你说你会用 ChatGPT，你就是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科技达人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501140" y="2567940"/>
              <a:ext cx="590816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2024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你说你会写 Prompt，你就是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行业专家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01140" y="3425190"/>
              <a:ext cx="54481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2025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你说你懂 Agent，你就是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技术大牛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497330" y="4282440"/>
              <a:ext cx="7476173" cy="870585"/>
              <a:chOff x="1497330" y="4282440"/>
              <a:chExt cx="7476173" cy="87058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501140" y="4282440"/>
                <a:ext cx="74723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B7D6B"/>
                    </a:solidFill>
                    <a:latin typeface="Consolas"/>
                    <a:ea typeface="Microsoft YaHei"/>
                    <a:cs typeface="Consolas"/>
                  </a:rPr>
                  <a:t>2026 年，</a:t>
                </a:r>
                <a:r>
                  <a:rPr lang="zh-CN" sz="1800" dirty="0">
                    <a:solidFill>
                      <a:srgbClr val="FAF7F2"/>
                    </a:solidFill>
                    <a:latin typeface="Consolas"/>
                    <a:ea typeface="Microsoft YaHei"/>
                    <a:cs typeface="Consolas"/>
                  </a:rPr>
                  <a:t>你打开 AI 圈，看到</a:t>
                </a:r>
                <a:r>
                  <a:rPr lang="zh-CN" sz="1800" b="1" dirty="0">
                    <a:solidFill>
                      <a:srgbClr val="E8A87C"/>
                    </a:solidFill>
                    <a:latin typeface="Consolas"/>
                    <a:ea typeface="Microsoft YaHei"/>
                    <a:cs typeface="Consolas"/>
                  </a:rPr>
                  <a:t xml:space="preserve"> Harness、OpenClaw、Hermes</a:t>
                </a:r>
                <a:r>
                  <a:rPr lang="zh-CN" sz="1800" dirty="0">
                    <a:solidFill>
                      <a:srgbClr val="FAF7F2"/>
                    </a:solidFill>
                    <a:latin typeface="Consolas"/>
                    <a:ea typeface="Microsoft YaHei"/>
                    <a:cs typeface="Consolas"/>
                  </a:rPr>
                  <a:t>——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97330" y="4726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A87C"/>
                    </a:solidFill>
                    <a:latin typeface="Consolas"/>
                    <a:ea typeface="Microsoft YaHei"/>
                    <a:cs typeface="Consolas"/>
                  </a:rPr>
                  <a:t>这是啥？</a:t>
                </a:r>
              </a:p>
            </p:txBody>
          </p:sp>
        </p:grpSp>
        <p:sp>
          <p:nvSpPr>
            <p:cNvPr id="9" name="Rectangle 9"/>
            <p:cNvSpPr/>
            <p:nvPr/>
          </p:nvSpPr>
          <p:spPr>
            <a:xfrm>
              <a:off x="2809875" y="4743450"/>
              <a:ext cx="133350" cy="266700"/>
            </a:xfrm>
            <a:prstGeom prst="rect">
              <a:avLst/>
            </a:prstGeom>
            <a:solidFill>
              <a:srgbClr val="FAF7F2">
                <a:alpha val="80000"/>
              </a:srgbClr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760136" y="6522720"/>
            <a:ext cx="62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81000" y="-571500"/>
            <a:ext cx="11811000" cy="7620000"/>
            <a:chOff x="381000" y="-571500"/>
            <a:chExt cx="11811000" cy="7620000"/>
          </a:xfrm>
        </p:grpSpPr>
        <p:sp>
          <p:nvSpPr>
            <p:cNvPr id="3" name="Ellipse 3"/>
            <p:cNvSpPr/>
            <p:nvPr/>
          </p:nvSpPr>
          <p:spPr>
            <a:xfrm>
              <a:off x="8763000" y="-571500"/>
              <a:ext cx="3429000" cy="3429000"/>
            </a:xfrm>
            <a:prstGeom prst="ellipse">
              <a:avLst/>
            </a:prstGeom>
            <a:solidFill>
              <a:srgbClr val="E8A87C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" y="4381500"/>
              <a:ext cx="2667000" cy="2667000"/>
            </a:xfrm>
            <a:prstGeom prst="ellipse">
              <a:avLst/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466921" y="1564958"/>
            <a:ext cx="9258157" cy="1144904"/>
            <a:chOff x="1466921" y="1564958"/>
            <a:chExt cx="9258157" cy="1144904"/>
          </a:xfrm>
        </p:grpSpPr>
        <p:sp>
          <p:nvSpPr>
            <p:cNvPr id="6" name="TextBox 6"/>
            <p:cNvSpPr txBox="1"/>
            <p:nvPr/>
          </p:nvSpPr>
          <p:spPr>
            <a:xfrm>
              <a:off x="1466921" y="1564958"/>
              <a:ext cx="925815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从 GPT、DeepSeek 到 OpenClaw、Hermes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20764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95420" y="2374582"/>
              <a:ext cx="28011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一期视频打通 AI 底层逻辑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66875" y="3143250"/>
            <a:ext cx="8191500" cy="876300"/>
            <a:chOff x="1666875" y="3143250"/>
            <a:chExt cx="8191500" cy="876300"/>
          </a:xfrm>
        </p:grpSpPr>
        <p:sp>
          <p:nvSpPr>
            <p:cNvPr id="10" name="Rectangle 10"/>
            <p:cNvSpPr/>
            <p:nvPr/>
          </p:nvSpPr>
          <p:spPr>
            <a:xfrm>
              <a:off x="1666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855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1937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326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31432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30791" y="325850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0062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35448" y="32585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53125" y="31432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34255" y="32585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9612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9001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143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50520" y="3258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Skill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963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50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09875" y="36766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10451" y="3791902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Harness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48125" y="36766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9969" y="3791902"/>
              <a:ext cx="7593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OpenClaw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81625" y="36766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62755" y="37919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Hermes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24625" y="36766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1337" y="3791902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Vibe Coding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48625" y="36766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07584" y="3791902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65438" y="4823460"/>
            <a:ext cx="3661124" cy="515302"/>
            <a:chOff x="4265438" y="4823460"/>
            <a:chExt cx="3661124" cy="515302"/>
          </a:xfrm>
        </p:grpSpPr>
        <p:sp>
          <p:nvSpPr>
            <p:cNvPr id="37" name="TextBox 37"/>
            <p:cNvSpPr txBox="1"/>
            <p:nvPr/>
          </p:nvSpPr>
          <p:spPr>
            <a:xfrm>
              <a:off x="4678680" y="48234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这些词你能准确说出它们的含义吗？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5438" y="5125402"/>
              <a:ext cx="3661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能否区分它们跟 DeepSeek、豆包等软件有什么关系？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571500" y="952500"/>
            <a:ext cx="10858500" cy="5019675"/>
            <a:chOff x="571500" y="952500"/>
            <a:chExt cx="10858500" cy="5019675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952500"/>
              <a:ext cx="4572000" cy="3810000"/>
              <a:chOff x="571500" y="952500"/>
              <a:chExt cx="4572000" cy="3810000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571500" y="952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" name="Rectangle 4"/>
              <p:cNvSpPr/>
              <p:nvPr/>
            </p:nvSpPr>
            <p:spPr>
              <a:xfrm>
                <a:off x="571500" y="952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96290" y="11249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阿里云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94385" y="1375410"/>
                <a:ext cx="32232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阿里Claw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，一键部署AI Agent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8195" y="1664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2026年3月 · 科技新闻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571500" y="22860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2860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6290" y="24584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腾讯云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4385" y="2708910"/>
                <a:ext cx="28460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腾讯Claw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，企业级AI助手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8195" y="29984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2026年3月 · 科技新闻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71500" y="3619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3619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96290" y="37919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字节跳动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4385" y="4042410"/>
                <a:ext cx="28736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字节Claw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，全民养虾时代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8195" y="4331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2026年4月 · 科技新闻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905500" y="1143000"/>
              <a:ext cx="5524500" cy="2857500"/>
              <a:chOff x="5905500" y="1143000"/>
              <a:chExt cx="5524500" cy="2857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905500" y="1143000"/>
                <a:ext cx="5524500" cy="2857500"/>
              </a:xfrm>
              <a:prstGeom prst="roundRect">
                <a:avLst>
                  <a:gd name="adj" fmla="val 5333"/>
                </a:avLst>
              </a:prstGeom>
              <a:noFill/>
              <a:ln w="19050">
                <a:solidFill>
                  <a:srgbClr val="8B7D6B"/>
                </a:solidFill>
                <a:prstDash val="lgDash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76461" y="2219325"/>
                <a:ext cx="15825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OpenClaw Logo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83498" y="2553652"/>
                <a:ext cx="13685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🦞 开源AI Agent工具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362950" y="2870244"/>
                <a:ext cx="304800" cy="406356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6356">
                    <a:moveTo>
                      <a:pt x="114300" y="25356"/>
                    </a:moveTo>
                    <a:cubicBezTo>
                      <a:pt x="114300" y="8592"/>
                      <a:pt x="134417" y="0"/>
                      <a:pt x="146533" y="11601"/>
                    </a:cubicBezTo>
                    <a:cubicBezTo>
                      <a:pt x="183832" y="47339"/>
                      <a:pt x="205511" y="125806"/>
                      <a:pt x="179870" y="185337"/>
                    </a:cubicBezTo>
                    <a:lnTo>
                      <a:pt x="178346" y="188652"/>
                    </a:lnTo>
                    <a:lnTo>
                      <a:pt x="178575" y="188709"/>
                    </a:lnTo>
                    <a:cubicBezTo>
                      <a:pt x="190481" y="191243"/>
                      <a:pt x="201492" y="180518"/>
                      <a:pt x="222447" y="147314"/>
                    </a:cubicBezTo>
                    <a:lnTo>
                      <a:pt x="225114" y="143046"/>
                    </a:lnTo>
                    <a:cubicBezTo>
                      <a:pt x="228247" y="138003"/>
                      <a:pt x="233552" y="134709"/>
                      <a:pt x="239462" y="134138"/>
                    </a:cubicBezTo>
                    <a:cubicBezTo>
                      <a:pt x="245371" y="133566"/>
                      <a:pt x="251210" y="135782"/>
                      <a:pt x="255251" y="140132"/>
                    </a:cubicBezTo>
                    <a:cubicBezTo>
                      <a:pt x="280664" y="167469"/>
                      <a:pt x="304800" y="223514"/>
                      <a:pt x="304800" y="259575"/>
                    </a:cubicBezTo>
                    <a:cubicBezTo>
                      <a:pt x="304800" y="340824"/>
                      <a:pt x="236391" y="406356"/>
                      <a:pt x="152400" y="406356"/>
                    </a:cubicBezTo>
                    <a:cubicBezTo>
                      <a:pt x="68409" y="406356"/>
                      <a:pt x="0" y="340824"/>
                      <a:pt x="0" y="259556"/>
                    </a:cubicBezTo>
                    <a:cubicBezTo>
                      <a:pt x="0" y="216656"/>
                      <a:pt x="19469" y="169716"/>
                      <a:pt x="50140" y="139522"/>
                    </a:cubicBezTo>
                    <a:lnTo>
                      <a:pt x="61665" y="128302"/>
                    </a:lnTo>
                    <a:cubicBezTo>
                      <a:pt x="66256" y="123806"/>
                      <a:pt x="69933" y="120110"/>
                      <a:pt x="73438" y="116415"/>
                    </a:cubicBezTo>
                    <a:cubicBezTo>
                      <a:pt x="100679" y="87611"/>
                      <a:pt x="114300" y="60712"/>
                      <a:pt x="114300" y="25356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3658624" y="5378768"/>
              <a:ext cx="4874752" cy="593407"/>
              <a:chOff x="3658624" y="5378768"/>
              <a:chExt cx="4874752" cy="59340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3658624" y="5378768"/>
                <a:ext cx="487475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各家改个名字也叫 </a:t>
                </a:r>
                <a:r>
                  <a:rPr lang="zh-CN" sz="135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XXClaw</a:t>
                </a:r>
                <a:r>
                  <a:rPr lang="zh-CN" sz="13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，硬生生炒成了全民养虾运动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28160" y="5728335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今天从最底层的技术视角，把这些概念讲清楚</a:t>
                </a: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62000" y="190500"/>
            <a:ext cx="11144250" cy="7239000"/>
            <a:chOff x="762000" y="190500"/>
            <a:chExt cx="11144250" cy="7239000"/>
          </a:xfrm>
        </p:grpSpPr>
        <p:sp>
          <p:nvSpPr>
            <p:cNvPr id="3" name="Ellipse 3"/>
            <p:cNvSpPr/>
            <p:nvPr/>
          </p:nvSpPr>
          <p:spPr>
            <a:xfrm>
              <a:off x="8096250" y="3619500"/>
              <a:ext cx="3810000" cy="3810000"/>
            </a:xfrm>
            <a:prstGeom prst="ellipse">
              <a:avLst/>
            </a:prstGeom>
            <a:solidFill>
              <a:srgbClr val="FAF7F2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62000" y="190500"/>
              <a:ext cx="2286000" cy="2286000"/>
            </a:xfrm>
            <a:prstGeom prst="ellipse">
              <a:avLst/>
            </a:prstGeom>
            <a:solidFill>
              <a:srgbClr val="FAF7F2">
                <a:alpha val="4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654171" y="1504950"/>
            <a:ext cx="4883658" cy="3238500"/>
            <a:chOff x="3654171" y="1504950"/>
            <a:chExt cx="4883658" cy="3238500"/>
          </a:xfrm>
        </p:grpSpPr>
        <p:sp>
          <p:nvSpPr>
            <p:cNvPr id="6" name="TextBox 6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4171" y="281749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LLM — 大语言模型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05275" y="3933825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给一段文字，预测下一个最可能出现的词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838422" y="4457700"/>
              <a:ext cx="286556" cy="285750"/>
              <a:chOff x="5838422" y="4457700"/>
              <a:chExt cx="286556" cy="285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838422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7412" y="44577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81310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874581" y="44934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47243" y="44934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38838" y="46863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88706" y="45148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1" name="Group 21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9" name="TextBox 19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9115" y="343852"/>
            <a:ext cx="4816014" cy="518160"/>
            <a:chOff x="539115" y="343852"/>
            <a:chExt cx="4816014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816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LLM 的核心：预测下一个词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962400" y="1428750"/>
            <a:ext cx="5276850" cy="514350"/>
            <a:chOff x="3962400" y="1428750"/>
            <a:chExt cx="5276850" cy="514350"/>
          </a:xfrm>
        </p:grpSpPr>
        <p:sp>
          <p:nvSpPr>
            <p:cNvPr id="6" name="TextBox 6"/>
            <p:cNvSpPr txBox="1"/>
            <p:nvPr/>
          </p:nvSpPr>
          <p:spPr>
            <a:xfrm>
              <a:off x="3962400" y="1455420"/>
              <a:ext cx="4267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今天天气真好，我们去公园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286750" y="1428750"/>
              <a:ext cx="952500" cy="419100"/>
            </a:xfrm>
            <a:prstGeom prst="roundRect">
              <a:avLst>
                <a:gd name="adj" fmla="val 18182"/>
              </a:avLst>
            </a:prstGeom>
            <a:noFill/>
            <a:ln w="23812">
              <a:solidFill>
                <a:srgbClr val="E8A87C"/>
              </a:solidFill>
              <a:prstDash val="lgDash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3298" y="1487805"/>
              <a:ext cx="55940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05000" y="2667000"/>
            <a:ext cx="8761333" cy="1524000"/>
            <a:chOff x="1905000" y="2667000"/>
            <a:chExt cx="8761333" cy="1524000"/>
          </a:xfrm>
        </p:grpSpPr>
        <p:grpSp>
          <p:nvGrpSpPr>
            <p:cNvPr id="14" name="Group 14"/>
            <p:cNvGrpSpPr/>
            <p:nvPr/>
          </p:nvGrpSpPr>
          <p:grpSpPr>
            <a:xfrm>
              <a:off x="1905000" y="2667000"/>
              <a:ext cx="2095500" cy="1524000"/>
              <a:chOff x="1905000" y="2667000"/>
              <a:chExt cx="2095500" cy="1524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905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04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散步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14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45%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78430" y="39033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最高概率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572000" y="2667000"/>
              <a:ext cx="2095500" cy="1524000"/>
              <a:chOff x="4572000" y="2667000"/>
              <a:chExt cx="2095500" cy="1524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572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78434" y="2947035"/>
                <a:ext cx="48263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81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30%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239000" y="2667000"/>
              <a:ext cx="2095500" cy="1524000"/>
              <a:chOff x="7239000" y="2667000"/>
              <a:chExt cx="2095500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239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38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跑步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08603" y="3422332"/>
                <a:ext cx="75629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15%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987915" y="3410902"/>
              <a:ext cx="678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其他 ~10%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2500" y="4762500"/>
            <a:ext cx="10287000" cy="952500"/>
            <a:chOff x="952500" y="4762500"/>
            <a:chExt cx="10287000" cy="952500"/>
          </a:xfrm>
        </p:grpSpPr>
        <p:sp>
          <p:nvSpPr>
            <p:cNvPr id="25" name="Rectangle 25"/>
            <p:cNvSpPr/>
            <p:nvPr/>
          </p:nvSpPr>
          <p:spPr>
            <a:xfrm>
              <a:off x="952500" y="47625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266422" y="5029200"/>
              <a:ext cx="286556" cy="285750"/>
              <a:chOff x="1266422" y="502920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266422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95412" y="50292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09310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02581" y="50649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475243" y="50649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366838" y="52578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316706" y="50863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744980" y="4997768"/>
              <a:ext cx="21356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LLM 做的事情和你一样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7838" y="5326856"/>
              <a:ext cx="6272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通过一个复杂的数学函数，基于训练时看过的</a:t>
              </a:r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几千亿字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的文本，算出每个候选词的概率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9115" y="343852"/>
            <a:ext cx="11094719" cy="518160"/>
            <a:chOff x="539115" y="343852"/>
            <a:chExt cx="11094719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3076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Attention — 注意力机制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26992" y="45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同时关注远距离信息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37088" y="1847850"/>
            <a:ext cx="7435787" cy="466725"/>
            <a:chOff x="4137088" y="1847850"/>
            <a:chExt cx="7435787" cy="466725"/>
          </a:xfrm>
        </p:grpSpPr>
        <p:sp>
          <p:nvSpPr>
            <p:cNvPr id="7" name="TextBox 7"/>
            <p:cNvSpPr txBox="1"/>
            <p:nvPr/>
          </p:nvSpPr>
          <p:spPr>
            <a:xfrm>
              <a:off x="5609273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33900" y="1847850"/>
              <a:ext cx="68580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28090" y="188785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北京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37088" y="186880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 xml:space="preserve"> 北京 </a:t>
              </a:r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参加了一场关于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83955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学术研讨会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334625" y="1847850"/>
              <a:ext cx="762000" cy="3810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75881" y="192024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128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571500" y="1619250"/>
            <a:ext cx="11049000" cy="762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925830" y="1847850"/>
            <a:ext cx="7941945" cy="447675"/>
            <a:chOff x="925830" y="1847850"/>
            <a:chExt cx="7941945" cy="447675"/>
          </a:xfrm>
        </p:grpSpPr>
        <p:sp>
          <p:nvSpPr>
            <p:cNvPr id="17" name="TextBox 17"/>
            <p:cNvSpPr txBox="1"/>
            <p:nvPr/>
          </p:nvSpPr>
          <p:spPr>
            <a:xfrm>
              <a:off x="925830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47875" y="1847850"/>
              <a:ext cx="7239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68830" y="186880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北京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30830" y="1868805"/>
              <a:ext cx="22002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参加了一场关于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62625" y="1847850"/>
              <a:ext cx="762000" cy="361950"/>
            </a:xfrm>
            <a:prstGeom prst="roundRect">
              <a:avLst>
                <a:gd name="adj" fmla="val 21053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03881" y="190119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93205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15150" y="1847850"/>
              <a:ext cx="15240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45630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学术研讨会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7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09825" y="2228850"/>
            <a:ext cx="5267325" cy="1123950"/>
            <a:chOff x="2409825" y="2228850"/>
            <a:chExt cx="5267325" cy="1123950"/>
          </a:xfrm>
        </p:grpSpPr>
        <p:sp>
          <p:nvSpPr>
            <p:cNvPr id="28" name="Freeform 28"/>
            <p:cNvSpPr/>
            <p:nvPr/>
          </p:nvSpPr>
          <p:spPr>
            <a:xfrm>
              <a:off x="2409825" y="2238375"/>
              <a:ext cx="3733800" cy="1095375"/>
            </a:xfrm>
            <a:custGeom>
              <a:avLst/>
              <a:gdLst/>
              <a:ahLst/>
              <a:cxnLst/>
              <a:rect l="l" t="t" r="r" b="b"/>
              <a:pathLst>
                <a:path w="3733800" h="1095375">
                  <a:moveTo>
                    <a:pt x="0" y="0"/>
                  </a:moveTo>
                  <a:cubicBezTo>
                    <a:pt x="0" y="1095375"/>
                    <a:pt x="3733800" y="1095375"/>
                    <a:pt x="3733800" y="0"/>
                  </a:cubicBezTo>
                </a:path>
              </a:pathLst>
            </a:custGeom>
            <a:noFill/>
            <a:ln w="23812">
              <a:solidFill>
                <a:srgbClr val="E8A87C"/>
              </a:solidFill>
              <a:custDash>
                <a:ds d="240000" sp="160000"/>
              </a:custDash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85260" y="3108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Attention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43625" y="2238375"/>
              <a:ext cx="1533525" cy="714375"/>
            </a:xfrm>
            <a:custGeom>
              <a:avLst/>
              <a:gdLst/>
              <a:ahLst/>
              <a:cxnLst/>
              <a:rect l="l" t="t" r="r" b="b"/>
              <a:pathLst>
                <a:path w="1533525" h="714375">
                  <a:moveTo>
                    <a:pt x="1533525" y="0"/>
                  </a:moveTo>
                  <a:cubicBezTo>
                    <a:pt x="1533525" y="714375"/>
                    <a:pt x="0" y="714375"/>
                    <a:pt x="0" y="0"/>
                  </a:cubicBezTo>
                </a:path>
              </a:pathLst>
            </a:custGeom>
            <a:noFill/>
            <a:ln w="23812">
              <a:solidFill>
                <a:srgbClr val="C4956A"/>
              </a:solidFill>
              <a:custDash>
                <a:ds d="240000" sp="16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47510" y="2727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Attention</a:t>
              </a:r>
            </a:p>
          </p:txBody>
        </p:sp>
        <p:sp>
          <p:nvSpPr>
            <p:cNvPr id="32" name="Polygon 32"/>
            <p:cNvSpPr/>
            <p:nvPr/>
          </p:nvSpPr>
          <p:spPr>
            <a:xfrm>
              <a:off x="6096000" y="2228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52500" y="3810000"/>
            <a:ext cx="10287000" cy="2095500"/>
            <a:chOff x="952500" y="3810000"/>
            <a:chExt cx="102870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952500" y="3810000"/>
              <a:ext cx="10287000" cy="2095500"/>
            </a:xfrm>
            <a:prstGeom prst="roundRect">
              <a:avLst>
                <a:gd name="adj" fmla="val 727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266422" y="4124325"/>
              <a:ext cx="286556" cy="285750"/>
              <a:chOff x="1266422" y="4124325"/>
              <a:chExt cx="286556" cy="2857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266422" y="42529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395412" y="4124325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509310" y="42529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302581" y="4160061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475243" y="4160080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366838" y="43529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316706" y="4181475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95450" y="4171950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Attention 的核心能力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3010" y="4632960"/>
              <a:ext cx="35532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要填这个空，模型不能只看"关于"后面的内容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23010" y="4918710"/>
              <a:ext cx="44470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它需要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同时关注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到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"北京"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和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"学术研讨会"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这两个关键信息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23010" y="5204460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把它们</a:t>
              </a:r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综合起来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判断空白处应该填什么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23962" y="5555456"/>
              <a:ext cx="43169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这个"同时看到并关联远距离信息"的能力，就是 Attention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33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280988"/>
            <a:ext cx="11089957" cy="457200"/>
            <a:chOff x="542925" y="28098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280988"/>
              <a:ext cx="28174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五层叠加产生质变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286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20371" y="3709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GPT-3.5 爆火的真正原因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82040" y="2019300"/>
            <a:ext cx="9204960" cy="4345781"/>
            <a:chOff x="1082040" y="2019300"/>
            <a:chExt cx="9204960" cy="4345781"/>
          </a:xfrm>
        </p:grpSpPr>
        <p:grpSp>
          <p:nvGrpSpPr>
            <p:cNvPr id="11" name="Group 11"/>
            <p:cNvGrpSpPr/>
            <p:nvPr/>
          </p:nvGrpSpPr>
          <p:grpSpPr>
            <a:xfrm>
              <a:off x="1905000" y="5524500"/>
              <a:ext cx="8382000" cy="762000"/>
              <a:chOff x="1905000" y="5524500"/>
              <a:chExt cx="8382000" cy="762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905000" y="55245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93350" y="5740400"/>
                <a:ext cx="204350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204350" h="258712">
                    <a:moveTo>
                      <a:pt x="114875" y="0"/>
                    </a:moveTo>
                    <a:lnTo>
                      <a:pt x="115104" y="13"/>
                    </a:lnTo>
                    <a:lnTo>
                      <a:pt x="115307" y="25"/>
                    </a:lnTo>
                    <a:lnTo>
                      <a:pt x="116361" y="89"/>
                    </a:lnTo>
                    <a:lnTo>
                      <a:pt x="116501" y="114"/>
                    </a:lnTo>
                    <a:lnTo>
                      <a:pt x="116640" y="114"/>
                    </a:lnTo>
                    <a:lnTo>
                      <a:pt x="117123" y="229"/>
                    </a:lnTo>
                    <a:lnTo>
                      <a:pt x="117783" y="330"/>
                    </a:lnTo>
                    <a:lnTo>
                      <a:pt x="117987" y="406"/>
                    </a:lnTo>
                    <a:lnTo>
                      <a:pt x="118126" y="419"/>
                    </a:lnTo>
                    <a:lnTo>
                      <a:pt x="118495" y="559"/>
                    </a:lnTo>
                    <a:lnTo>
                      <a:pt x="119155" y="737"/>
                    </a:lnTo>
                    <a:lnTo>
                      <a:pt x="119396" y="851"/>
                    </a:lnTo>
                    <a:lnTo>
                      <a:pt x="119587" y="902"/>
                    </a:lnTo>
                    <a:lnTo>
                      <a:pt x="119942" y="1080"/>
                    </a:lnTo>
                    <a:lnTo>
                      <a:pt x="120450" y="1295"/>
                    </a:lnTo>
                    <a:lnTo>
                      <a:pt x="120717" y="1448"/>
                    </a:lnTo>
                    <a:lnTo>
                      <a:pt x="120996" y="1575"/>
                    </a:lnTo>
                    <a:lnTo>
                      <a:pt x="121289" y="1765"/>
                    </a:lnTo>
                    <a:lnTo>
                      <a:pt x="121682" y="1981"/>
                    </a:lnTo>
                    <a:lnTo>
                      <a:pt x="122114" y="2286"/>
                    </a:lnTo>
                    <a:lnTo>
                      <a:pt x="122343" y="2426"/>
                    </a:lnTo>
                    <a:lnTo>
                      <a:pt x="122508" y="2578"/>
                    </a:lnTo>
                    <a:lnTo>
                      <a:pt x="122813" y="2794"/>
                    </a:lnTo>
                    <a:lnTo>
                      <a:pt x="123295" y="3226"/>
                    </a:lnTo>
                    <a:lnTo>
                      <a:pt x="123575" y="3442"/>
                    </a:lnTo>
                    <a:lnTo>
                      <a:pt x="123676" y="3569"/>
                    </a:lnTo>
                    <a:lnTo>
                      <a:pt x="123854" y="3721"/>
                    </a:lnTo>
                    <a:lnTo>
                      <a:pt x="124311" y="4242"/>
                    </a:lnTo>
                    <a:lnTo>
                      <a:pt x="124641" y="4585"/>
                    </a:lnTo>
                    <a:lnTo>
                      <a:pt x="124718" y="4699"/>
                    </a:lnTo>
                    <a:cubicBezTo>
                      <a:pt x="126242" y="6566"/>
                      <a:pt x="127207" y="8788"/>
                      <a:pt x="127486" y="11214"/>
                    </a:cubicBezTo>
                    <a:lnTo>
                      <a:pt x="127499" y="11367"/>
                    </a:lnTo>
                    <a:lnTo>
                      <a:pt x="127524" y="11887"/>
                    </a:lnTo>
                    <a:lnTo>
                      <a:pt x="127575" y="12700"/>
                    </a:lnTo>
                    <a:lnTo>
                      <a:pt x="127575" y="88900"/>
                    </a:lnTo>
                    <a:lnTo>
                      <a:pt x="191075" y="88900"/>
                    </a:lnTo>
                    <a:cubicBezTo>
                      <a:pt x="195605" y="88899"/>
                      <a:pt x="199793" y="91311"/>
                      <a:pt x="202065" y="95230"/>
                    </a:cubicBezTo>
                    <a:cubicBezTo>
                      <a:pt x="204337" y="99148"/>
                      <a:pt x="204350" y="103981"/>
                      <a:pt x="202099" y="107912"/>
                    </a:cubicBezTo>
                    <a:lnTo>
                      <a:pt x="201337" y="109068"/>
                    </a:lnTo>
                    <a:lnTo>
                      <a:pt x="99737" y="248768"/>
                    </a:lnTo>
                    <a:cubicBezTo>
                      <a:pt x="92523" y="258712"/>
                      <a:pt x="76775" y="253594"/>
                      <a:pt x="76775" y="241300"/>
                    </a:cubicBezTo>
                    <a:lnTo>
                      <a:pt x="76775" y="165100"/>
                    </a:lnTo>
                    <a:lnTo>
                      <a:pt x="13275" y="165100"/>
                    </a:lnTo>
                    <a:cubicBezTo>
                      <a:pt x="8745" y="165101"/>
                      <a:pt x="4557" y="162689"/>
                      <a:pt x="2285" y="158770"/>
                    </a:cubicBezTo>
                    <a:cubicBezTo>
                      <a:pt x="13" y="154852"/>
                      <a:pt x="0" y="150019"/>
                      <a:pt x="2251" y="146088"/>
                    </a:cubicBezTo>
                    <a:lnTo>
                      <a:pt x="3013" y="144932"/>
                    </a:lnTo>
                    <a:lnTo>
                      <a:pt x="104613" y="5232"/>
                    </a:lnTo>
                    <a:lnTo>
                      <a:pt x="104740" y="5067"/>
                    </a:lnTo>
                    <a:lnTo>
                      <a:pt x="104969" y="4762"/>
                    </a:lnTo>
                    <a:lnTo>
                      <a:pt x="105388" y="4280"/>
                    </a:lnTo>
                    <a:lnTo>
                      <a:pt x="105617" y="4001"/>
                    </a:lnTo>
                    <a:lnTo>
                      <a:pt x="105731" y="3899"/>
                    </a:lnTo>
                    <a:lnTo>
                      <a:pt x="105896" y="3721"/>
                    </a:lnTo>
                    <a:lnTo>
                      <a:pt x="106404" y="3264"/>
                    </a:lnTo>
                    <a:lnTo>
                      <a:pt x="106760" y="2934"/>
                    </a:lnTo>
                    <a:lnTo>
                      <a:pt x="106861" y="2858"/>
                    </a:lnTo>
                    <a:cubicBezTo>
                      <a:pt x="108350" y="1639"/>
                      <a:pt x="110095" y="775"/>
                      <a:pt x="111967" y="330"/>
                    </a:cubicBezTo>
                    <a:lnTo>
                      <a:pt x="112106" y="318"/>
                    </a:lnTo>
                    <a:lnTo>
                      <a:pt x="112449" y="254"/>
                    </a:lnTo>
                    <a:lnTo>
                      <a:pt x="113389" y="89"/>
                    </a:lnTo>
                    <a:lnTo>
                      <a:pt x="113529" y="76"/>
                    </a:lnTo>
                    <a:lnTo>
                      <a:pt x="114050" y="51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602230" y="57407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① 自回归架构 — 让它能学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606040" y="60207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预测下一个词，一步步生成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905000" y="4648200"/>
              <a:ext cx="8382000" cy="762000"/>
              <a:chOff x="1905000" y="4648200"/>
              <a:chExt cx="8382000" cy="762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905000" y="46482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9E7F57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2181224" y="4864100"/>
                <a:ext cx="228601" cy="254000"/>
                <a:chOff x="2181224" y="4864100"/>
                <a:chExt cx="228601" cy="2540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181225" y="50384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59614"/>
                        <a:pt x="179134" y="78804"/>
                        <a:pt x="118199" y="79591"/>
                      </a:cubicBezTo>
                      <a:lnTo>
                        <a:pt x="114300" y="79616"/>
                      </a:lnTo>
                      <a:cubicBezTo>
                        <a:pt x="51587" y="79616"/>
                        <a:pt x="0" y="60274"/>
                        <a:pt x="0" y="28816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181225" y="49622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60274"/>
                        <a:pt x="177013" y="79616"/>
                        <a:pt x="114300" y="79616"/>
                      </a:cubicBezTo>
                      <a:cubicBezTo>
                        <a:pt x="53365" y="79616"/>
                        <a:pt x="2921" y="61354"/>
                        <a:pt x="267" y="31420"/>
                      </a:cubicBezTo>
                      <a:lnTo>
                        <a:pt x="63" y="30137"/>
                      </a:lnTo>
                      <a:lnTo>
                        <a:pt x="0" y="28816"/>
                      </a:ln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81224" y="4864100"/>
                  <a:ext cx="228601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1" h="101600">
                      <a:moveTo>
                        <a:pt x="114301" y="0"/>
                      </a:moveTo>
                      <a:cubicBezTo>
                        <a:pt x="127522" y="0"/>
                        <a:pt x="140260" y="864"/>
                        <a:pt x="152109" y="2515"/>
                      </a:cubicBezTo>
                      <a:lnTo>
                        <a:pt x="158065" y="3416"/>
                      </a:lnTo>
                      <a:cubicBezTo>
                        <a:pt x="165177" y="4602"/>
                        <a:pt x="171891" y="6075"/>
                        <a:pt x="178207" y="7836"/>
                      </a:cubicBezTo>
                      <a:lnTo>
                        <a:pt x="183795" y="9500"/>
                      </a:lnTo>
                      <a:lnTo>
                        <a:pt x="184748" y="9804"/>
                      </a:lnTo>
                      <a:cubicBezTo>
                        <a:pt x="188204" y="10941"/>
                        <a:pt x="191614" y="12212"/>
                        <a:pt x="194971" y="13614"/>
                      </a:cubicBezTo>
                      <a:lnTo>
                        <a:pt x="197499" y="14707"/>
                      </a:lnTo>
                      <a:cubicBezTo>
                        <a:pt x="202028" y="16756"/>
                        <a:pt x="206122" y="18999"/>
                        <a:pt x="209780" y="21438"/>
                      </a:cubicBezTo>
                      <a:cubicBezTo>
                        <a:pt x="211177" y="22369"/>
                        <a:pt x="212502" y="23321"/>
                        <a:pt x="213755" y="24295"/>
                      </a:cubicBezTo>
                      <a:cubicBezTo>
                        <a:pt x="216929" y="26758"/>
                        <a:pt x="219783" y="29608"/>
                        <a:pt x="222251" y="32779"/>
                      </a:cubicBezTo>
                      <a:lnTo>
                        <a:pt x="223407" y="34404"/>
                      </a:lnTo>
                      <a:cubicBezTo>
                        <a:pt x="223999" y="35293"/>
                        <a:pt x="224545" y="36187"/>
                        <a:pt x="225045" y="37084"/>
                      </a:cubicBezTo>
                      <a:lnTo>
                        <a:pt x="225934" y="38849"/>
                      </a:lnTo>
                      <a:cubicBezTo>
                        <a:pt x="227314" y="41813"/>
                        <a:pt x="228161" y="44903"/>
                        <a:pt x="228474" y="48120"/>
                      </a:cubicBezTo>
                      <a:lnTo>
                        <a:pt x="228601" y="50800"/>
                      </a:lnTo>
                      <a:cubicBezTo>
                        <a:pt x="228601" y="82258"/>
                        <a:pt x="177014" y="101600"/>
                        <a:pt x="114301" y="101600"/>
                      </a:cubicBezTo>
                      <a:cubicBezTo>
                        <a:pt x="53366" y="101600"/>
                        <a:pt x="2922" y="83337"/>
                        <a:pt x="268" y="53403"/>
                      </a:cubicBezTo>
                      <a:cubicBezTo>
                        <a:pt x="89" y="52547"/>
                        <a:pt x="0" y="51675"/>
                        <a:pt x="1" y="50800"/>
                      </a:cubicBezTo>
                      <a:lnTo>
                        <a:pt x="64" y="49479"/>
                      </a:lnTo>
                      <a:lnTo>
                        <a:pt x="268" y="48209"/>
                      </a:lnTo>
                      <a:cubicBezTo>
                        <a:pt x="2871" y="18923"/>
                        <a:pt x="51195" y="800"/>
                        <a:pt x="110339" y="25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2602230" y="4864418"/>
                <a:ext cx="2518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② 海量预训练 — 让它学得广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06040" y="5144452"/>
                <a:ext cx="1797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4500亿 Token 的文本训练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905000" y="3771900"/>
              <a:ext cx="8382000" cy="762000"/>
              <a:chOff x="1905000" y="3771900"/>
              <a:chExt cx="8382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905000" y="37719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B08E67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168523" y="3982111"/>
                <a:ext cx="267422" cy="268466"/>
              </a:xfrm>
              <a:custGeom>
                <a:avLst/>
                <a:gdLst/>
                <a:ahLst/>
                <a:cxnLst/>
                <a:rect l="l" t="t" r="r" b="b"/>
                <a:pathLst>
                  <a:path w="267422" h="268466">
                    <a:moveTo>
                      <a:pt x="190502" y="22707"/>
                    </a:moveTo>
                    <a:cubicBezTo>
                      <a:pt x="243877" y="53523"/>
                      <a:pt x="267422" y="118214"/>
                      <a:pt x="246342" y="176130"/>
                    </a:cubicBezTo>
                    <a:cubicBezTo>
                      <a:pt x="225262" y="234045"/>
                      <a:pt x="165642" y="268466"/>
                      <a:pt x="104946" y="257762"/>
                    </a:cubicBezTo>
                    <a:cubicBezTo>
                      <a:pt x="44250" y="247059"/>
                      <a:pt x="0" y="194322"/>
                      <a:pt x="2" y="132689"/>
                    </a:cubicBezTo>
                    <a:lnTo>
                      <a:pt x="65" y="128574"/>
                    </a:lnTo>
                    <a:cubicBezTo>
                      <a:pt x="1512" y="83959"/>
                      <a:pt x="26276" y="43379"/>
                      <a:pt x="65291" y="21689"/>
                    </a:cubicBezTo>
                    <a:cubicBezTo>
                      <a:pt x="104306" y="0"/>
                      <a:pt x="151844" y="386"/>
                      <a:pt x="190502" y="22707"/>
                    </a:cubicBezTo>
                    <a:moveTo>
                      <a:pt x="110580" y="98310"/>
                    </a:moveTo>
                    <a:cubicBezTo>
                      <a:pt x="105621" y="93352"/>
                      <a:pt x="97582" y="93352"/>
                      <a:pt x="92623" y="98310"/>
                    </a:cubicBezTo>
                    <a:lnTo>
                      <a:pt x="67223" y="123710"/>
                    </a:lnTo>
                    <a:cubicBezTo>
                      <a:pt x="62265" y="128669"/>
                      <a:pt x="62265" y="136708"/>
                      <a:pt x="67223" y="141668"/>
                    </a:cubicBezTo>
                    <a:lnTo>
                      <a:pt x="92623" y="167068"/>
                    </a:lnTo>
                    <a:cubicBezTo>
                      <a:pt x="97582" y="172026"/>
                      <a:pt x="105621" y="172026"/>
                      <a:pt x="110580" y="167068"/>
                    </a:cubicBezTo>
                    <a:lnTo>
                      <a:pt x="111635" y="165874"/>
                    </a:lnTo>
                    <a:cubicBezTo>
                      <a:pt x="115556" y="160818"/>
                      <a:pt x="115105" y="153635"/>
                      <a:pt x="110580" y="149110"/>
                    </a:cubicBezTo>
                    <a:lnTo>
                      <a:pt x="94172" y="132689"/>
                    </a:lnTo>
                    <a:lnTo>
                      <a:pt x="110580" y="116268"/>
                    </a:lnTo>
                    <a:cubicBezTo>
                      <a:pt x="115538" y="111308"/>
                      <a:pt x="115538" y="103269"/>
                      <a:pt x="110580" y="98310"/>
                    </a:cubicBezTo>
                    <a:moveTo>
                      <a:pt x="161380" y="98310"/>
                    </a:moveTo>
                    <a:cubicBezTo>
                      <a:pt x="156421" y="93352"/>
                      <a:pt x="148382" y="93352"/>
                      <a:pt x="143423" y="98310"/>
                    </a:cubicBezTo>
                    <a:lnTo>
                      <a:pt x="142369" y="99504"/>
                    </a:lnTo>
                    <a:cubicBezTo>
                      <a:pt x="138447" y="104559"/>
                      <a:pt x="138898" y="111743"/>
                      <a:pt x="143423" y="116268"/>
                    </a:cubicBezTo>
                    <a:lnTo>
                      <a:pt x="159831" y="132689"/>
                    </a:lnTo>
                    <a:lnTo>
                      <a:pt x="143423" y="149110"/>
                    </a:lnTo>
                    <a:cubicBezTo>
                      <a:pt x="138610" y="154093"/>
                      <a:pt x="138679" y="162014"/>
                      <a:pt x="143577" y="166913"/>
                    </a:cubicBezTo>
                    <a:cubicBezTo>
                      <a:pt x="148476" y="171812"/>
                      <a:pt x="156397" y="171881"/>
                      <a:pt x="161380" y="167068"/>
                    </a:cubicBezTo>
                    <a:lnTo>
                      <a:pt x="186780" y="141668"/>
                    </a:lnTo>
                    <a:cubicBezTo>
                      <a:pt x="191738" y="136708"/>
                      <a:pt x="191738" y="128669"/>
                      <a:pt x="186780" y="12371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02230" y="39881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③ 代码训练 — 让它学得深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06040" y="426815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逻辑推理、条件分支、变量追踪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905000" y="2895600"/>
              <a:ext cx="8382000" cy="762000"/>
              <a:chOff x="1905000" y="2895600"/>
              <a:chExt cx="83820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905000" y="28956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168525" y="3124200"/>
                <a:ext cx="254000" cy="241894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41894">
                    <a:moveTo>
                      <a:pt x="203200" y="0"/>
                    </a:moveTo>
                    <a:cubicBezTo>
                      <a:pt x="231256" y="0"/>
                      <a:pt x="254000" y="22744"/>
                      <a:pt x="254000" y="50800"/>
                    </a:cubicBezTo>
                    <a:lnTo>
                      <a:pt x="254000" y="152400"/>
                    </a:lnTo>
                    <a:cubicBezTo>
                      <a:pt x="254000" y="180456"/>
                      <a:pt x="231256" y="203200"/>
                      <a:pt x="203200" y="203200"/>
                    </a:cubicBezTo>
                    <a:lnTo>
                      <a:pt x="143205" y="203200"/>
                    </a:lnTo>
                    <a:lnTo>
                      <a:pt x="82728" y="239484"/>
                    </a:lnTo>
                    <a:cubicBezTo>
                      <a:pt x="79027" y="241705"/>
                      <a:pt x="74451" y="241894"/>
                      <a:pt x="70580" y="239987"/>
                    </a:cubicBezTo>
                    <a:cubicBezTo>
                      <a:pt x="66708" y="238079"/>
                      <a:pt x="64070" y="234336"/>
                      <a:pt x="63576" y="230048"/>
                    </a:cubicBezTo>
                    <a:lnTo>
                      <a:pt x="63500" y="228600"/>
                    </a:lnTo>
                    <a:lnTo>
                      <a:pt x="63500" y="203200"/>
                    </a:lnTo>
                    <a:lnTo>
                      <a:pt x="50800" y="203200"/>
                    </a:lnTo>
                    <a:cubicBezTo>
                      <a:pt x="23731" y="203200"/>
                      <a:pt x="1417" y="181975"/>
                      <a:pt x="64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52400" y="114300"/>
                    </a:moveTo>
                    <a:lnTo>
                      <a:pt x="76200" y="114300"/>
                    </a:lnTo>
                    <a:cubicBezTo>
                      <a:pt x="69186" y="114300"/>
                      <a:pt x="63500" y="119986"/>
                      <a:pt x="63500" y="127000"/>
                    </a:cubicBezTo>
                    <a:cubicBezTo>
                      <a:pt x="63500" y="134014"/>
                      <a:pt x="69186" y="139700"/>
                      <a:pt x="76200" y="139700"/>
                    </a:cubicBezTo>
                    <a:lnTo>
                      <a:pt x="152400" y="139700"/>
                    </a:lnTo>
                    <a:cubicBezTo>
                      <a:pt x="159414" y="139700"/>
                      <a:pt x="165100" y="134014"/>
                      <a:pt x="165100" y="127000"/>
                    </a:cubicBezTo>
                    <a:cubicBezTo>
                      <a:pt x="165100" y="119986"/>
                      <a:pt x="159414" y="114300"/>
                      <a:pt x="152400" y="114300"/>
                    </a:cubicBezTo>
                    <a:moveTo>
                      <a:pt x="177800" y="63500"/>
                    </a:moveTo>
                    <a:lnTo>
                      <a:pt x="76200" y="63500"/>
                    </a:lnTo>
                    <a:cubicBezTo>
                      <a:pt x="69186" y="63500"/>
                      <a:pt x="63500" y="69186"/>
                      <a:pt x="63500" y="76200"/>
                    </a:cubicBezTo>
                    <a:cubicBezTo>
                      <a:pt x="63500" y="83214"/>
                      <a:pt x="69186" y="88900"/>
                      <a:pt x="76200" y="88900"/>
                    </a:cubicBezTo>
                    <a:lnTo>
                      <a:pt x="177800" y="88900"/>
                    </a:lnTo>
                    <a:cubicBezTo>
                      <a:pt x="184814" y="88900"/>
                      <a:pt x="190500" y="83214"/>
                      <a:pt x="190500" y="76200"/>
                    </a:cubicBezTo>
                    <a:cubicBezTo>
                      <a:pt x="190500" y="69186"/>
                      <a:pt x="184814" y="63500"/>
                      <a:pt x="177800" y="63500"/>
                    </a:cubicBezTo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602230" y="3111818"/>
                <a:ext cx="27152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④ SFT 指令微调 — 让它会对话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606040" y="33918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从文本续写器变成对话助手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905000" y="2019300"/>
              <a:ext cx="8382000" cy="762000"/>
              <a:chOff x="1905000" y="2019300"/>
              <a:chExt cx="8382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905000" y="20193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155164" y="2222526"/>
                <a:ext cx="280582" cy="267416"/>
              </a:xfrm>
              <a:custGeom>
                <a:avLst/>
                <a:gdLst/>
                <a:ahLst/>
                <a:cxnLst/>
                <a:rect l="l" t="t" r="r" b="b"/>
                <a:pathLst>
                  <a:path w="280582" h="267416">
                    <a:moveTo>
                      <a:pt x="92647" y="80492"/>
                    </a:moveTo>
                    <a:lnTo>
                      <a:pt x="11621" y="92240"/>
                    </a:lnTo>
                    <a:lnTo>
                      <a:pt x="10186" y="92532"/>
                    </a:lnTo>
                    <a:cubicBezTo>
                      <a:pt x="5763" y="93706"/>
                      <a:pt x="2314" y="97169"/>
                      <a:pt x="1157" y="101596"/>
                    </a:cubicBezTo>
                    <a:cubicBezTo>
                      <a:pt x="0" y="106024"/>
                      <a:pt x="1314" y="110731"/>
                      <a:pt x="4598" y="113919"/>
                    </a:cubicBezTo>
                    <a:lnTo>
                      <a:pt x="63297" y="171056"/>
                    </a:lnTo>
                    <a:lnTo>
                      <a:pt x="49454" y="251764"/>
                    </a:lnTo>
                    <a:lnTo>
                      <a:pt x="49289" y="253161"/>
                    </a:lnTo>
                    <a:cubicBezTo>
                      <a:pt x="49018" y="257736"/>
                      <a:pt x="51233" y="262102"/>
                      <a:pt x="55084" y="264585"/>
                    </a:cubicBezTo>
                    <a:cubicBezTo>
                      <a:pt x="58936" y="267069"/>
                      <a:pt x="63827" y="267285"/>
                      <a:pt x="67882" y="265150"/>
                    </a:cubicBezTo>
                    <a:lnTo>
                      <a:pt x="140348" y="227050"/>
                    </a:lnTo>
                    <a:lnTo>
                      <a:pt x="212649" y="265150"/>
                    </a:lnTo>
                    <a:lnTo>
                      <a:pt x="213919" y="265734"/>
                    </a:lnTo>
                    <a:cubicBezTo>
                      <a:pt x="218187" y="267416"/>
                      <a:pt x="223030" y="266664"/>
                      <a:pt x="226589" y="263769"/>
                    </a:cubicBezTo>
                    <a:cubicBezTo>
                      <a:pt x="230147" y="260874"/>
                      <a:pt x="231867" y="256285"/>
                      <a:pt x="231090" y="251764"/>
                    </a:cubicBezTo>
                    <a:lnTo>
                      <a:pt x="217234" y="171056"/>
                    </a:lnTo>
                    <a:lnTo>
                      <a:pt x="275959" y="113906"/>
                    </a:lnTo>
                    <a:lnTo>
                      <a:pt x="276949" y="112826"/>
                    </a:lnTo>
                    <a:cubicBezTo>
                      <a:pt x="279830" y="109278"/>
                      <a:pt x="280582" y="104456"/>
                      <a:pt x="278919" y="100199"/>
                    </a:cubicBezTo>
                    <a:cubicBezTo>
                      <a:pt x="277256" y="95942"/>
                      <a:pt x="273433" y="92907"/>
                      <a:pt x="268910" y="92252"/>
                    </a:cubicBezTo>
                    <a:lnTo>
                      <a:pt x="187884" y="80492"/>
                    </a:lnTo>
                    <a:lnTo>
                      <a:pt x="151664" y="7086"/>
                    </a:lnTo>
                    <a:cubicBezTo>
                      <a:pt x="149526" y="2748"/>
                      <a:pt x="145109" y="0"/>
                      <a:pt x="140272" y="0"/>
                    </a:cubicBezTo>
                    <a:cubicBezTo>
                      <a:pt x="135435" y="0"/>
                      <a:pt x="131018" y="2748"/>
                      <a:pt x="128880" y="7086"/>
                    </a:cubicBezTo>
                    <a:lnTo>
                      <a:pt x="92647" y="80492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602230" y="2235518"/>
                <a:ext cx="19389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⑤ RLHF — 让它说得好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06040" y="25155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人类偏好调教，回答更像人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1524000" y="2095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400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8B6F47"/>
              </a:solidFill>
              <a:custDash>
                <a:ds d="300000" sp="200000"/>
              </a:custDash>
            </a:ln>
          </p:spPr>
        </p:sp>
        <p:sp>
          <p:nvSpPr>
            <p:cNvPr id="36" name="Polygon 36"/>
            <p:cNvSpPr/>
            <p:nvPr/>
          </p:nvSpPr>
          <p:spPr>
            <a:xfrm>
              <a:off x="1447800" y="204787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76200" y="0"/>
                  </a:moveTo>
                  <a:lnTo>
                    <a:pt x="0" y="142875"/>
                  </a:lnTo>
                  <a:lnTo>
                    <a:pt x="152400" y="142875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2040" y="61974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2040" y="2054066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精调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905000" y="914400"/>
            <a:ext cx="8382000" cy="762000"/>
            <a:chOff x="1905000" y="914400"/>
            <a:chExt cx="8382000" cy="762000"/>
          </a:xfrm>
        </p:grpSpPr>
        <p:sp>
          <p:nvSpPr>
            <p:cNvPr id="40" name="Rectangle 40"/>
            <p:cNvSpPr/>
            <p:nvPr/>
          </p:nvSpPr>
          <p:spPr>
            <a:xfrm>
              <a:off x="1905000" y="914400"/>
              <a:ext cx="8382000" cy="762000"/>
            </a:xfrm>
            <a:prstGeom prst="roundRect">
              <a:avLst>
                <a:gd name="adj" fmla="val 15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168167" y="1092200"/>
              <a:ext cx="254716" cy="254000"/>
              <a:chOff x="2168167" y="1092200"/>
              <a:chExt cx="254716" cy="254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21681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282825" y="10922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3840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00308" y="11239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53786" y="11239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2257425" y="12954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2212863" y="11430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604135" y="11087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五层叠在一起产生了质变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06040" y="1372552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不是发明了某个新算法，而是工程化落地的五层创新叠加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89435" y="1504950"/>
            <a:ext cx="7213130" cy="3053258"/>
            <a:chOff x="2489435" y="1504950"/>
            <a:chExt cx="7213130" cy="3053258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89435" y="2849880"/>
              <a:ext cx="721313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Token — 模型的最小阅读单位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07919" y="3838575"/>
              <a:ext cx="35761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模型不认识"字"，它认识的是 Token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1564" y="4357688"/>
              <a:ext cx="260732" cy="200520"/>
            </a:xfrm>
            <a:custGeom>
              <a:avLst/>
              <a:gdLst/>
              <a:ahLst/>
              <a:cxnLst/>
              <a:rect l="l" t="t" r="r" b="b"/>
              <a:pathLst>
                <a:path w="260732" h="200520">
                  <a:moveTo>
                    <a:pt x="257209" y="122201"/>
                  </a:moveTo>
                  <a:cubicBezTo>
                    <a:pt x="260732" y="129256"/>
                    <a:pt x="257874" y="137831"/>
                    <a:pt x="250823" y="141361"/>
                  </a:cubicBezTo>
                  <a:lnTo>
                    <a:pt x="136523" y="198511"/>
                  </a:lnTo>
                  <a:cubicBezTo>
                    <a:pt x="132502" y="200520"/>
                    <a:pt x="127770" y="200520"/>
                    <a:pt x="123750" y="198511"/>
                  </a:cubicBezTo>
                  <a:lnTo>
                    <a:pt x="9450" y="141361"/>
                  </a:lnTo>
                  <a:cubicBezTo>
                    <a:pt x="2656" y="137697"/>
                    <a:pt x="0" y="129299"/>
                    <a:pt x="3452" y="122395"/>
                  </a:cubicBezTo>
                  <a:cubicBezTo>
                    <a:pt x="6904" y="115491"/>
                    <a:pt x="15215" y="112577"/>
                    <a:pt x="22223" y="115814"/>
                  </a:cubicBezTo>
                  <a:lnTo>
                    <a:pt x="130136" y="169735"/>
                  </a:lnTo>
                  <a:lnTo>
                    <a:pt x="238064" y="115800"/>
                  </a:lnTo>
                  <a:cubicBezTo>
                    <a:pt x="245119" y="112277"/>
                    <a:pt x="253694" y="115135"/>
                    <a:pt x="257224" y="122187"/>
                  </a:cubicBezTo>
                  <a:moveTo>
                    <a:pt x="130250" y="0"/>
                  </a:moveTo>
                  <a:cubicBezTo>
                    <a:pt x="130784" y="0"/>
                    <a:pt x="131313" y="33"/>
                    <a:pt x="131836" y="100"/>
                  </a:cubicBezTo>
                  <a:lnTo>
                    <a:pt x="133422" y="386"/>
                  </a:lnTo>
                  <a:lnTo>
                    <a:pt x="134651" y="729"/>
                  </a:lnTo>
                  <a:lnTo>
                    <a:pt x="134822" y="814"/>
                  </a:lnTo>
                  <a:lnTo>
                    <a:pt x="134994" y="843"/>
                  </a:lnTo>
                  <a:lnTo>
                    <a:pt x="135408" y="1043"/>
                  </a:lnTo>
                  <a:lnTo>
                    <a:pt x="136123" y="1314"/>
                  </a:lnTo>
                  <a:lnTo>
                    <a:pt x="136351" y="1443"/>
                  </a:lnTo>
                  <a:lnTo>
                    <a:pt x="136523" y="1514"/>
                  </a:lnTo>
                  <a:lnTo>
                    <a:pt x="250823" y="58664"/>
                  </a:lnTo>
                  <a:cubicBezTo>
                    <a:pt x="255656" y="61087"/>
                    <a:pt x="258708" y="66031"/>
                    <a:pt x="258708" y="71438"/>
                  </a:cubicBezTo>
                  <a:cubicBezTo>
                    <a:pt x="258708" y="76844"/>
                    <a:pt x="255656" y="81788"/>
                    <a:pt x="250823" y="84211"/>
                  </a:cubicBezTo>
                  <a:lnTo>
                    <a:pt x="136523" y="141361"/>
                  </a:lnTo>
                  <a:cubicBezTo>
                    <a:pt x="132502" y="143370"/>
                    <a:pt x="127770" y="143370"/>
                    <a:pt x="123750" y="141361"/>
                  </a:cubicBezTo>
                  <a:lnTo>
                    <a:pt x="9450" y="84211"/>
                  </a:lnTo>
                  <a:cubicBezTo>
                    <a:pt x="4616" y="81788"/>
                    <a:pt x="1564" y="76844"/>
                    <a:pt x="1564" y="71438"/>
                  </a:cubicBezTo>
                  <a:cubicBezTo>
                    <a:pt x="1564" y="66031"/>
                    <a:pt x="4616" y="61087"/>
                    <a:pt x="9450" y="58664"/>
                  </a:cubicBezTo>
                  <a:lnTo>
                    <a:pt x="123750" y="1514"/>
                  </a:lnTo>
                  <a:lnTo>
                    <a:pt x="123907" y="1443"/>
                  </a:lnTo>
                  <a:lnTo>
                    <a:pt x="124164" y="1300"/>
                  </a:lnTo>
                  <a:lnTo>
                    <a:pt x="125278" y="843"/>
                  </a:lnTo>
                  <a:lnTo>
                    <a:pt x="125436" y="814"/>
                  </a:lnTo>
                  <a:lnTo>
                    <a:pt x="125621" y="729"/>
                  </a:lnTo>
                  <a:lnTo>
                    <a:pt x="126850" y="386"/>
                  </a:lnTo>
                  <a:lnTo>
                    <a:pt x="128422" y="100"/>
                  </a:lnTo>
                  <a:lnTo>
                    <a:pt x="129222" y="29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484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BPE — 字节对编码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11326" y="4662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高频字符先合并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7260" y="1108710"/>
            <a:ext cx="6804184" cy="796290"/>
            <a:chOff x="937260" y="1108710"/>
            <a:chExt cx="6804184" cy="796290"/>
          </a:xfrm>
        </p:grpSpPr>
        <p:sp>
          <p:nvSpPr>
            <p:cNvPr id="7" name="TextBox 7"/>
            <p:cNvSpPr txBox="1"/>
            <p:nvPr/>
          </p:nvSpPr>
          <p:spPr>
            <a:xfrm>
              <a:off x="937260" y="1108710"/>
              <a:ext cx="22203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Qwen Tokenizer 切分结果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6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573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74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20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8237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8724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921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768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69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3200" y="15525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= 6 Tokens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571500" y="219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DE5D5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937260" y="2442210"/>
            <a:ext cx="5975509" cy="2120265"/>
            <a:chOff x="937260" y="2442210"/>
            <a:chExt cx="5975509" cy="2120265"/>
          </a:xfrm>
        </p:grpSpPr>
        <p:sp>
          <p:nvSpPr>
            <p:cNvPr id="23" name="TextBox 23"/>
            <p:cNvSpPr txBox="1"/>
            <p:nvPr/>
          </p:nvSpPr>
          <p:spPr>
            <a:xfrm>
              <a:off x="937260" y="24422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BPE 合并过程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939165" y="2934652"/>
              <a:ext cx="3900773" cy="675323"/>
              <a:chOff x="939165" y="2934652"/>
              <a:chExt cx="3900773" cy="67532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39165" y="2934652"/>
                <a:ext cx="4560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525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096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人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95450" y="32861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+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9050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0621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41295" y="32699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048000" y="31908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0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275171" y="3305175"/>
                <a:ext cx="498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79570" y="335089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✓ 高频合并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39165" y="3887152"/>
              <a:ext cx="5973604" cy="675323"/>
              <a:chOff x="939165" y="3887152"/>
              <a:chExt cx="5973604" cy="675323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39165" y="3887152"/>
                <a:ext cx="4943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Step 2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525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15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1906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76450" y="42386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+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2860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241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智能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03295" y="42224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810000" y="4143375"/>
                <a:ext cx="16192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5000"/>
                </a:srgbClr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140518" y="42576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人工智能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608320" y="4303395"/>
                <a:ext cx="1304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✓ 超高频 → 完整Token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858000" y="2857500"/>
            <a:ext cx="4762500" cy="2476500"/>
            <a:chOff x="6858000" y="2857500"/>
            <a:chExt cx="4762500" cy="2476500"/>
          </a:xfrm>
        </p:grpSpPr>
        <p:sp>
          <p:nvSpPr>
            <p:cNvPr id="47" name="Rectangle 47"/>
            <p:cNvSpPr/>
            <p:nvPr/>
          </p:nvSpPr>
          <p:spPr>
            <a:xfrm>
              <a:off x="6858000" y="2857500"/>
              <a:ext cx="47625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18037" y="3070225"/>
              <a:ext cx="222876" cy="222250"/>
              <a:chOff x="7118037" y="307022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18037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18362" y="30702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06949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6160" y="30980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80453" y="30980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96138" y="3248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57146" y="3114675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61885" y="31280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BPE 核心思想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82790" y="35537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统计训练语料中哪些字符经常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82790" y="37919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挨在一起出现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，就把它们合并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2790" y="4030028"/>
              <a:ext cx="954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成一个 Token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7096125" y="4333875"/>
              <a:ext cx="4143375" cy="9525"/>
            </a:xfrm>
            <a:custGeom>
              <a:avLst/>
              <a:gdLst/>
              <a:ahLst/>
              <a:cxnLst/>
              <a:rect l="l" t="t" r="r" b="b"/>
              <a:pathLst>
                <a:path w="4143375" h="9525">
                  <a:moveTo>
                    <a:pt x="0" y="0"/>
                  </a:moveTo>
                  <a:lnTo>
                    <a:pt x="4143375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83742" y="44667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每个模型的训练数据不同 →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83742" y="46762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BPE 统计出的高频组合不同 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83742" y="48858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最终生成的</a:t>
              </a:r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词表</a:t>
              </a:r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就不一样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6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9126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不同模型的 Tokenizer 也不一样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84772" y="46624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"我喜欢吃苹果" 切分对比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047750"/>
            <a:ext cx="11049000" cy="1238250"/>
            <a:chOff x="571500" y="1047750"/>
            <a:chExt cx="11049000" cy="12382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5355" y="1263968"/>
              <a:ext cx="572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070" y="1541145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qwen-tokenizer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399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195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210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8006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020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816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831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627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641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52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71769" y="12496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58686" y="15697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2476500"/>
            <a:ext cx="11049000" cy="1238250"/>
            <a:chOff x="571500" y="2476500"/>
            <a:chExt cx="11049000" cy="1238250"/>
          </a:xfrm>
        </p:grpSpPr>
        <p:sp>
          <p:nvSpPr>
            <p:cNvPr id="25" name="Rectangle 25"/>
            <p:cNvSpPr/>
            <p:nvPr/>
          </p:nvSpPr>
          <p:spPr>
            <a:xfrm>
              <a:off x="571500" y="247650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5355" y="2692718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GPT-4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1070" y="296989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tiktoken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3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3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19550" y="2619375"/>
              <a:ext cx="13716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30000"/>
              </a:srgbClr>
            </a:solidFill>
            <a:ln w="19050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31363" y="274605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喜欢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864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878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6745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6890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04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4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7232" y="3197066"/>
              <a:ext cx="13162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GPT词表有"喜欢"合并项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71769" y="2678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58686" y="299847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3905250"/>
            <a:ext cx="11049000" cy="1238250"/>
            <a:chOff x="571500" y="3905250"/>
            <a:chExt cx="11049000" cy="1238250"/>
          </a:xfrm>
        </p:grpSpPr>
        <p:sp>
          <p:nvSpPr>
            <p:cNvPr id="42" name="Rectangle 42"/>
            <p:cNvSpPr/>
            <p:nvPr/>
          </p:nvSpPr>
          <p:spPr>
            <a:xfrm>
              <a:off x="571500" y="39052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5355" y="412146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070" y="439864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claude-tokenizer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2385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399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195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210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006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20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816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1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627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41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437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452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1769" y="4107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58686" y="44272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429250"/>
            <a:ext cx="11049000" cy="666750"/>
            <a:chOff x="571500" y="5429250"/>
            <a:chExt cx="11049000" cy="666750"/>
          </a:xfrm>
        </p:grpSpPr>
        <p:sp>
          <p:nvSpPr>
            <p:cNvPr id="60" name="Rectangle 60"/>
            <p:cNvSpPr/>
            <p:nvPr/>
          </p:nvSpPr>
          <p:spPr>
            <a:xfrm>
              <a:off x="571500" y="5429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31537" y="5594350"/>
              <a:ext cx="222876" cy="222250"/>
              <a:chOff x="831537" y="5594350"/>
              <a:chExt cx="222876" cy="2222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1537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31862" y="5594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20449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59660" y="5622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93953" y="5622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09638" y="5772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0646" y="5638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76338" y="5622131"/>
              <a:ext cx="5506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训练数据不同 → BPE 高频组合不同 → 词表不同 → 同样的话 Token 数不同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78242" y="5847874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中文消耗 Token 通常比英文多 1.5-2 倍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59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897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Token 计费实例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34290" y="466249"/>
              <a:ext cx="14985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DeepSeek-V3 官方定价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1047750"/>
            <a:ext cx="9543097" cy="4191000"/>
            <a:chOff x="1333500" y="1047750"/>
            <a:chExt cx="9543097" cy="4191000"/>
          </a:xfrm>
        </p:grpSpPr>
        <p:sp>
          <p:nvSpPr>
            <p:cNvPr id="7" name="Rectangle 7"/>
            <p:cNvSpPr/>
            <p:nvPr/>
          </p:nvSpPr>
          <p:spPr>
            <a:xfrm>
              <a:off x="1333500" y="1047750"/>
              <a:ext cx="9525000" cy="4191000"/>
            </a:xfrm>
            <a:prstGeom prst="roundRect">
              <a:avLst>
                <a:gd name="adj" fmla="val 454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1047750"/>
              <a:ext cx="9525000" cy="571500"/>
            </a:xfrm>
            <a:prstGeom prst="roundRect">
              <a:avLst>
                <a:gd name="adj" fmla="val 3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1428750"/>
              <a:ext cx="95250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92275" y="1206500"/>
              <a:ext cx="254000" cy="177800"/>
            </a:xfrm>
            <a:custGeom>
              <a:avLst/>
              <a:gdLst/>
              <a:ahLst/>
              <a:cxnLst/>
              <a:rect l="l" t="t" r="r" b="b"/>
              <a:pathLst>
                <a:path w="254000" h="177800">
                  <a:moveTo>
                    <a:pt x="215900" y="0"/>
                  </a:moveTo>
                  <a:cubicBezTo>
                    <a:pt x="236942" y="0"/>
                    <a:pt x="254000" y="17058"/>
                    <a:pt x="254000" y="38100"/>
                  </a:cubicBezTo>
                  <a:lnTo>
                    <a:pt x="254000" y="139700"/>
                  </a:lnTo>
                  <a:cubicBezTo>
                    <a:pt x="254000" y="160742"/>
                    <a:pt x="236942" y="177800"/>
                    <a:pt x="215900" y="177800"/>
                  </a:cubicBezTo>
                  <a:lnTo>
                    <a:pt x="38100" y="177800"/>
                  </a:lnTo>
                  <a:cubicBezTo>
                    <a:pt x="17058" y="177800"/>
                    <a:pt x="0" y="160742"/>
                    <a:pt x="0" y="139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27000" y="50800"/>
                  </a:moveTo>
                  <a:cubicBezTo>
                    <a:pt x="106700" y="50802"/>
                    <a:pt x="89966" y="66720"/>
                    <a:pt x="88951" y="86995"/>
                  </a:cubicBezTo>
                  <a:lnTo>
                    <a:pt x="88900" y="88900"/>
                  </a:lnTo>
                  <a:cubicBezTo>
                    <a:pt x="88900" y="109942"/>
                    <a:pt x="105958" y="127000"/>
                    <a:pt x="127000" y="127000"/>
                  </a:cubicBezTo>
                  <a:cubicBezTo>
                    <a:pt x="148042" y="127000"/>
                    <a:pt x="165100" y="109942"/>
                    <a:pt x="165100" y="88900"/>
                  </a:cubicBezTo>
                  <a:cubicBezTo>
                    <a:pt x="165100" y="67858"/>
                    <a:pt x="148042" y="50800"/>
                    <a:pt x="127000" y="50800"/>
                  </a:cubicBezTo>
                  <a:moveTo>
                    <a:pt x="203327" y="76200"/>
                  </a:moveTo>
                  <a:lnTo>
                    <a:pt x="203200" y="76200"/>
                  </a:lnTo>
                  <a:cubicBezTo>
                    <a:pt x="196186" y="76200"/>
                    <a:pt x="190500" y="81886"/>
                    <a:pt x="190500" y="88900"/>
                  </a:cubicBezTo>
                  <a:cubicBezTo>
                    <a:pt x="190500" y="95914"/>
                    <a:pt x="196186" y="101600"/>
                    <a:pt x="203200" y="101600"/>
                  </a:cubicBezTo>
                  <a:lnTo>
                    <a:pt x="203327" y="101600"/>
                  </a:lnTo>
                  <a:cubicBezTo>
                    <a:pt x="210341" y="101600"/>
                    <a:pt x="216027" y="95914"/>
                    <a:pt x="216027" y="88900"/>
                  </a:cubicBezTo>
                  <a:cubicBezTo>
                    <a:pt x="216027" y="81886"/>
                    <a:pt x="210341" y="76200"/>
                    <a:pt x="203327" y="76200"/>
                  </a:cubicBezTo>
                  <a:moveTo>
                    <a:pt x="50927" y="76200"/>
                  </a:moveTo>
                  <a:lnTo>
                    <a:pt x="50800" y="76200"/>
                  </a:lnTo>
                  <a:cubicBezTo>
                    <a:pt x="46263" y="76223"/>
                    <a:pt x="42082" y="78664"/>
                    <a:pt x="39833" y="82605"/>
                  </a:cubicBezTo>
                  <a:cubicBezTo>
                    <a:pt x="37584" y="86546"/>
                    <a:pt x="37608" y="91387"/>
                    <a:pt x="39897" y="95305"/>
                  </a:cubicBezTo>
                  <a:cubicBezTo>
                    <a:pt x="42185" y="99223"/>
                    <a:pt x="46390" y="101623"/>
                    <a:pt x="50927" y="101600"/>
                  </a:cubicBezTo>
                  <a:cubicBezTo>
                    <a:pt x="57941" y="101600"/>
                    <a:pt x="63627" y="95914"/>
                    <a:pt x="63627" y="88900"/>
                  </a:cubicBezTo>
                  <a:cubicBezTo>
                    <a:pt x="63627" y="81886"/>
                    <a:pt x="57941" y="76200"/>
                    <a:pt x="50927" y="76200"/>
                  </a:cubicBezTo>
                </a:path>
              </a:pathLst>
            </a:custGeom>
            <a:solidFill>
              <a:srgbClr val="FAF7F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6450" y="1238250"/>
              <a:ext cx="28789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DeepSeek-V3 调用费用计算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714500" y="1857375"/>
              <a:ext cx="7895654" cy="342900"/>
              <a:chOff x="1714500" y="1857375"/>
              <a:chExt cx="7895654" cy="3429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714500" y="185737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8FBC8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68770" y="194405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747010" y="1927860"/>
                <a:ext cx="22387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50 Token × ¥2 / 百万 Token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66760" y="19278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=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43950" y="1895475"/>
                <a:ext cx="8662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¥0.0001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714500" y="2333625"/>
              <a:ext cx="7826645" cy="342900"/>
              <a:chOff x="1714500" y="2333625"/>
              <a:chExt cx="7826645" cy="3429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714500" y="233362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968770" y="242030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输出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47010" y="2404110"/>
                <a:ext cx="23351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500 Token × ¥8 / 百万 Token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66760" y="240411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=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743950" y="2371725"/>
                <a:ext cx="79719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¥0.004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1714500" y="2857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745105" y="3027045"/>
              <a:ext cx="8131492" cy="487680"/>
              <a:chOff x="2745105" y="3027045"/>
              <a:chExt cx="8131492" cy="48768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2745105" y="30927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单次调用合计：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732520" y="3027045"/>
                <a:ext cx="127551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¥0.004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83165" y="312515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不到半分钱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714500" y="3524250"/>
              <a:ext cx="8763000" cy="571500"/>
              <a:chOff x="1714500" y="3524250"/>
              <a:chExt cx="8763000" cy="571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714500" y="3524250"/>
                <a:ext cx="8763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E8A87C">
                  <a:alpha val="8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985962" y="3640931"/>
                <a:ext cx="1926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每日 </a:t>
                </a:r>
                <a:r>
                  <a:rPr lang="zh-CN" sz="1125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10万次</a:t>
                </a:r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 调用 × 30天 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83830" y="3602355"/>
                <a:ext cx="190507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4956A"/>
                    </a:solidFill>
                    <a:latin typeface="Georgia"/>
                    <a:ea typeface="SimSun"/>
                    <a:cs typeface="Georgia"/>
                  </a:rPr>
                  <a:t>¥12,000 / 月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986915" y="4315778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换成 GPT-5.6 同样的调用量一个月要好几万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86915" y="457295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同样的内容，中文消耗 Token 通常比英文多 1.5 到 2 倍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33500" y="5476875"/>
            <a:ext cx="9525000" cy="619125"/>
            <a:chOff x="1333500" y="5476875"/>
            <a:chExt cx="9525000" cy="619125"/>
          </a:xfrm>
        </p:grpSpPr>
        <p:sp>
          <p:nvSpPr>
            <p:cNvPr id="36" name="Rectangle 36"/>
            <p:cNvSpPr/>
            <p:nvPr/>
          </p:nvSpPr>
          <p:spPr>
            <a:xfrm>
              <a:off x="1333500" y="5476875"/>
              <a:ext cx="9525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593537" y="5641975"/>
              <a:ext cx="222876" cy="222250"/>
              <a:chOff x="1593537" y="5641975"/>
              <a:chExt cx="222876" cy="222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593537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693862" y="56419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782449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621660" y="56697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755953" y="56697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671638" y="5819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632646" y="56864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938338" y="5660231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直接决定使用成本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40242" y="5876449"/>
              <a:ext cx="37912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中文场景下成本控制更重要 — 选对模型和 Tokenizer 是关键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720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996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特殊 Token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你看不到的控制信号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" y="1714500"/>
            <a:ext cx="9163050" cy="533400"/>
            <a:chOff x="952500" y="1714500"/>
            <a:chExt cx="9163050" cy="533400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047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955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969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8765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780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576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590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386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01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2197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211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007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22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77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8502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20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0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63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83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2286000"/>
            <a:ext cx="10287000" cy="1524000"/>
            <a:chOff x="381000" y="2286000"/>
            <a:chExt cx="10287000" cy="1524000"/>
          </a:xfrm>
        </p:grpSpPr>
        <p:sp>
          <p:nvSpPr>
            <p:cNvPr id="28" name="Line 28"/>
            <p:cNvSpPr/>
            <p:nvPr/>
          </p:nvSpPr>
          <p:spPr>
            <a:xfrm>
              <a:off x="142875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10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940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214" y="3342799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Beginning of Sequence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5818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标记一段文本的开头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3533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0555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856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9122" y="334279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End of Sequence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0367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模型看到就停止生成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0678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8B7D6B"/>
              </a:solidFill>
              <a:custDash>
                <a:ds d="400000" sp="300000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725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8B7D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55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51550" y="334279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Padding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80208" y="35413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补齐对齐用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4381500"/>
            <a:ext cx="10287000" cy="1143000"/>
            <a:chOff x="952500" y="4381500"/>
            <a:chExt cx="10287000" cy="1143000"/>
          </a:xfrm>
        </p:grpSpPr>
        <p:sp>
          <p:nvSpPr>
            <p:cNvPr id="44" name="Rectangle 44"/>
            <p:cNvSpPr/>
            <p:nvPr/>
          </p:nvSpPr>
          <p:spPr>
            <a:xfrm>
              <a:off x="952500" y="4381500"/>
              <a:ext cx="10287000" cy="1143000"/>
            </a:xfrm>
            <a:prstGeom prst="roundRect">
              <a:avLst>
                <a:gd name="adj" fmla="val 1333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263292" y="4645025"/>
              <a:ext cx="254716" cy="254000"/>
              <a:chOff x="1263292" y="4645025"/>
              <a:chExt cx="254716" cy="254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2632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77950" y="4645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4791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295433" y="4676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448911" y="4676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352550" y="4848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307988" y="4695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697355" y="4664392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模型生成回答的运行机制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00212" y="5022056"/>
              <a:ext cx="62475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不断预测下一个 Token → 追加到序列末尾 → 再预测下一个 → 直到预测出 </a:t>
              </a:r>
              <a:r>
                <a:rPr lang="zh-CN" sz="112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&lt;eos&gt;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 才停止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02118" y="5276374"/>
              <a:ext cx="37769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这些特殊 Token 不承载语义，但对模型的运行机制至关重要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34228" y="1504950"/>
            <a:ext cx="7323544" cy="3096293"/>
            <a:chOff x="2434228" y="1504950"/>
            <a:chExt cx="7323544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34228" y="2849880"/>
              <a:ext cx="7323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Context — 大模型没有"记忆"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91112" y="38385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每次对话都是失忆的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7245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多轮对话的真相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56934" y="4662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每次请求都重新发送全部历史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8665" y="1029652"/>
            <a:ext cx="4775835" cy="1180148"/>
            <a:chOff x="748665" y="1029652"/>
            <a:chExt cx="4775835" cy="1180148"/>
          </a:xfrm>
        </p:grpSpPr>
        <p:sp>
          <p:nvSpPr>
            <p:cNvPr id="7" name="TextBox 7"/>
            <p:cNvSpPr txBox="1"/>
            <p:nvPr/>
          </p:nvSpPr>
          <p:spPr>
            <a:xfrm>
              <a:off x="748665" y="1029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第一轮请求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257300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3996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6092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1118" y="1799749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"帮我写Python的快速排序"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118" y="1990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79570" y="1474470"/>
              <a:ext cx="496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 条消息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2500" y="2298382"/>
            <a:ext cx="36205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↓ 模型返回回答后，用户继续追问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48665" y="2696528"/>
            <a:ext cx="4775835" cy="2418397"/>
            <a:chOff x="748665" y="2696528"/>
            <a:chExt cx="4775835" cy="2418397"/>
          </a:xfrm>
        </p:grpSpPr>
        <p:sp>
          <p:nvSpPr>
            <p:cNvPr id="16" name="TextBox 16"/>
            <p:cNvSpPr txBox="1"/>
            <p:nvPr/>
          </p:nvSpPr>
          <p:spPr>
            <a:xfrm>
              <a:off x="748665" y="2696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第二轮请求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924175"/>
              <a:ext cx="4762500" cy="2190750"/>
            </a:xfrm>
            <a:prstGeom prst="roundRect">
              <a:avLst>
                <a:gd name="adj" fmla="val 4348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30665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2575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1570" y="3312795"/>
              <a:ext cx="1008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{ role: "user",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2070" y="3474720"/>
              <a:ext cx="2454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content: "帮我写Python的快速排序" },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37147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1570" y="37699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{ role: "assistant",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2070" y="3931920"/>
              <a:ext cx="26057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content: "def quick_sort(arr): ..." },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7750" y="419100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0618" y="42381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1118" y="441912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"把它改成降序排列"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118" y="47048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79570" y="2998470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3 条消息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76300" y="1143000"/>
            <a:ext cx="10553700" cy="4000500"/>
            <a:chOff x="876300" y="1143000"/>
            <a:chExt cx="105537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6096000" y="11430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392650" y="1402334"/>
              <a:ext cx="282852" cy="245440"/>
            </a:xfrm>
            <a:custGeom>
              <a:avLst/>
              <a:gdLst/>
              <a:ahLst/>
              <a:cxnLst/>
              <a:rect l="l" t="t" r="r" b="b"/>
              <a:pathLst>
                <a:path w="282852" h="245440">
                  <a:moveTo>
                    <a:pt x="141500" y="0"/>
                  </a:moveTo>
                  <a:cubicBezTo>
                    <a:pt x="153628" y="0"/>
                    <a:pt x="164931" y="5931"/>
                    <a:pt x="171853" y="15837"/>
                  </a:cubicBezTo>
                  <a:lnTo>
                    <a:pt x="173186" y="17869"/>
                  </a:lnTo>
                  <a:lnTo>
                    <a:pt x="276234" y="189928"/>
                  </a:lnTo>
                  <a:cubicBezTo>
                    <a:pt x="282600" y="200954"/>
                    <a:pt x="282852" y="214477"/>
                    <a:pt x="276900" y="225732"/>
                  </a:cubicBezTo>
                  <a:cubicBezTo>
                    <a:pt x="270949" y="236987"/>
                    <a:pt x="259631" y="244392"/>
                    <a:pt x="246935" y="245339"/>
                  </a:cubicBezTo>
                  <a:lnTo>
                    <a:pt x="244458" y="245440"/>
                  </a:lnTo>
                  <a:lnTo>
                    <a:pt x="38401" y="245440"/>
                  </a:lnTo>
                  <a:cubicBezTo>
                    <a:pt x="25693" y="245297"/>
                    <a:pt x="13947" y="238643"/>
                    <a:pt x="7291" y="227816"/>
                  </a:cubicBezTo>
                  <a:cubicBezTo>
                    <a:pt x="635" y="216989"/>
                    <a:pt x="0" y="203504"/>
                    <a:pt x="5610" y="192100"/>
                  </a:cubicBezTo>
                  <a:lnTo>
                    <a:pt x="6867" y="189751"/>
                  </a:lnTo>
                  <a:lnTo>
                    <a:pt x="109864" y="17818"/>
                  </a:lnTo>
                  <a:cubicBezTo>
                    <a:pt x="116571" y="6758"/>
                    <a:pt x="128565" y="3"/>
                    <a:pt x="141500" y="0"/>
                  </a:cubicBezTo>
                  <a:close/>
                  <a:moveTo>
                    <a:pt x="141627" y="169291"/>
                  </a:moveTo>
                  <a:lnTo>
                    <a:pt x="140014" y="169380"/>
                  </a:lnTo>
                  <a:cubicBezTo>
                    <a:pt x="133625" y="170140"/>
                    <a:pt x="128814" y="175557"/>
                    <a:pt x="128814" y="181991"/>
                  </a:cubicBezTo>
                  <a:cubicBezTo>
                    <a:pt x="128814" y="188425"/>
                    <a:pt x="133625" y="193842"/>
                    <a:pt x="140014" y="194602"/>
                  </a:cubicBezTo>
                  <a:lnTo>
                    <a:pt x="141500" y="194691"/>
                  </a:lnTo>
                  <a:lnTo>
                    <a:pt x="143112" y="194602"/>
                  </a:lnTo>
                  <a:cubicBezTo>
                    <a:pt x="149501" y="193842"/>
                    <a:pt x="154312" y="188425"/>
                    <a:pt x="154312" y="181991"/>
                  </a:cubicBezTo>
                  <a:cubicBezTo>
                    <a:pt x="154312" y="175557"/>
                    <a:pt x="149501" y="170140"/>
                    <a:pt x="143112" y="169380"/>
                  </a:cubicBezTo>
                  <a:lnTo>
                    <a:pt x="141627" y="169291"/>
                  </a:lnTo>
                  <a:close/>
                  <a:moveTo>
                    <a:pt x="141500" y="80391"/>
                  </a:moveTo>
                  <a:cubicBezTo>
                    <a:pt x="135061" y="80392"/>
                    <a:pt x="129642" y="85211"/>
                    <a:pt x="128888" y="91605"/>
                  </a:cubicBezTo>
                  <a:lnTo>
                    <a:pt x="128800" y="93091"/>
                  </a:lnTo>
                  <a:lnTo>
                    <a:pt x="128800" y="143891"/>
                  </a:lnTo>
                  <a:lnTo>
                    <a:pt x="128888" y="145377"/>
                  </a:lnTo>
                  <a:cubicBezTo>
                    <a:pt x="129648" y="151766"/>
                    <a:pt x="135066" y="156577"/>
                    <a:pt x="141500" y="156577"/>
                  </a:cubicBezTo>
                  <a:cubicBezTo>
                    <a:pt x="147933" y="156577"/>
                    <a:pt x="153351" y="151766"/>
                    <a:pt x="154111" y="145377"/>
                  </a:cubicBezTo>
                  <a:lnTo>
                    <a:pt x="154200" y="143891"/>
                  </a:lnTo>
                  <a:lnTo>
                    <a:pt x="154200" y="93091"/>
                  </a:lnTo>
                  <a:lnTo>
                    <a:pt x="154111" y="91605"/>
                  </a:lnTo>
                  <a:cubicBezTo>
                    <a:pt x="153357" y="85211"/>
                    <a:pt x="147938" y="80392"/>
                    <a:pt x="141500" y="80391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3230" y="1454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关键发现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6510" y="1918335"/>
              <a:ext cx="2151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模型并没有"回忆"起上一轮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381750" y="22383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67462" y="24503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你的客户端在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每一轮对话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7462" y="27170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都把前面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所有记录重新发送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7462" y="29837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给模型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381750" y="33337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8415" y="3506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模型每次收到的都是完整的对话历史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8415" y="37442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然后只生成最新一轮的回答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" y="3238500"/>
              <a:ext cx="4533900" cy="9525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D4837F"/>
              </a:solidFill>
              <a:custDash>
                <a:ds d="400000" sp="266666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58616" y="4292441"/>
              <a:ext cx="15692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↑ 第一轮的内容全部重新发送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191000"/>
              <a:ext cx="4762500" cy="619125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591032" y="4352925"/>
              <a:ext cx="191037" cy="190500"/>
              <a:chOff x="6591032" y="4352925"/>
              <a:chExt cx="191037" cy="1905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91032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77025" y="43529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52957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15137" y="43767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30246" y="43767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7975" y="45053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24554" y="43910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892290" y="4363402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Context（上下文）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3242" y="4581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你发给模型的整段输入内容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8014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Context Window — 上下文窗口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50456" y="4662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模型一次能"读"的最大 Token 数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1143000"/>
            <a:ext cx="11144250" cy="2667000"/>
            <a:chOff x="571500" y="1143000"/>
            <a:chExt cx="11144250" cy="2667000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1143000"/>
              <a:ext cx="2571750" cy="2667000"/>
              <a:chOff x="571500" y="1143000"/>
              <a:chExt cx="2571750" cy="2667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41705" y="1473518"/>
                <a:ext cx="8313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GPT-5.6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76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105万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33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52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860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三四本书的内容</a:t>
                </a: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710822" y="3260725"/>
                <a:ext cx="178806" cy="226373"/>
              </a:xfrm>
              <a:custGeom>
                <a:avLst/>
                <a:gdLst/>
                <a:ahLst/>
                <a:cxnLst/>
                <a:rect l="l" t="t" r="r" b="b"/>
                <a:pathLst>
                  <a:path w="178806" h="226373">
                    <a:moveTo>
                      <a:pt x="100516" y="0"/>
                    </a:moveTo>
                    <a:lnTo>
                      <a:pt x="100716" y="11"/>
                    </a:lnTo>
                    <a:lnTo>
                      <a:pt x="100893" y="22"/>
                    </a:lnTo>
                    <a:lnTo>
                      <a:pt x="101816" y="78"/>
                    </a:lnTo>
                    <a:lnTo>
                      <a:pt x="101938" y="100"/>
                    </a:lnTo>
                    <a:lnTo>
                      <a:pt x="102060" y="100"/>
                    </a:lnTo>
                    <a:lnTo>
                      <a:pt x="102483" y="200"/>
                    </a:lnTo>
                    <a:lnTo>
                      <a:pt x="103060" y="289"/>
                    </a:lnTo>
                    <a:lnTo>
                      <a:pt x="103238" y="356"/>
                    </a:lnTo>
                    <a:lnTo>
                      <a:pt x="103360" y="367"/>
                    </a:lnTo>
                    <a:lnTo>
                      <a:pt x="103683" y="489"/>
                    </a:lnTo>
                    <a:lnTo>
                      <a:pt x="104261" y="645"/>
                    </a:lnTo>
                    <a:lnTo>
                      <a:pt x="104472" y="745"/>
                    </a:lnTo>
                    <a:lnTo>
                      <a:pt x="104638" y="789"/>
                    </a:lnTo>
                    <a:lnTo>
                      <a:pt x="104950" y="945"/>
                    </a:lnTo>
                    <a:lnTo>
                      <a:pt x="105394" y="1133"/>
                    </a:lnTo>
                    <a:lnTo>
                      <a:pt x="105627" y="1267"/>
                    </a:lnTo>
                    <a:lnTo>
                      <a:pt x="105872" y="1378"/>
                    </a:lnTo>
                    <a:lnTo>
                      <a:pt x="106127" y="1545"/>
                    </a:lnTo>
                    <a:lnTo>
                      <a:pt x="106472" y="1734"/>
                    </a:lnTo>
                    <a:lnTo>
                      <a:pt x="106850" y="2000"/>
                    </a:lnTo>
                    <a:lnTo>
                      <a:pt x="107050" y="2122"/>
                    </a:lnTo>
                    <a:lnTo>
                      <a:pt x="107194" y="2256"/>
                    </a:lnTo>
                    <a:lnTo>
                      <a:pt x="107461" y="2445"/>
                    </a:lnTo>
                    <a:lnTo>
                      <a:pt x="107883" y="2823"/>
                    </a:lnTo>
                    <a:lnTo>
                      <a:pt x="108128" y="3011"/>
                    </a:lnTo>
                    <a:lnTo>
                      <a:pt x="108217" y="3123"/>
                    </a:lnTo>
                    <a:lnTo>
                      <a:pt x="108372" y="3256"/>
                    </a:lnTo>
                    <a:lnTo>
                      <a:pt x="108772" y="3712"/>
                    </a:lnTo>
                    <a:lnTo>
                      <a:pt x="109061" y="4012"/>
                    </a:lnTo>
                    <a:lnTo>
                      <a:pt x="109128" y="4112"/>
                    </a:lnTo>
                    <a:cubicBezTo>
                      <a:pt x="110461" y="5745"/>
                      <a:pt x="111306" y="7690"/>
                      <a:pt x="111550" y="9812"/>
                    </a:cubicBezTo>
                    <a:lnTo>
                      <a:pt x="111561" y="9946"/>
                    </a:lnTo>
                    <a:lnTo>
                      <a:pt x="111584" y="10401"/>
                    </a:lnTo>
                    <a:lnTo>
                      <a:pt x="111628" y="11113"/>
                    </a:lnTo>
                    <a:lnTo>
                      <a:pt x="111628" y="77788"/>
                    </a:lnTo>
                    <a:lnTo>
                      <a:pt x="167191" y="77788"/>
                    </a:lnTo>
                    <a:cubicBezTo>
                      <a:pt x="171154" y="77787"/>
                      <a:pt x="174819" y="79897"/>
                      <a:pt x="176807" y="83326"/>
                    </a:cubicBezTo>
                    <a:cubicBezTo>
                      <a:pt x="178795" y="86755"/>
                      <a:pt x="178806" y="90983"/>
                      <a:pt x="176836" y="94423"/>
                    </a:cubicBezTo>
                    <a:lnTo>
                      <a:pt x="176170" y="95434"/>
                    </a:lnTo>
                    <a:lnTo>
                      <a:pt x="87270" y="217672"/>
                    </a:lnTo>
                    <a:cubicBezTo>
                      <a:pt x="80958" y="226373"/>
                      <a:pt x="67178" y="221894"/>
                      <a:pt x="67178" y="211138"/>
                    </a:cubicBezTo>
                    <a:lnTo>
                      <a:pt x="67178" y="144463"/>
                    </a:lnTo>
                    <a:lnTo>
                      <a:pt x="11616" y="144463"/>
                    </a:lnTo>
                    <a:cubicBezTo>
                      <a:pt x="7652" y="144463"/>
                      <a:pt x="3988" y="142353"/>
                      <a:pt x="1999" y="138924"/>
                    </a:cubicBezTo>
                    <a:cubicBezTo>
                      <a:pt x="11" y="135495"/>
                      <a:pt x="0" y="131267"/>
                      <a:pt x="1970" y="127827"/>
                    </a:cubicBezTo>
                    <a:lnTo>
                      <a:pt x="2637" y="126816"/>
                    </a:lnTo>
                    <a:lnTo>
                      <a:pt x="91537" y="4578"/>
                    </a:lnTo>
                    <a:lnTo>
                      <a:pt x="91648" y="4434"/>
                    </a:lnTo>
                    <a:lnTo>
                      <a:pt x="91848" y="4167"/>
                    </a:lnTo>
                    <a:lnTo>
                      <a:pt x="92215" y="3745"/>
                    </a:lnTo>
                    <a:lnTo>
                      <a:pt x="92415" y="3500"/>
                    </a:lnTo>
                    <a:lnTo>
                      <a:pt x="92515" y="3412"/>
                    </a:lnTo>
                    <a:lnTo>
                      <a:pt x="92659" y="3256"/>
                    </a:lnTo>
                    <a:lnTo>
                      <a:pt x="93104" y="2856"/>
                    </a:lnTo>
                    <a:lnTo>
                      <a:pt x="93415" y="2567"/>
                    </a:lnTo>
                    <a:lnTo>
                      <a:pt x="93504" y="2500"/>
                    </a:lnTo>
                    <a:cubicBezTo>
                      <a:pt x="94806" y="1434"/>
                      <a:pt x="96334" y="678"/>
                      <a:pt x="97971" y="289"/>
                    </a:cubicBezTo>
                    <a:lnTo>
                      <a:pt x="98093" y="278"/>
                    </a:lnTo>
                    <a:lnTo>
                      <a:pt x="98393" y="222"/>
                    </a:lnTo>
                    <a:lnTo>
                      <a:pt x="99215" y="78"/>
                    </a:lnTo>
                    <a:lnTo>
                      <a:pt x="99338" y="67"/>
                    </a:lnTo>
                    <a:lnTo>
                      <a:pt x="99793" y="4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3429000" y="1143000"/>
              <a:ext cx="2571750" cy="2667000"/>
              <a:chOff x="3429000" y="1143000"/>
              <a:chExt cx="2571750" cy="2667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429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429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014545" y="1473518"/>
                <a:ext cx="14006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Claude Opus 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0951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C4956A"/>
                    </a:solidFill>
                    <a:latin typeface="Georgia"/>
                    <a:ea typeface="SimSun"/>
                    <a:cs typeface="Georgia"/>
                  </a:rPr>
                  <a:t>100万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906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38100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1435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三四本书的内容</a:t>
                </a: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4546287" y="3260725"/>
                <a:ext cx="222876" cy="222250"/>
                <a:chOff x="4546287" y="3260725"/>
                <a:chExt cx="222876" cy="22225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46287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646612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3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3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35199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574410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08703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624388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2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3" y="0"/>
                      </a:lnTo>
                      <a:lnTo>
                        <a:pt x="55562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585396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6286500" y="1143000"/>
              <a:ext cx="2571750" cy="2667000"/>
              <a:chOff x="6286500" y="1143000"/>
              <a:chExt cx="2571750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286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44691" y="1473518"/>
                <a:ext cx="6553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Gemini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19856" y="1945958"/>
                <a:ext cx="150503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100万+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48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667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32796" y="29427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百万级上下文</a:t>
                </a:r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7403336" y="3261014"/>
                <a:ext cx="223762" cy="221661"/>
                <a:chOff x="7403336" y="3261014"/>
                <a:chExt cx="223762" cy="221661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7523348" y="3416300"/>
                  <a:ext cx="93723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23" h="66375">
                      <a:moveTo>
                        <a:pt x="93723" y="0"/>
                      </a:moveTo>
                      <a:cubicBezTo>
                        <a:pt x="77222" y="37805"/>
                        <a:pt x="41139" y="63359"/>
                        <a:pt x="0" y="66375"/>
                      </a:cubicBezTo>
                      <a:cubicBezTo>
                        <a:pt x="2846" y="65697"/>
                        <a:pt x="5309" y="63924"/>
                        <a:pt x="6856" y="61441"/>
                      </a:cubicBezTo>
                      <a:cubicBezTo>
                        <a:pt x="18668" y="42520"/>
                        <a:pt x="27232" y="21757"/>
                        <a:pt x="32193" y="11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413379" y="3416300"/>
                  <a:ext cx="93712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12" h="66375">
                      <a:moveTo>
                        <a:pt x="61530" y="0"/>
                      </a:moveTo>
                      <a:cubicBezTo>
                        <a:pt x="66489" y="21754"/>
                        <a:pt x="75053" y="42525"/>
                        <a:pt x="86866" y="61452"/>
                      </a:cubicBezTo>
                      <a:cubicBezTo>
                        <a:pt x="88413" y="63929"/>
                        <a:pt x="90872" y="65697"/>
                        <a:pt x="93712" y="66375"/>
                      </a:cubicBezTo>
                      <a:cubicBezTo>
                        <a:pt x="52577" y="63355"/>
                        <a:pt x="16499" y="37802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97778" y="3416300"/>
                  <a:ext cx="34893" cy="43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61">
                      <a:moveTo>
                        <a:pt x="34893" y="0"/>
                      </a:moveTo>
                      <a:cubicBezTo>
                        <a:pt x="30994" y="15089"/>
                        <a:pt x="25129" y="29601"/>
                        <a:pt x="17447" y="43161"/>
                      </a:cubicBezTo>
                      <a:cubicBezTo>
                        <a:pt x="9765" y="29601"/>
                        <a:pt x="3899" y="15089"/>
                        <a:pt x="0" y="0"/>
                      </a:cubicBezTo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403336" y="3349625"/>
                  <a:ext cx="6781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7" h="44450">
                      <a:moveTo>
                        <a:pt x="67817" y="0"/>
                      </a:moveTo>
                      <a:cubicBezTo>
                        <a:pt x="66165" y="14771"/>
                        <a:pt x="66165" y="29679"/>
                        <a:pt x="67817" y="44450"/>
                      </a:cubicBezTo>
                      <a:lnTo>
                        <a:pt x="3008" y="44450"/>
                      </a:lnTo>
                      <a:cubicBezTo>
                        <a:pt x="8" y="29786"/>
                        <a:pt x="0" y="14667"/>
                        <a:pt x="2986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91674" y="3349625"/>
                  <a:ext cx="4710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02" h="44450">
                      <a:moveTo>
                        <a:pt x="45243" y="0"/>
                      </a:moveTo>
                      <a:cubicBezTo>
                        <a:pt x="47102" y="14758"/>
                        <a:pt x="47102" y="29692"/>
                        <a:pt x="45243" y="44450"/>
                      </a:cubicBezTo>
                      <a:lnTo>
                        <a:pt x="1859" y="44450"/>
                      </a:lnTo>
                      <a:cubicBezTo>
                        <a:pt x="0" y="29692"/>
                        <a:pt x="0" y="14758"/>
                        <a:pt x="185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559297" y="3349625"/>
                  <a:ext cx="67801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01" h="44450">
                      <a:moveTo>
                        <a:pt x="64830" y="0"/>
                      </a:moveTo>
                      <a:cubicBezTo>
                        <a:pt x="67801" y="14668"/>
                        <a:pt x="67794" y="29784"/>
                        <a:pt x="64808" y="44450"/>
                      </a:cubicBezTo>
                      <a:lnTo>
                        <a:pt x="0" y="44450"/>
                      </a:lnTo>
                      <a:cubicBezTo>
                        <a:pt x="1656" y="29681"/>
                        <a:pt x="1656" y="14780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413346" y="3261025"/>
                  <a:ext cx="93734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75">
                      <a:moveTo>
                        <a:pt x="93734" y="0"/>
                      </a:moveTo>
                      <a:cubicBezTo>
                        <a:pt x="90896" y="683"/>
                        <a:pt x="88441" y="2456"/>
                        <a:pt x="86900" y="4934"/>
                      </a:cubicBezTo>
                      <a:cubicBezTo>
                        <a:pt x="75087" y="23858"/>
                        <a:pt x="66523" y="44625"/>
                        <a:pt x="61563" y="66375"/>
                      </a:cubicBezTo>
                      <a:lnTo>
                        <a:pt x="0" y="66375"/>
                      </a:lnTo>
                      <a:cubicBezTo>
                        <a:pt x="16354" y="28945"/>
                        <a:pt x="51908" y="3489"/>
                        <a:pt x="92612" y="67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7778" y="3284239"/>
                  <a:ext cx="34893" cy="43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72">
                      <a:moveTo>
                        <a:pt x="17447" y="0"/>
                      </a:moveTo>
                      <a:cubicBezTo>
                        <a:pt x="25130" y="13564"/>
                        <a:pt x="30995" y="28079"/>
                        <a:pt x="34893" y="43172"/>
                      </a:cubicBezTo>
                      <a:lnTo>
                        <a:pt x="0" y="43172"/>
                      </a:lnTo>
                      <a:cubicBezTo>
                        <a:pt x="3778" y="28537"/>
                        <a:pt x="9446" y="14280"/>
                        <a:pt x="17002" y="756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523370" y="3261014"/>
                  <a:ext cx="93734" cy="66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86">
                      <a:moveTo>
                        <a:pt x="0" y="0"/>
                      </a:moveTo>
                      <a:cubicBezTo>
                        <a:pt x="41137" y="3038"/>
                        <a:pt x="77215" y="28590"/>
                        <a:pt x="93734" y="66386"/>
                      </a:cubicBezTo>
                      <a:lnTo>
                        <a:pt x="32171" y="66386"/>
                      </a:lnTo>
                      <a:cubicBezTo>
                        <a:pt x="27212" y="44632"/>
                        <a:pt x="18648" y="23862"/>
                        <a:pt x="6834" y="4934"/>
                      </a:cubicBezTo>
                      <a:cubicBezTo>
                        <a:pt x="5497" y="2792"/>
                        <a:pt x="3471" y="1170"/>
                        <a:pt x="1089" y="333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62" name="Group 62"/>
            <p:cNvGrpSpPr/>
            <p:nvPr/>
          </p:nvGrpSpPr>
          <p:grpSpPr>
            <a:xfrm>
              <a:off x="9144000" y="1143000"/>
              <a:ext cx="2571750" cy="2667000"/>
              <a:chOff x="9144000" y="1143000"/>
              <a:chExt cx="2571750" cy="2667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9144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144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857965" y="1442085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DeepSeek-V3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98334" y="1648778"/>
                <a:ext cx="6630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/ Kimi K3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918886" y="1993582"/>
                <a:ext cx="102197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128K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205680" y="2506028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9525000" y="28098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082855" y="2990374"/>
                <a:ext cx="6940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10万汉字</a:t>
                </a:r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10272712" y="3260725"/>
                <a:ext cx="200026" cy="222250"/>
                <a:chOff x="10272712" y="3260725"/>
                <a:chExt cx="200026" cy="22225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0272712" y="34133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0272712" y="334663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272712" y="32607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</p:grpSp>
        </p:grpSp>
      </p:grpSp>
      <p:grpSp>
        <p:nvGrpSpPr>
          <p:cNvPr id="68" name="Group 68"/>
          <p:cNvGrpSpPr/>
          <p:nvPr/>
        </p:nvGrpSpPr>
        <p:grpSpPr>
          <a:xfrm>
            <a:off x="571500" y="4191000"/>
            <a:ext cx="11049000" cy="762000"/>
            <a:chOff x="571500" y="4191000"/>
            <a:chExt cx="11049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571500" y="4191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D4837F">
                <a:alpha val="8000"/>
              </a:srgbClr>
            </a:solidFill>
            <a:ln w="9525">
              <a:solidFill>
                <a:srgbClr val="D4837F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66788" y="4381008"/>
              <a:ext cx="247495" cy="214760"/>
            </a:xfrm>
            <a:custGeom>
              <a:avLst/>
              <a:gdLst/>
              <a:ahLst/>
              <a:cxnLst/>
              <a:rect l="l" t="t" r="r" b="b"/>
              <a:pathLst>
                <a:path w="247495" h="214760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7"/>
                  </a:lnTo>
                  <a:cubicBezTo>
                    <a:pt x="247275" y="175835"/>
                    <a:pt x="247495" y="187668"/>
                    <a:pt x="242288" y="197516"/>
                  </a:cubicBezTo>
                  <a:cubicBezTo>
                    <a:pt x="237081" y="207363"/>
                    <a:pt x="227177" y="213843"/>
                    <a:pt x="216068" y="214671"/>
                  </a:cubicBezTo>
                  <a:lnTo>
                    <a:pt x="213901" y="214760"/>
                  </a:lnTo>
                  <a:lnTo>
                    <a:pt x="33601" y="214760"/>
                  </a:lnTo>
                  <a:cubicBezTo>
                    <a:pt x="22481" y="214635"/>
                    <a:pt x="12203" y="208813"/>
                    <a:pt x="6379" y="199339"/>
                  </a:cubicBezTo>
                  <a:cubicBezTo>
                    <a:pt x="555" y="189866"/>
                    <a:pt x="0" y="178066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1999" y="5914"/>
                    <a:pt x="112495" y="2"/>
                    <a:pt x="123812" y="0"/>
                  </a:cubicBezTo>
                  <a:close/>
                  <a:moveTo>
                    <a:pt x="123923" y="148130"/>
                  </a:moveTo>
                  <a:lnTo>
                    <a:pt x="122512" y="148207"/>
                  </a:lnTo>
                  <a:cubicBezTo>
                    <a:pt x="116922" y="148872"/>
                    <a:pt x="112712" y="153613"/>
                    <a:pt x="112712" y="159242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3" y="170277"/>
                  </a:lnTo>
                  <a:cubicBezTo>
                    <a:pt x="130814" y="169612"/>
                    <a:pt x="135023" y="164872"/>
                    <a:pt x="135023" y="159242"/>
                  </a:cubicBezTo>
                  <a:cubicBezTo>
                    <a:pt x="135023" y="153613"/>
                    <a:pt x="130814" y="148872"/>
                    <a:pt x="125223" y="148207"/>
                  </a:cubicBezTo>
                  <a:lnTo>
                    <a:pt x="123923" y="148130"/>
                  </a:lnTo>
                  <a:close/>
                  <a:moveTo>
                    <a:pt x="123812" y="70342"/>
                  </a:moveTo>
                  <a:cubicBezTo>
                    <a:pt x="118178" y="70343"/>
                    <a:pt x="113437" y="74559"/>
                    <a:pt x="112777" y="80154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7" y="127205"/>
                  </a:lnTo>
                  <a:cubicBezTo>
                    <a:pt x="113442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4"/>
                  </a:lnTo>
                  <a:cubicBezTo>
                    <a:pt x="134188" y="74559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223010" y="4404360"/>
              <a:ext cx="2634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窗口大 ≠ 每个位置都能完美关注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24915" y="4668202"/>
              <a:ext cx="49722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模型对不同位置的注意力是不均匀的 — 后面讲 Prompt 时会给出实用技巧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02639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KV Cache — 为什么多轮对话越来越慢？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41731" y="4662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显存占用随对话轮次增长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-48625" y="996791"/>
            <a:ext cx="10907125" cy="4606290"/>
            <a:chOff x="-48625" y="996791"/>
            <a:chExt cx="10907125" cy="4606290"/>
          </a:xfrm>
        </p:grpSpPr>
        <p:sp>
          <p:nvSpPr>
            <p:cNvPr id="7" name="TextBox 7"/>
            <p:cNvSpPr txBox="1"/>
            <p:nvPr/>
          </p:nvSpPr>
          <p:spPr>
            <a:xfrm rot="-5400000">
              <a:off x="-48625" y="3242310"/>
              <a:ext cx="11335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KV Cache 显存占用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43000" y="10477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5334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" y="4286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1143000" y="3238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190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3" name="Line 13"/>
            <p:cNvSpPr/>
            <p:nvPr/>
          </p:nvSpPr>
          <p:spPr>
            <a:xfrm>
              <a:off x="1143000" y="1143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1002" y="52830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315" y="423529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5 GB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6167" y="318754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10 GB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6167" y="213979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15 GB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774" y="109204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20+ GB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428750" y="5124450"/>
              <a:ext cx="666750" cy="209550"/>
            </a:xfrm>
            <a:prstGeom prst="roundRect">
              <a:avLst>
                <a:gd name="adj" fmla="val 18182"/>
              </a:avLst>
            </a:prstGeom>
            <a:solidFill>
              <a:srgbClr val="E8A87C">
                <a:alpha val="3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73328" y="5435441"/>
              <a:ext cx="177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047" y="4986338"/>
              <a:ext cx="112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~1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81250" y="4914900"/>
              <a:ext cx="666750" cy="419100"/>
            </a:xfrm>
            <a:prstGeom prst="roundRect">
              <a:avLst>
                <a:gd name="adj" fmla="val 9091"/>
              </a:avLst>
            </a:prstGeom>
            <a:solidFill>
              <a:srgbClr val="E8A87C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1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4854" y="47767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~2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33750" y="4600575"/>
              <a:ext cx="666750" cy="733425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4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6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3轮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86250" y="4286250"/>
              <a:ext cx="666750" cy="104775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5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4轮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38750" y="3657600"/>
              <a:ext cx="666750" cy="16764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6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5轮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02354" y="35194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~8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3238500"/>
              <a:ext cx="666750" cy="20955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2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6轮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43750" y="2609850"/>
              <a:ext cx="666750" cy="272415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7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7轮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1981200"/>
              <a:ext cx="666750" cy="33528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6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2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8轮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048750" y="1562100"/>
              <a:ext cx="666750" cy="37719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7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7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9轮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001250" y="1143000"/>
              <a:ext cx="666750" cy="4191000"/>
            </a:xfrm>
            <a:prstGeom prst="roundRect">
              <a:avLst>
                <a:gd name="adj" fmla="val 5714"/>
              </a:avLst>
            </a:prstGeom>
            <a:solidFill>
              <a:srgbClr val="D4837F">
                <a:alpha val="7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2693" y="543544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10轮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50188" y="996791"/>
              <a:ext cx="3688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4837F"/>
                  </a:solidFill>
                  <a:latin typeface="Consolas"/>
                  <a:ea typeface="Microsoft YaHei"/>
                  <a:cs typeface="Consolas"/>
                </a:rPr>
                <a:t>20+GB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703570" y="570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对话轮次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143000" y="6000750"/>
            <a:ext cx="9715500" cy="381000"/>
            <a:chOff x="1143000" y="6000750"/>
            <a:chExt cx="9715500" cy="381000"/>
          </a:xfrm>
        </p:grpSpPr>
        <p:sp>
          <p:nvSpPr>
            <p:cNvPr id="45" name="Rectangle 45"/>
            <p:cNvSpPr/>
            <p:nvPr/>
          </p:nvSpPr>
          <p:spPr>
            <a:xfrm>
              <a:off x="1143000" y="6000750"/>
              <a:ext cx="9715500" cy="381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46222" y="61350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不是模型变笨了，是</a:t>
              </a:r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"记忆"的物理代价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在增长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751668" y="1504950"/>
            <a:ext cx="6688665" cy="3096293"/>
            <a:chOff x="2751668" y="1504950"/>
            <a:chExt cx="6688665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51668" y="2849880"/>
              <a:ext cx="66886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Prompt &amp; System Prompt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72038" y="3838575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你怎么问，决定它怎么答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852624" cy="457200"/>
            <a:chOff x="542925" y="376238"/>
            <a:chExt cx="385262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8526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同样的模型，不同的问法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047750"/>
            <a:ext cx="5238750" cy="3238500"/>
            <a:chOff x="571500" y="1047750"/>
            <a:chExt cx="5238750" cy="3238500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201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模糊 Prompt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571625"/>
              <a:ext cx="4667250" cy="762000"/>
            </a:xfrm>
            <a:prstGeom prst="roundRect">
              <a:avLst>
                <a:gd name="adj" fmla="val 12500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2510" y="1727835"/>
              <a:ext cx="16253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"帮我写个排序算法"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52988" y="2276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7425" y="33156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冒泡？插入？快速？不确定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94159" y="355377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看模型心情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2400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84619" y="39904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搜索空间大 → 结果不确定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81750" y="1047750"/>
            <a:ext cx="5238750" cy="3238500"/>
            <a:chOff x="6381750" y="1047750"/>
            <a:chExt cx="5238750" cy="3238500"/>
          </a:xfrm>
        </p:grpSpPr>
        <p:sp>
          <p:nvSpPr>
            <p:cNvPr id="16" name="Rectangle 16"/>
            <p:cNvSpPr/>
            <p:nvPr/>
          </p:nvSpPr>
          <p:spPr>
            <a:xfrm>
              <a:off x="638175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5226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精确 Prompt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1571625"/>
              <a:ext cx="4667250" cy="1143000"/>
            </a:xfrm>
            <a:prstGeom prst="roundRect">
              <a:avLst>
                <a:gd name="adj" fmla="val 8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44665" y="1744028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"用 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Python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实现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快速排序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4665" y="19631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输入是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整数列表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4665" y="21821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要求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原地排序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，返回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升序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结果，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44665" y="240125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时间复杂度 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O(n log n)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63238" y="2657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3199" y="35537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结果确定，质量可控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3425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41149" y="399049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约束条件缩小搜索空间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572125" y="228600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950434" y="2381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/>
                <a:ea typeface="SimSun"/>
                <a:cs typeface="Georgia"/>
              </a:rPr>
              <a:t>VS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71500" y="4572000"/>
            <a:ext cx="11049000" cy="983456"/>
            <a:chOff x="571500" y="4572000"/>
            <a:chExt cx="11049000" cy="983456"/>
          </a:xfrm>
        </p:grpSpPr>
        <p:sp>
          <p:nvSpPr>
            <p:cNvPr id="30" name="Rectangle 30"/>
            <p:cNvSpPr/>
            <p:nvPr/>
          </p:nvSpPr>
          <p:spPr>
            <a:xfrm>
              <a:off x="571500" y="4572000"/>
              <a:ext cx="11049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82292" y="4835525"/>
              <a:ext cx="254716" cy="254000"/>
              <a:chOff x="882292" y="4835525"/>
              <a:chExt cx="254716" cy="25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822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6950" y="48355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81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4433" y="48672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67911" y="48673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71550" y="50387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26988" y="48863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16355" y="4807268"/>
              <a:ext cx="34191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Engineering（提示词工程）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19212" y="51173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研究怎么把需求说得更精确、更结构化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19212" y="53268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让模型更容易给出你想要的答案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2127409" cy="457200"/>
            <a:chOff x="542925" y="376238"/>
            <a:chExt cx="2127409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274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两个实用技巧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952500"/>
            <a:ext cx="5334000" cy="2667000"/>
            <a:chOff x="571500" y="952500"/>
            <a:chExt cx="533400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52500"/>
              <a:ext cx="57150" cy="2667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0105" y="1111568"/>
              <a:ext cx="2083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Few-shot 少样本学习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4868" y="13711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在 Prompt 里给几个示范，模型照着来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1666875"/>
              <a:ext cx="4762500" cy="1333500"/>
            </a:xfrm>
            <a:prstGeom prst="roundRect">
              <a:avLst>
                <a:gd name="adj" fmla="val 5714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791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把以下中文翻译成英文：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2058352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中文：你好 → 英文：Hello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2296478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中文：谢谢 → 英文：Thank you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415" y="25822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中文：再见 → 英文：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Goodbye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868" y="3180874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 0 个例子 = Zero-shot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3399949"/>
              <a:ext cx="2409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给几个例子 = Few-shot（无需训练）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810000"/>
            <a:ext cx="5334000" cy="2476500"/>
            <a:chOff x="571500" y="3810000"/>
            <a:chExt cx="53340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571500" y="38100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3810000"/>
              <a:ext cx="57150" cy="24765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39690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CoT 思维链（Chain of Thought）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4868" y="42286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让模型"一步步想"，而不是直接猜答案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1070" y="46462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普通问法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118" y="4847749"/>
              <a:ext cx="1334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"30人，男多女6人，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503824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男生几人？"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65170" y="4822508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1950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03320" y="4646295"/>
              <a:ext cx="542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CoT 问法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2368" y="48477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请一步一步思考</a:t>
              </a:r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2368" y="50382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30人，男多女6人..."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72145" y="5471160"/>
              <a:ext cx="4393966" cy="662940"/>
              <a:chOff x="972145" y="5471160"/>
              <a:chExt cx="4393966" cy="66294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72145" y="5471160"/>
                <a:ext cx="1103709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D4837F"/>
                    </a:solidFill>
                    <a:latin typeface="Georgia"/>
                    <a:ea typeface="SimSun"/>
                    <a:cs typeface="Georgia"/>
                  </a:rPr>
                  <a:t>17.7%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49680" y="595122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直接回答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27486" y="5583555"/>
                <a:ext cx="22202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58889" y="5471160"/>
                <a:ext cx="120722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8FBC8F"/>
                    </a:solidFill>
                    <a:latin typeface="Georgia"/>
                    <a:ea typeface="SimSun"/>
                    <a:cs typeface="Georgia"/>
                  </a:rPr>
                  <a:t>78.7%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22458" y="59512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一步步思考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286500" y="952500"/>
            <a:ext cx="5334000" cy="5334000"/>
            <a:chOff x="6286500" y="952500"/>
            <a:chExt cx="5334000" cy="5334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952500"/>
              <a:ext cx="5334000" cy="5334000"/>
            </a:xfrm>
            <a:prstGeom prst="roundRect">
              <a:avLst>
                <a:gd name="adj" fmla="val 285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97292" y="1216025"/>
              <a:ext cx="254716" cy="254000"/>
              <a:chOff x="6597292" y="1216025"/>
              <a:chExt cx="254716" cy="254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972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11950" y="1216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131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29433" y="1247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82911" y="1247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86550" y="1419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41988" y="1266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83730" y="1263968"/>
              <a:ext cx="2363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为什么 CoT 效果这么好？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572250" y="1571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962" y="17835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直接回答时，模型在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7962" y="2021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"猜最终答案"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572250" y="2333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962" y="2545556"/>
              <a:ext cx="10061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让模型在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7962" y="2783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"推理每一步"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572250" y="3095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7010" y="334708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推理比猜测容易得多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572250" y="38100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9415" y="3963352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示例：设女生 x 人，男生 x+6 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0368" y="4209574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x + (x+6) = 30 → 2x = 24 → x = 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50368" y="43714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男生 = 18 ✓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572250" y="47625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9868" y="4990624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GSM8K 数学推理数据集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59868" y="52096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原始论文实验结果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572250" y="5524500"/>
              <a:ext cx="47625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49415" y="5706428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只需加一句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"请一步一步思考"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即可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382105" y="343852"/>
            <a:ext cx="3427790" cy="518160"/>
            <a:chOff x="4382105" y="343852"/>
            <a:chExt cx="3427790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4382105" y="343852"/>
              <a:ext cx="34277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Lost in the Middle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429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52500" y="1905000"/>
            <a:ext cx="10477500" cy="1528762"/>
            <a:chOff x="952500" y="1905000"/>
            <a:chExt cx="10477500" cy="152876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00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22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开头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1905000"/>
              <a:ext cx="3619500" cy="952500"/>
            </a:xfrm>
            <a:prstGeom prst="rect">
              <a:avLst/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51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中间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8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010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0" y="1905000"/>
              <a:ext cx="3619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711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结尾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75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5874" y="3220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注意力强度：两端高，中间低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67000" y="3869055"/>
            <a:ext cx="6858000" cy="1083945"/>
            <a:chOff x="2667000" y="3869055"/>
            <a:chExt cx="6858000" cy="1083945"/>
          </a:xfrm>
        </p:grpSpPr>
        <p:sp>
          <p:nvSpPr>
            <p:cNvPr id="21" name="TextBox 21"/>
            <p:cNvSpPr txBox="1"/>
            <p:nvPr/>
          </p:nvSpPr>
          <p:spPr>
            <a:xfrm>
              <a:off x="4032425" y="3869055"/>
              <a:ext cx="4127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128K ≠ 完美处理 128K 的信息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667000" y="4381500"/>
              <a:ext cx="6858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22648" y="4588192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关键信息放开头或结尾，别夹在中间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905000" y="5334000"/>
            <a:ext cx="8382000" cy="762000"/>
            <a:chOff x="1905000" y="5334000"/>
            <a:chExt cx="8382000" cy="762000"/>
          </a:xfrm>
        </p:grpSpPr>
        <p:sp>
          <p:nvSpPr>
            <p:cNvPr id="25" name="Rectangle 25"/>
            <p:cNvSpPr/>
            <p:nvPr/>
          </p:nvSpPr>
          <p:spPr>
            <a:xfrm>
              <a:off x="1905000" y="5334000"/>
              <a:ext cx="8382000" cy="762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2215792" y="5549900"/>
              <a:ext cx="254716" cy="254000"/>
              <a:chOff x="2215792" y="5549900"/>
              <a:chExt cx="254716" cy="25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2157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330450" y="55499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4316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247933" y="55816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401411" y="55816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305050" y="57531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260488" y="56007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652712" y="55745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如果你有很长的背景资料要喂给模型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52712" y="5831681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核心问题或指令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放在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最前面或最后面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6837247" cy="457200"/>
            <a:chOff x="542925" y="376238"/>
            <a:chExt cx="683724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8372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System Prompt — 给模型设"人设"和"规矩"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952500"/>
            <a:ext cx="6858000" cy="3810000"/>
            <a:chOff x="571500" y="952500"/>
            <a:chExt cx="6858000" cy="3810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6858000" cy="3810000"/>
            </a:xfrm>
            <a:prstGeom prst="roundRect">
              <a:avLst>
                <a:gd name="adj" fmla="val 4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4868" y="1132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352550"/>
              <a:ext cx="6477000" cy="133350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4949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733074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role: </a:t>
              </a:r>
              <a:r>
                <a:rPr lang="zh-CN" sz="97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"system"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0618" y="197119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"你是XX公司的智能客服。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2070" y="218884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职责：帮助用户解决订单相关问题。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2070" y="237934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规则：1.语气友好 2.不讨论竞品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2070" y="25317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3.不确定的转人工 4.回答≤100字"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25236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5368" y="2676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809875"/>
              <a:ext cx="6477000" cy="476250"/>
            </a:xfrm>
            <a:prstGeom prst="roundRect">
              <a:avLst>
                <a:gd name="adj" fmla="val 16000"/>
              </a:avLst>
            </a:prstGeom>
            <a:solidFill>
              <a:srgbClr val="EDE5D5">
                <a:alpha val="5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29236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0368" y="2923699"/>
              <a:ext cx="2538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"我的订单怎么还没发货？"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68" y="3418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05750" y="952500"/>
            <a:ext cx="3714750" cy="3810000"/>
            <a:chOff x="7905750" y="952500"/>
            <a:chExt cx="3714750" cy="3810000"/>
          </a:xfrm>
        </p:grpSpPr>
        <p:sp>
          <p:nvSpPr>
            <p:cNvPr id="22" name="Rectangle 22"/>
            <p:cNvSpPr/>
            <p:nvPr/>
          </p:nvSpPr>
          <p:spPr>
            <a:xfrm>
              <a:off x="7905750" y="952500"/>
              <a:ext cx="3714750" cy="1714500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223250" y="1244302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8230" y="1263968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新员工手册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78165" y="16964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你是谁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8165" y="19345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你的边界在哪里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8165" y="21726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你不能做什么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8165" y="24107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回答的风格要求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05750" y="2857500"/>
              <a:ext cx="371475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216542" y="3121025"/>
              <a:ext cx="254716" cy="254000"/>
              <a:chOff x="8216542" y="3121025"/>
              <a:chExt cx="254716" cy="254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2165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31200" y="3121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324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48683" y="3152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02161" y="3152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05800" y="3324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61238" y="3171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604885" y="31851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技术真相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78165" y="35537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和 User Prompt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8165" y="3791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没有本质区别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79118" y="4085749"/>
              <a:ext cx="2331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都是 Token，都进入同一个 Context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9118" y="4323874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role: "system" 只是 API 层面的标记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79118" y="45429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告诉模型"这段话优先级更高"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048250"/>
            <a:ext cx="11049000" cy="666750"/>
            <a:chOff x="571500" y="5048250"/>
            <a:chExt cx="11049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571500" y="5048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65153" y="5302568"/>
              <a:ext cx="52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= 放在最前面的、优先级更高的 Prompt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4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2144392" y="1504950"/>
            <a:ext cx="7903216" cy="3095239"/>
            <a:chOff x="2144392" y="1504950"/>
            <a:chExt cx="7903216" cy="309523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44392" y="2849880"/>
              <a:ext cx="79032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Embedding — 让文字变成"坐标"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187428" y="3838575"/>
              <a:ext cx="38171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Token 只是编号，Embedding 赋予语义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837843" y="4315196"/>
              <a:ext cx="287694" cy="284993"/>
              <a:chOff x="5837843" y="4315196"/>
              <a:chExt cx="287694" cy="2849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92144" y="4514850"/>
                <a:ext cx="120501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01" h="85339">
                    <a:moveTo>
                      <a:pt x="120501" y="0"/>
                    </a:moveTo>
                    <a:cubicBezTo>
                      <a:pt x="99286" y="48606"/>
                      <a:pt x="52893" y="81462"/>
                      <a:pt x="0" y="85339"/>
                    </a:cubicBezTo>
                    <a:cubicBezTo>
                      <a:pt x="3659" y="84467"/>
                      <a:pt x="6826" y="82188"/>
                      <a:pt x="8815" y="78996"/>
                    </a:cubicBezTo>
                    <a:cubicBezTo>
                      <a:pt x="24002" y="54669"/>
                      <a:pt x="35012" y="27973"/>
                      <a:pt x="41391" y="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850755" y="4514850"/>
                <a:ext cx="120486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85339">
                    <a:moveTo>
                      <a:pt x="79110" y="0"/>
                    </a:moveTo>
                    <a:cubicBezTo>
                      <a:pt x="85486" y="27969"/>
                      <a:pt x="96496" y="54674"/>
                      <a:pt x="111685" y="79010"/>
                    </a:cubicBezTo>
                    <a:cubicBezTo>
                      <a:pt x="113674" y="82194"/>
                      <a:pt x="116835" y="84468"/>
                      <a:pt x="120486" y="85339"/>
                    </a:cubicBezTo>
                    <a:cubicBezTo>
                      <a:pt x="67599" y="81457"/>
                      <a:pt x="21213" y="486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59269" y="4514850"/>
                <a:ext cx="44863" cy="55493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493">
                    <a:moveTo>
                      <a:pt x="44863" y="0"/>
                    </a:moveTo>
                    <a:cubicBezTo>
                      <a:pt x="39850" y="19401"/>
                      <a:pt x="32308" y="38058"/>
                      <a:pt x="22431" y="55493"/>
                    </a:cubicBezTo>
                    <a:cubicBezTo>
                      <a:pt x="12554" y="38058"/>
                      <a:pt x="5013" y="19401"/>
                      <a:pt x="0" y="0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837843" y="4429125"/>
                <a:ext cx="8719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93" h="57150">
                    <a:moveTo>
                      <a:pt x="87193" y="0"/>
                    </a:moveTo>
                    <a:cubicBezTo>
                      <a:pt x="85069" y="18991"/>
                      <a:pt x="85069" y="38159"/>
                      <a:pt x="87193" y="57150"/>
                    </a:cubicBezTo>
                    <a:lnTo>
                      <a:pt x="3868" y="57150"/>
                    </a:lnTo>
                    <a:cubicBezTo>
                      <a:pt x="10" y="38296"/>
                      <a:pt x="0" y="18858"/>
                      <a:pt x="383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951420" y="4429125"/>
                <a:ext cx="6056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0560" h="57150">
                    <a:moveTo>
                      <a:pt x="58169" y="0"/>
                    </a:moveTo>
                    <a:cubicBezTo>
                      <a:pt x="60560" y="18975"/>
                      <a:pt x="60560" y="38175"/>
                      <a:pt x="58169" y="57150"/>
                    </a:cubicBezTo>
                    <a:lnTo>
                      <a:pt x="2391" y="57150"/>
                    </a:lnTo>
                    <a:cubicBezTo>
                      <a:pt x="0" y="38175"/>
                      <a:pt x="0" y="18975"/>
                      <a:pt x="2391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38364" y="4429125"/>
                <a:ext cx="8717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73" h="57150">
                    <a:moveTo>
                      <a:pt x="83353" y="0"/>
                    </a:moveTo>
                    <a:cubicBezTo>
                      <a:pt x="87173" y="18859"/>
                      <a:pt x="87163" y="38294"/>
                      <a:pt x="83325" y="57150"/>
                    </a:cubicBezTo>
                    <a:lnTo>
                      <a:pt x="0" y="57150"/>
                    </a:lnTo>
                    <a:cubicBezTo>
                      <a:pt x="2129" y="38162"/>
                      <a:pt x="2129" y="190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50712" y="4315211"/>
                <a:ext cx="120515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39">
                    <a:moveTo>
                      <a:pt x="120515" y="0"/>
                    </a:moveTo>
                    <a:cubicBezTo>
                      <a:pt x="116867" y="879"/>
                      <a:pt x="113710" y="3157"/>
                      <a:pt x="111728" y="6344"/>
                    </a:cubicBezTo>
                    <a:cubicBezTo>
                      <a:pt x="96541" y="30675"/>
                      <a:pt x="85530" y="57375"/>
                      <a:pt x="79153" y="85339"/>
                    </a:cubicBezTo>
                    <a:lnTo>
                      <a:pt x="0" y="85339"/>
                    </a:lnTo>
                    <a:cubicBezTo>
                      <a:pt x="21027" y="37215"/>
                      <a:pt x="66739" y="4486"/>
                      <a:pt x="119072" y="86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959269" y="4345057"/>
                <a:ext cx="44863" cy="55507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507">
                    <a:moveTo>
                      <a:pt x="22431" y="0"/>
                    </a:moveTo>
                    <a:cubicBezTo>
                      <a:pt x="32309" y="17439"/>
                      <a:pt x="39851" y="36101"/>
                      <a:pt x="44863" y="55507"/>
                    </a:cubicBezTo>
                    <a:lnTo>
                      <a:pt x="0" y="55507"/>
                    </a:lnTo>
                    <a:cubicBezTo>
                      <a:pt x="4858" y="36690"/>
                      <a:pt x="12144" y="18359"/>
                      <a:pt x="21860" y="97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992173" y="4315196"/>
                <a:ext cx="120515" cy="85354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54">
                    <a:moveTo>
                      <a:pt x="0" y="0"/>
                    </a:moveTo>
                    <a:cubicBezTo>
                      <a:pt x="52890" y="3906"/>
                      <a:pt x="99276" y="36758"/>
                      <a:pt x="120515" y="85354"/>
                    </a:cubicBezTo>
                    <a:lnTo>
                      <a:pt x="41362" y="85354"/>
                    </a:lnTo>
                    <a:cubicBezTo>
                      <a:pt x="34986" y="57384"/>
                      <a:pt x="23976" y="30679"/>
                      <a:pt x="8787" y="6344"/>
                    </a:cubicBezTo>
                    <a:cubicBezTo>
                      <a:pt x="7068" y="3590"/>
                      <a:pt x="4463" y="1504"/>
                      <a:pt x="1400" y="429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0" name="TextBox 2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5599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Embedding — 语义空间可视化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语义越近，距离越近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" y="952500"/>
            <a:ext cx="6191250" cy="4772025"/>
            <a:chOff x="952500" y="952500"/>
            <a:chExt cx="6191250" cy="4772025"/>
          </a:xfrm>
        </p:grpSpPr>
        <p:sp>
          <p:nvSpPr>
            <p:cNvPr id="7" name="Line 7"/>
            <p:cNvSpPr/>
            <p:nvPr/>
          </p:nvSpPr>
          <p:spPr>
            <a:xfrm>
              <a:off x="9525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4762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5715000"/>
              <a:ext cx="6191250" cy="9525"/>
            </a:xfrm>
            <a:custGeom>
              <a:avLst/>
              <a:gdLst/>
              <a:ahLst/>
              <a:cxnLst/>
              <a:rect l="l" t="t" r="r" b="b"/>
              <a:pathLst>
                <a:path w="6191250" h="9525">
                  <a:moveTo>
                    <a:pt x="0" y="0"/>
                  </a:moveTo>
                  <a:lnTo>
                    <a:pt x="6191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14500" y="1442085"/>
              <a:ext cx="2097786" cy="1320165"/>
              <a:chOff x="1714500" y="1442085"/>
              <a:chExt cx="2097786" cy="132016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714500" y="1524000"/>
                <a:ext cx="762000" cy="762000"/>
              </a:xfrm>
              <a:prstGeom prst="ellipse">
                <a:avLst/>
              </a:prstGeom>
              <a:solidFill>
                <a:srgbClr val="E8A87C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019300" y="1828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70760" y="1727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苹果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2781300" y="154305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32760" y="14420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香蕉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162300" y="2209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413760" y="2108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橙子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2286000" y="2571750"/>
                <a:ext cx="190500" cy="190500"/>
              </a:xfrm>
              <a:prstGeom prst="ellipse">
                <a:avLst/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554605" y="2473642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水果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095500" y="16192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095500" y="1905000"/>
                <a:ext cx="1143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81000">
                    <a:moveTo>
                      <a:pt x="0" y="0"/>
                    </a:moveTo>
                    <a:lnTo>
                      <a:pt x="1143000" y="38100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857500" y="1619250"/>
                <a:ext cx="381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666750">
                    <a:moveTo>
                      <a:pt x="0" y="0"/>
                    </a:moveTo>
                    <a:lnTo>
                      <a:pt x="381000" y="66675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4905375" y="3918585"/>
              <a:ext cx="1383411" cy="1110615"/>
              <a:chOff x="4905375" y="3918585"/>
              <a:chExt cx="1383411" cy="111061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905375" y="3952875"/>
                <a:ext cx="666750" cy="666750"/>
              </a:xfrm>
              <a:prstGeom prst="ellipse">
                <a:avLst/>
              </a:prstGeom>
              <a:solidFill>
                <a:srgbClr val="8FBC8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972050" y="4019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223510" y="3918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汽车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5638800" y="4400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890260" y="4299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卡车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5257800" y="487680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509260" y="4775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公交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5048250" y="4095750"/>
                <a:ext cx="666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81000">
                    <a:moveTo>
                      <a:pt x="0" y="0"/>
                    </a:moveTo>
                    <a:lnTo>
                      <a:pt x="666750" y="38100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5334000" y="447675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381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</p:grpSp>
        <p:sp>
          <p:nvSpPr>
            <p:cNvPr id="32" name="Line 32"/>
            <p:cNvSpPr/>
            <p:nvPr/>
          </p:nvSpPr>
          <p:spPr>
            <a:xfrm>
              <a:off x="2095500" y="1905000"/>
              <a:ext cx="285750" cy="762000"/>
            </a:xfrm>
            <a:custGeom>
              <a:avLst/>
              <a:gdLst/>
              <a:ahLst/>
              <a:cxnLst/>
              <a:rect l="l" t="t" r="r" b="b"/>
              <a:pathLst>
                <a:path w="285750" h="762000">
                  <a:moveTo>
                    <a:pt x="0" y="0"/>
                  </a:moveTo>
                  <a:lnTo>
                    <a:pt x="285750" y="762000"/>
                  </a:lnTo>
                </a:path>
              </a:pathLst>
            </a:custGeom>
            <a:noFill/>
            <a:ln w="19050">
              <a:solidFill>
                <a:srgbClr val="8FBC8F"/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14500" y="2238375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32579" y="2303145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近 ✓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095500" y="1905000"/>
              <a:ext cx="2952750" cy="2190750"/>
            </a:xfrm>
            <a:custGeom>
              <a:avLst/>
              <a:gdLst/>
              <a:ahLst/>
              <a:cxnLst/>
              <a:rect l="l" t="t" r="r" b="b"/>
              <a:pathLst>
                <a:path w="2952750" h="2190750">
                  <a:moveTo>
                    <a:pt x="0" y="0"/>
                  </a:moveTo>
                  <a:lnTo>
                    <a:pt x="2952750" y="2190750"/>
                  </a:lnTo>
                </a:path>
              </a:pathLst>
            </a:custGeom>
            <a:noFill/>
            <a:ln w="19050">
              <a:solidFill>
                <a:srgbClr val="D4837F"/>
              </a:solidFill>
              <a:prstDash val="dash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38500" y="2857500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56579" y="2922270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远 ✗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524750" y="952500"/>
            <a:ext cx="4095750" cy="4953000"/>
            <a:chOff x="7524750" y="952500"/>
            <a:chExt cx="4095750" cy="4953000"/>
          </a:xfrm>
        </p:grpSpPr>
        <p:sp>
          <p:nvSpPr>
            <p:cNvPr id="39" name="Rectangle 39"/>
            <p:cNvSpPr/>
            <p:nvPr/>
          </p:nvSpPr>
          <p:spPr>
            <a:xfrm>
              <a:off x="7524750" y="952500"/>
              <a:ext cx="4095750" cy="4953000"/>
            </a:xfrm>
            <a:prstGeom prst="roundRect">
              <a:avLst>
                <a:gd name="adj" fmla="val 372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835027" y="1216355"/>
              <a:ext cx="255728" cy="253327"/>
              <a:chOff x="7835027" y="1216355"/>
              <a:chExt cx="255728" cy="25332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972184" y="1393825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46504" y="1393825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42961" y="1393825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835027" y="1317625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935985" y="1317625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013268" y="1317625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846466" y="1216368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42961" y="1242898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972209" y="1216355"/>
                <a:ext cx="107125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5" y="75870"/>
                    </a:cubicBezTo>
                    <a:lnTo>
                      <a:pt x="36767" y="75870"/>
                    </a:lnTo>
                    <a:cubicBezTo>
                      <a:pt x="31099" y="51008"/>
                      <a:pt x="21312" y="27270"/>
                      <a:pt x="7810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221980" y="1263968"/>
              <a:ext cx="15248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Embedding 原理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810500" y="1571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96212" y="1783556"/>
              <a:ext cx="1564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把每个 Token 映射成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96212" y="20216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高维空间里的坐标点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97165" y="2410778"/>
              <a:ext cx="2487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实际维度：1536维（这里简化为2D）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810500" y="2714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96212" y="287893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对比学习训练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97165" y="317277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语义相似的文本对 → </a:t>
              </a:r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拉近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97165" y="341090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语义不相似的文本对 → </a:t>
              </a:r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推远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810500" y="37147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96212" y="3879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外部应用：语义搜索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97165" y="417290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文档 → Embedding → 向量 → 存库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7165" y="4411028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问题 → Embedding → 向量 → 搜索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7165" y="4649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靠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向量距离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找到语义最相关的文档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810500" y="4953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5143500"/>
              <a:ext cx="3619500" cy="523875"/>
            </a:xfrm>
            <a:prstGeom prst="roundRect">
              <a:avLst>
                <a:gd name="adj" fmla="val 1454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87665" y="52682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记住这个概念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88618" y="5466874"/>
              <a:ext cx="23672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RAG 就是直接建立在 Embedding 之上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3897211" y="1504950"/>
            <a:ext cx="4397578" cy="3334979"/>
            <a:chOff x="3897211" y="1504950"/>
            <a:chExt cx="4397578" cy="333497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97211" y="2849880"/>
              <a:ext cx="43975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RAG + 向量数据库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AI 查资料再回答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8848" y="4220528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AF7F2">
                      <a:alphaMod val="50000"/>
                    </a:srgbClr>
                  </a:solidFill>
                  <a:latin typeface="Consolas"/>
                  <a:ea typeface="Microsoft YaHei"/>
                  <a:cs typeface="Consolas"/>
                </a:rPr>
                <a:t>Retrieval-Augmented Generation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27445" y="4539539"/>
              <a:ext cx="298359" cy="300390"/>
            </a:xfrm>
            <a:custGeom>
              <a:avLst/>
              <a:gdLst/>
              <a:ahLst/>
              <a:cxnLst/>
              <a:rect l="l" t="t" r="r" b="b"/>
              <a:pathLst>
                <a:path w="298359" h="300390">
                  <a:moveTo>
                    <a:pt x="182830" y="28728"/>
                  </a:moveTo>
                  <a:cubicBezTo>
                    <a:pt x="211435" y="45240"/>
                    <a:pt x="231498" y="73318"/>
                    <a:pt x="237852" y="105729"/>
                  </a:cubicBezTo>
                  <a:cubicBezTo>
                    <a:pt x="244206" y="138140"/>
                    <a:pt x="236230" y="171716"/>
                    <a:pt x="215977" y="197806"/>
                  </a:cubicBezTo>
                  <a:lnTo>
                    <a:pt x="292944" y="274773"/>
                  </a:lnTo>
                  <a:cubicBezTo>
                    <a:pt x="298359" y="280379"/>
                    <a:pt x="298281" y="289290"/>
                    <a:pt x="292770" y="294801"/>
                  </a:cubicBezTo>
                  <a:cubicBezTo>
                    <a:pt x="287259" y="300312"/>
                    <a:pt x="278348" y="300390"/>
                    <a:pt x="272742" y="294975"/>
                  </a:cubicBezTo>
                  <a:lnTo>
                    <a:pt x="195760" y="218008"/>
                  </a:lnTo>
                  <a:cubicBezTo>
                    <a:pt x="150383" y="253219"/>
                    <a:pt x="85923" y="249287"/>
                    <a:pt x="45162" y="208821"/>
                  </a:cubicBezTo>
                  <a:cubicBezTo>
                    <a:pt x="4401" y="168356"/>
                    <a:pt x="0" y="103926"/>
                    <a:pt x="34880" y="58294"/>
                  </a:cubicBezTo>
                  <a:cubicBezTo>
                    <a:pt x="69760" y="12661"/>
                    <a:pt x="133086" y="0"/>
                    <a:pt x="182830" y="2871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2" name="TextBox 12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101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RAG 三步流程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检索增强生成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047750"/>
            <a:ext cx="3238500" cy="3810000"/>
            <a:chOff x="571500" y="1047750"/>
            <a:chExt cx="3238500" cy="3810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572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6465" y="1422082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73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建库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39165" y="1927225"/>
              <a:ext cx="2107978" cy="2444750"/>
              <a:chOff x="939165" y="1927225"/>
              <a:chExt cx="2107978" cy="2444750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996949" y="1927225"/>
                <a:ext cx="177802" cy="222251"/>
                <a:chOff x="996949" y="1927225"/>
                <a:chExt cx="177802" cy="222251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96949" y="1927225"/>
                  <a:ext cx="177802" cy="2222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2" h="222251">
                      <a:moveTo>
                        <a:pt x="88901" y="0"/>
                      </a:moveTo>
                      <a:lnTo>
                        <a:pt x="90201" y="78"/>
                      </a:lnTo>
                      <a:cubicBezTo>
                        <a:pt x="95307" y="680"/>
                        <a:pt x="99334" y="4706"/>
                        <a:pt x="99936" y="9812"/>
                      </a:cubicBezTo>
                      <a:lnTo>
                        <a:pt x="100013" y="11112"/>
                      </a:lnTo>
                      <a:lnTo>
                        <a:pt x="100013" y="55562"/>
                      </a:lnTo>
                      <a:lnTo>
                        <a:pt x="100069" y="57229"/>
                      </a:lnTo>
                      <a:cubicBezTo>
                        <a:pt x="100891" y="68163"/>
                        <a:pt x="109563" y="76864"/>
                        <a:pt x="120494" y="77721"/>
                      </a:cubicBezTo>
                      <a:lnTo>
                        <a:pt x="122238" y="77787"/>
                      </a:lnTo>
                      <a:lnTo>
                        <a:pt x="166688" y="77787"/>
                      </a:lnTo>
                      <a:lnTo>
                        <a:pt x="167989" y="77865"/>
                      </a:lnTo>
                      <a:cubicBezTo>
                        <a:pt x="173095" y="78467"/>
                        <a:pt x="177121" y="82494"/>
                        <a:pt x="177723" y="87600"/>
                      </a:cubicBezTo>
                      <a:lnTo>
                        <a:pt x="177801" y="88900"/>
                      </a:lnTo>
                      <a:lnTo>
                        <a:pt x="177801" y="188912"/>
                      </a:lnTo>
                      <a:cubicBezTo>
                        <a:pt x="177802" y="206565"/>
                        <a:pt x="164042" y="221159"/>
                        <a:pt x="146419" y="222194"/>
                      </a:cubicBezTo>
                      <a:lnTo>
                        <a:pt x="144463" y="222250"/>
                      </a:lnTo>
                      <a:lnTo>
                        <a:pt x="33338" y="222250"/>
                      </a:lnTo>
                      <a:cubicBezTo>
                        <a:pt x="15686" y="222251"/>
                        <a:pt x="1092" y="208491"/>
                        <a:pt x="57" y="190868"/>
                      </a:cubicBezTo>
                      <a:lnTo>
                        <a:pt x="1" y="188913"/>
                      </a:lnTo>
                      <a:lnTo>
                        <a:pt x="1" y="33338"/>
                      </a:lnTo>
                      <a:cubicBezTo>
                        <a:pt x="0" y="15685"/>
                        <a:pt x="13760" y="1091"/>
                        <a:pt x="31383" y="56"/>
                      </a:cubicBezTo>
                      <a:lnTo>
                        <a:pt x="33338" y="0"/>
                      </a:lnTo>
                      <a:close/>
                      <a:moveTo>
                        <a:pt x="122238" y="155575"/>
                      </a:moveTo>
                      <a:lnTo>
                        <a:pt x="55563" y="155575"/>
                      </a:lnTo>
                      <a:cubicBezTo>
                        <a:pt x="49426" y="155575"/>
                        <a:pt x="44451" y="160550"/>
                        <a:pt x="44451" y="166688"/>
                      </a:cubicBezTo>
                      <a:cubicBezTo>
                        <a:pt x="44451" y="172825"/>
                        <a:pt x="49426" y="177800"/>
                        <a:pt x="55563" y="177800"/>
                      </a:cubicBezTo>
                      <a:lnTo>
                        <a:pt x="122238" y="177800"/>
                      </a:lnTo>
                      <a:cubicBezTo>
                        <a:pt x="128376" y="177800"/>
                        <a:pt x="133351" y="172825"/>
                        <a:pt x="133351" y="166688"/>
                      </a:cubicBezTo>
                      <a:cubicBezTo>
                        <a:pt x="133351" y="160550"/>
                        <a:pt x="128376" y="155575"/>
                        <a:pt x="122238" y="155575"/>
                      </a:cubicBezTo>
                      <a:moveTo>
                        <a:pt x="122238" y="111125"/>
                      </a:moveTo>
                      <a:lnTo>
                        <a:pt x="55563" y="111125"/>
                      </a:lnTo>
                      <a:cubicBezTo>
                        <a:pt x="49426" y="111125"/>
                        <a:pt x="44451" y="116100"/>
                        <a:pt x="44451" y="122237"/>
                      </a:cubicBezTo>
                      <a:cubicBezTo>
                        <a:pt x="44451" y="128375"/>
                        <a:pt x="49426" y="133350"/>
                        <a:pt x="55563" y="133350"/>
                      </a:cubicBezTo>
                      <a:lnTo>
                        <a:pt x="122238" y="133350"/>
                      </a:lnTo>
                      <a:cubicBezTo>
                        <a:pt x="128376" y="133350"/>
                        <a:pt x="133351" y="128375"/>
                        <a:pt x="133351" y="122237"/>
                      </a:cubicBezTo>
                      <a:cubicBezTo>
                        <a:pt x="133351" y="116100"/>
                        <a:pt x="128376" y="111125"/>
                        <a:pt x="122238" y="111125"/>
                      </a:cubicBezTo>
                      <a:moveTo>
                        <a:pt x="66676" y="66675"/>
                      </a:moveTo>
                      <a:lnTo>
                        <a:pt x="55563" y="66675"/>
                      </a:lnTo>
                      <a:cubicBezTo>
                        <a:pt x="49426" y="66675"/>
                        <a:pt x="44451" y="71650"/>
                        <a:pt x="44451" y="77787"/>
                      </a:cubicBezTo>
                      <a:cubicBezTo>
                        <a:pt x="44451" y="83925"/>
                        <a:pt x="49426" y="88900"/>
                        <a:pt x="55563" y="88900"/>
                      </a:cubicBezTo>
                      <a:lnTo>
                        <a:pt x="66676" y="88900"/>
                      </a:lnTo>
                      <a:cubicBezTo>
                        <a:pt x="72813" y="88900"/>
                        <a:pt x="77788" y="83925"/>
                        <a:pt x="77788" y="77787"/>
                      </a:cubicBezTo>
                      <a:cubicBezTo>
                        <a:pt x="77788" y="71650"/>
                        <a:pt x="72813" y="66675"/>
                        <a:pt x="66676" y="66675"/>
                      </a:cubicBezTo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76" y="1938326"/>
                  <a:ext cx="44461" cy="4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61" h="44461">
                      <a:moveTo>
                        <a:pt x="44461" y="44461"/>
                      </a:moveTo>
                      <a:lnTo>
                        <a:pt x="11" y="444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320165" y="19821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文档集合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223135" y="1965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63165" y="1982152"/>
                <a:ext cx="5480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✂️ 切片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538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9165" y="2744152"/>
                <a:ext cx="14145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🔢 Embedding 向量化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75385" y="3108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985837" y="3403600"/>
                <a:ext cx="200026" cy="222250"/>
                <a:chOff x="985837" y="3403600"/>
                <a:chExt cx="200026" cy="22225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985838" y="355618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85838" y="34895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85837" y="340360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320165" y="3458528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向量数据库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22070" y="3665220"/>
                <a:ext cx="17250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Pinecone / Milvus / Chroma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1070" y="39985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存的是向量，靠距离搜索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1070" y="4189095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（不是关键词匹配）</a:t>
                </a:r>
              </a:p>
            </p:txBody>
          </p:sp>
        </p:grpSp>
      </p:grpSp>
      <p:sp>
        <p:nvSpPr>
          <p:cNvPr id="31" name="Line 31"/>
          <p:cNvSpPr/>
          <p:nvPr/>
        </p:nvSpPr>
        <p:spPr>
          <a:xfrm>
            <a:off x="390525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48" name="Group 48"/>
          <p:cNvGrpSpPr/>
          <p:nvPr/>
        </p:nvGrpSpPr>
        <p:grpSpPr>
          <a:xfrm>
            <a:off x="4286250" y="1047750"/>
            <a:ext cx="3238500" cy="3810000"/>
            <a:chOff x="4286250" y="1047750"/>
            <a:chExt cx="3238500" cy="3810000"/>
          </a:xfrm>
        </p:grpSpPr>
        <p:sp>
          <p:nvSpPr>
            <p:cNvPr id="32" name="Rectangle 32"/>
            <p:cNvSpPr/>
            <p:nvPr/>
          </p:nvSpPr>
          <p:spPr>
            <a:xfrm>
              <a:off x="428625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8625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1958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7207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653915" y="1886902"/>
              <a:ext cx="1851660" cy="2580323"/>
              <a:chOff x="4653915" y="1886902"/>
              <a:chExt cx="1851660" cy="258032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4653915" y="1886902"/>
                <a:ext cx="7704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❓ 用户问题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985385" y="2204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53915" y="2553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🔢 问题 → 向量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985385" y="2870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4680624" y="3155044"/>
                <a:ext cx="232057" cy="233636"/>
              </a:xfrm>
              <a:custGeom>
                <a:avLst/>
                <a:gdLst/>
                <a:ahLst/>
                <a:cxnLst/>
                <a:rect l="l" t="t" r="r" b="b"/>
                <a:pathLst>
                  <a:path w="232057" h="233636">
                    <a:moveTo>
                      <a:pt x="142201" y="22344"/>
                    </a:moveTo>
                    <a:cubicBezTo>
                      <a:pt x="164449" y="35186"/>
                      <a:pt x="180054" y="57025"/>
                      <a:pt x="184996" y="82234"/>
                    </a:cubicBezTo>
                    <a:cubicBezTo>
                      <a:pt x="189938" y="107442"/>
                      <a:pt x="183734" y="133557"/>
                      <a:pt x="167982" y="153849"/>
                    </a:cubicBezTo>
                    <a:lnTo>
                      <a:pt x="227845" y="213712"/>
                    </a:lnTo>
                    <a:cubicBezTo>
                      <a:pt x="232057" y="218072"/>
                      <a:pt x="231996" y="225003"/>
                      <a:pt x="227710" y="229290"/>
                    </a:cubicBezTo>
                    <a:cubicBezTo>
                      <a:pt x="223424" y="233576"/>
                      <a:pt x="216493" y="233636"/>
                      <a:pt x="212132" y="229425"/>
                    </a:cubicBezTo>
                    <a:lnTo>
                      <a:pt x="152258" y="169562"/>
                    </a:lnTo>
                    <a:cubicBezTo>
                      <a:pt x="116964" y="196948"/>
                      <a:pt x="66829" y="193890"/>
                      <a:pt x="35126" y="162416"/>
                    </a:cubicBezTo>
                    <a:cubicBezTo>
                      <a:pt x="3423" y="130943"/>
                      <a:pt x="0" y="80831"/>
                      <a:pt x="27129" y="45339"/>
                    </a:cubicBezTo>
                    <a:cubicBezTo>
                      <a:pt x="54258" y="9847"/>
                      <a:pt x="103512" y="0"/>
                      <a:pt x="142201" y="2233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34915" y="32204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语义搜索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36820" y="34270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在向量数据库中找最近的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985385" y="36804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653915" y="4030028"/>
                <a:ext cx="1298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📑 Top-K 相关文档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655820" y="4284345"/>
                <a:ext cx="12255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取最相关的 K 段文档</a:t>
                </a:r>
              </a:p>
            </p:txBody>
          </p:sp>
        </p:grpSp>
      </p:grpSp>
      <p:sp>
        <p:nvSpPr>
          <p:cNvPr id="49" name="Line 49"/>
          <p:cNvSpPr/>
          <p:nvPr/>
        </p:nvSpPr>
        <p:spPr>
          <a:xfrm>
            <a:off x="762000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74" name="Group 74"/>
          <p:cNvGrpSpPr/>
          <p:nvPr/>
        </p:nvGrpSpPr>
        <p:grpSpPr>
          <a:xfrm>
            <a:off x="8001000" y="1047750"/>
            <a:ext cx="3619500" cy="3810000"/>
            <a:chOff x="8001000" y="1047750"/>
            <a:chExt cx="3619500" cy="3810000"/>
          </a:xfrm>
        </p:grpSpPr>
        <p:sp>
          <p:nvSpPr>
            <p:cNvPr id="50" name="Rectangle 50"/>
            <p:cNvSpPr/>
            <p:nvPr/>
          </p:nvSpPr>
          <p:spPr>
            <a:xfrm>
              <a:off x="8001000" y="1047750"/>
              <a:ext cx="3619500" cy="38100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1000" y="104775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867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433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68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8286750" y="1886902"/>
              <a:ext cx="3048000" cy="2770823"/>
              <a:chOff x="8286750" y="1886902"/>
              <a:chExt cx="3048000" cy="2770823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8368665" y="1886902"/>
                <a:ext cx="9314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📑 Top-K 文档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368665" y="20964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+ ❓ 用户问题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70013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368665" y="2696528"/>
                <a:ext cx="15448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塞入 Context Window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00135" y="2966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grpSp>
            <p:nvGrpSpPr>
              <p:cNvPr id="67" name="Group 67"/>
              <p:cNvGrpSpPr/>
              <p:nvPr/>
            </p:nvGrpSpPr>
            <p:grpSpPr>
              <a:xfrm>
                <a:off x="8403912" y="3260725"/>
                <a:ext cx="222876" cy="222250"/>
                <a:chOff x="8403912" y="3260725"/>
                <a:chExt cx="222876" cy="2222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403912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504238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2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2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592824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432035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566328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82012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3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2" y="0"/>
                      </a:lnTo>
                      <a:lnTo>
                        <a:pt x="55563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443021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49665" y="3315652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LLM 基于参考资料回答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700135" y="3632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8286750" y="3905250"/>
                <a:ext cx="3048000" cy="428625"/>
              </a:xfrm>
              <a:prstGeom prst="roundRect">
                <a:avLst>
                  <a:gd name="adj" fmla="val 17778"/>
                </a:avLst>
              </a:prstGeom>
              <a:solidFill>
                <a:srgbClr val="8FBC8F">
                  <a:alpha val="15000"/>
                </a:srgbClr>
              </a:solidFill>
              <a:ln w="9525">
                <a:solidFill>
                  <a:srgbClr val="8FBC8F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073220" y="4061460"/>
                <a:ext cx="14750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💬 有据可查的回答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0570" y="4474845"/>
                <a:ext cx="17316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不是凭空编造，基于真实文档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71500" y="5143500"/>
            <a:ext cx="11049000" cy="666750"/>
            <a:chOff x="571500" y="5143500"/>
            <a:chExt cx="11049000" cy="666750"/>
          </a:xfrm>
        </p:grpSpPr>
        <p:sp>
          <p:nvSpPr>
            <p:cNvPr id="75" name="Rectangle 75"/>
            <p:cNvSpPr/>
            <p:nvPr/>
          </p:nvSpPr>
          <p:spPr>
            <a:xfrm>
              <a:off x="571500" y="51435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817543" y="5286375"/>
              <a:ext cx="25569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 = 搜索引擎 + 大模型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774710" y="5582602"/>
              <a:ext cx="46425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搜索引擎负责找到相关资料，大模型负责把资料"翻译"成人话回答你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8" grpId="0"/>
      <p:bldP spid="74" grpId="0"/>
      <p:bldP spid="7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128034" cy="457200"/>
            <a:chOff x="542925" y="376238"/>
            <a:chExt cx="312803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1280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RAG vs Fine-tuning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sp>
        <p:nvSpPr>
          <p:cNvPr id="6" name="Rectangle 6"/>
          <p:cNvSpPr/>
          <p:nvPr/>
        </p:nvSpPr>
        <p:spPr>
          <a:xfrm>
            <a:off x="5572125" y="257175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50434" y="26670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/>
                <a:ea typeface="SimSun"/>
                <a:cs typeface="Georgia"/>
              </a:rPr>
              <a:t>VS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1047750"/>
            <a:ext cx="4762500" cy="4000500"/>
            <a:chOff x="571500" y="1047750"/>
            <a:chExt cx="47625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85825" y="1334184"/>
              <a:ext cx="285750" cy="238078"/>
            </a:xfrm>
            <a:custGeom>
              <a:avLst/>
              <a:gdLst/>
              <a:ahLst/>
              <a:cxnLst/>
              <a:rect l="l" t="t" r="r" b="b"/>
              <a:pathLst>
                <a:path w="285750" h="238078">
                  <a:moveTo>
                    <a:pt x="278606" y="25043"/>
                  </a:moveTo>
                  <a:cubicBezTo>
                    <a:pt x="282508" y="27295"/>
                    <a:pt x="285118" y="31256"/>
                    <a:pt x="285650" y="35730"/>
                  </a:cubicBezTo>
                  <a:lnTo>
                    <a:pt x="285750" y="37416"/>
                  </a:lnTo>
                  <a:lnTo>
                    <a:pt x="285750" y="223153"/>
                  </a:lnTo>
                  <a:cubicBezTo>
                    <a:pt x="285750" y="228257"/>
                    <a:pt x="283027" y="232974"/>
                    <a:pt x="278606" y="235526"/>
                  </a:cubicBezTo>
                  <a:cubicBezTo>
                    <a:pt x="274186" y="238078"/>
                    <a:pt x="268739" y="238078"/>
                    <a:pt x="264319" y="235526"/>
                  </a:cubicBezTo>
                  <a:cubicBezTo>
                    <a:pt x="231447" y="216545"/>
                    <a:pt x="191296" y="215121"/>
                    <a:pt x="157162" y="231726"/>
                  </a:cubicBezTo>
                  <a:lnTo>
                    <a:pt x="157162" y="14927"/>
                  </a:lnTo>
                  <a:cubicBezTo>
                    <a:pt x="197124" y="0"/>
                    <a:pt x="241665" y="3710"/>
                    <a:pt x="278606" y="25043"/>
                  </a:cubicBezTo>
                  <a:moveTo>
                    <a:pt x="128588" y="14941"/>
                  </a:moveTo>
                  <a:lnTo>
                    <a:pt x="128602" y="231740"/>
                  </a:lnTo>
                  <a:cubicBezTo>
                    <a:pt x="95852" y="215797"/>
                    <a:pt x="57464" y="216418"/>
                    <a:pt x="25246" y="233411"/>
                  </a:cubicBezTo>
                  <a:lnTo>
                    <a:pt x="20574" y="235983"/>
                  </a:lnTo>
                  <a:lnTo>
                    <a:pt x="19102" y="236612"/>
                  </a:lnTo>
                  <a:lnTo>
                    <a:pt x="18402" y="236840"/>
                  </a:lnTo>
                  <a:lnTo>
                    <a:pt x="16831" y="237212"/>
                  </a:lnTo>
                  <a:lnTo>
                    <a:pt x="15959" y="237355"/>
                  </a:lnTo>
                  <a:lnTo>
                    <a:pt x="14288" y="237441"/>
                  </a:lnTo>
                  <a:lnTo>
                    <a:pt x="13687" y="237441"/>
                  </a:lnTo>
                  <a:lnTo>
                    <a:pt x="12116" y="237269"/>
                  </a:lnTo>
                  <a:lnTo>
                    <a:pt x="11016" y="237069"/>
                  </a:lnTo>
                  <a:lnTo>
                    <a:pt x="9473" y="236612"/>
                  </a:lnTo>
                  <a:lnTo>
                    <a:pt x="7672" y="235812"/>
                  </a:lnTo>
                  <a:lnTo>
                    <a:pt x="6315" y="235012"/>
                  </a:lnTo>
                  <a:lnTo>
                    <a:pt x="5043" y="234054"/>
                  </a:lnTo>
                  <a:lnTo>
                    <a:pt x="4186" y="233254"/>
                  </a:lnTo>
                  <a:lnTo>
                    <a:pt x="3143" y="232083"/>
                  </a:lnTo>
                  <a:lnTo>
                    <a:pt x="2229" y="230811"/>
                  </a:lnTo>
                  <a:lnTo>
                    <a:pt x="1915" y="230297"/>
                  </a:lnTo>
                  <a:lnTo>
                    <a:pt x="1457" y="229440"/>
                  </a:lnTo>
                  <a:lnTo>
                    <a:pt x="829" y="227968"/>
                  </a:lnTo>
                  <a:lnTo>
                    <a:pt x="600" y="227268"/>
                  </a:lnTo>
                  <a:lnTo>
                    <a:pt x="229" y="225696"/>
                  </a:lnTo>
                  <a:lnTo>
                    <a:pt x="86" y="224825"/>
                  </a:lnTo>
                  <a:lnTo>
                    <a:pt x="29" y="224125"/>
                  </a:lnTo>
                  <a:lnTo>
                    <a:pt x="0" y="37416"/>
                  </a:lnTo>
                  <a:cubicBezTo>
                    <a:pt x="0" y="32311"/>
                    <a:pt x="2723" y="27595"/>
                    <a:pt x="7144" y="25043"/>
                  </a:cubicBezTo>
                  <a:cubicBezTo>
                    <a:pt x="44087" y="3715"/>
                    <a:pt x="88628" y="10"/>
                    <a:pt x="128588" y="14941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2545" y="1345882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455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开卷考试 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2402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给你参考资料，照着回答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3915" y="28870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成本低（无需 GPU 训练）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31727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可随时更新资料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34585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有引用来源，可追溯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39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回答速度受检索影响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915" y="403002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检索质量直接决定回答质量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72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22537" y="45429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2025-2026 企业 AI 落地最多的场景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0" y="1047750"/>
            <a:ext cx="4762500" cy="4000500"/>
            <a:chOff x="6858000" y="1047750"/>
            <a:chExt cx="4762500" cy="4000500"/>
          </a:xfrm>
        </p:grpSpPr>
        <p:sp>
          <p:nvSpPr>
            <p:cNvPr id="24" name="Rectangle 24"/>
            <p:cNvSpPr/>
            <p:nvPr/>
          </p:nvSpPr>
          <p:spPr>
            <a:xfrm>
              <a:off x="68580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171922" y="1314450"/>
              <a:ext cx="286556" cy="285750"/>
              <a:chOff x="7171922" y="131445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171922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00912" y="131445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14810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08081" y="135018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80743" y="135020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72338" y="154305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22206" y="137160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99045" y="1345882"/>
              <a:ext cx="1446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437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320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上课学习 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29462" y="2402681"/>
              <a:ext cx="2509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用数据继续训练，知识"烧进"权重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1437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30415" y="288702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回答更快更自然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0415" y="31727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学会行业术语和表达风格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30415" y="34585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成本高（需要 GPU 训练）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04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更新知识得重新训练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0415" y="40300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无法引用来源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437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1276" y="45429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适合学习领域术语和表达风格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5286375"/>
            <a:ext cx="11049000" cy="619125"/>
            <a:chOff x="571500" y="5286375"/>
            <a:chExt cx="11049000" cy="619125"/>
          </a:xfrm>
        </p:grpSpPr>
        <p:sp>
          <p:nvSpPr>
            <p:cNvPr id="47" name="Rectangle 47"/>
            <p:cNvSpPr/>
            <p:nvPr/>
          </p:nvSpPr>
          <p:spPr>
            <a:xfrm>
              <a:off x="571500" y="5286375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79162" y="5451475"/>
              <a:ext cx="222876" cy="222250"/>
              <a:chOff x="879162" y="545147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79162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79488" y="54514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68074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07285" y="54792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41578" y="54792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57262" y="56292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8271" y="54959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23010" y="55283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实际项目经常结合使用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01415" y="5544502"/>
              <a:ext cx="3546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Fine-tuning 学会术语风格 + RAG 提供具体事实信息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6" grpId="0"/>
      <p:bldP spid="5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110513" y="1504950"/>
            <a:ext cx="5970975" cy="3081337"/>
            <a:chOff x="3110513" y="1504950"/>
            <a:chExt cx="5970975" cy="3081337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07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110513" y="2849880"/>
              <a:ext cx="59709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Function Calling / Tool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0896" y="3838575"/>
              <a:ext cx="16702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AI 学会用工具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3112" y="4335518"/>
              <a:ext cx="250778" cy="250769"/>
            </a:xfrm>
            <a:custGeom>
              <a:avLst/>
              <a:gdLst/>
              <a:ahLst/>
              <a:cxnLst/>
              <a:rect l="l" t="t" r="r" b="b"/>
              <a:pathLst>
                <a:path w="250778" h="250769">
                  <a:moveTo>
                    <a:pt x="129802" y="43600"/>
                  </a:moveTo>
                  <a:lnTo>
                    <a:pt x="207169" y="120967"/>
                  </a:lnTo>
                  <a:lnTo>
                    <a:pt x="81539" y="246583"/>
                  </a:lnTo>
                  <a:cubicBezTo>
                    <a:pt x="78860" y="249262"/>
                    <a:pt x="75226" y="250768"/>
                    <a:pt x="71438" y="250769"/>
                  </a:cubicBezTo>
                  <a:lnTo>
                    <a:pt x="14288" y="250769"/>
                  </a:lnTo>
                  <a:cubicBezTo>
                    <a:pt x="6397" y="250769"/>
                    <a:pt x="0" y="244372"/>
                    <a:pt x="0" y="236482"/>
                  </a:cubicBezTo>
                  <a:lnTo>
                    <a:pt x="0" y="179332"/>
                  </a:lnTo>
                  <a:cubicBezTo>
                    <a:pt x="1" y="175543"/>
                    <a:pt x="1507" y="171909"/>
                    <a:pt x="4186" y="169230"/>
                  </a:cubicBezTo>
                  <a:close/>
                  <a:moveTo>
                    <a:pt x="207040" y="5053"/>
                  </a:moveTo>
                  <a:cubicBezTo>
                    <a:pt x="225918" y="10108"/>
                    <a:pt x="240663" y="24853"/>
                    <a:pt x="245721" y="43730"/>
                  </a:cubicBezTo>
                  <a:cubicBezTo>
                    <a:pt x="250778" y="62607"/>
                    <a:pt x="245379" y="82748"/>
                    <a:pt x="231558" y="96564"/>
                  </a:cubicBezTo>
                  <a:lnTo>
                    <a:pt x="227386" y="100750"/>
                  </a:lnTo>
                  <a:lnTo>
                    <a:pt x="150019" y="23384"/>
                  </a:lnTo>
                  <a:lnTo>
                    <a:pt x="154205" y="19212"/>
                  </a:lnTo>
                  <a:cubicBezTo>
                    <a:pt x="168025" y="5397"/>
                    <a:pt x="188164" y="0"/>
                    <a:pt x="207040" y="505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14591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Function Calling 工作流程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2365" y="466249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 学会用工具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000125"/>
            <a:ext cx="11049000" cy="571500"/>
            <a:chOff x="571500" y="1000125"/>
            <a:chExt cx="11049000" cy="571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65188" y="1136650"/>
              <a:ext cx="155575" cy="222250"/>
              <a:chOff x="865188" y="1136650"/>
              <a:chExt cx="155575" cy="222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7412" y="113665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2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cubicBezTo>
                      <a:pt x="111125" y="86249"/>
                      <a:pt x="86249" y="111125"/>
                      <a:pt x="55562" y="111125"/>
                    </a:cubicBezTo>
                    <a:cubicBezTo>
                      <a:pt x="24876" y="111125"/>
                      <a:pt x="0" y="86249"/>
                      <a:pt x="0" y="55563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5188" y="127000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3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3" y="0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75385" y="12230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用户提问：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66010" y="12230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"北京今天天气怎么样？"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762125"/>
            <a:ext cx="3429000" cy="2667000"/>
            <a:chOff x="571500" y="1762125"/>
            <a:chExt cx="3429000" cy="2667000"/>
          </a:xfrm>
        </p:grpSpPr>
        <p:sp>
          <p:nvSpPr>
            <p:cNvPr id="14" name="Rectangle 14"/>
            <p:cNvSpPr/>
            <p:nvPr/>
          </p:nvSpPr>
          <p:spPr>
            <a:xfrm>
              <a:off x="57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4301" y="21212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68730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模型识别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2506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模型知道自己不知道天气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2744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但看到可用的工具列表：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3445" y="3188970"/>
              <a:ext cx="561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tools: [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6320" y="3379470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{ "name": "get_weather",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3569970"/>
              <a:ext cx="1573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"desc": "获取城市天气",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3760470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"params": {"city": "str"}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7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381500" y="1762125"/>
            <a:ext cx="3429000" cy="2667000"/>
            <a:chOff x="4381500" y="1762125"/>
            <a:chExt cx="34290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438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8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7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8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78730" y="21021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生成调用指令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8665" y="2506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模型不直接回答，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8665" y="2744152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而是输出一段 JSON：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7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03445" y="3188970"/>
              <a:ext cx="7957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tool_call: {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46320" y="3379470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"function": "get_weather",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6320" y="3569970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"arguments": {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1570" y="37604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"city": "北京"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46320" y="39509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88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191500" y="1762125"/>
            <a:ext cx="3429000" cy="2671763"/>
            <a:chOff x="8191500" y="1762125"/>
            <a:chExt cx="3429000" cy="2671763"/>
          </a:xfrm>
        </p:grpSpPr>
        <p:sp>
          <p:nvSpPr>
            <p:cNvPr id="44" name="Rectangle 44"/>
            <p:cNvSpPr/>
            <p:nvPr/>
          </p:nvSpPr>
          <p:spPr>
            <a:xfrm>
              <a:off x="819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9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8730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执行并回答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8665" y="2506028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你的代码调用真实 API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8665" y="2744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把结果喂回模型：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13445" y="3188970"/>
              <a:ext cx="982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tool_result: {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56320" y="3379470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"temp": "28°C",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6320" y="3569970"/>
              <a:ext cx="12124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"condition": "晴",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6320" y="376047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"humidity": "45%"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68665" y="4220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模型基于真实数据生成回答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4667250"/>
            <a:ext cx="11049000" cy="571500"/>
            <a:chOff x="571500" y="4667250"/>
            <a:chExt cx="11049000" cy="571500"/>
          </a:xfrm>
        </p:grpSpPr>
        <p:sp>
          <p:nvSpPr>
            <p:cNvPr id="59" name="Rectangle 59"/>
            <p:cNvSpPr/>
            <p:nvPr/>
          </p:nvSpPr>
          <p:spPr>
            <a:xfrm>
              <a:off x="571500" y="466725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79162" y="4832350"/>
              <a:ext cx="222876" cy="222250"/>
              <a:chOff x="879162" y="4832350"/>
              <a:chExt cx="222876" cy="22225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79162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79488" y="4832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68074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07285" y="4860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41578" y="4860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57262" y="5010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8271" y="4876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223010" y="484251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模型自己不会查天气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414712" y="4850606"/>
              <a:ext cx="4974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它只是学会了"在合适的时候调用工具"，然后把结果整合成自然语言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5429250"/>
            <a:ext cx="11049000" cy="523875"/>
            <a:chOff x="571500" y="5429250"/>
            <a:chExt cx="11049000" cy="523875"/>
          </a:xfrm>
        </p:grpSpPr>
        <p:sp>
          <p:nvSpPr>
            <p:cNvPr id="71" name="Rectangle 71"/>
            <p:cNvSpPr/>
            <p:nvPr/>
          </p:nvSpPr>
          <p:spPr>
            <a:xfrm>
              <a:off x="571500" y="54292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294487" y="5614035"/>
              <a:ext cx="7603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Function Calling = 模型输出 JSON 指令 → 外部代码执行 → 结果返回模型 → 模型生成最终回答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42" grpId="0"/>
      <p:bldP spid="58" grpId="0"/>
      <p:bldP spid="70" grpId="0"/>
      <p:bldP spid="7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0344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SFT — 监督微调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12289" y="46624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知识"烧进"模型权重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000125"/>
            <a:ext cx="5334000" cy="3619500"/>
            <a:chOff x="571500" y="1000125"/>
            <a:chExt cx="5334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4074" y="1241425"/>
              <a:ext cx="177802" cy="222251"/>
              <a:chOff x="854074" y="1241425"/>
              <a:chExt cx="177802" cy="2222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54074" y="124142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2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7"/>
                    </a:lnTo>
                    <a:lnTo>
                      <a:pt x="166688" y="77787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7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7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6301" y="125252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3480" y="1263968"/>
              <a:ext cx="36986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训练数据示例（Question-Answer 对）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" y="161925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18" y="1752124"/>
              <a:ext cx="1153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什么是 RAG？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1971199"/>
              <a:ext cx="32216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RAG 是检索增强生成，让 AI 先查资料再回答...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333625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0118" y="2466499"/>
              <a:ext cx="25217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Fine-tuning 和 RAG 有什么区别？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26855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Fine-tuning 像上课学习，RAG 像开卷考试...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304800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0118" y="3180874"/>
              <a:ext cx="2185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什么场景适合 Fine-tuning？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3399949"/>
              <a:ext cx="34494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需要学习行业术语、表达风格或特定任务能力时...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13680" y="3839528"/>
              <a:ext cx="24496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... 数千到数万条高质量 QA 对 ...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" y="4095750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42070" y="4190524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数据质量 &gt; 数据数量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000125"/>
            <a:ext cx="5334000" cy="3619500"/>
            <a:chOff x="6286500" y="1000125"/>
            <a:chExt cx="5334000" cy="36195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546537" y="1241425"/>
              <a:ext cx="222876" cy="222250"/>
              <a:chOff x="6546537" y="1241425"/>
              <a:chExt cx="22287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546537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46862" y="12414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35449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74660" y="12692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8953" y="12692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24638" y="14192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85646" y="128587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888480" y="12639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微调过程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0338" y="1640681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训练前（基础模型）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24625" y="1885950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118" y="194262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问："项目里 SRE 负责什么？"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5118" y="21426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答：可能胡编或给出通用回答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8670" y="2362200"/>
              <a:ext cx="10896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↓ SFT 训练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10338" y="2736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训练后（领域专家）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24625" y="2981325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5118" y="30379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问："项目里 SRE 负责什么？"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3238024"/>
              <a:ext cx="2886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答：用行业术语精确回答（知识"烧进"权重）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524625" y="3619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1290" y="37919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成本：需要 GPU 训练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1290" y="40300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更新知识 → 重新训练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11290" y="4268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无法引用来源（知识融合在权重中）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857750"/>
            <a:ext cx="11049000" cy="642938"/>
            <a:chOff x="571500" y="4857750"/>
            <a:chExt cx="11049000" cy="642938"/>
          </a:xfrm>
        </p:grpSpPr>
        <p:sp>
          <p:nvSpPr>
            <p:cNvPr id="51" name="Rectangle 51"/>
            <p:cNvSpPr/>
            <p:nvPr/>
          </p:nvSpPr>
          <p:spPr>
            <a:xfrm>
              <a:off x="571500" y="485775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79162" y="5022850"/>
              <a:ext cx="222876" cy="222250"/>
              <a:chOff x="879162" y="5022850"/>
              <a:chExt cx="222876" cy="2222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79162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79488" y="50228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68074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07285" y="50506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41578" y="50506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7262" y="52006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18271" y="50673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223010" y="5061585"/>
              <a:ext cx="243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实际项目经常 SFT + RAG 结合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24915" y="5287328"/>
              <a:ext cx="5424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SFT 学会行业术语和表达风格 + RAG 提供实时准确的事实信息 = 既懂行又不编造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3565970" y="1504950"/>
            <a:ext cx="5060061" cy="3089646"/>
            <a:chOff x="3565970" y="1504950"/>
            <a:chExt cx="5060061" cy="3089646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08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65970" y="2849880"/>
              <a:ext cx="5060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MCP — 万能接口标准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39176" y="3838575"/>
              <a:ext cx="25136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Model Context Protocol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853108" y="4329092"/>
              <a:ext cx="265537" cy="265504"/>
              <a:chOff x="5853108" y="4329092"/>
              <a:chExt cx="265537" cy="2655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23533" y="4399159"/>
                <a:ext cx="116709" cy="116709"/>
              </a:xfrm>
              <a:custGeom>
                <a:avLst/>
                <a:gdLst/>
                <a:ahLst/>
                <a:cxnLst/>
                <a:rect l="l" t="t" r="r" b="b"/>
                <a:pathLst>
                  <a:path w="116709" h="116709">
                    <a:moveTo>
                      <a:pt x="111131" y="5578"/>
                    </a:moveTo>
                    <a:cubicBezTo>
                      <a:pt x="116709" y="11157"/>
                      <a:pt x="116709" y="20201"/>
                      <a:pt x="111131" y="25780"/>
                    </a:cubicBezTo>
                    <a:lnTo>
                      <a:pt x="25406" y="111505"/>
                    </a:lnTo>
                    <a:cubicBezTo>
                      <a:pt x="21819" y="115219"/>
                      <a:pt x="16507" y="116709"/>
                      <a:pt x="11512" y="115401"/>
                    </a:cubicBezTo>
                    <a:cubicBezTo>
                      <a:pt x="6516" y="114094"/>
                      <a:pt x="2615" y="110193"/>
                      <a:pt x="1308" y="105197"/>
                    </a:cubicBezTo>
                    <a:cubicBezTo>
                      <a:pt x="0" y="100202"/>
                      <a:pt x="1490" y="94890"/>
                      <a:pt x="5204" y="91303"/>
                    </a:cubicBezTo>
                    <a:lnTo>
                      <a:pt x="90929" y="5578"/>
                    </a:lnTo>
                    <a:cubicBezTo>
                      <a:pt x="96508" y="0"/>
                      <a:pt x="105552" y="0"/>
                      <a:pt x="111131" y="5578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52235" y="4329092"/>
                <a:ext cx="166410" cy="158858"/>
              </a:xfrm>
              <a:custGeom>
                <a:avLst/>
                <a:gdLst/>
                <a:ahLst/>
                <a:cxnLst/>
                <a:rect l="l" t="t" r="r" b="b"/>
                <a:pathLst>
                  <a:path w="166410" h="158858">
                    <a:moveTo>
                      <a:pt x="132935" y="25123"/>
                    </a:moveTo>
                    <a:cubicBezTo>
                      <a:pt x="166410" y="58613"/>
                      <a:pt x="166396" y="112891"/>
                      <a:pt x="132192" y="147053"/>
                    </a:cubicBezTo>
                    <a:lnTo>
                      <a:pt x="124562" y="153682"/>
                    </a:lnTo>
                    <a:cubicBezTo>
                      <a:pt x="118605" y="158858"/>
                      <a:pt x="109579" y="158225"/>
                      <a:pt x="104403" y="152268"/>
                    </a:cubicBezTo>
                    <a:cubicBezTo>
                      <a:pt x="99226" y="146310"/>
                      <a:pt x="99860" y="137284"/>
                      <a:pt x="105817" y="132108"/>
                    </a:cubicBezTo>
                    <a:lnTo>
                      <a:pt x="112718" y="126164"/>
                    </a:lnTo>
                    <a:cubicBezTo>
                      <a:pt x="123436" y="115447"/>
                      <a:pt x="129458" y="100910"/>
                      <a:pt x="129458" y="85752"/>
                    </a:cubicBezTo>
                    <a:cubicBezTo>
                      <a:pt x="129458" y="70595"/>
                      <a:pt x="123436" y="56058"/>
                      <a:pt x="112718" y="45340"/>
                    </a:cubicBezTo>
                    <a:cubicBezTo>
                      <a:pt x="90401" y="23009"/>
                      <a:pt x="54211" y="23009"/>
                      <a:pt x="32608" y="44569"/>
                    </a:cubicBezTo>
                    <a:lnTo>
                      <a:pt x="25993" y="52227"/>
                    </a:lnTo>
                    <a:cubicBezTo>
                      <a:pt x="22655" y="56091"/>
                      <a:pt x="17508" y="57880"/>
                      <a:pt x="12493" y="56921"/>
                    </a:cubicBezTo>
                    <a:cubicBezTo>
                      <a:pt x="7477" y="55962"/>
                      <a:pt x="3354" y="52400"/>
                      <a:pt x="1677" y="47577"/>
                    </a:cubicBezTo>
                    <a:cubicBezTo>
                      <a:pt x="0" y="42754"/>
                      <a:pt x="1023" y="37403"/>
                      <a:pt x="4362" y="33539"/>
                    </a:cubicBezTo>
                    <a:lnTo>
                      <a:pt x="11691" y="25109"/>
                    </a:lnTo>
                    <a:cubicBezTo>
                      <a:pt x="27770" y="9031"/>
                      <a:pt x="49578" y="0"/>
                      <a:pt x="72316" y="3"/>
                    </a:cubicBezTo>
                    <a:cubicBezTo>
                      <a:pt x="95054" y="5"/>
                      <a:pt x="116860" y="9042"/>
                      <a:pt x="132935" y="2512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853108" y="4427491"/>
                <a:ext cx="158029" cy="167105"/>
              </a:xfrm>
              <a:custGeom>
                <a:avLst/>
                <a:gdLst/>
                <a:ahLst/>
                <a:cxnLst/>
                <a:rect l="l" t="t" r="r" b="b"/>
                <a:pathLst>
                  <a:path w="158029" h="167105">
                    <a:moveTo>
                      <a:pt x="53583" y="6464"/>
                    </a:moveTo>
                    <a:cubicBezTo>
                      <a:pt x="58800" y="12379"/>
                      <a:pt x="58237" y="21402"/>
                      <a:pt x="52326" y="26623"/>
                    </a:cubicBezTo>
                    <a:lnTo>
                      <a:pt x="45425" y="32696"/>
                    </a:lnTo>
                    <a:cubicBezTo>
                      <a:pt x="34636" y="43352"/>
                      <a:pt x="28563" y="57886"/>
                      <a:pt x="28563" y="73051"/>
                    </a:cubicBezTo>
                    <a:cubicBezTo>
                      <a:pt x="28563" y="88215"/>
                      <a:pt x="34636" y="102749"/>
                      <a:pt x="45425" y="113406"/>
                    </a:cubicBezTo>
                    <a:cubicBezTo>
                      <a:pt x="67835" y="135580"/>
                      <a:pt x="103845" y="135821"/>
                      <a:pt x="126549" y="113949"/>
                    </a:cubicBezTo>
                    <a:lnTo>
                      <a:pt x="131407" y="107405"/>
                    </a:lnTo>
                    <a:cubicBezTo>
                      <a:pt x="134454" y="103306"/>
                      <a:pt x="139457" y="101144"/>
                      <a:pt x="144530" y="101734"/>
                    </a:cubicBezTo>
                    <a:cubicBezTo>
                      <a:pt x="149604" y="102324"/>
                      <a:pt x="153977" y="105575"/>
                      <a:pt x="156003" y="110264"/>
                    </a:cubicBezTo>
                    <a:cubicBezTo>
                      <a:pt x="158029" y="114952"/>
                      <a:pt x="157400" y="120365"/>
                      <a:pt x="154353" y="124464"/>
                    </a:cubicBezTo>
                    <a:lnTo>
                      <a:pt x="148681" y="132094"/>
                    </a:lnTo>
                    <a:lnTo>
                      <a:pt x="147252" y="133722"/>
                    </a:lnTo>
                    <a:cubicBezTo>
                      <a:pt x="113469" y="167105"/>
                      <a:pt x="59119" y="167105"/>
                      <a:pt x="25337" y="133722"/>
                    </a:cubicBezTo>
                    <a:cubicBezTo>
                      <a:pt x="9123" y="117694"/>
                      <a:pt x="0" y="95842"/>
                      <a:pt x="5" y="73043"/>
                    </a:cubicBezTo>
                    <a:cubicBezTo>
                      <a:pt x="5" y="50255"/>
                      <a:pt x="9120" y="28409"/>
                      <a:pt x="25922" y="11836"/>
                    </a:cubicBezTo>
                    <a:lnTo>
                      <a:pt x="33409" y="5221"/>
                    </a:lnTo>
                    <a:cubicBezTo>
                      <a:pt x="39320" y="0"/>
                      <a:pt x="48344" y="556"/>
                      <a:pt x="53569" y="6464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6573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MCP — N×M → N+M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万能接口标准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000125"/>
            <a:ext cx="5334000" cy="3143250"/>
            <a:chOff x="571500" y="1000125"/>
            <a:chExt cx="533400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D4837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34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没有 MCP：N×M 个对接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2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 Code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90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02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76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92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自建App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238250" y="1905000"/>
              <a:ext cx="190500" cy="1143000"/>
            </a:xfrm>
            <a:custGeom>
              <a:avLst/>
              <a:gdLst/>
              <a:ahLst/>
              <a:cxnLst/>
              <a:rect l="l" t="t" r="r" b="b"/>
              <a:pathLst>
                <a:path w="190500" h="1143000">
                  <a:moveTo>
                    <a:pt x="1905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428750" y="1905000"/>
              <a:ext cx="952500" cy="1143000"/>
            </a:xfrm>
            <a:custGeom>
              <a:avLst/>
              <a:gdLst/>
              <a:ahLst/>
              <a:cxnLst/>
              <a:rect l="l" t="t" r="r" b="b"/>
              <a:pathLst>
                <a:path w="952500" h="1143000">
                  <a:moveTo>
                    <a:pt x="0" y="0"/>
                  </a:moveTo>
                  <a:lnTo>
                    <a:pt x="952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428750" y="1905000"/>
              <a:ext cx="2095500" cy="1143000"/>
            </a:xfrm>
            <a:custGeom>
              <a:avLst/>
              <a:gdLst/>
              <a:ahLst/>
              <a:cxnLst/>
              <a:rect l="l" t="t" r="r" b="b"/>
              <a:pathLst>
                <a:path w="2095500" h="1143000">
                  <a:moveTo>
                    <a:pt x="0" y="0"/>
                  </a:moveTo>
                  <a:lnTo>
                    <a:pt x="2095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428750" y="1905000"/>
              <a:ext cx="3238500" cy="1143000"/>
            </a:xfrm>
            <a:custGeom>
              <a:avLst/>
              <a:gdLst/>
              <a:ahLst/>
              <a:cxnLst/>
              <a:rect l="l" t="t" r="r" b="b"/>
              <a:pathLst>
                <a:path w="3238500" h="1143000">
                  <a:moveTo>
                    <a:pt x="0" y="0"/>
                  </a:moveTo>
                  <a:lnTo>
                    <a:pt x="3238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238250" y="1905000"/>
              <a:ext cx="1428750" cy="1143000"/>
            </a:xfrm>
            <a:custGeom>
              <a:avLst/>
              <a:gdLst/>
              <a:ahLst/>
              <a:cxnLst/>
              <a:rect l="l" t="t" r="r" b="b"/>
              <a:pathLst>
                <a:path w="1428750" h="1143000">
                  <a:moveTo>
                    <a:pt x="1428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381250" y="1905000"/>
              <a:ext cx="285750" cy="1143000"/>
            </a:xfrm>
            <a:custGeom>
              <a:avLst/>
              <a:gdLst/>
              <a:ahLst/>
              <a:cxnLst/>
              <a:rect l="l" t="t" r="r" b="b"/>
              <a:pathLst>
                <a:path w="285750" h="1143000">
                  <a:moveTo>
                    <a:pt x="285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667000" y="1905000"/>
              <a:ext cx="857250" cy="1143000"/>
            </a:xfrm>
            <a:custGeom>
              <a:avLst/>
              <a:gdLst/>
              <a:ahLst/>
              <a:cxnLst/>
              <a:rect l="l" t="t" r="r" b="b"/>
              <a:pathLst>
                <a:path w="857250" h="1143000">
                  <a:moveTo>
                    <a:pt x="0" y="0"/>
                  </a:moveTo>
                  <a:lnTo>
                    <a:pt x="857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667000" y="1905000"/>
              <a:ext cx="2000250" cy="1143000"/>
            </a:xfrm>
            <a:custGeom>
              <a:avLst/>
              <a:gdLst/>
              <a:ahLst/>
              <a:cxnLst/>
              <a:rect l="l" t="t" r="r" b="b"/>
              <a:pathLst>
                <a:path w="2000250" h="1143000">
                  <a:moveTo>
                    <a:pt x="0" y="0"/>
                  </a:moveTo>
                  <a:lnTo>
                    <a:pt x="2000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238250" y="190500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2667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381250" y="190500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1524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524250" y="1905000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381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905250" y="190500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0" y="0"/>
                  </a:moveTo>
                  <a:lnTo>
                    <a:pt x="7620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238250" y="1905000"/>
              <a:ext cx="3905250" cy="1143000"/>
            </a:xfrm>
            <a:custGeom>
              <a:avLst/>
              <a:gdLst/>
              <a:ahLst/>
              <a:cxnLst/>
              <a:rect l="l" t="t" r="r" b="b"/>
              <a:pathLst>
                <a:path w="3905250" h="1143000">
                  <a:moveTo>
                    <a:pt x="3905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381250" y="1905000"/>
              <a:ext cx="2762250" cy="1143000"/>
            </a:xfrm>
            <a:custGeom>
              <a:avLst/>
              <a:gdLst/>
              <a:ahLst/>
              <a:cxnLst/>
              <a:rect l="l" t="t" r="r" b="b"/>
              <a:pathLst>
                <a:path w="2762250" h="1143000">
                  <a:moveTo>
                    <a:pt x="2762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524250" y="1905000"/>
              <a:ext cx="1619250" cy="1143000"/>
            </a:xfrm>
            <a:custGeom>
              <a:avLst/>
              <a:gdLst/>
              <a:ahLst/>
              <a:cxnLst/>
              <a:rect l="l" t="t" r="r" b="b"/>
              <a:pathLst>
                <a:path w="1619250" h="1143000">
                  <a:moveTo>
                    <a:pt x="1619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667250" y="1905000"/>
              <a:ext cx="476250" cy="1143000"/>
            </a:xfrm>
            <a:custGeom>
              <a:avLst/>
              <a:gdLst/>
              <a:ahLst/>
              <a:cxnLst/>
              <a:rect l="l" t="t" r="r" b="b"/>
              <a:pathLst>
                <a:path w="476250" h="1143000">
                  <a:moveTo>
                    <a:pt x="476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6366" y="31699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05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05514" y="31699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Slack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48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15652" y="31699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91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4375" y="31699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96128" y="3583305"/>
              <a:ext cx="2484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837F"/>
                  </a:solidFill>
                  <a:latin typeface="Georgia"/>
                  <a:ea typeface="SimSun"/>
                  <a:cs typeface="Georgia"/>
                </a:rPr>
                <a:t>4 × 4 = 16 个对接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18646" y="389524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每加一个工具或 AI，对接量翻倍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286500" y="1000125"/>
            <a:ext cx="5334000" cy="3236119"/>
            <a:chOff x="6286500" y="1000125"/>
            <a:chExt cx="5334000" cy="3236119"/>
          </a:xfrm>
        </p:grpSpPr>
        <p:sp>
          <p:nvSpPr>
            <p:cNvPr id="45" name="Rectangle 45"/>
            <p:cNvSpPr/>
            <p:nvPr/>
          </p:nvSpPr>
          <p:spPr>
            <a:xfrm>
              <a:off x="6286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49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有了 MCP：N+M 个对接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67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67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 Code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905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17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44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91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382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07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自建App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1437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83820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96202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08585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2428875"/>
              <a:ext cx="4572000" cy="38100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72389" y="2546985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 统一协议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143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286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429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0572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67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31866" y="33604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810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11014" y="33604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Slack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953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21152" y="33604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096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429875" y="33604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59434" y="3726180"/>
              <a:ext cx="23881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BC8F"/>
                  </a:solidFill>
                  <a:latin typeface="Georgia"/>
                  <a:ea typeface="SimSun"/>
                  <a:cs typeface="Georgia"/>
                </a:rPr>
                <a:t>4 + 4 = 8 个对接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62447" y="403812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每加一个工具或 AI，只需对接一次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71500" y="4381500"/>
            <a:ext cx="11049000" cy="623888"/>
            <a:chOff x="571500" y="4381500"/>
            <a:chExt cx="11049000" cy="623888"/>
          </a:xfrm>
        </p:grpSpPr>
        <p:sp>
          <p:nvSpPr>
            <p:cNvPr id="77" name="Rectangle 77"/>
            <p:cNvSpPr/>
            <p:nvPr/>
          </p:nvSpPr>
          <p:spPr>
            <a:xfrm>
              <a:off x="571500" y="438150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79162" y="4546600"/>
              <a:ext cx="222876" cy="222250"/>
              <a:chOff x="879162" y="4546600"/>
              <a:chExt cx="222876" cy="22225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79162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79488" y="454660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068074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07285" y="457439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41578" y="457440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57262" y="47244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18271" y="4591050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223010" y="4585335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类比 USB 标准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653665" y="4601528"/>
              <a:ext cx="4006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以前每个设备一根专用线，USB 之后所有设备共用一个接口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224915" y="4792028"/>
              <a:ext cx="1813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MCP = AI 工具世界的 USB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71500" y="5191125"/>
            <a:ext cx="11049000" cy="523875"/>
            <a:chOff x="571500" y="5191125"/>
            <a:chExt cx="11049000" cy="523875"/>
          </a:xfrm>
        </p:grpSpPr>
        <p:sp>
          <p:nvSpPr>
            <p:cNvPr id="90" name="Rectangle 90"/>
            <p:cNvSpPr/>
            <p:nvPr/>
          </p:nvSpPr>
          <p:spPr>
            <a:xfrm>
              <a:off x="571500" y="5191125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745343" y="5375910"/>
              <a:ext cx="67013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2025年 Anthropic 发布，现在已成为行业事实标准 — 几乎所有 AI 工具都支持 MCP</a:t>
              </a: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76" grpId="0"/>
      <p:bldP spid="89" grpId="0"/>
      <p:bldP spid="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145642" y="1504950"/>
            <a:ext cx="3900716" cy="3105540"/>
            <a:chOff x="4145642" y="1504950"/>
            <a:chExt cx="3900716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09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45642" y="2849880"/>
              <a:ext cx="3900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Agent — 智能体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36532" y="3838575"/>
              <a:ext cx="29189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会思考、会行动、会学习的 AI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7401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ReAct 循环 — Agent 的核心逻辑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79256" y="4662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Think → Act → Observe → Repeat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24000" y="1238250"/>
            <a:ext cx="9525000" cy="2395538"/>
            <a:chOff x="1524000" y="1238250"/>
            <a:chExt cx="9525000" cy="2395538"/>
          </a:xfrm>
        </p:grpSpPr>
        <p:sp>
          <p:nvSpPr>
            <p:cNvPr id="7" name="Rectangle 7"/>
            <p:cNvSpPr/>
            <p:nvPr/>
          </p:nvSpPr>
          <p:spPr>
            <a:xfrm>
              <a:off x="1524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834792" y="1501775"/>
              <a:ext cx="254716" cy="254000"/>
              <a:chOff x="1834792" y="1501775"/>
              <a:chExt cx="254716" cy="254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347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49450" y="150177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506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66933" y="153354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20411" y="153355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924050" y="17049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879488" y="155257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219325" y="1533525"/>
              <a:ext cx="11422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Think 思考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分析当前状态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6415" y="2125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决定下一步做什么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8320" y="236029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"用户要查天气，我需要调用API"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191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276850" y="1520169"/>
              <a:ext cx="222914" cy="222906"/>
            </a:xfrm>
            <a:custGeom>
              <a:avLst/>
              <a:gdLst/>
              <a:ahLst/>
              <a:cxnLst/>
              <a:rect l="l" t="t" r="r" b="b"/>
              <a:pathLst>
                <a:path w="222914" h="222906">
                  <a:moveTo>
                    <a:pt x="115380" y="38756"/>
                  </a:moveTo>
                  <a:lnTo>
                    <a:pt x="184150" y="107526"/>
                  </a:lnTo>
                  <a:lnTo>
                    <a:pt x="72479" y="219185"/>
                  </a:lnTo>
                  <a:cubicBezTo>
                    <a:pt x="70098" y="221567"/>
                    <a:pt x="66868" y="222905"/>
                    <a:pt x="63500" y="222906"/>
                  </a:cubicBezTo>
                  <a:lnTo>
                    <a:pt x="12700" y="222906"/>
                  </a:lnTo>
                  <a:cubicBezTo>
                    <a:pt x="5686" y="222906"/>
                    <a:pt x="0" y="217220"/>
                    <a:pt x="0" y="210206"/>
                  </a:cubicBezTo>
                  <a:lnTo>
                    <a:pt x="0" y="159406"/>
                  </a:lnTo>
                  <a:cubicBezTo>
                    <a:pt x="1" y="156038"/>
                    <a:pt x="1339" y="152808"/>
                    <a:pt x="3721" y="150427"/>
                  </a:cubicBezTo>
                  <a:close/>
                  <a:moveTo>
                    <a:pt x="184036" y="4491"/>
                  </a:moveTo>
                  <a:cubicBezTo>
                    <a:pt x="200816" y="8985"/>
                    <a:pt x="213923" y="22091"/>
                    <a:pt x="218418" y="38871"/>
                  </a:cubicBezTo>
                  <a:cubicBezTo>
                    <a:pt x="222914" y="55650"/>
                    <a:pt x="218115" y="73554"/>
                    <a:pt x="205829" y="85835"/>
                  </a:cubicBezTo>
                  <a:lnTo>
                    <a:pt x="202121" y="89556"/>
                  </a:lnTo>
                  <a:lnTo>
                    <a:pt x="133350" y="20785"/>
                  </a:lnTo>
                  <a:lnTo>
                    <a:pt x="137071" y="17077"/>
                  </a:lnTo>
                  <a:cubicBezTo>
                    <a:pt x="149356" y="4797"/>
                    <a:pt x="167257" y="0"/>
                    <a:pt x="184036" y="449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48325" y="1533525"/>
              <a:ext cx="9467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Act 行动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5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执行工具调用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5415" y="2125028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搜索、读写文件、API 请求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27320" y="23602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"调用 get_weather('北京')"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82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79897" y="1527175"/>
              <a:ext cx="279941" cy="203200"/>
            </a:xfrm>
            <a:custGeom>
              <a:avLst/>
              <a:gdLst/>
              <a:ahLst/>
              <a:cxnLst/>
              <a:rect l="l" t="t" r="r" b="b"/>
              <a:pathLst>
                <a:path w="279941" h="203200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77325" y="1533525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Observe 观察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4415" y="1886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查看工具返回的结果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4415" y="21250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理解新信息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56320" y="23602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"返回: 28°C, 晴天"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857500" y="2571750"/>
              <a:ext cx="6858000" cy="952500"/>
            </a:xfrm>
            <a:custGeom>
              <a:avLst/>
              <a:gdLst/>
              <a:ahLst/>
              <a:cxnLst/>
              <a:rect l="l" t="t" r="r" b="b"/>
              <a:pathLst>
                <a:path w="6858000" h="952500">
                  <a:moveTo>
                    <a:pt x="6858000" y="0"/>
                  </a:moveTo>
                  <a:lnTo>
                    <a:pt x="6858000" y="666750"/>
                  </a:lnTo>
                  <a:cubicBezTo>
                    <a:pt x="6858000" y="857250"/>
                    <a:pt x="6762750" y="952500"/>
                    <a:pt x="6572250" y="952500"/>
                  </a:cubicBezTo>
                  <a:lnTo>
                    <a:pt x="285750" y="952500"/>
                  </a:lnTo>
                  <a:cubicBezTo>
                    <a:pt x="95250" y="952500"/>
                    <a:pt x="0" y="857250"/>
                    <a:pt x="0" y="666750"/>
                  </a:cubicBezTo>
                  <a:lnTo>
                    <a:pt x="0" y="95250"/>
                  </a:lnTo>
                </a:path>
              </a:pathLst>
            </a:custGeom>
            <a:noFill/>
            <a:ln w="23812">
              <a:solidFill>
                <a:srgbClr val="C4956A"/>
              </a:solidFill>
              <a:prstDash val="lgDash"/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43500" y="3333750"/>
              <a:ext cx="1714500" cy="285750"/>
            </a:xfrm>
            <a:prstGeom prst="roundRect">
              <a:avLst>
                <a:gd name="adj" fmla="val 26667"/>
              </a:avLst>
            </a:prstGeom>
            <a:solidFill>
              <a:srgbClr val="C4956A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4901" y="3420428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🔄 循环直到任务完成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3857625"/>
            <a:ext cx="11049000" cy="1905000"/>
            <a:chOff x="571500" y="3857625"/>
            <a:chExt cx="11049000" cy="1905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857625"/>
              <a:ext cx="1104900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2010" y="4013835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实际例子：帮你写一份周报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868" y="4323874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循环 1: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9242" y="4323874"/>
              <a:ext cx="5934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需要知道本周做了什么 → Act: 读取日历和 Git 提交记录 → Observe: 获取到 12 条记录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868" y="46096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循环 2: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59242" y="4609624"/>
              <a:ext cx="51796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需要分类整理 → Act: 按项目归类，生成大纲 → Observe: 大纲有 5 个部分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4868" y="489537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循环 3: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59242" y="4895374"/>
              <a:ext cx="4602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需要写成文档 → Act: 生成周报 Markdown → Observe: 文档完成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868" y="51811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循环 4: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59242" y="5181124"/>
              <a:ext cx="47310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Think: 需要发给老板 → Act: 发送邮件 → Observe: 发送成功 → </a:t>
              </a:r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任务完成 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" y="5476875"/>
              <a:ext cx="104775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37314" y="5522595"/>
              <a:ext cx="41173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每个循环都是一次 Think → Act → Observe，直到 Agent 判断任务完成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234728" y="1504950"/>
            <a:ext cx="5722544" cy="3095630"/>
            <a:chOff x="3234728" y="1504950"/>
            <a:chExt cx="5722544" cy="3095630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34728" y="2849880"/>
              <a:ext cx="5722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Agent Skill — 技能系统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24162" y="3838575"/>
              <a:ext cx="27436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Agent 按需加载专业能力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0" y="4314824"/>
              <a:ext cx="286458" cy="285756"/>
            </a:xfrm>
            <a:custGeom>
              <a:avLst/>
              <a:gdLst/>
              <a:ahLst/>
              <a:cxnLst/>
              <a:rect l="l" t="t" r="r" b="b"/>
              <a:pathLst>
                <a:path w="286458" h="285756">
                  <a:moveTo>
                    <a:pt x="114305" y="1"/>
                  </a:moveTo>
                  <a:cubicBezTo>
                    <a:pt x="137001" y="0"/>
                    <a:pt x="155764" y="17692"/>
                    <a:pt x="157096" y="40349"/>
                  </a:cubicBezTo>
                  <a:lnTo>
                    <a:pt x="157167" y="42864"/>
                  </a:lnTo>
                  <a:lnTo>
                    <a:pt x="157167" y="57151"/>
                  </a:lnTo>
                  <a:lnTo>
                    <a:pt x="200030" y="57151"/>
                  </a:lnTo>
                  <a:cubicBezTo>
                    <a:pt x="214983" y="57147"/>
                    <a:pt x="227412" y="68672"/>
                    <a:pt x="228533" y="83583"/>
                  </a:cubicBezTo>
                  <a:lnTo>
                    <a:pt x="228605" y="85726"/>
                  </a:lnTo>
                  <a:lnTo>
                    <a:pt x="228605" y="128589"/>
                  </a:lnTo>
                  <a:lnTo>
                    <a:pt x="242892" y="128589"/>
                  </a:lnTo>
                  <a:cubicBezTo>
                    <a:pt x="266091" y="128566"/>
                    <a:pt x="285097" y="147005"/>
                    <a:pt x="285778" y="170193"/>
                  </a:cubicBezTo>
                  <a:cubicBezTo>
                    <a:pt x="286458" y="193382"/>
                    <a:pt x="268567" y="212904"/>
                    <a:pt x="245407" y="214242"/>
                  </a:cubicBezTo>
                  <a:lnTo>
                    <a:pt x="242892" y="214314"/>
                  </a:lnTo>
                  <a:lnTo>
                    <a:pt x="228605" y="214314"/>
                  </a:lnTo>
                  <a:lnTo>
                    <a:pt x="228605" y="257176"/>
                  </a:lnTo>
                  <a:cubicBezTo>
                    <a:pt x="228609" y="272130"/>
                    <a:pt x="217084" y="284558"/>
                    <a:pt x="202173" y="285680"/>
                  </a:cubicBezTo>
                  <a:lnTo>
                    <a:pt x="200030" y="285751"/>
                  </a:lnTo>
                  <a:lnTo>
                    <a:pt x="157167" y="285751"/>
                  </a:lnTo>
                  <a:cubicBezTo>
                    <a:pt x="142214" y="285756"/>
                    <a:pt x="129785" y="274231"/>
                    <a:pt x="128664" y="259319"/>
                  </a:cubicBezTo>
                  <a:lnTo>
                    <a:pt x="128592" y="257176"/>
                  </a:lnTo>
                  <a:lnTo>
                    <a:pt x="128592" y="242889"/>
                  </a:lnTo>
                  <a:cubicBezTo>
                    <a:pt x="128584" y="235329"/>
                    <a:pt x="122688" y="229085"/>
                    <a:pt x="115142" y="228642"/>
                  </a:cubicBezTo>
                  <a:cubicBezTo>
                    <a:pt x="107596" y="228199"/>
                    <a:pt x="101010" y="233711"/>
                    <a:pt x="100117" y="241217"/>
                  </a:cubicBezTo>
                  <a:lnTo>
                    <a:pt x="100017" y="242889"/>
                  </a:lnTo>
                  <a:lnTo>
                    <a:pt x="100017" y="257176"/>
                  </a:lnTo>
                  <a:cubicBezTo>
                    <a:pt x="100022" y="272130"/>
                    <a:pt x="88497" y="284558"/>
                    <a:pt x="73585" y="285680"/>
                  </a:cubicBezTo>
                  <a:lnTo>
                    <a:pt x="71442" y="285751"/>
                  </a:lnTo>
                  <a:lnTo>
                    <a:pt x="28580" y="285751"/>
                  </a:lnTo>
                  <a:cubicBezTo>
                    <a:pt x="13626" y="285756"/>
                    <a:pt x="1198" y="274231"/>
                    <a:pt x="76" y="259319"/>
                  </a:cubicBezTo>
                  <a:lnTo>
                    <a:pt x="5" y="257176"/>
                  </a:lnTo>
                  <a:lnTo>
                    <a:pt x="5" y="214314"/>
                  </a:lnTo>
                  <a:cubicBezTo>
                    <a:pt x="0" y="199360"/>
                    <a:pt x="11525" y="186932"/>
                    <a:pt x="26437" y="185810"/>
                  </a:cubicBezTo>
                  <a:lnTo>
                    <a:pt x="28580" y="185739"/>
                  </a:lnTo>
                  <a:lnTo>
                    <a:pt x="42867" y="185739"/>
                  </a:lnTo>
                  <a:cubicBezTo>
                    <a:pt x="50427" y="185730"/>
                    <a:pt x="56671" y="179835"/>
                    <a:pt x="57114" y="172289"/>
                  </a:cubicBezTo>
                  <a:cubicBezTo>
                    <a:pt x="57557" y="164742"/>
                    <a:pt x="52045" y="158157"/>
                    <a:pt x="44539" y="157264"/>
                  </a:cubicBezTo>
                  <a:lnTo>
                    <a:pt x="42867" y="157164"/>
                  </a:lnTo>
                  <a:lnTo>
                    <a:pt x="28580" y="157164"/>
                  </a:lnTo>
                  <a:cubicBezTo>
                    <a:pt x="13626" y="157168"/>
                    <a:pt x="1198" y="145643"/>
                    <a:pt x="76" y="130732"/>
                  </a:cubicBezTo>
                  <a:lnTo>
                    <a:pt x="5" y="128589"/>
                  </a:lnTo>
                  <a:lnTo>
                    <a:pt x="5" y="85726"/>
                  </a:lnTo>
                  <a:cubicBezTo>
                    <a:pt x="0" y="70773"/>
                    <a:pt x="11525" y="58344"/>
                    <a:pt x="26437" y="57223"/>
                  </a:cubicBezTo>
                  <a:lnTo>
                    <a:pt x="28580" y="57151"/>
                  </a:lnTo>
                  <a:lnTo>
                    <a:pt x="71442" y="57151"/>
                  </a:lnTo>
                  <a:lnTo>
                    <a:pt x="71442" y="42864"/>
                  </a:lnTo>
                  <a:cubicBezTo>
                    <a:pt x="71442" y="19191"/>
                    <a:pt x="90632" y="1"/>
                    <a:pt x="114305" y="1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214295" cy="457200"/>
            <a:chOff x="542925" y="376238"/>
            <a:chExt cx="3214295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2142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Skill = 岗位培训手册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43000" y="1333500"/>
            <a:ext cx="3810000" cy="2381250"/>
            <a:chOff x="1143000" y="1333500"/>
            <a:chExt cx="3810000" cy="2381250"/>
          </a:xfrm>
        </p:grpSpPr>
        <p:sp>
          <p:nvSpPr>
            <p:cNvPr id="6" name="Rectangle 6"/>
            <p:cNvSpPr/>
            <p:nvPr/>
          </p:nvSpPr>
          <p:spPr>
            <a:xfrm>
              <a:off x="1143000" y="1333500"/>
              <a:ext cx="381000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603375" y="1651000"/>
              <a:ext cx="222250" cy="317500"/>
              <a:chOff x="1603375" y="1651000"/>
              <a:chExt cx="222250" cy="317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35125" y="165100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123213" y="0"/>
                      <a:pt x="158750" y="35537"/>
                      <a:pt x="158750" y="79375"/>
                    </a:cubicBezTo>
                    <a:cubicBezTo>
                      <a:pt x="158750" y="123213"/>
                      <a:pt x="123213" y="158750"/>
                      <a:pt x="79375" y="158750"/>
                    </a:cubicBezTo>
                    <a:cubicBezTo>
                      <a:pt x="35537" y="158750"/>
                      <a:pt x="0" y="123213"/>
                      <a:pt x="0" y="79375"/>
                    </a:cubicBezTo>
                    <a:lnTo>
                      <a:pt x="79" y="75930"/>
                    </a:lnTo>
                    <a:cubicBezTo>
                      <a:pt x="1924" y="33474"/>
                      <a:pt x="36879" y="2"/>
                      <a:pt x="7937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3375" y="1841500"/>
                <a:ext cx="222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7000">
                    <a:moveTo>
                      <a:pt x="142875" y="0"/>
                    </a:moveTo>
                    <a:cubicBezTo>
                      <a:pt x="186713" y="0"/>
                      <a:pt x="222250" y="35537"/>
                      <a:pt x="222250" y="79375"/>
                    </a:cubicBezTo>
                    <a:lnTo>
                      <a:pt x="222250" y="95250"/>
                    </a:lnTo>
                    <a:cubicBezTo>
                      <a:pt x="222250" y="112785"/>
                      <a:pt x="208035" y="127000"/>
                      <a:pt x="19050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79375"/>
                    </a:lnTo>
                    <a:cubicBezTo>
                      <a:pt x="0" y="35537"/>
                      <a:pt x="35537" y="0"/>
                      <a:pt x="79375" y="0"/>
                    </a:cubicBez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028825" y="1714500"/>
              <a:ext cx="20853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Agent = 全能型员工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9712" y="2116931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基础能力：读写文件、调用工具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9712" y="23550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通用逻辑：分析问题、规划步骤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0665" y="26489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但不知道怎么生成一份专业 PPT...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0665" y="2887028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也不知道 ppt-master 的 7 步流程...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0665" y="322040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需要一个 "岗位培训手册" 📋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69205" y="23450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+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429250" y="1333500"/>
            <a:ext cx="5619750" cy="2381250"/>
            <a:chOff x="5429250" y="1333500"/>
            <a:chExt cx="56197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5429250" y="1333500"/>
              <a:ext cx="561975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42000" y="1672927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5075" y="1714500"/>
              <a:ext cx="21428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Skill = 岗位培训手册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5962" y="2116931"/>
              <a:ext cx="2230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一个 Markdown 文件，包含：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6915" y="241077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📋 详细的工作流程（7 步做什么）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6915" y="26489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📏 规范和约束（哪些不能做）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6915" y="28870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🔧 脚本和工具调用方式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691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📝 模板和参考文档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6915" y="3410902"/>
              <a:ext cx="20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读完就知道该怎么干活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43000" y="4000500"/>
            <a:ext cx="9906000" cy="857250"/>
            <a:chOff x="1143000" y="4000500"/>
            <a:chExt cx="9906000" cy="857250"/>
          </a:xfrm>
        </p:grpSpPr>
        <p:sp>
          <p:nvSpPr>
            <p:cNvPr id="28" name="Rectangle 28"/>
            <p:cNvSpPr/>
            <p:nvPr/>
          </p:nvSpPr>
          <p:spPr>
            <a:xfrm>
              <a:off x="1143000" y="4000500"/>
              <a:ext cx="9906000" cy="857250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10000"/>
              </a:srgbClr>
            </a:solidFill>
            <a:ln w="14288">
              <a:solidFill>
                <a:srgbClr val="8FBC8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478458" y="4265963"/>
              <a:ext cx="218229" cy="154874"/>
            </a:xfrm>
            <a:custGeom>
              <a:avLst/>
              <a:gdLst/>
              <a:ahLst/>
              <a:cxnLst/>
              <a:rect l="l" t="t" r="r" b="b"/>
              <a:pathLst>
                <a:path w="218229" h="154874">
                  <a:moveTo>
                    <a:pt x="213271" y="4958"/>
                  </a:moveTo>
                  <a:cubicBezTo>
                    <a:pt x="218229" y="9917"/>
                    <a:pt x="218229" y="17956"/>
                    <a:pt x="213271" y="22916"/>
                  </a:cubicBezTo>
                  <a:lnTo>
                    <a:pt x="86271" y="149916"/>
                  </a:lnTo>
                  <a:cubicBezTo>
                    <a:pt x="81311" y="154874"/>
                    <a:pt x="73272" y="154874"/>
                    <a:pt x="68313" y="149916"/>
                  </a:cubicBezTo>
                  <a:lnTo>
                    <a:pt x="4813" y="86416"/>
                  </a:lnTo>
                  <a:cubicBezTo>
                    <a:pt x="0" y="81432"/>
                    <a:pt x="69" y="73511"/>
                    <a:pt x="4968" y="68613"/>
                  </a:cubicBezTo>
                  <a:cubicBezTo>
                    <a:pt x="9866" y="63714"/>
                    <a:pt x="17788" y="63645"/>
                    <a:pt x="22771" y="68458"/>
                  </a:cubicBezTo>
                  <a:lnTo>
                    <a:pt x="77292" y="122979"/>
                  </a:lnTo>
                  <a:lnTo>
                    <a:pt x="195313" y="4958"/>
                  </a:lnTo>
                  <a:cubicBezTo>
                    <a:pt x="200272" y="0"/>
                    <a:pt x="208311" y="0"/>
                    <a:pt x="213271" y="4958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40230" y="4216718"/>
              <a:ext cx="37089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+ Skill = 一个会做 PPT 的 AI 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4040" y="4553902"/>
              <a:ext cx="56853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你现在用的 ppt-master 就是一个 Skill！它教会 Claude 怎么一步步生成 42 页 PPT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43000" y="5095875"/>
            <a:ext cx="9906000" cy="542925"/>
            <a:chOff x="1143000" y="5095875"/>
            <a:chExt cx="9906000" cy="542925"/>
          </a:xfrm>
        </p:grpSpPr>
        <p:sp>
          <p:nvSpPr>
            <p:cNvPr id="33" name="Rectangle 33"/>
            <p:cNvSpPr/>
            <p:nvPr/>
          </p:nvSpPr>
          <p:spPr>
            <a:xfrm>
              <a:off x="114300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00174" y="5224958"/>
              <a:ext cx="200567" cy="201349"/>
            </a:xfrm>
            <a:custGeom>
              <a:avLst/>
              <a:gdLst/>
              <a:ahLst/>
              <a:cxnLst/>
              <a:rect l="l" t="t" r="r" b="b"/>
              <a:pathLst>
                <a:path w="200567" h="201349">
                  <a:moveTo>
                    <a:pt x="142876" y="17030"/>
                  </a:moveTo>
                  <a:cubicBezTo>
                    <a:pt x="182908" y="40142"/>
                    <a:pt x="200567" y="88661"/>
                    <a:pt x="184757" y="132097"/>
                  </a:cubicBezTo>
                  <a:cubicBezTo>
                    <a:pt x="168947" y="175534"/>
                    <a:pt x="124232" y="201349"/>
                    <a:pt x="78710" y="193322"/>
                  </a:cubicBezTo>
                  <a:cubicBezTo>
                    <a:pt x="33187" y="185294"/>
                    <a:pt x="0" y="145741"/>
                    <a:pt x="1" y="99517"/>
                  </a:cubicBezTo>
                  <a:lnTo>
                    <a:pt x="49" y="96431"/>
                  </a:lnTo>
                  <a:cubicBezTo>
                    <a:pt x="1134" y="62969"/>
                    <a:pt x="19707" y="32534"/>
                    <a:pt x="48968" y="16267"/>
                  </a:cubicBezTo>
                  <a:cubicBezTo>
                    <a:pt x="78230" y="0"/>
                    <a:pt x="113883" y="290"/>
                    <a:pt x="142876" y="17030"/>
                  </a:cubicBezTo>
                  <a:moveTo>
                    <a:pt x="82935" y="73732"/>
                  </a:moveTo>
                  <a:cubicBezTo>
                    <a:pt x="79216" y="70014"/>
                    <a:pt x="73187" y="70014"/>
                    <a:pt x="69467" y="73732"/>
                  </a:cubicBezTo>
                  <a:lnTo>
                    <a:pt x="50417" y="92782"/>
                  </a:lnTo>
                  <a:cubicBezTo>
                    <a:pt x="46699" y="96502"/>
                    <a:pt x="46699" y="102531"/>
                    <a:pt x="50417" y="106251"/>
                  </a:cubicBezTo>
                  <a:lnTo>
                    <a:pt x="69467" y="125301"/>
                  </a:lnTo>
                  <a:cubicBezTo>
                    <a:pt x="73187" y="129019"/>
                    <a:pt x="79216" y="129019"/>
                    <a:pt x="82935" y="125301"/>
                  </a:cubicBezTo>
                  <a:lnTo>
                    <a:pt x="83726" y="124405"/>
                  </a:lnTo>
                  <a:cubicBezTo>
                    <a:pt x="86667" y="120614"/>
                    <a:pt x="86328" y="115226"/>
                    <a:pt x="82935" y="111832"/>
                  </a:cubicBezTo>
                  <a:lnTo>
                    <a:pt x="70629" y="99517"/>
                  </a:lnTo>
                  <a:lnTo>
                    <a:pt x="82935" y="87201"/>
                  </a:lnTo>
                  <a:cubicBezTo>
                    <a:pt x="86654" y="83481"/>
                    <a:pt x="86654" y="77452"/>
                    <a:pt x="82935" y="73732"/>
                  </a:cubicBezTo>
                  <a:moveTo>
                    <a:pt x="121035" y="73732"/>
                  </a:moveTo>
                  <a:cubicBezTo>
                    <a:pt x="117316" y="70014"/>
                    <a:pt x="111287" y="70014"/>
                    <a:pt x="107567" y="73732"/>
                  </a:cubicBezTo>
                  <a:lnTo>
                    <a:pt x="106776" y="74628"/>
                  </a:lnTo>
                  <a:cubicBezTo>
                    <a:pt x="103835" y="78420"/>
                    <a:pt x="104174" y="83807"/>
                    <a:pt x="107567" y="87201"/>
                  </a:cubicBezTo>
                  <a:lnTo>
                    <a:pt x="119873" y="99517"/>
                  </a:lnTo>
                  <a:lnTo>
                    <a:pt x="107567" y="111832"/>
                  </a:lnTo>
                  <a:cubicBezTo>
                    <a:pt x="103957" y="115570"/>
                    <a:pt x="104009" y="121511"/>
                    <a:pt x="107683" y="125185"/>
                  </a:cubicBezTo>
                  <a:cubicBezTo>
                    <a:pt x="111357" y="128859"/>
                    <a:pt x="117298" y="128911"/>
                    <a:pt x="121035" y="125301"/>
                  </a:cubicBezTo>
                  <a:lnTo>
                    <a:pt x="140085" y="106251"/>
                  </a:lnTo>
                  <a:cubicBezTo>
                    <a:pt x="143804" y="102531"/>
                    <a:pt x="143804" y="96502"/>
                    <a:pt x="140085" y="92782"/>
                  </a:cubicBez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0116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代码审查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03070" y="5455920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怎么按规范审代码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24375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777875" y="5230089"/>
              <a:ext cx="192270" cy="192231"/>
              <a:chOff x="4777875" y="5230089"/>
              <a:chExt cx="192270" cy="19223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777875" y="5230089"/>
                <a:ext cx="192270" cy="192231"/>
              </a:xfrm>
              <a:custGeom>
                <a:avLst/>
                <a:gdLst/>
                <a:ahLst/>
                <a:cxnLst/>
                <a:rect l="l" t="t" r="r" b="b"/>
                <a:pathLst>
                  <a:path w="192270" h="192231">
                    <a:moveTo>
                      <a:pt x="78760" y="1107"/>
                    </a:moveTo>
                    <a:cubicBezTo>
                      <a:pt x="88157" y="0"/>
                      <a:pt x="96821" y="6318"/>
                      <a:pt x="98639" y="15605"/>
                    </a:cubicBezTo>
                    <a:lnTo>
                      <a:pt x="98877" y="17195"/>
                    </a:lnTo>
                    <a:lnTo>
                      <a:pt x="98925" y="18186"/>
                    </a:lnTo>
                    <a:lnTo>
                      <a:pt x="98925" y="84861"/>
                    </a:lnTo>
                    <a:cubicBezTo>
                      <a:pt x="98925" y="89690"/>
                      <a:pt x="102539" y="93754"/>
                      <a:pt x="107335" y="94319"/>
                    </a:cubicBezTo>
                    <a:lnTo>
                      <a:pt x="108450" y="94386"/>
                    </a:lnTo>
                    <a:lnTo>
                      <a:pt x="173220" y="94386"/>
                    </a:lnTo>
                    <a:cubicBezTo>
                      <a:pt x="183741" y="94386"/>
                      <a:pt x="192270" y="102915"/>
                      <a:pt x="192270" y="113436"/>
                    </a:cubicBezTo>
                    <a:cubicBezTo>
                      <a:pt x="192269" y="114160"/>
                      <a:pt x="192186" y="114883"/>
                      <a:pt x="192022" y="115588"/>
                    </a:cubicBezTo>
                    <a:cubicBezTo>
                      <a:pt x="181476" y="161090"/>
                      <a:pt x="139493" y="192231"/>
                      <a:pt x="92889" y="189121"/>
                    </a:cubicBezTo>
                    <a:cubicBezTo>
                      <a:pt x="46286" y="186011"/>
                      <a:pt x="8813" y="149567"/>
                      <a:pt x="4406" y="103068"/>
                    </a:cubicBezTo>
                    <a:cubicBezTo>
                      <a:pt x="0" y="56569"/>
                      <a:pt x="29960" y="13735"/>
                      <a:pt x="75150" y="1927"/>
                    </a:cubicBezTo>
                    <a:lnTo>
                      <a:pt x="77722" y="1288"/>
                    </a:lnTo>
                    <a:lnTo>
                      <a:pt x="78770" y="1098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895850" y="5233501"/>
                <a:ext cx="71920" cy="71924"/>
              </a:xfrm>
              <a:custGeom>
                <a:avLst/>
                <a:gdLst/>
                <a:ahLst/>
                <a:cxnLst/>
                <a:rect l="l" t="t" r="r" b="b"/>
                <a:pathLst>
                  <a:path w="71920" h="71924">
                    <a:moveTo>
                      <a:pt x="0" y="10012"/>
                    </a:moveTo>
                    <a:lnTo>
                      <a:pt x="0" y="62399"/>
                    </a:lnTo>
                    <a:cubicBezTo>
                      <a:pt x="0" y="67660"/>
                      <a:pt x="4265" y="71924"/>
                      <a:pt x="9525" y="71924"/>
                    </a:cubicBezTo>
                    <a:lnTo>
                      <a:pt x="61913" y="71924"/>
                    </a:lnTo>
                    <a:cubicBezTo>
                      <a:pt x="65002" y="71923"/>
                      <a:pt x="67899" y="70424"/>
                      <a:pt x="69684" y="67903"/>
                    </a:cubicBezTo>
                    <a:cubicBezTo>
                      <a:pt x="71469" y="65381"/>
                      <a:pt x="71920" y="62151"/>
                      <a:pt x="70895" y="59237"/>
                    </a:cubicBezTo>
                    <a:cubicBezTo>
                      <a:pt x="61313" y="32021"/>
                      <a:pt x="39911" y="10616"/>
                      <a:pt x="12697" y="1030"/>
                    </a:cubicBezTo>
                    <a:cubicBezTo>
                      <a:pt x="9782" y="0"/>
                      <a:pt x="6548" y="449"/>
                      <a:pt x="4024" y="2235"/>
                    </a:cubicBezTo>
                    <a:cubicBezTo>
                      <a:pt x="1500" y="4020"/>
                      <a:pt x="0" y="6920"/>
                      <a:pt x="0" y="1001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5082540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数据分析 Skill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84445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怎么清洗和分析数据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0575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81975" y="5216547"/>
              <a:ext cx="152400" cy="203178"/>
            </a:xfrm>
            <a:custGeom>
              <a:avLst/>
              <a:gdLst/>
              <a:ahLst/>
              <a:cxnLst/>
              <a:rect l="l" t="t" r="r" b="b"/>
              <a:pathLst>
                <a:path w="152400" h="203178">
                  <a:moveTo>
                    <a:pt x="57150" y="12678"/>
                  </a:moveTo>
                  <a:cubicBezTo>
                    <a:pt x="57150" y="4296"/>
                    <a:pt x="67208" y="0"/>
                    <a:pt x="73266" y="5801"/>
                  </a:cubicBezTo>
                  <a:cubicBezTo>
                    <a:pt x="91916" y="23670"/>
                    <a:pt x="102756" y="62903"/>
                    <a:pt x="89935" y="92669"/>
                  </a:cubicBezTo>
                  <a:lnTo>
                    <a:pt x="89173" y="94326"/>
                  </a:lnTo>
                  <a:lnTo>
                    <a:pt x="89287" y="94355"/>
                  </a:lnTo>
                  <a:cubicBezTo>
                    <a:pt x="95240" y="95621"/>
                    <a:pt x="100746" y="90259"/>
                    <a:pt x="111223" y="73657"/>
                  </a:cubicBezTo>
                  <a:lnTo>
                    <a:pt x="112557" y="71523"/>
                  </a:lnTo>
                  <a:cubicBezTo>
                    <a:pt x="114123" y="69002"/>
                    <a:pt x="116776" y="67355"/>
                    <a:pt x="119731" y="67069"/>
                  </a:cubicBezTo>
                  <a:cubicBezTo>
                    <a:pt x="122686" y="66783"/>
                    <a:pt x="125605" y="67891"/>
                    <a:pt x="127625" y="70066"/>
                  </a:cubicBezTo>
                  <a:cubicBezTo>
                    <a:pt x="140332" y="83734"/>
                    <a:pt x="152400" y="111757"/>
                    <a:pt x="152400" y="129788"/>
                  </a:cubicBezTo>
                  <a:cubicBezTo>
                    <a:pt x="152400" y="170412"/>
                    <a:pt x="118196" y="203178"/>
                    <a:pt x="76200" y="203178"/>
                  </a:cubicBezTo>
                  <a:cubicBezTo>
                    <a:pt x="34204" y="203178"/>
                    <a:pt x="0" y="170412"/>
                    <a:pt x="0" y="129778"/>
                  </a:cubicBezTo>
                  <a:cubicBezTo>
                    <a:pt x="0" y="108328"/>
                    <a:pt x="9735" y="84858"/>
                    <a:pt x="25070" y="69761"/>
                  </a:cubicBezTo>
                  <a:lnTo>
                    <a:pt x="30832" y="64151"/>
                  </a:lnTo>
                  <a:cubicBezTo>
                    <a:pt x="33128" y="61903"/>
                    <a:pt x="34966" y="60055"/>
                    <a:pt x="36719" y="58207"/>
                  </a:cubicBezTo>
                  <a:cubicBezTo>
                    <a:pt x="50340" y="43805"/>
                    <a:pt x="57150" y="30356"/>
                    <a:pt x="57150" y="12678"/>
                  </a:cubicBezTo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6391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部署发布 Skill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5820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怎么打包和发布应用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2" grpId="0"/>
      <p:bldP spid="4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372745" y="1504950"/>
            <a:ext cx="5446509" cy="3105540"/>
            <a:chOff x="3372745" y="1504950"/>
            <a:chExt cx="5446509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567648" y="1504950"/>
              <a:ext cx="1056704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72745" y="2849880"/>
              <a:ext cx="54465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Harness Engineering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驾驭 AI 的系统工程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8692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Harness 六大部件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04848" y="46624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驾驭 AI 的系统工程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24500" y="2857500"/>
            <a:ext cx="1143000" cy="1143000"/>
            <a:chOff x="5524500" y="2857500"/>
            <a:chExt cx="1143000" cy="1143000"/>
          </a:xfrm>
        </p:grpSpPr>
        <p:sp>
          <p:nvSpPr>
            <p:cNvPr id="7" name="Ellipse 7"/>
            <p:cNvSpPr/>
            <p:nvPr/>
          </p:nvSpPr>
          <p:spPr>
            <a:xfrm>
              <a:off x="5524500" y="2857500"/>
              <a:ext cx="1143000" cy="1143000"/>
            </a:xfrm>
            <a:prstGeom prst="ellipse">
              <a:avLst/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920883" y="3225800"/>
              <a:ext cx="350234" cy="349250"/>
              <a:chOff x="5920883" y="3225800"/>
              <a:chExt cx="350234" cy="349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920883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78538" y="3225800"/>
                <a:ext cx="34925" cy="5288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52880">
                    <a:moveTo>
                      <a:pt x="17463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2"/>
                    </a:lnTo>
                    <a:lnTo>
                      <a:pt x="34925" y="34925"/>
                    </a:lnTo>
                    <a:cubicBezTo>
                      <a:pt x="34915" y="44164"/>
                      <a:pt x="27709" y="51797"/>
                      <a:pt x="18486" y="52338"/>
                    </a:cubicBezTo>
                    <a:cubicBezTo>
                      <a:pt x="9262" y="52880"/>
                      <a:pt x="1213" y="46143"/>
                      <a:pt x="122" y="36968"/>
                    </a:cubicBezTo>
                    <a:lnTo>
                      <a:pt x="0" y="34925"/>
                    </a:ln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217745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5077" y="3269477"/>
                <a:ext cx="50552" cy="50839"/>
              </a:xfrm>
              <a:custGeom>
                <a:avLst/>
                <a:gdLst/>
                <a:ahLst/>
                <a:cxnLst/>
                <a:rect l="l" t="t" r="r" b="b"/>
                <a:pathLst>
                  <a:path w="50552" h="50839">
                    <a:moveTo>
                      <a:pt x="6817" y="6842"/>
                    </a:moveTo>
                    <a:cubicBezTo>
                      <a:pt x="13038" y="621"/>
                      <a:pt x="22916" y="0"/>
                      <a:pt x="29868" y="5392"/>
                    </a:cubicBezTo>
                    <a:lnTo>
                      <a:pt x="31509" y="6842"/>
                    </a:lnTo>
                    <a:lnTo>
                      <a:pt x="43733" y="19066"/>
                    </a:lnTo>
                    <a:cubicBezTo>
                      <a:pt x="50232" y="25587"/>
                      <a:pt x="50552" y="36035"/>
                      <a:pt x="44462" y="42942"/>
                    </a:cubicBezTo>
                    <a:cubicBezTo>
                      <a:pt x="38372" y="49848"/>
                      <a:pt x="27966" y="50839"/>
                      <a:pt x="20682" y="45207"/>
                    </a:cubicBezTo>
                    <a:lnTo>
                      <a:pt x="19041" y="43758"/>
                    </a:lnTo>
                    <a:lnTo>
                      <a:pt x="6817" y="31534"/>
                    </a:lnTo>
                    <a:cubicBezTo>
                      <a:pt x="0" y="24715"/>
                      <a:pt x="0" y="13661"/>
                      <a:pt x="6817" y="6842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176109" y="3269500"/>
                <a:ext cx="51079" cy="50553"/>
              </a:xfrm>
              <a:custGeom>
                <a:avLst/>
                <a:gdLst/>
                <a:ahLst/>
                <a:cxnLst/>
                <a:rect l="l" t="t" r="r" b="b"/>
                <a:pathLst>
                  <a:path w="51079" h="50553">
                    <a:moveTo>
                      <a:pt x="19305" y="6819"/>
                    </a:moveTo>
                    <a:cubicBezTo>
                      <a:pt x="25827" y="319"/>
                      <a:pt x="36275" y="0"/>
                      <a:pt x="43182" y="6090"/>
                    </a:cubicBezTo>
                    <a:cubicBezTo>
                      <a:pt x="50088" y="12179"/>
                      <a:pt x="51079" y="22585"/>
                      <a:pt x="45447" y="29869"/>
                    </a:cubicBezTo>
                    <a:lnTo>
                      <a:pt x="43997" y="31511"/>
                    </a:lnTo>
                    <a:lnTo>
                      <a:pt x="31774" y="43734"/>
                    </a:lnTo>
                    <a:cubicBezTo>
                      <a:pt x="25252" y="50234"/>
                      <a:pt x="14804" y="50553"/>
                      <a:pt x="7898" y="44464"/>
                    </a:cubicBezTo>
                    <a:cubicBezTo>
                      <a:pt x="991" y="38374"/>
                      <a:pt x="0" y="27968"/>
                      <a:pt x="5632" y="20684"/>
                    </a:cubicBezTo>
                    <a:lnTo>
                      <a:pt x="7082" y="19043"/>
                    </a:lnTo>
                    <a:lnTo>
                      <a:pt x="19305" y="6819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43612" y="3505200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87312" y="0"/>
                    </a:moveTo>
                    <a:cubicBezTo>
                      <a:pt x="96957" y="0"/>
                      <a:pt x="104775" y="7818"/>
                      <a:pt x="104775" y="17462"/>
                    </a:cubicBezTo>
                    <a:cubicBezTo>
                      <a:pt x="104775" y="46395"/>
                      <a:pt x="81320" y="69850"/>
                      <a:pt x="52388" y="69850"/>
                    </a:cubicBezTo>
                    <a:cubicBezTo>
                      <a:pt x="23455" y="69850"/>
                      <a:pt x="0" y="46395"/>
                      <a:pt x="0" y="17462"/>
                    </a:cubicBezTo>
                    <a:cubicBezTo>
                      <a:pt x="1" y="8609"/>
                      <a:pt x="6627" y="1158"/>
                      <a:pt x="15419" y="122"/>
                    </a:cubicBezTo>
                    <a:lnTo>
                      <a:pt x="17463" y="0"/>
                    </a:lnTo>
                    <a:lnTo>
                      <a:pt x="87312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82340" y="3295650"/>
                <a:ext cx="227319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227319" h="192088">
                    <a:moveTo>
                      <a:pt x="113660" y="0"/>
                    </a:moveTo>
                    <a:cubicBezTo>
                      <a:pt x="158758" y="0"/>
                      <a:pt x="198797" y="28858"/>
                      <a:pt x="213058" y="71642"/>
                    </a:cubicBezTo>
                    <a:cubicBezTo>
                      <a:pt x="227319" y="114426"/>
                      <a:pt x="212603" y="161536"/>
                      <a:pt x="176525" y="188595"/>
                    </a:cubicBezTo>
                    <a:cubicBezTo>
                      <a:pt x="174118" y="190403"/>
                      <a:pt x="171285" y="191558"/>
                      <a:pt x="168300" y="191948"/>
                    </a:cubicBezTo>
                    <a:lnTo>
                      <a:pt x="166047" y="192088"/>
                    </a:lnTo>
                    <a:lnTo>
                      <a:pt x="61272" y="192088"/>
                    </a:lnTo>
                    <a:cubicBezTo>
                      <a:pt x="57494" y="192088"/>
                      <a:pt x="53817" y="190862"/>
                      <a:pt x="50795" y="188595"/>
                    </a:cubicBezTo>
                    <a:cubicBezTo>
                      <a:pt x="14716" y="161536"/>
                      <a:pt x="0" y="114426"/>
                      <a:pt x="14261" y="71642"/>
                    </a:cubicBezTo>
                    <a:cubicBezTo>
                      <a:pt x="28523" y="28858"/>
                      <a:pt x="68561" y="0"/>
                      <a:pt x="113660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5933721" y="3649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1047750"/>
            <a:ext cx="4572000" cy="1905000"/>
            <a:chOff x="952500" y="1047750"/>
            <a:chExt cx="45720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9525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187449" y="1212850"/>
              <a:ext cx="177802" cy="222251"/>
              <a:chOff x="1187449" y="1212850"/>
              <a:chExt cx="177802" cy="2222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187449" y="1212850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3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8"/>
                    </a:lnTo>
                    <a:lnTo>
                      <a:pt x="166688" y="77788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8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8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09676" y="1223951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89710" y="1261110"/>
              <a:ext cx="15302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① System Prompt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0618" y="1533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人设、行为规则、输出格式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1760220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"你是一个专业的AI助手..."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4290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0" y="0"/>
                  </a:moveTo>
                  <a:lnTo>
                    <a:pt x="2095500" y="1381125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667500" y="1047750"/>
            <a:ext cx="4572000" cy="1905000"/>
            <a:chOff x="6667500" y="1047750"/>
            <a:chExt cx="45720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7630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986837" y="1212850"/>
              <a:ext cx="200026" cy="222250"/>
              <a:chOff x="8986837" y="1212850"/>
              <a:chExt cx="20002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986838" y="136543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986838" y="129876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986837" y="12128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9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300210" y="1261110"/>
              <a:ext cx="1291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② Memory 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1118" y="15330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跨会话记忆、用户偏好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2070" y="176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"这个用户喜欢用中文回答"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6675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2095500" y="0"/>
                  </a:moveTo>
                  <a:lnTo>
                    <a:pt x="0" y="1381125"/>
                  </a:lnTo>
                </a:path>
              </a:pathLst>
            </a:custGeom>
            <a:noFill/>
            <a:ln w="9525">
              <a:solidFill>
                <a:srgbClr val="E8A87C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71500" y="2905125"/>
            <a:ext cx="4953000" cy="1047750"/>
            <a:chOff x="571500" y="2905125"/>
            <a:chExt cx="4953000" cy="1047750"/>
          </a:xfrm>
        </p:grpSpPr>
        <p:sp>
          <p:nvSpPr>
            <p:cNvPr id="37" name="Rectangle 37"/>
            <p:cNvSpPr/>
            <p:nvPr/>
          </p:nvSpPr>
          <p:spPr>
            <a:xfrm>
              <a:off x="5715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95338" y="3086320"/>
              <a:ext cx="195050" cy="195043"/>
            </a:xfrm>
            <a:custGeom>
              <a:avLst/>
              <a:gdLst/>
              <a:ahLst/>
              <a:cxnLst/>
              <a:rect l="l" t="t" r="r" b="b"/>
              <a:pathLst>
                <a:path w="195050" h="195043">
                  <a:moveTo>
                    <a:pt x="100957" y="33911"/>
                  </a:moveTo>
                  <a:lnTo>
                    <a:pt x="161131" y="94086"/>
                  </a:lnTo>
                  <a:lnTo>
                    <a:pt x="63419" y="191787"/>
                  </a:lnTo>
                  <a:cubicBezTo>
                    <a:pt x="61336" y="193871"/>
                    <a:pt x="58509" y="195042"/>
                    <a:pt x="55562" y="195043"/>
                  </a:cubicBezTo>
                  <a:lnTo>
                    <a:pt x="11113" y="195043"/>
                  </a:lnTo>
                  <a:cubicBezTo>
                    <a:pt x="4975" y="195043"/>
                    <a:pt x="0" y="190067"/>
                    <a:pt x="0" y="183930"/>
                  </a:cubicBezTo>
                  <a:lnTo>
                    <a:pt x="0" y="139480"/>
                  </a:lnTo>
                  <a:cubicBezTo>
                    <a:pt x="1" y="136533"/>
                    <a:pt x="1172" y="133707"/>
                    <a:pt x="3256" y="131624"/>
                  </a:cubicBezTo>
                  <a:close/>
                  <a:moveTo>
                    <a:pt x="161031" y="3930"/>
                  </a:moveTo>
                  <a:cubicBezTo>
                    <a:pt x="175714" y="7862"/>
                    <a:pt x="187183" y="19330"/>
                    <a:pt x="191116" y="34012"/>
                  </a:cubicBezTo>
                  <a:cubicBezTo>
                    <a:pt x="195050" y="48694"/>
                    <a:pt x="190850" y="64359"/>
                    <a:pt x="180100" y="75105"/>
                  </a:cubicBezTo>
                  <a:lnTo>
                    <a:pt x="176855" y="78361"/>
                  </a:lnTo>
                  <a:lnTo>
                    <a:pt x="116681" y="18187"/>
                  </a:lnTo>
                  <a:lnTo>
                    <a:pt x="119937" y="14942"/>
                  </a:lnTo>
                  <a:cubicBezTo>
                    <a:pt x="130686" y="4197"/>
                    <a:pt x="146350" y="0"/>
                    <a:pt x="161031" y="393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08710" y="3118485"/>
              <a:ext cx="1070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③ Tools 工具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618" y="3390424"/>
              <a:ext cx="1719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Bash、文件读写、API 调用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36175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Function Calling + MCP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30480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8FBC8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667500" y="2905125"/>
            <a:ext cx="4953000" cy="1047750"/>
            <a:chOff x="6667500" y="2905125"/>
            <a:chExt cx="4953000" cy="1047750"/>
          </a:xfrm>
        </p:grpSpPr>
        <p:sp>
          <p:nvSpPr>
            <p:cNvPr id="44" name="Rectangle 44"/>
            <p:cNvSpPr/>
            <p:nvPr/>
          </p:nvSpPr>
          <p:spPr>
            <a:xfrm>
              <a:off x="91440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6721" y="3070224"/>
              <a:ext cx="222801" cy="222255"/>
            </a:xfrm>
            <a:custGeom>
              <a:avLst/>
              <a:gdLst/>
              <a:ahLst/>
              <a:cxnLst/>
              <a:rect l="l" t="t" r="r" b="b"/>
              <a:pathLst>
                <a:path w="222801" h="222255">
                  <a:moveTo>
                    <a:pt x="88904" y="1"/>
                  </a:moveTo>
                  <a:cubicBezTo>
                    <a:pt x="106557" y="0"/>
                    <a:pt x="121150" y="13760"/>
                    <a:pt x="122186" y="31383"/>
                  </a:cubicBezTo>
                  <a:lnTo>
                    <a:pt x="122241" y="33338"/>
                  </a:lnTo>
                  <a:lnTo>
                    <a:pt x="122241" y="44451"/>
                  </a:lnTo>
                  <a:lnTo>
                    <a:pt x="155579" y="44451"/>
                  </a:lnTo>
                  <a:cubicBezTo>
                    <a:pt x="167209" y="44447"/>
                    <a:pt x="176876" y="53411"/>
                    <a:pt x="177748" y="65009"/>
                  </a:cubicBezTo>
                  <a:lnTo>
                    <a:pt x="177804" y="66676"/>
                  </a:lnTo>
                  <a:lnTo>
                    <a:pt x="177804" y="100013"/>
                  </a:lnTo>
                  <a:lnTo>
                    <a:pt x="188916" y="100013"/>
                  </a:lnTo>
                  <a:cubicBezTo>
                    <a:pt x="206959" y="99996"/>
                    <a:pt x="221742" y="114337"/>
                    <a:pt x="222271" y="132373"/>
                  </a:cubicBezTo>
                  <a:cubicBezTo>
                    <a:pt x="222801" y="150408"/>
                    <a:pt x="208885" y="165592"/>
                    <a:pt x="190872" y="166633"/>
                  </a:cubicBezTo>
                  <a:lnTo>
                    <a:pt x="188916" y="166688"/>
                  </a:lnTo>
                  <a:lnTo>
                    <a:pt x="177804" y="166688"/>
                  </a:lnTo>
                  <a:lnTo>
                    <a:pt x="177804" y="200026"/>
                  </a:lnTo>
                  <a:cubicBezTo>
                    <a:pt x="177807" y="211657"/>
                    <a:pt x="168843" y="221323"/>
                    <a:pt x="157246" y="222195"/>
                  </a:cubicBezTo>
                  <a:lnTo>
                    <a:pt x="155579" y="222251"/>
                  </a:lnTo>
                  <a:lnTo>
                    <a:pt x="122241" y="222251"/>
                  </a:lnTo>
                  <a:cubicBezTo>
                    <a:pt x="110611" y="222255"/>
                    <a:pt x="100944" y="213291"/>
                    <a:pt x="100072" y="201693"/>
                  </a:cubicBezTo>
                  <a:lnTo>
                    <a:pt x="100016" y="200026"/>
                  </a:lnTo>
                  <a:lnTo>
                    <a:pt x="100016" y="188913"/>
                  </a:lnTo>
                  <a:cubicBezTo>
                    <a:pt x="100010" y="183034"/>
                    <a:pt x="95424" y="178177"/>
                    <a:pt x="89555" y="177832"/>
                  </a:cubicBezTo>
                  <a:cubicBezTo>
                    <a:pt x="83685" y="177488"/>
                    <a:pt x="78563" y="181775"/>
                    <a:pt x="77869" y="187613"/>
                  </a:cubicBezTo>
                  <a:lnTo>
                    <a:pt x="77791" y="188913"/>
                  </a:lnTo>
                  <a:lnTo>
                    <a:pt x="77791" y="200026"/>
                  </a:lnTo>
                  <a:cubicBezTo>
                    <a:pt x="77795" y="211657"/>
                    <a:pt x="68831" y="221323"/>
                    <a:pt x="57233" y="222195"/>
                  </a:cubicBezTo>
                  <a:lnTo>
                    <a:pt x="55566" y="222251"/>
                  </a:lnTo>
                  <a:lnTo>
                    <a:pt x="22229" y="222251"/>
                  </a:lnTo>
                  <a:cubicBezTo>
                    <a:pt x="10598" y="222255"/>
                    <a:pt x="932" y="213291"/>
                    <a:pt x="59" y="201693"/>
                  </a:cubicBezTo>
                  <a:lnTo>
                    <a:pt x="4" y="200026"/>
                  </a:lnTo>
                  <a:lnTo>
                    <a:pt x="4" y="166688"/>
                  </a:lnTo>
                  <a:cubicBezTo>
                    <a:pt x="0" y="155058"/>
                    <a:pt x="8964" y="145391"/>
                    <a:pt x="20562" y="144519"/>
                  </a:cubicBezTo>
                  <a:lnTo>
                    <a:pt x="22229" y="144463"/>
                  </a:lnTo>
                  <a:lnTo>
                    <a:pt x="33341" y="144463"/>
                  </a:lnTo>
                  <a:cubicBezTo>
                    <a:pt x="39221" y="144457"/>
                    <a:pt x="44078" y="139872"/>
                    <a:pt x="44422" y="134002"/>
                  </a:cubicBezTo>
                  <a:cubicBezTo>
                    <a:pt x="44767" y="128133"/>
                    <a:pt x="40480" y="123011"/>
                    <a:pt x="34641" y="122316"/>
                  </a:cubicBezTo>
                  <a:lnTo>
                    <a:pt x="33341" y="122238"/>
                  </a:lnTo>
                  <a:lnTo>
                    <a:pt x="22229" y="122238"/>
                  </a:lnTo>
                  <a:cubicBezTo>
                    <a:pt x="10598" y="122242"/>
                    <a:pt x="932" y="113278"/>
                    <a:pt x="59" y="101680"/>
                  </a:cubicBezTo>
                  <a:lnTo>
                    <a:pt x="4" y="100013"/>
                  </a:lnTo>
                  <a:lnTo>
                    <a:pt x="4" y="66676"/>
                  </a:lnTo>
                  <a:cubicBezTo>
                    <a:pt x="0" y="55045"/>
                    <a:pt x="8964" y="45379"/>
                    <a:pt x="20562" y="44507"/>
                  </a:cubicBezTo>
                  <a:lnTo>
                    <a:pt x="22229" y="44451"/>
                  </a:lnTo>
                  <a:lnTo>
                    <a:pt x="55566" y="44451"/>
                  </a:lnTo>
                  <a:lnTo>
                    <a:pt x="55566" y="33338"/>
                  </a:lnTo>
                  <a:cubicBezTo>
                    <a:pt x="55566" y="14927"/>
                    <a:pt x="70492" y="1"/>
                    <a:pt x="88904" y="1"/>
                  </a:cubicBezTo>
                  <a:close/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81210" y="311848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④ Skills 技能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2118" y="33904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按需加载的专业能力包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23070" y="3617595"/>
              <a:ext cx="1560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ppt-master、代码审查等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6675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24765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52500" y="3905250"/>
            <a:ext cx="4572000" cy="1905000"/>
            <a:chOff x="952500" y="3905250"/>
            <a:chExt cx="4572000" cy="1905000"/>
          </a:xfrm>
        </p:grpSpPr>
        <p:sp>
          <p:nvSpPr>
            <p:cNvPr id="51" name="Rectangle 51"/>
            <p:cNvSpPr/>
            <p:nvPr/>
          </p:nvSpPr>
          <p:spPr>
            <a:xfrm>
              <a:off x="9525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186947" y="4927600"/>
              <a:ext cx="178806" cy="226373"/>
            </a:xfrm>
            <a:custGeom>
              <a:avLst/>
              <a:gdLst/>
              <a:ahLst/>
              <a:cxnLst/>
              <a:rect l="l" t="t" r="r" b="b"/>
              <a:pathLst>
                <a:path w="178806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3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0" y="100"/>
                  </a:lnTo>
                  <a:lnTo>
                    <a:pt x="102483" y="200"/>
                  </a:lnTo>
                  <a:lnTo>
                    <a:pt x="103060" y="289"/>
                  </a:lnTo>
                  <a:lnTo>
                    <a:pt x="103238" y="356"/>
                  </a:lnTo>
                  <a:lnTo>
                    <a:pt x="103360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8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7" y="1267"/>
                  </a:lnTo>
                  <a:lnTo>
                    <a:pt x="105872" y="1378"/>
                  </a:lnTo>
                  <a:lnTo>
                    <a:pt x="106127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4" y="2256"/>
                  </a:lnTo>
                  <a:lnTo>
                    <a:pt x="107461" y="2445"/>
                  </a:lnTo>
                  <a:lnTo>
                    <a:pt x="107883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2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1" y="5745"/>
                    <a:pt x="111306" y="7690"/>
                    <a:pt x="111550" y="9812"/>
                  </a:cubicBezTo>
                  <a:lnTo>
                    <a:pt x="111561" y="9946"/>
                  </a:lnTo>
                  <a:lnTo>
                    <a:pt x="111584" y="10401"/>
                  </a:lnTo>
                  <a:lnTo>
                    <a:pt x="111628" y="11112"/>
                  </a:lnTo>
                  <a:lnTo>
                    <a:pt x="111628" y="77787"/>
                  </a:lnTo>
                  <a:lnTo>
                    <a:pt x="167191" y="77787"/>
                  </a:lnTo>
                  <a:cubicBezTo>
                    <a:pt x="171154" y="77787"/>
                    <a:pt x="174819" y="79897"/>
                    <a:pt x="176807" y="83326"/>
                  </a:cubicBezTo>
                  <a:cubicBezTo>
                    <a:pt x="178795" y="86755"/>
                    <a:pt x="178806" y="90983"/>
                    <a:pt x="176836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4"/>
                    <a:pt x="67178" y="211137"/>
                  </a:cubicBezTo>
                  <a:lnTo>
                    <a:pt x="67178" y="144462"/>
                  </a:lnTo>
                  <a:lnTo>
                    <a:pt x="11616" y="144462"/>
                  </a:lnTo>
                  <a:cubicBezTo>
                    <a:pt x="7652" y="144463"/>
                    <a:pt x="3988" y="142353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5" y="78"/>
                  </a:lnTo>
                  <a:lnTo>
                    <a:pt x="99338" y="67"/>
                  </a:lnTo>
                  <a:lnTo>
                    <a:pt x="99793" y="44"/>
                  </a:ln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489710" y="497586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⑤ Hooks 钩子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06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工具调用前后的自动检查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1570" y="5474970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"写入前先跑 lint 检查"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34290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0" y="123825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6667500" y="3905250"/>
            <a:ext cx="4572000" cy="1905000"/>
            <a:chOff x="6667500" y="3905250"/>
            <a:chExt cx="4572000" cy="1905000"/>
          </a:xfrm>
        </p:grpSpPr>
        <p:sp>
          <p:nvSpPr>
            <p:cNvPr id="58" name="Rectangle 58"/>
            <p:cNvSpPr/>
            <p:nvPr/>
          </p:nvSpPr>
          <p:spPr>
            <a:xfrm>
              <a:off x="87630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9009062" y="4927600"/>
              <a:ext cx="155575" cy="222250"/>
              <a:chOff x="9009062" y="4927600"/>
              <a:chExt cx="155575" cy="2222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031288" y="492760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2"/>
                    </a:cubicBezTo>
                    <a:cubicBezTo>
                      <a:pt x="111125" y="86249"/>
                      <a:pt x="86249" y="111125"/>
                      <a:pt x="55563" y="111125"/>
                    </a:cubicBezTo>
                    <a:cubicBezTo>
                      <a:pt x="24876" y="111125"/>
                      <a:pt x="0" y="86249"/>
                      <a:pt x="0" y="55562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09062" y="506095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2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2" y="0"/>
                    </a:cubicBez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9300210" y="4975860"/>
              <a:ext cx="1806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⑥ Sub-agents 子代理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11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拆分任务给专门的子代理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2070" y="5474970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"让搜索专家去找资料"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6675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2095500" y="12382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571500" y="6048375"/>
            <a:ext cx="11386662" cy="476250"/>
            <a:chOff x="571500" y="6048375"/>
            <a:chExt cx="11386662" cy="476250"/>
          </a:xfrm>
        </p:grpSpPr>
        <p:sp>
          <p:nvSpPr>
            <p:cNvPr id="67" name="Rectangle 67"/>
            <p:cNvSpPr/>
            <p:nvPr/>
          </p:nvSpPr>
          <p:spPr>
            <a:xfrm>
              <a:off x="571500" y="6048375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8407" y="6181725"/>
              <a:ext cx="191037" cy="190500"/>
              <a:chOff x="828407" y="6181725"/>
              <a:chExt cx="191037" cy="1905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28407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14400" y="61817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90332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2512" y="62055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67621" y="62055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5350" y="63341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61929" y="62198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28712" y="6212681"/>
              <a:ext cx="4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= 把 AI 从"聊天玩具"变成"生产力工具"的整套工程体系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12618" y="6228874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Code 就是一个完整的 Harness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6" grpId="0"/>
      <p:bldP spid="43" grpId="0"/>
      <p:bldP spid="50" grpId="0"/>
      <p:bldP spid="57" grpId="0"/>
      <p:bldP spid="66" grpId="0"/>
      <p:bldP spid="7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791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AI 进化时间轴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68928" y="4662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从聊天到自主工作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28575">
            <a:solidFill>
              <a:srgbClr val="8B6F47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52500" y="2758440"/>
            <a:ext cx="1905000" cy="2111216"/>
            <a:chOff x="952500" y="2758440"/>
            <a:chExt cx="1905000" cy="2111216"/>
          </a:xfrm>
        </p:grpSpPr>
        <p:sp>
          <p:nvSpPr>
            <p:cNvPr id="8" name="Ellipse 8"/>
            <p:cNvSpPr/>
            <p:nvPr/>
          </p:nvSpPr>
          <p:spPr>
            <a:xfrm>
              <a:off x="1600200" y="3124200"/>
              <a:ext cx="228600" cy="2286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8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2023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242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2040" y="3649028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 时代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3945" y="39033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问答式交互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3945" y="41128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纯文本生成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3945" y="43224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无工具调用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3945" y="45319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能力：聊天对话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4898" y="47020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局限：一次问一次答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29000" y="1333500"/>
            <a:ext cx="1905000" cy="2019300"/>
            <a:chOff x="3429000" y="1333500"/>
            <a:chExt cx="1905000" cy="2019300"/>
          </a:xfrm>
        </p:grpSpPr>
        <p:sp>
          <p:nvSpPr>
            <p:cNvPr id="18" name="Ellipse 18"/>
            <p:cNvSpPr/>
            <p:nvPr/>
          </p:nvSpPr>
          <p:spPr>
            <a:xfrm>
              <a:off x="4267200" y="3124200"/>
              <a:ext cx="228600" cy="2286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55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2024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000" y="133350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58540" y="1458278"/>
              <a:ext cx="1612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Function Calling 时代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60445" y="171259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学会调用工具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60445" y="1922145"/>
              <a:ext cx="9166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RAG 检索增强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60445" y="21316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多模态输入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60445" y="23412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能力：查资料 + 回答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61398" y="25588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局限：被动执行指令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381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E8A87C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96000" y="2758440"/>
            <a:ext cx="1905000" cy="2385060"/>
            <a:chOff x="6096000" y="2758440"/>
            <a:chExt cx="1905000" cy="2385060"/>
          </a:xfrm>
        </p:grpSpPr>
        <p:sp>
          <p:nvSpPr>
            <p:cNvPr id="29" name="Ellipse 29"/>
            <p:cNvSpPr/>
            <p:nvPr/>
          </p:nvSpPr>
          <p:spPr>
            <a:xfrm>
              <a:off x="6934200" y="3124200"/>
              <a:ext cx="228600" cy="228600"/>
            </a:xfrm>
            <a:prstGeom prst="ellipse">
              <a:avLst/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2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FBC8F"/>
                  </a:solidFill>
                  <a:latin typeface="Georgia"/>
                  <a:ea typeface="SimSun"/>
                  <a:cs typeface="Georgia"/>
                </a:rPr>
                <a:t>2025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0" y="352425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25540" y="3649028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Agent 时代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7445" y="39033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自主规划任务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7445" y="41128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MCP 统一接口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445" y="4322445"/>
              <a:ext cx="106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ReAct 循环执行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7445" y="45319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能力：拆解复杂任务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398" y="47496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局限：仍需人类启动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048500" y="3352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8763000" y="1333500"/>
            <a:ext cx="2095500" cy="2019300"/>
            <a:chOff x="8763000" y="1333500"/>
            <a:chExt cx="2095500" cy="2019300"/>
          </a:xfrm>
        </p:grpSpPr>
        <p:sp>
          <p:nvSpPr>
            <p:cNvPr id="40" name="Ellipse 40"/>
            <p:cNvSpPr/>
            <p:nvPr/>
          </p:nvSpPr>
          <p:spPr>
            <a:xfrm>
              <a:off x="9601200" y="3124200"/>
              <a:ext cx="228600" cy="228600"/>
            </a:xfrm>
            <a:prstGeom prst="ellipse">
              <a:avLst/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89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4956A"/>
                  </a:solidFill>
                  <a:latin typeface="Georgia"/>
                  <a:ea typeface="SimSun"/>
                  <a:cs typeface="Georgia"/>
                </a:rPr>
                <a:t>2026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0" y="1333500"/>
              <a:ext cx="20955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763000" y="1333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92540" y="1505902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Harness 时代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94445" y="1760220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Vibe Coding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94445" y="1969770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多 Agent 协作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4445" y="2179320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Skill 按需加载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94445" y="238887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能力：独立完成复杂工作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95398" y="2606516"/>
              <a:ext cx="12439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人类 = 指挥，AI = 执行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715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952500" y="5429250"/>
            <a:ext cx="10287000" cy="476250"/>
            <a:chOff x="952500" y="5429250"/>
            <a:chExt cx="10287000" cy="476250"/>
          </a:xfrm>
        </p:grpSpPr>
        <p:sp>
          <p:nvSpPr>
            <p:cNvPr id="52" name="Rectangle 52"/>
            <p:cNvSpPr/>
            <p:nvPr/>
          </p:nvSpPr>
          <p:spPr>
            <a:xfrm>
              <a:off x="952500" y="5429250"/>
              <a:ext cx="102870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891665" y="5601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进化方向：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39415" y="560165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被动回答 → 工具调用 → 自主任务 → 系统工程化协作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1" grpId="0"/>
      <p:bldP spid="5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362688" y="1504950"/>
            <a:ext cx="3466624" cy="3095625"/>
            <a:chOff x="4362688" y="1504950"/>
            <a:chExt cx="3466624" cy="3095625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08125" y="2849880"/>
              <a:ext cx="257575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2026 前沿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62688" y="3838575"/>
              <a:ext cx="3466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OpenClaw · Hermes · Vibe Coding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67400" y="4295808"/>
              <a:ext cx="228600" cy="304767"/>
            </a:xfrm>
            <a:custGeom>
              <a:avLst/>
              <a:gdLst/>
              <a:ahLst/>
              <a:cxnLst/>
              <a:rect l="l" t="t" r="r" b="b"/>
              <a:pathLst>
                <a:path w="228600" h="304767">
                  <a:moveTo>
                    <a:pt x="85725" y="19017"/>
                  </a:moveTo>
                  <a:cubicBezTo>
                    <a:pt x="85725" y="6444"/>
                    <a:pt x="100813" y="0"/>
                    <a:pt x="109899" y="8701"/>
                  </a:cubicBezTo>
                  <a:cubicBezTo>
                    <a:pt x="137874" y="35504"/>
                    <a:pt x="154134" y="94355"/>
                    <a:pt x="134903" y="139003"/>
                  </a:cubicBezTo>
                  <a:lnTo>
                    <a:pt x="133760" y="141489"/>
                  </a:lnTo>
                  <a:lnTo>
                    <a:pt x="133931" y="141532"/>
                  </a:lnTo>
                  <a:cubicBezTo>
                    <a:pt x="142861" y="143432"/>
                    <a:pt x="151119" y="135388"/>
                    <a:pt x="166835" y="110485"/>
                  </a:cubicBezTo>
                  <a:lnTo>
                    <a:pt x="168835" y="107285"/>
                  </a:lnTo>
                  <a:cubicBezTo>
                    <a:pt x="171185" y="103502"/>
                    <a:pt x="175164" y="101032"/>
                    <a:pt x="179596" y="100603"/>
                  </a:cubicBezTo>
                  <a:cubicBezTo>
                    <a:pt x="184029" y="100174"/>
                    <a:pt x="188407" y="101837"/>
                    <a:pt x="191438" y="105099"/>
                  </a:cubicBezTo>
                  <a:cubicBezTo>
                    <a:pt x="210498" y="125601"/>
                    <a:pt x="228600" y="167635"/>
                    <a:pt x="228600" y="194681"/>
                  </a:cubicBezTo>
                  <a:cubicBezTo>
                    <a:pt x="228600" y="255618"/>
                    <a:pt x="177294" y="304767"/>
                    <a:pt x="114300" y="304767"/>
                  </a:cubicBezTo>
                  <a:cubicBezTo>
                    <a:pt x="51306" y="304767"/>
                    <a:pt x="0" y="255618"/>
                    <a:pt x="0" y="194667"/>
                  </a:cubicBezTo>
                  <a:cubicBezTo>
                    <a:pt x="0" y="162492"/>
                    <a:pt x="14602" y="127287"/>
                    <a:pt x="37605" y="104642"/>
                  </a:cubicBezTo>
                  <a:lnTo>
                    <a:pt x="46249" y="96226"/>
                  </a:lnTo>
                  <a:cubicBezTo>
                    <a:pt x="49692" y="92854"/>
                    <a:pt x="52449" y="90083"/>
                    <a:pt x="55078" y="87311"/>
                  </a:cubicBezTo>
                  <a:cubicBezTo>
                    <a:pt x="75509" y="65708"/>
                    <a:pt x="85725" y="45534"/>
                    <a:pt x="85725" y="19017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99001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2026 三大前沿项目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62449" y="4662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正在重塑 AI 开发方式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000125"/>
            <a:ext cx="3429000" cy="3619500"/>
            <a:chOff x="571500" y="1000125"/>
            <a:chExt cx="3429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81777" y="1263980"/>
              <a:ext cx="255728" cy="253327"/>
              <a:chOff x="881777" y="1263980"/>
              <a:chExt cx="255728" cy="2533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18934" y="1441450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3254" y="1441450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9711" y="1441450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1777" y="1365250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2735" y="1365250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0018" y="1365250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3216" y="1263993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9711" y="1290523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8959" y="1263980"/>
                <a:ext cx="107124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4" y="75870"/>
                    </a:cubicBezTo>
                    <a:lnTo>
                      <a:pt x="36766" y="75870"/>
                    </a:lnTo>
                    <a:cubicBezTo>
                      <a:pt x="31099" y="51008"/>
                      <a:pt x="21312" y="27270"/>
                      <a:pt x="7811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66825" y="1295400"/>
              <a:ext cx="10847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OpenClaw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5099" y="1714024"/>
              <a:ext cx="1721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开源 Agent 基础设施联盟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820" y="23793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阿里、腾讯、字节等联合发起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5820" y="2569845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统一 Agent 工具协议和标准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82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避免各家各自造轮子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5820" y="32365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MCP 的中国版扩展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61027" y="369379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类比：Android 统一了手机系统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2512" y="4149566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🦞 龙虾 = Claw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30300" y="442579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2026年7月 正式发布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81500" y="1000125"/>
            <a:ext cx="3429000" cy="3619500"/>
            <a:chOff x="4381500" y="1000125"/>
            <a:chExt cx="3429000" cy="3619500"/>
          </a:xfrm>
        </p:grpSpPr>
        <p:sp>
          <p:nvSpPr>
            <p:cNvPr id="36" name="Rectangle 36"/>
            <p:cNvSpPr/>
            <p:nvPr/>
          </p:nvSpPr>
          <p:spPr>
            <a:xfrm>
              <a:off x="438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8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692650" y="1276350"/>
              <a:ext cx="254000" cy="241894"/>
            </a:xfrm>
            <a:custGeom>
              <a:avLst/>
              <a:gdLst/>
              <a:ahLst/>
              <a:cxnLst/>
              <a:rect l="l" t="t" r="r" b="b"/>
              <a:pathLst>
                <a:path w="254000" h="241894">
                  <a:moveTo>
                    <a:pt x="203200" y="0"/>
                  </a:moveTo>
                  <a:cubicBezTo>
                    <a:pt x="231256" y="0"/>
                    <a:pt x="254000" y="22744"/>
                    <a:pt x="254000" y="50800"/>
                  </a:cubicBezTo>
                  <a:lnTo>
                    <a:pt x="254000" y="152400"/>
                  </a:lnTo>
                  <a:cubicBezTo>
                    <a:pt x="254000" y="180456"/>
                    <a:pt x="231256" y="203200"/>
                    <a:pt x="203200" y="203200"/>
                  </a:cubicBezTo>
                  <a:lnTo>
                    <a:pt x="143205" y="203200"/>
                  </a:lnTo>
                  <a:lnTo>
                    <a:pt x="82728" y="239484"/>
                  </a:lnTo>
                  <a:cubicBezTo>
                    <a:pt x="79027" y="241705"/>
                    <a:pt x="74451" y="241894"/>
                    <a:pt x="70580" y="239987"/>
                  </a:cubicBezTo>
                  <a:cubicBezTo>
                    <a:pt x="66708" y="238079"/>
                    <a:pt x="64070" y="234336"/>
                    <a:pt x="63576" y="230048"/>
                  </a:cubicBezTo>
                  <a:lnTo>
                    <a:pt x="63500" y="228600"/>
                  </a:lnTo>
                  <a:lnTo>
                    <a:pt x="63500" y="203200"/>
                  </a:lnTo>
                  <a:lnTo>
                    <a:pt x="50800" y="203200"/>
                  </a:lnTo>
                  <a:cubicBezTo>
                    <a:pt x="23731" y="203200"/>
                    <a:pt x="1417" y="181975"/>
                    <a:pt x="63" y="154940"/>
                  </a:cubicBezTo>
                  <a:lnTo>
                    <a:pt x="0" y="152400"/>
                  </a:ln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  <a:moveTo>
                    <a:pt x="152400" y="114300"/>
                  </a:moveTo>
                  <a:lnTo>
                    <a:pt x="76200" y="114300"/>
                  </a:lnTo>
                  <a:cubicBezTo>
                    <a:pt x="69186" y="114300"/>
                    <a:pt x="63500" y="119986"/>
                    <a:pt x="63500" y="127000"/>
                  </a:cubicBezTo>
                  <a:cubicBezTo>
                    <a:pt x="63500" y="134014"/>
                    <a:pt x="69186" y="139700"/>
                    <a:pt x="76200" y="139700"/>
                  </a:cubicBezTo>
                  <a:lnTo>
                    <a:pt x="152400" y="139700"/>
                  </a:lnTo>
                  <a:cubicBezTo>
                    <a:pt x="159414" y="139700"/>
                    <a:pt x="165100" y="134014"/>
                    <a:pt x="165100" y="127000"/>
                  </a:cubicBezTo>
                  <a:cubicBezTo>
                    <a:pt x="165100" y="119986"/>
                    <a:pt x="159414" y="114300"/>
                    <a:pt x="152400" y="114300"/>
                  </a:cubicBezTo>
                  <a:moveTo>
                    <a:pt x="177800" y="63500"/>
                  </a:moveTo>
                  <a:lnTo>
                    <a:pt x="76200" y="63500"/>
                  </a:lnTo>
                  <a:cubicBezTo>
                    <a:pt x="69186" y="63500"/>
                    <a:pt x="63500" y="69186"/>
                    <a:pt x="63500" y="76200"/>
                  </a:cubicBezTo>
                  <a:cubicBezTo>
                    <a:pt x="63500" y="83214"/>
                    <a:pt x="69186" y="88900"/>
                    <a:pt x="76200" y="88900"/>
                  </a:cubicBezTo>
                  <a:lnTo>
                    <a:pt x="177800" y="88900"/>
                  </a:lnTo>
                  <a:cubicBezTo>
                    <a:pt x="184814" y="88900"/>
                    <a:pt x="190500" y="83214"/>
                    <a:pt x="190500" y="76200"/>
                  </a:cubicBezTo>
                  <a:cubicBezTo>
                    <a:pt x="190500" y="69186"/>
                    <a:pt x="184814" y="63500"/>
                    <a:pt x="177800" y="63500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76825" y="1295400"/>
              <a:ext cx="8432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Hermes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7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81805" y="1714024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Agent 间通信协议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57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5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5820" y="237934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让多个 Agent 互相沟通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5820" y="25698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协作完成更复杂的任务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55820" y="3046095"/>
              <a:ext cx="12518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单个 Agent 能力有限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55820" y="323659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多 Agent = AI 团队协作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7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4172" y="36937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类比：一个人干活 vs 一个团队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87205" y="4149566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🏛️ 希腊信使之神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7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4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10771" y="4425791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Anthropic 2025年底提出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191500" y="1000125"/>
            <a:ext cx="3429000" cy="3619500"/>
            <a:chOff x="8191500" y="1000125"/>
            <a:chExt cx="3429000" cy="3619500"/>
          </a:xfrm>
        </p:grpSpPr>
        <p:sp>
          <p:nvSpPr>
            <p:cNvPr id="56" name="Rectangle 56"/>
            <p:cNvSpPr/>
            <p:nvPr/>
          </p:nvSpPr>
          <p:spPr>
            <a:xfrm>
              <a:off x="819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19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502648" y="1257961"/>
              <a:ext cx="267422" cy="268466"/>
            </a:xfrm>
            <a:custGeom>
              <a:avLst/>
              <a:gdLst/>
              <a:ahLst/>
              <a:cxnLst/>
              <a:rect l="l" t="t" r="r" b="b"/>
              <a:pathLst>
                <a:path w="267422" h="268466">
                  <a:moveTo>
                    <a:pt x="190502" y="22707"/>
                  </a:moveTo>
                  <a:cubicBezTo>
                    <a:pt x="243877" y="53523"/>
                    <a:pt x="267422" y="118214"/>
                    <a:pt x="246342" y="176130"/>
                  </a:cubicBezTo>
                  <a:cubicBezTo>
                    <a:pt x="225262" y="234045"/>
                    <a:pt x="165642" y="268466"/>
                    <a:pt x="104946" y="257762"/>
                  </a:cubicBezTo>
                  <a:cubicBezTo>
                    <a:pt x="44250" y="247059"/>
                    <a:pt x="0" y="194322"/>
                    <a:pt x="2" y="132689"/>
                  </a:cubicBezTo>
                  <a:lnTo>
                    <a:pt x="65" y="128574"/>
                  </a:lnTo>
                  <a:cubicBezTo>
                    <a:pt x="1512" y="83959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2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3" y="98310"/>
                  </a:cubicBezTo>
                  <a:lnTo>
                    <a:pt x="67223" y="123710"/>
                  </a:lnTo>
                  <a:cubicBezTo>
                    <a:pt x="62265" y="128669"/>
                    <a:pt x="62265" y="136708"/>
                    <a:pt x="67223" y="141668"/>
                  </a:cubicBezTo>
                  <a:lnTo>
                    <a:pt x="92623" y="167068"/>
                  </a:lnTo>
                  <a:cubicBezTo>
                    <a:pt x="97582" y="172026"/>
                    <a:pt x="105621" y="172026"/>
                    <a:pt x="110580" y="167068"/>
                  </a:cubicBezTo>
                  <a:lnTo>
                    <a:pt x="111635" y="165874"/>
                  </a:lnTo>
                  <a:cubicBezTo>
                    <a:pt x="115556" y="160818"/>
                    <a:pt x="115105" y="153635"/>
                    <a:pt x="110580" y="149110"/>
                  </a:cubicBezTo>
                  <a:lnTo>
                    <a:pt x="94172" y="132689"/>
                  </a:lnTo>
                  <a:lnTo>
                    <a:pt x="110580" y="116268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3" y="98310"/>
                  </a:cubicBezTo>
                  <a:lnTo>
                    <a:pt x="142369" y="99504"/>
                  </a:lnTo>
                  <a:cubicBezTo>
                    <a:pt x="138447" y="104559"/>
                    <a:pt x="138898" y="111743"/>
                    <a:pt x="143423" y="116268"/>
                  </a:cubicBezTo>
                  <a:lnTo>
                    <a:pt x="159831" y="132689"/>
                  </a:lnTo>
                  <a:lnTo>
                    <a:pt x="143423" y="149110"/>
                  </a:lnTo>
                  <a:cubicBezTo>
                    <a:pt x="138610" y="154093"/>
                    <a:pt x="138679" y="162014"/>
                    <a:pt x="143577" y="166913"/>
                  </a:cubicBezTo>
                  <a:cubicBezTo>
                    <a:pt x="148476" y="171812"/>
                    <a:pt x="156397" y="171881"/>
                    <a:pt x="161380" y="167068"/>
                  </a:cubicBezTo>
                  <a:lnTo>
                    <a:pt x="186780" y="141668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86825" y="1295400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Vibe Coding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8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94580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氛围编程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38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6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65820" y="2379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用自然语言描述需求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65820" y="25698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AI 直接写出完整代码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6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65820" y="3046095"/>
              <a:ext cx="1219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非程序员也能"编程"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5820" y="323659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人负责方向，AI 负责实现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8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37345" y="36937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类比：打车代替学开车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38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84561" y="4149566"/>
              <a:ext cx="7378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✨ Vibe = 感觉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38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4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46654" y="4425791"/>
              <a:ext cx="19186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Code 就是 Vibe Coding 工具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4857750"/>
            <a:ext cx="11049000" cy="523875"/>
            <a:chOff x="571500" y="4857750"/>
            <a:chExt cx="11049000" cy="523875"/>
          </a:xfrm>
        </p:grpSpPr>
        <p:sp>
          <p:nvSpPr>
            <p:cNvPr id="76" name="Rectangle 76"/>
            <p:cNvSpPr/>
            <p:nvPr/>
          </p:nvSpPr>
          <p:spPr>
            <a:xfrm>
              <a:off x="571500" y="48577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828407" y="4991100"/>
              <a:ext cx="191037" cy="190500"/>
              <a:chOff x="828407" y="4991100"/>
              <a:chExt cx="191037" cy="1905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28407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14400" y="4991100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90332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52512" y="5014924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67621" y="5014936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95350" y="51435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1929" y="5029200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128712" y="5022056"/>
              <a:ext cx="2676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共同趋势：AI 从"工具"变成"同事"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463415" y="5030152"/>
              <a:ext cx="46349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标准化（OpenClaw）+ 协作化（Hermes）+ 民主化（Vibe Coding）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5" grpId="0"/>
      <p:bldP spid="75" grpId="0"/>
      <p:bldP spid="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全景概念图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05169" y="4662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13 个概念的完整关系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72125" y="2714625"/>
            <a:ext cx="1047750" cy="1047750"/>
            <a:chOff x="5572125" y="2714625"/>
            <a:chExt cx="1047750" cy="1047750"/>
          </a:xfrm>
        </p:grpSpPr>
        <p:sp>
          <p:nvSpPr>
            <p:cNvPr id="7" name="Ellipse 7"/>
            <p:cNvSpPr/>
            <p:nvPr/>
          </p:nvSpPr>
          <p:spPr>
            <a:xfrm>
              <a:off x="5572125" y="2714625"/>
              <a:ext cx="1047750" cy="10477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7356" y="3045142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84294" y="32923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大语言模型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67000" y="1238250"/>
            <a:ext cx="6858000" cy="1619250"/>
            <a:chOff x="2667000" y="1238250"/>
            <a:chExt cx="6858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2667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03762" y="16487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9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阅读单位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61950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0" y="0"/>
                  </a:moveTo>
                  <a:lnTo>
                    <a:pt x="2000250" y="85725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0" y="1238250"/>
              <a:ext cx="1524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88166" y="1363028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67400" y="153828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语义坐标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171450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0201" y="1648778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Context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24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57225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200025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3000" y="1714500"/>
            <a:ext cx="9906000" cy="2762250"/>
            <a:chOff x="1143000" y="1714500"/>
            <a:chExt cx="9906000" cy="2762250"/>
          </a:xfrm>
        </p:grpSpPr>
        <p:sp>
          <p:nvSpPr>
            <p:cNvPr id="24" name="Rectangle 24"/>
            <p:cNvSpPr/>
            <p:nvPr/>
          </p:nvSpPr>
          <p:spPr>
            <a:xfrm>
              <a:off x="114300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62255" y="2982278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2877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指令设计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71750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0" y="0"/>
                  </a:moveTo>
                  <a:lnTo>
                    <a:pt x="3000375" y="142875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43000" y="4000500"/>
              <a:ext cx="1619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35465" y="4125278"/>
              <a:ext cx="1234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 + Vector DB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4488" y="4300538"/>
              <a:ext cx="6762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检索增强生成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762250" y="352425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0" y="66675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952625" y="1714500"/>
              <a:ext cx="3571875" cy="2286000"/>
            </a:xfrm>
            <a:custGeom>
              <a:avLst/>
              <a:gdLst/>
              <a:ahLst/>
              <a:cxnLst/>
              <a:rect l="l" t="t" r="r" b="b"/>
              <a:pathLst>
                <a:path w="3571875" h="2286000">
                  <a:moveTo>
                    <a:pt x="0" y="2286000"/>
                  </a:moveTo>
                  <a:lnTo>
                    <a:pt x="3571875" y="0"/>
                  </a:lnTo>
                </a:path>
              </a:pathLst>
            </a:custGeom>
            <a:noFill/>
            <a:ln w="7620">
              <a:solidFill>
                <a:srgbClr val="E8A87C">
                  <a:alpha val="20000"/>
                </a:srgbClr>
              </a:solidFill>
              <a:custDash>
                <a:ds d="500000" sp="375000"/>
              </a:custDash>
            </a:ln>
          </p:spPr>
        </p:sp>
        <p:sp>
          <p:nvSpPr>
            <p:cNvPr id="33" name="Rectangle 33"/>
            <p:cNvSpPr/>
            <p:nvPr/>
          </p:nvSpPr>
          <p:spPr>
            <a:xfrm>
              <a:off x="962025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176462" y="2990374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Tool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0602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工具调用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19875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3000375" y="0"/>
                  </a:moveTo>
                  <a:lnTo>
                    <a:pt x="0" y="14287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000500" y="3333750"/>
            <a:ext cx="6858000" cy="2428875"/>
            <a:chOff x="4000500" y="3333750"/>
            <a:chExt cx="6858000" cy="2428875"/>
          </a:xfrm>
        </p:grpSpPr>
        <p:sp>
          <p:nvSpPr>
            <p:cNvPr id="38" name="Rectangle 38"/>
            <p:cNvSpPr/>
            <p:nvPr/>
          </p:nvSpPr>
          <p:spPr>
            <a:xfrm>
              <a:off x="9620250" y="4000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77096" y="412527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10775" y="4300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统一接口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619875" y="3524250"/>
              <a:ext cx="3000375" cy="666750"/>
            </a:xfrm>
            <a:custGeom>
              <a:avLst/>
              <a:gdLst/>
              <a:ahLst/>
              <a:cxnLst/>
              <a:rect l="l" t="t" r="r" b="b"/>
              <a:pathLst>
                <a:path w="3000375" h="666750">
                  <a:moveTo>
                    <a:pt x="3000375" y="666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0239375" y="3333750"/>
              <a:ext cx="95250" cy="666750"/>
            </a:xfrm>
            <a:custGeom>
              <a:avLst/>
              <a:gdLst/>
              <a:ahLst/>
              <a:cxnLst/>
              <a:rect l="l" t="t" r="r" b="b"/>
              <a:pathLst>
                <a:path w="95250" h="666750">
                  <a:moveTo>
                    <a:pt x="0" y="666750"/>
                  </a:moveTo>
                  <a:lnTo>
                    <a:pt x="95250" y="0"/>
                  </a:lnTo>
                </a:path>
              </a:pathLst>
            </a:custGeom>
            <a:noFill/>
            <a:ln w="7620">
              <a:solidFill>
                <a:srgbClr val="8FBC8F">
                  <a:alpha val="30000"/>
                </a:srgbClr>
              </a:solidFill>
              <a:custDash>
                <a:ds d="375000" sp="250000"/>
              </a:custDash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005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9050">
              <a:solidFill>
                <a:srgbClr val="D4837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84887" y="45062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45794" y="4681538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智能体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619625" y="3762375"/>
              <a:ext cx="1190625" cy="619125"/>
            </a:xfrm>
            <a:custGeom>
              <a:avLst/>
              <a:gdLst/>
              <a:ahLst/>
              <a:cxnLst/>
              <a:rect l="l" t="t" r="r" b="b"/>
              <a:pathLst>
                <a:path w="1190625" h="619125">
                  <a:moveTo>
                    <a:pt x="0" y="619125"/>
                  </a:moveTo>
                  <a:lnTo>
                    <a:pt x="1190625" y="0"/>
                  </a:lnTo>
                </a:path>
              </a:pathLst>
            </a:custGeom>
            <a:noFill/>
            <a:ln w="9525">
              <a:solidFill>
                <a:srgbClr val="D4837F">
                  <a:alpha val="30000"/>
                </a:srgbClr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70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21770" y="45062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7525" y="4681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技能系统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381750" y="3762375"/>
              <a:ext cx="714375" cy="619125"/>
            </a:xfrm>
            <a:custGeom>
              <a:avLst/>
              <a:gdLst/>
              <a:ahLst/>
              <a:cxnLst/>
              <a:rect l="l" t="t" r="r" b="b"/>
              <a:pathLst>
                <a:path w="714375" h="619125">
                  <a:moveTo>
                    <a:pt x="714375" y="619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72000" y="5238750"/>
              <a:ext cx="3048000" cy="523875"/>
            </a:xfrm>
            <a:prstGeom prst="roundRect">
              <a:avLst>
                <a:gd name="adj" fmla="val 21818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74780" y="53597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66182" y="5587841"/>
              <a:ext cx="1659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系统工程 · 驾驭 AI 的完整体系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19625" y="4857750"/>
              <a:ext cx="523875" cy="381000"/>
            </a:xfrm>
            <a:custGeom>
              <a:avLst/>
              <a:gdLst/>
              <a:ahLst/>
              <a:cxnLst/>
              <a:rect l="l" t="t" r="r" b="b"/>
              <a:pathLst>
                <a:path w="523875" h="381000">
                  <a:moveTo>
                    <a:pt x="523875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7048500" y="4857750"/>
              <a:ext cx="47625" cy="381000"/>
            </a:xfrm>
            <a:custGeom>
              <a:avLst/>
              <a:gdLst/>
              <a:ahLst/>
              <a:cxnLst/>
              <a:rect l="l" t="t" r="r" b="b"/>
              <a:pathLst>
                <a:path w="47625" h="381000">
                  <a:moveTo>
                    <a:pt x="0" y="381000"/>
                  </a:moveTo>
                  <a:lnTo>
                    <a:pt x="47625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561022" y="153019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基础层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1022" y="29589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能力层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323272" y="42924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系统层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875014" y="5982652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从底层机制到顶层应用，层层递进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37" grpId="0"/>
      <p:bldP spid="5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AF7F2">
              <a:alpha val="3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2667000" y="1755458"/>
            <a:ext cx="6858000" cy="3407092"/>
            <a:chOff x="2667000" y="1755458"/>
            <a:chExt cx="6858000" cy="3407092"/>
          </a:xfrm>
        </p:grpSpPr>
        <p:sp>
          <p:nvSpPr>
            <p:cNvPr id="6" name="TextBox 6"/>
            <p:cNvSpPr txBox="1"/>
            <p:nvPr/>
          </p:nvSpPr>
          <p:spPr>
            <a:xfrm>
              <a:off x="4027141" y="1755458"/>
              <a:ext cx="413771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从 Token 到 Agent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0" y="2286000"/>
              <a:ext cx="3048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4929" y="2488882"/>
              <a:ext cx="3042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你已经掌握了 AI 的全景地图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667000" y="3048000"/>
              <a:ext cx="6858000" cy="952500"/>
            </a:xfrm>
            <a:prstGeom prst="roundRect">
              <a:avLst>
                <a:gd name="adj" fmla="val 16000"/>
              </a:avLst>
            </a:prstGeom>
            <a:solidFill>
              <a:srgbClr val="FAF7F2">
                <a:alpha val="10000"/>
              </a:srgbClr>
            </a:solidFill>
            <a:ln w="9525">
              <a:solidFill>
                <a:srgbClr val="FAF7F2">
                  <a:alpha val="2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53409" y="3251835"/>
              <a:ext cx="48851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 预测下一个词 → Token 是阅读单位 → Embedding 赋予语义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2380" y="3489960"/>
              <a:ext cx="45872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 检索真实信息 → Tool 让 AI 行动 → Agent 自主完成任务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50067" y="3728085"/>
              <a:ext cx="349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Harness 驾驭一切 → 你就是那个指挥 AI 的人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5416" y="4362450"/>
              <a:ext cx="45811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关注 AI大家学，下一期 VibeCoding 实战见！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38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47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👍 点赞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80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⭐ 收藏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14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🔄 转发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47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💬 评论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