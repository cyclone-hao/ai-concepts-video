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0.xml"/>
</Relationships>
</file>

<file path=ppt/notesSlides/_rels/notesSlide2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1.xml"/>
</Relationships>
</file>

<file path=ppt/notesSlides/_rels/notesSlide2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2.xml"/>
</Relationships>
</file>

<file path=ppt/notesSlides/_rels/notesSlide2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3.xml"/>
</Relationships>
</file>

<file path=ppt/notesSlides/_rels/notesSlide2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4.xml"/>
</Relationships>
</file>

<file path=ppt/notesSlides/_rels/notesSlide2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5.xml"/>
</Relationships>
</file>

<file path=ppt/notesSlides/_rels/notesSlide2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6.xml"/>
</Relationships>
</file>

<file path=ppt/notesSlides/_rels/notesSlide2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7.xml"/>
</Relationships>
</file>

<file path=ppt/notesSlides/_rels/notesSlide2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8.xml"/>
</Relationships>
</file>

<file path=ppt/notesSlides/_rels/notesSlide2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9.xml"/>
</Relationships>
</file>

<file path=ppt/notesSlides/_rels/notesSlide3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0.xml"/>
</Relationships>
</file>

<file path=ppt/notesSlides/_rels/notesSlide3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1.xml"/>
</Relationships>
</file>

<file path=ppt/notesSlides/_rels/notesSlide3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2.xml"/>
</Relationships>
</file>

<file path=ppt/notesSlides/_rels/notesSlide3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3.xml"/>
</Relationships>
</file>

<file path=ppt/notesSlides/_rels/notesSlide3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4.xml"/>
</Relationships>
</file>

<file path=ppt/notesSlides/_rels/notesSlide3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5.xml"/>
</Relationships>
</file>

<file path=ppt/notesSlides/_rels/notesSlide3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6.xml"/>
</Relationships>
</file>

<file path=ppt/notesSlides/_rels/notesSlide3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7.xml"/>
</Relationships>
</file>

<file path=ppt/notesSlides/_rels/notesSlide3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8.xml"/>
</Relationships>
</file>

<file path=ppt/notesSlides/_rels/notesSlide3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9.xml"/>
</Relationships>
</file>

<file path=ppt/notesSlides/_rels/notesSlide4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0.xml"/>
</Relationships>
</file>

<file path=ppt/notesSlides/_rels/notesSlide4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1.xml"/>
</Relationships>
</file>

<file path=ppt/notesSlides/_rels/notesSlide4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2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2023 年，你说你会用 ChatGPT，你就是科技达人。2024 年，你说你会写 Prompt，你就是行业专家。2025 年，你说你懂 Agent，你就是技术大牛。2026 年，你打开 AI 圈，看到 Harness、OpenClaw、Hermes——这是啥？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AI 名词层出不穷，每隔一段时间就蹦出来一个新的。LLM、Token、Embedding、RAG、Prompt、Agent、Skill、MCP、Harness、OpenClaw、Hermes……这些词大家或多或少可能听过一些，但你能准确说出它们的含义吗？能否区分它们跟我们日常用的 DeepSeek、豆包等软件有什么关系吗？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这几年 AI 名词涌现的速度太快了。原因除了大模型技术本身确实发展很快，还因为 AI 圈确实有一些风气——同一套大模型技术，这家改一改，那家包装一下，换个自家的高级名字，就能发论文、拉投资、上热搜。比如前段时间各家大厂搞的那个"养龙虾"——龙虾 OpenClaw 是个好用的开源 AI Agent 工具，结果热度起来了，各大厂都把自家 Agent 工具改名叫 XXClaw，硬生生炒成了一场全民养虾运动。今天这十几分钟就是要拨开这些商业炒作的迷雾，从最底层的技术视角出发，把这些概念的底层逻辑都讲清楚。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我们直接从最底层、最核心的 LLM 开始。LLM，全称 Large Language Model，大语言模型。你现在用的 DeepSeek、Qwen、Kimi、GPT 这些都是 LLM，底层全是用的 Transformer 这个基础架构。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LLM 的核心能力说出来其实挺朴素的——给一段文字，预测下一个最可能出现的词。举个具体例子，我给你一句话："今天天气真好，我们去公园——"你会填什么？"散步"、"玩"、"跑步"——都有可能。LLM 做的事情和你一样，只不过它不是在脑子里猜，而是通过一个复杂的数学函数，基于训练时看过的几千亿字的文本，算出每个候选词的概率。就这么简单？对，就这么简单。但这个"简单"的事情做到极致之后，涌现出来的能力是惊人的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但这个"算概率"的过程，不是简单的统计。它靠的核心机制叫 Attention——注意力。再看一个例子："小明在北京参加了一场关于什么的学术研讨会。"要填这个空，模型不能只看"关于"后面的内容，它需要同时关注到"北京"和"学术研讨会"这两个关键信息。这个"同时看到并关联远距离信息"的能力，就是 Attention。所以你可以把 LLM 理解成：一个通过 Attention 机制来理解上下文关系，然后预测下一个词的概率机器。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那问题来了——Transformer 论文 2017 年就发了，为什么到 2022 年底 ChatGPT 才突然爆火？这不只是一个技术突破的故事，更是工程化落地创新的结果——五个因素叠加。第一层：自回归语言模型，让模型能学。第二层：海量无监督预训练，让它学得广。第三层：大量代码训练，让它学得深。第四层：有监督指令微调 SFT，让它会对话。第五层：RLHF 人类反馈强化学习，让它说得好。每一层解决一个不同的问题，叠在一起，产生了质变。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好，理解了 LLM 是什么之后，接下来我们看一个更底层的东西——模型是怎么"读"你的文字的。LLM 是"预测下一个词"的机器。但这里有个问题——模型不认识"字"，也不认识"词"，它认识的是 Token。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Token 是什么？简单说就是模型把文本切成的碎片。看个真实的例子。我用 Qwen 的 Tokenizer 跑了一句话："我喜欢吃苹果"。你猜切成几个 Token？不是 5 个字，也不是 1 个词。它被切成了 6 个 Token：我、喜、欢、吃、苹、果。为什么这样切？因为 Token 的切分规则来自一个叫 BPE——字节对编码——的算法。BPE 的核心思想很简单：统计训练语料里哪些字符经常挨在一起出现，就把它们合并成一个 Token。比如"人工"出现得多就合并成"人工"，"人工智能"出现得也够多，还会进一步合并成一个完整的 Token。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不同模型的 Tokenizer 也不一样。同样是"我喜欢吃苹果"，GPT-4 把"喜欢"合并成了一个 Token，总共 5 个；而 Qwen 和 Claude 把"喜"和"欢"拆开了，总共 6 个。就是因为每个模型的训练数据不同，BPE 统计出来的高频组合不同，最终生成的词表也就不一样。GPT 的词表里有"喜欢"这个合并项，Qwen 的没有，就这么简单。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Token 还直接决定了你的使用成本。所有大模型 API 都是按 Token 计费的。以 DeepSeek-V3 为例，输入 2 块钱一百万 Token，输出 8 块钱一百万 Token。你问了一句中文问题大概 50 个 Token，模型回了一段 500 个 Token 的回答，这一次调用不到半分钱。但如果你是做产品，每天 10 万次调用，一个月就是 12000 左右。另外要特别注意——同样的内容，中文消耗的 Token 数通常比英文多 1.5 到 2 倍，这也是中文场景下成本控制更重要的原因。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另外，Tokenizer 还会生成一些你看不到的特殊 Token。比如 bos 标记文本开头，eos 标记文本结束——模型看到这个就知道该停下来了，pad 用来补齐让不同长度的输入对齐。这些特殊 Token 不承载语义，但对模型的运行机制至关重要。比如模型生成回答时，就是不断预测下一个 Token，直到预测出 eos 才停止。好，现在我们知道模型通过 Token 来"读"文字了。那下一个问题就是——模型一次能"读"多少 Token？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这是很多人没意识到的一个关键点——大模型每次对话，都是"失忆"的。大模型没有"记忆"。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什么意思呢？你在 Kimi 里问了一个问题，它给你写好了。然后你接着追问，它也能改。看起来它"记住"了上一轮对话对吧？其实没有。真相是：你的客户端在每一轮对话时，都把前面所有的聊天记录重新发给了模型。模型每次收到的都是完整的对话历史，然后只生成最新一轮的回答。你看，第二轮请求里，第一轮的问题和回答全都在，一起重新发给模型。模型并不是"回忆"起了上一轮——它是重新"读"了一遍全部对话，然后回答最新的问题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这就引出了两个概念：Context 上下文——你发给模型的这整段内容；Context Window 上下文窗口——模型一次能"读"的最大 Token 数量。现在主流模型的窗口大小：GPT-5.6 达到了 105 万 Token，Claude Opus 5 是 100 万 Token，Gemini 也到了 100 万级别。国内的 DeepSeek-V3 和 Kimi K3 是 128K。100 万 Token 差不多能一次性读完三四本书的内容。但要注意：模型对不同位置的注意力是不均匀的，并不是窗口里的每个 Token 都能被同等关注。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你可能还注意到一个现象：跟 AI 聊天的时候，前几轮回复很快，聊久了越来越慢。这不是你的错觉。原因是模型在处理每一轮 Context 时，会为每个 Token 计算一对 Key-Value 中间结果，叫做 KV Cache。第一轮只需要算 100 个 Token 的 KV Cache，第二轮要算 300 个，到了第十轮可能要算 5000 个。KV Cache 要占显存，而且整体管理的开销也在增长。这就是为什么超长上下文的推理成本非常高——不是模型变笨了，是"记忆"的物理代价在增长。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理解了模型每次都在重新"读"你的全部对话之后，一个很自然的问题就是——你往这个 Context 里放什么内容，直接决定了模型回答的质量。你发给模型的这整段输入文字，就叫 Prompt。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同样的模型，不同的问法，效果差距巨大。你说"帮我写个排序算法"，模型可能给你冒泡排序、给你插入排序、给你解释什么是排序——不确定。但如果你说"用 Python 实现快速排序，输入是整数列表，要求原地排序，返回升序结果，时间复杂度 O(n log n)"，这个结果就很确定了。为什么？因为你在 Prompt 里放了更多的约束条件，相当于缩小了模型预测下一个词时的搜索空间。所谓 Prompt Engineering，说白了就是研究怎么把你的需求说得更精确、更结构化。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这里面有两个非常实用的技巧。第一个叫 Few-shot——少样本学习。在 Prompt 里给模型几个示范，它就能照着来。比如给两个翻译例子，模型就知道你要翻译，直接输出结果。第二个叫 CoT——Chain of Thought，思维链。让模型"一步步想"，而不是直接给答案。就是在问题前面加一句"请一步一步思考"，准确率就能从 17.7% 飙升到 78.7%。为什么？因为直接回答时模型在"猜最终答案"，而 CoT 让模型在"推理每一步"——推理比猜测容易得多。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里给你一个很实用的技巧——如果你有一段很长的背景资料要喂给模型，记得把核心问题或指令放在最前面或最后面，别夹在中间。有研究发现，放在中间的信息，模型最容易"走神"，开头和结尾的信息模型能准确回答。这个现象叫"Lost in the Middle"。128K 不等于完美处理 128K，受限于大模型现在的位置编码设计，还没有完美解决办法，先记住这个技巧就行。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但你有没有发现一个问题——每次对话你都得重新说一遍"我要 Python"、"我要简洁的代码"？能不能一次性设好？能。在 API 调用里，消息有个字段叫 role，可以是 user、assistant、还有一种叫 system。System 消息放在最前面，就是你给模型设的"人设"和"规矩"。它就像给新员工发的内部手册——你是谁、你的边界在哪里、你不能做什么。这里我要说一个很多开发者都不知道的事情：从技术实现上看，System Prompt 和 User Prompt 没有本质区别。它们都是 Token，都进入同一个 Context Window。System Prompt 就是一个被放在最前面的、优先级更高的 Prompt。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从 Prompt 到 System Prompt，你大概已经发现我们一直在做同一件事——想办法往 Context Window 里塞更好的信息。但不管你怎么塞，再大的窗口终究有限。那怎么办？要回答这个问题，我们先学一个关键的基础技术——Embedding。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还记得 Token 吗？Token 只是一串数字编号，这个编号本身不包含任何语义信息。那模型怎么知道"苹果"和"水果"很接近，而和"汽车"差很远？答案是 Embedding——向量嵌入。Embedding 做的事情是把每个 Token 映射成高维空间里的坐标点。语义越接近的词，在空间里的距离越近。实际维度是 1536 维，这里简化成二维方便理解。这些 Embedding 是怎么训练出来的？核心方法叫对比学习——把语义相似的文本对在向量空间里拉近，把语义不相似的文本对推远。Embedding 不只是用在模型内部，它还是一个极其重要的外部工具——语义搜索就是建立在 Embedding 之上的。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有了 Embedding，接下来就可以解决一个很现实的问题——怎么让 AI 访问它训练时没见过的知识？答案就是 RAG——Retrieval-Augmented Generation，检索增强生成。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RAG 的思路非常直白：让 AI 先查资料，再回答。具体分三步走。第一步：建库。把所有文档切成小段，通过 Embedding 模型把每段变成一个向量，存进向量数据库。向量数据库存的不是文字，而是向量，靠向量距离来搜索。第二步：检索。用户提了一个问题，先把问题也变成向量，然后去向量数据库里找语义最接近的几段文档。第三步：生成。把检索到的文档塞进 Context Window，连同用户的问题一起发给 LLM，让它基于参考资料来回答。整个流程一句话总结：RAG = 搜索引擎 + 大模型。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那 RAG 和 Fine-tuning 微调有什么区别？这是经常被问到的问题。简单说，RAG 像开卷考试——给你参考资料，你照着回答。成本低、可以随时更新资料、有引用来源。Fine-tuning 像上课学习——用你的数据继续训练模型，把知识"烧进"模型权重里。回答更快更自然，但成本高，更新知识得重新训练。实际项目中，两者经常结合使用：用 Fine-tuning 让模型学会你的行业术语和表达风格，用 RAG 提供具体的事实信息。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好，到现在为止我们讲的都是怎么让 AI 更好地"说"——理解知识、检索资料、生成回答。但在实际工作中，光会说还不够，我们还需要 AI 能做事。接下来进入 Function Calling 的世界。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LLM 天生是不会查天气、读文件的。它就是个文本预测机器，你让它查天气，它只能"编"一个温度出来。那怎么办？答案是 Function Calling——函数调用。给模型描述它有哪些"工具"可以用，让它在需要的时候输出一个结构化的调用指令，由你的程序去真正执行，然后把结果喂回给模型。整个流程就是：用户提问、模型判断要调工具、输出调用指令、程序执行、结果回传、模型生成最终回答。模型自己不会查天气，它只是学会了"在合适的时候调用工具"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这里有一个关键的问题——模型怎么知道什么时候该调工具、调哪个、参数填什么？这不是天生的，是训出来的。大模型在预训练之后，还有一个指令微调 SFT 的阶段。开发者会构造大量对话数据——用户问了一件事、assistant 输出 tool_calls、tool 返回结果、assistant 再总结——然后让模型学习这种模式。模型看了成千上万条这样的数据对，通过 SFT 学会了三件事：什么时候该调工具、该调哪个工具、参数怎么填。所以 Tool 能力的本质是：用结构化的对话数据，通过指令微调教会模型在合适的时机输出特定格式的调用指令。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Function Calling 解决了"模型能调工具"的问题。但新的问题来了——每个 AI 应用对接每个工具，格式还都不一样。这就像 USB 接口混乱的年代，每个手机一个充电口。MCP 就是来统一标准的。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MCP，全称 Model Context Protocol，是 Anthropic 2024 年底提出的开放协议。给 AI 连接外部工具定了一套通用规矩。没有 MCP 之前，4 个 AI 应用对接 4 个工具，需要 16 个对接——这就是 N 乘 M 的适配地狱。有了 MCP 之后，只需要 4 加 4 等于 8 个对接——每加一个工具或 AI，只需对接一次。类比 USB 标准——以前每个设备一根专用线，USB 之后所有设备共用一个接口。MCP 就是 AI 工具世界的 USB。到 2025 年它已经成为行业事实标准，几乎所有 AI 工具都支持 MCP。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好，到现在为止，所有流程都是你说一句，模型做一步。它不会自己决定下一步该干什么。接下来讲的 Agent，就是把这最后一步也自动化了。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的核心是一个循环：观察当前状态、思考该做什么、执行动作、观察结果、再思考……这个循环有一个学术名字，叫 ReAct 模式——Reasoning + Acting。举个具体场景，你让 Agent 帮你写周报。循环 1：需要知道本周做了什么，读取日历和 Git 记录。循环 2：需要分类整理，按项目归类生成大纲。循环 3：需要写成文档，生成周报 Markdown。循环 4：需要发给老板，发送邮件。任务完成。每个循环都是一次 Think、Act、Observe，直到 Agent 判断任务完成。Agent 并不是一项单独的新技术，它是把前面讲的 LLM 推理、工具调用、上下文记忆组合成一个自动循环。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能自主干活了，但你很快会发现一个问题——每次遇到类似的任务，它都要从头"想"一遍该怎么做。接下来讲一个让 Agent 有"经验"可用的组件。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Skill 就是把这些"最佳实践"封装成可复用的标准化模块。你可以把 Skill 理解成一本操作手册。Agent 就像是一个全能型员工，基础能力很强，但不知道怎么生成一份专业 PPT。Skill 就是一本岗位培训手册——告诉它工作流程、规范约束、工具调用方式。Agent 读完就知道该怎么干活。比如你现在用的 ppt-master 就是一个 Skill！它教会 Claude 怎么一步步生成 42 页 PPT。Skill 和 Prompt 的关系——Prompt 是你临时写的，Skill 是预先封装好、反复使用的。如果说 Prompt 是即兴发言，Skill 就是排练过的演讲稿。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Skill 只是 Harness 的一个组件。有了 Skill，Agent 有经验可用；但要让 Agent 真正稳定可靠地跑起来，还缺一整套系统。这就是 Harness Engineering。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Agent 听起来很美好对吧？但实际用起来你会发现一个大问题——不稳定。同一个任务，跑一次成功了，跑一次失败了。这不是模型不够聪明的问题——是模型周围的环境没搭好。Harness Engineering 就是模型以外的一切。Anthropic 把它拆成了六个部分：System Prompt 人设规则、Memory 记忆管理、Tools 工具调用、Skills 技能系统、Hooks 钩子检查、Sub-agents 子代理。前四个决定了 Agent 能做什么，后两个决定了它做得稳不稳。同一个 LLM，配上简陋的 Harness 可能删掉你的数据库；配上精心设计的 Harness 就是可靠的生产力工具。模型没变，变的是 Harness。Claude Code 就是一个完整的 Harness 实例。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让我们回顾一下 AI 的进化路线。2023 年 ChatGPT 时代，问答式交互，一次问一次答。2024 年 Function Calling 时代，学会调用工具，RAG 检索增强。2025 年 Agent 时代，自主规划任务，MCP 统一接口，ReAct 循环执行。2026 年 Harness 时代，Vibe Coding，多 Agent 协作，Skill 按需加载。进化方向很清楚：被动回答、工具调用、自主任务、系统工程化协作。人类的角色从"写代码"变成了"做决策"。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最后讲三个 2026 年最新的东西，帮你把视野拉到最前沿。OpenClaw、Hermes、Vibe Coding。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第一个是 OpenClaw——开源 Agent 基础设施联盟。阿里、腾讯、字节等联合发起，统一 Agent 工具协议和标准。上线第二天就突破 10 万 Stars，三个月超过 Linux 成为 GitHub 历史 Star 数第一。它证明了 Agent 从实验室 Demo 到日常生产力工具这条路已经走通了。第二个是 Hermes——Agent 间通信协议。让多个 Agent 互相沟通、协作完成更复杂的任务。最大的亮点是自我学习循环——Agent 在执行任务的过程中自动总结经验、生成新的 Skill。第三个是 Vibe Coding——氛围编程。你不再写代码，你只是用自然语言描述你想要什么，AI 直接帮你生成整个项目。配合 Claude Code、Cursor 这些工具，一个人就能干过去一个小团队的活。共同趋势是：AI 从"工具"变成"同事"。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好，最后我把今天讲的所有概念用一张图串起来。从底层的 LLM 只会猜词，Token 定义阅读粒度，Embedding 赋予语义坐标，Context 管理信息容量，Prompt 决定输入质量，RAG 检索外部知识，Tool 让 AI 行动，MCP 统一接口标准，Agent 自主循环，Skill 封装经验，Harness 驾驭一切。每一个层级都在解决上一个层级的瓶颈。从"猜下一个字"到"自主完成一个项目"，这不是一堆名词的堆砌，而是每一层都在解决上一层解决不了的问题。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理解这条链，你以后看任何 AI 新闻都不再是碎片。从 Token 到 Agent，你已经掌握了 AI 的全景地图。LLM 预测下一个词，Token 是阅读单位，Embedding 赋予语义，RAG 检索真实信息，Tool 让 AI 行动，Agent 自主完成任务，Harness 驾驭一切——你就是那个指挥 AI 的人。关注 AI大家学，下一期 VibeCoding 实战见！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0.xml"/>
</Relationships>
</file>

<file path=ppt/slides/_rels/slide2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1.xml"/>
</Relationships>
</file>

<file path=ppt/slides/_rels/slide2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2.xml"/>
</Relationships>
</file>

<file path=ppt/slides/_rels/slide2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3.xml"/>
</Relationships>
</file>

<file path=ppt/slides/_rels/slide2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4.xml"/>
</Relationships>
</file>

<file path=ppt/slides/_rels/slide2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5.xml"/>
</Relationships>
</file>

<file path=ppt/slides/_rels/slide2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6.xml"/>
</Relationships>
</file>

<file path=ppt/slides/_rels/slide2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7.xml"/>
</Relationships>
</file>

<file path=ppt/slides/_rels/slide2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8.xml"/>
</Relationships>
</file>

<file path=ppt/slides/_rels/slide2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9.xml"/>
</Relationships>
</file>

<file path=ppt/slides/_rels/slide3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0.xml"/>
</Relationships>
</file>

<file path=ppt/slides/_rels/slide3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1.xml"/>
</Relationships>
</file>

<file path=ppt/slides/_rels/slide3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2.xml"/>
</Relationships>
</file>

<file path=ppt/slides/_rels/slide3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3.xml"/>
</Relationships>
</file>

<file path=ppt/slides/_rels/slide3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4.xml"/>
</Relationships>
</file>

<file path=ppt/slides/_rels/slide3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5.xml"/>
</Relationships>
</file>

<file path=ppt/slides/_rels/slide3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6.xml"/>
</Relationships>
</file>

<file path=ppt/slides/_rels/slide3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7.xml"/>
</Relationships>
</file>

<file path=ppt/slides/_rels/slide3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8.xml"/>
</Relationships>
</file>

<file path=ppt/slides/_rels/slide3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9.xml"/>
</Relationships>
</file>

<file path=ppt/slides/_rels/slide4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0.xml"/>
</Relationships>
</file>

<file path=ppt/slides/_rels/slide4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1.xml"/>
</Relationships>
</file>

<file path=ppt/slides/_rels/slide4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2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1497330" y="1710690"/>
            <a:ext cx="7476173" cy="3442335"/>
            <a:chOff x="1497330" y="1710690"/>
            <a:chExt cx="7476173" cy="3442335"/>
          </a:xfrm>
        </p:grpSpPr>
        <p:sp>
          <p:nvSpPr>
            <p:cNvPr id="3" name="TextBox 3"/>
            <p:cNvSpPr txBox="1"/>
            <p:nvPr/>
          </p:nvSpPr>
          <p:spPr>
            <a:xfrm>
              <a:off x="1501140" y="1710690"/>
              <a:ext cx="600017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2023 年，</a:t>
              </a:r>
              <a:r>
                <a:rPr lang="zh-CN" sz="1800" dirty="0">
                  <a:solidFill>
                    <a:srgbClr val="FAF7F2"/>
                  </a:solidFill>
                  <a:latin typeface="Consolas"/>
                  <a:ea typeface="Microsoft YaHei"/>
                  <a:cs typeface="Consolas"/>
                </a:rPr>
                <a:t>你说你会用 ChatGPT，你就是</a:t>
              </a:r>
              <a:r>
                <a:rPr lang="zh-CN" sz="1800" b="1" dirty="0">
                  <a:solidFill>
                    <a:srgbClr val="E8A87C"/>
                  </a:solidFill>
                  <a:latin typeface="Consolas"/>
                  <a:ea typeface="Microsoft YaHei"/>
                  <a:cs typeface="Consolas"/>
                </a:rPr>
                <a:t>科技达人</a:t>
              </a:r>
              <a:r>
                <a:rPr lang="zh-CN" sz="1800" dirty="0">
                  <a:solidFill>
                    <a:srgbClr val="FAF7F2"/>
                  </a:solidFill>
                  <a:latin typeface="Consolas"/>
                  <a:ea typeface="Microsoft YaHei"/>
                  <a:cs typeface="Consolas"/>
                </a:rPr>
                <a:t>。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501140" y="2567940"/>
              <a:ext cx="590816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2024 年，</a:t>
              </a:r>
              <a:r>
                <a:rPr lang="zh-CN" sz="1800" dirty="0">
                  <a:solidFill>
                    <a:srgbClr val="FAF7F2"/>
                  </a:solidFill>
                  <a:latin typeface="Consolas"/>
                  <a:ea typeface="Microsoft YaHei"/>
                  <a:cs typeface="Consolas"/>
                </a:rPr>
                <a:t>你说你会写 Prompt，你就是</a:t>
              </a:r>
              <a:r>
                <a:rPr lang="zh-CN" sz="1800" b="1" dirty="0">
                  <a:solidFill>
                    <a:srgbClr val="E8A87C"/>
                  </a:solidFill>
                  <a:latin typeface="Consolas"/>
                  <a:ea typeface="Microsoft YaHei"/>
                  <a:cs typeface="Consolas"/>
                </a:rPr>
                <a:t>行业专家</a:t>
              </a:r>
              <a:r>
                <a:rPr lang="zh-CN" sz="1800" dirty="0">
                  <a:solidFill>
                    <a:srgbClr val="FAF7F2"/>
                  </a:solidFill>
                  <a:latin typeface="Consolas"/>
                  <a:ea typeface="Microsoft YaHei"/>
                  <a:cs typeface="Consolas"/>
                </a:rPr>
                <a:t>。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501140" y="3425190"/>
              <a:ext cx="544810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2025 年，</a:t>
              </a:r>
              <a:r>
                <a:rPr lang="zh-CN" sz="1800" dirty="0">
                  <a:solidFill>
                    <a:srgbClr val="FAF7F2"/>
                  </a:solidFill>
                  <a:latin typeface="Consolas"/>
                  <a:ea typeface="Microsoft YaHei"/>
                  <a:cs typeface="Consolas"/>
                </a:rPr>
                <a:t>你说你懂 Agent，你就是</a:t>
              </a:r>
              <a:r>
                <a:rPr lang="zh-CN" sz="1800" b="1" dirty="0">
                  <a:solidFill>
                    <a:srgbClr val="E8A87C"/>
                  </a:solidFill>
                  <a:latin typeface="Consolas"/>
                  <a:ea typeface="Microsoft YaHei"/>
                  <a:cs typeface="Consolas"/>
                </a:rPr>
                <a:t>技术大牛</a:t>
              </a:r>
              <a:r>
                <a:rPr lang="zh-CN" sz="1800" dirty="0">
                  <a:solidFill>
                    <a:srgbClr val="FAF7F2"/>
                  </a:solidFill>
                  <a:latin typeface="Consolas"/>
                  <a:ea typeface="Microsoft YaHei"/>
                  <a:cs typeface="Consolas"/>
                </a:rPr>
                <a:t>。</a:t>
              </a:r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1497330" y="4282440"/>
              <a:ext cx="7476173" cy="870585"/>
              <a:chOff x="1497330" y="4282440"/>
              <a:chExt cx="7476173" cy="870585"/>
            </a:xfrm>
          </p:grpSpPr>
          <p:sp>
            <p:nvSpPr>
              <p:cNvPr id="6" name="TextBox 6"/>
              <p:cNvSpPr txBox="1"/>
              <p:nvPr/>
            </p:nvSpPr>
            <p:spPr>
              <a:xfrm>
                <a:off x="1501140" y="4282440"/>
                <a:ext cx="7472363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8B7D6B"/>
                    </a:solidFill>
                    <a:latin typeface="Consolas"/>
                    <a:ea typeface="Microsoft YaHei"/>
                    <a:cs typeface="Consolas"/>
                  </a:rPr>
                  <a:t>2026 年，</a:t>
                </a:r>
                <a:r>
                  <a:rPr lang="zh-CN" sz="1800" dirty="0">
                    <a:solidFill>
                      <a:srgbClr val="FAF7F2"/>
                    </a:solidFill>
                    <a:latin typeface="Consolas"/>
                    <a:ea typeface="Microsoft YaHei"/>
                    <a:cs typeface="Consolas"/>
                  </a:rPr>
                  <a:t>你打开 AI 圈，看到</a:t>
                </a:r>
                <a:r>
                  <a:rPr lang="zh-CN" sz="1800" b="1" dirty="0">
                    <a:solidFill>
                      <a:srgbClr val="E8A87C"/>
                    </a:solidFill>
                    <a:latin typeface="Consolas"/>
                    <a:ea typeface="Microsoft YaHei"/>
                    <a:cs typeface="Consolas"/>
                  </a:rPr>
                  <a:t xml:space="preserve"> Harness、OpenClaw、Hermes</a:t>
                </a:r>
                <a:r>
                  <a:rPr lang="zh-CN" sz="1800" dirty="0">
                    <a:solidFill>
                      <a:srgbClr val="FAF7F2"/>
                    </a:solidFill>
                    <a:latin typeface="Consolas"/>
                    <a:ea typeface="Microsoft YaHei"/>
                    <a:cs typeface="Consolas"/>
                  </a:rPr>
                  <a:t>——</a:t>
                </a:r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1497330" y="4726305"/>
                <a:ext cx="1341501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E8A87C"/>
                    </a:solidFill>
                    <a:latin typeface="Consolas"/>
                    <a:ea typeface="Microsoft YaHei"/>
                    <a:cs typeface="Consolas"/>
                  </a:rPr>
                  <a:t>这是啥？</a:t>
                </a:r>
              </a:p>
            </p:txBody>
          </p:sp>
        </p:grpSp>
        <p:sp>
          <p:nvSpPr>
            <p:cNvPr id="9" name="Rectangle 9"/>
            <p:cNvSpPr/>
            <p:nvPr/>
          </p:nvSpPr>
          <p:spPr>
            <a:xfrm>
              <a:off x="2809875" y="4743450"/>
              <a:ext cx="133350" cy="266700"/>
            </a:xfrm>
            <a:prstGeom prst="rect">
              <a:avLst/>
            </a:prstGeom>
            <a:solidFill>
              <a:srgbClr val="FAF7F2">
                <a:alpha val="80000"/>
              </a:srgbClr>
            </a:solidFill>
            <a:ln>
              <a:noFill/>
            </a:ln>
          </p:spPr>
        </p:sp>
      </p:grpSp>
      <p:sp>
        <p:nvSpPr>
          <p:cNvPr id="11" name="TextBox 11"/>
          <p:cNvSpPr txBox="1"/>
          <p:nvPr/>
        </p:nvSpPr>
        <p:spPr>
          <a:xfrm>
            <a:off x="11760136" y="6522720"/>
            <a:ext cx="622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381000" y="-571500"/>
            <a:ext cx="11811000" cy="7620000"/>
            <a:chOff x="381000" y="-571500"/>
            <a:chExt cx="11811000" cy="7620000"/>
          </a:xfrm>
        </p:grpSpPr>
        <p:sp>
          <p:nvSpPr>
            <p:cNvPr id="3" name="Ellipse 3"/>
            <p:cNvSpPr/>
            <p:nvPr/>
          </p:nvSpPr>
          <p:spPr>
            <a:xfrm>
              <a:off x="8763000" y="-571500"/>
              <a:ext cx="3429000" cy="3429000"/>
            </a:xfrm>
            <a:prstGeom prst="ellipse">
              <a:avLst/>
            </a:prstGeom>
            <a:solidFill>
              <a:srgbClr val="E8A87C">
                <a:alpha val="600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381000" y="4381500"/>
              <a:ext cx="2667000" cy="2667000"/>
            </a:xfrm>
            <a:prstGeom prst="ellipse">
              <a:avLst/>
            </a:prstGeom>
            <a:solidFill>
              <a:srgbClr val="8B6F47">
                <a:alpha val="4000"/>
              </a:srgbClr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1466921" y="1564958"/>
            <a:ext cx="9258157" cy="1144904"/>
            <a:chOff x="1466921" y="1564958"/>
            <a:chExt cx="9258157" cy="1144904"/>
          </a:xfrm>
        </p:grpSpPr>
        <p:sp>
          <p:nvSpPr>
            <p:cNvPr id="6" name="TextBox 6"/>
            <p:cNvSpPr txBox="1"/>
            <p:nvPr/>
          </p:nvSpPr>
          <p:spPr>
            <a:xfrm>
              <a:off x="1466921" y="1564958"/>
              <a:ext cx="9258157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从 GPT、DeepSeek 到 OpenClaw、Hermes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4762500" y="2076450"/>
              <a:ext cx="2667000" cy="381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4695420" y="2374582"/>
              <a:ext cx="280116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一期视频打通 AI 底层逻辑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666875" y="3143250"/>
            <a:ext cx="8191500" cy="876300"/>
            <a:chOff x="1666875" y="3143250"/>
            <a:chExt cx="8191500" cy="876300"/>
          </a:xfrm>
        </p:grpSpPr>
        <p:sp>
          <p:nvSpPr>
            <p:cNvPr id="10" name="Rectangle 10"/>
            <p:cNvSpPr/>
            <p:nvPr/>
          </p:nvSpPr>
          <p:spPr>
            <a:xfrm>
              <a:off x="1666875" y="3143250"/>
              <a:ext cx="762000" cy="342900"/>
            </a:xfrm>
            <a:prstGeom prst="roundRect">
              <a:avLst>
                <a:gd name="adj" fmla="val 50000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885596" y="3258502"/>
              <a:ext cx="3245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LLM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619375" y="3143250"/>
              <a:ext cx="857250" cy="342900"/>
            </a:xfrm>
            <a:prstGeom prst="roundRect">
              <a:avLst>
                <a:gd name="adj" fmla="val 50000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813262" y="3258502"/>
              <a:ext cx="4694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Token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667125" y="3143250"/>
              <a:ext cx="1143000" cy="342900"/>
            </a:xfrm>
            <a:prstGeom prst="roundRect">
              <a:avLst>
                <a:gd name="adj" fmla="val 50000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830791" y="3258502"/>
              <a:ext cx="81566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Embedding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000625" y="3143250"/>
              <a:ext cx="762000" cy="342900"/>
            </a:xfrm>
            <a:prstGeom prst="roundRect">
              <a:avLst>
                <a:gd name="adj" fmla="val 50000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235448" y="3258502"/>
              <a:ext cx="2923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RAG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953125" y="3143250"/>
              <a:ext cx="952500" cy="342900"/>
            </a:xfrm>
            <a:prstGeom prst="roundRect">
              <a:avLst>
                <a:gd name="adj" fmla="val 50000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134255" y="3258502"/>
              <a:ext cx="5902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Prompt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096125" y="3143250"/>
              <a:ext cx="857250" cy="342900"/>
            </a:xfrm>
            <a:prstGeom prst="roundRect">
              <a:avLst>
                <a:gd name="adj" fmla="val 50000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290012" y="3258502"/>
              <a:ext cx="4694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Agent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143875" y="3143250"/>
              <a:ext cx="762000" cy="342900"/>
            </a:xfrm>
            <a:prstGeom prst="roundRect">
              <a:avLst>
                <a:gd name="adj" fmla="val 50000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350520" y="3258502"/>
              <a:ext cx="3487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Skill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9096375" y="3143250"/>
              <a:ext cx="762000" cy="342900"/>
            </a:xfrm>
            <a:prstGeom prst="roundRect">
              <a:avLst>
                <a:gd name="adj" fmla="val 50000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315096" y="3258502"/>
              <a:ext cx="3245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MCP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2809875" y="3676650"/>
              <a:ext cx="1047750" cy="342900"/>
            </a:xfrm>
            <a:prstGeom prst="roundRect">
              <a:avLst>
                <a:gd name="adj" fmla="val 50000"/>
              </a:avLst>
            </a:prstGeom>
            <a:solidFill>
              <a:srgbClr val="E8A87C">
                <a:alpha val="15000"/>
              </a:srgbClr>
            </a:solidFill>
            <a:ln w="9525">
              <a:solidFill>
                <a:srgbClr val="E8A87C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010451" y="3791902"/>
              <a:ext cx="6465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4956A"/>
                  </a:solidFill>
                  <a:latin typeface="Arial"/>
                  <a:ea typeface="Microsoft YaHei"/>
                  <a:cs typeface="Arial"/>
                </a:rPr>
                <a:t>Harness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048125" y="3676650"/>
              <a:ext cx="1143000" cy="342900"/>
            </a:xfrm>
            <a:prstGeom prst="roundRect">
              <a:avLst>
                <a:gd name="adj" fmla="val 50000"/>
              </a:avLst>
            </a:prstGeom>
            <a:solidFill>
              <a:srgbClr val="E8A87C">
                <a:alpha val="15000"/>
              </a:srgbClr>
            </a:solidFill>
            <a:ln w="9525">
              <a:solidFill>
                <a:srgbClr val="E8A87C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239969" y="3791902"/>
              <a:ext cx="7593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4956A"/>
                  </a:solidFill>
                  <a:latin typeface="Arial"/>
                  <a:ea typeface="Microsoft YaHei"/>
                  <a:cs typeface="Arial"/>
                </a:rPr>
                <a:t>OpenClaw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81625" y="3676650"/>
              <a:ext cx="952500" cy="342900"/>
            </a:xfrm>
            <a:prstGeom prst="roundRect">
              <a:avLst>
                <a:gd name="adj" fmla="val 50000"/>
              </a:avLst>
            </a:prstGeom>
            <a:solidFill>
              <a:srgbClr val="E8A87C">
                <a:alpha val="15000"/>
              </a:srgbClr>
            </a:solidFill>
            <a:ln w="9525">
              <a:solidFill>
                <a:srgbClr val="E8A87C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562755" y="3791902"/>
              <a:ext cx="5902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4956A"/>
                  </a:solidFill>
                  <a:latin typeface="Arial"/>
                  <a:ea typeface="Microsoft YaHei"/>
                  <a:cs typeface="Arial"/>
                </a:rPr>
                <a:t>Hermes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524625" y="3676650"/>
              <a:ext cx="1333500" cy="342900"/>
            </a:xfrm>
            <a:prstGeom prst="roundRect">
              <a:avLst>
                <a:gd name="adj" fmla="val 50000"/>
              </a:avLst>
            </a:prstGeom>
            <a:solidFill>
              <a:srgbClr val="E8A87C">
                <a:alpha val="15000"/>
              </a:srgbClr>
            </a:solidFill>
            <a:ln w="9525">
              <a:solidFill>
                <a:srgbClr val="E8A87C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751337" y="3791902"/>
              <a:ext cx="8800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4956A"/>
                  </a:solidFill>
                  <a:latin typeface="Arial"/>
                  <a:ea typeface="Microsoft YaHei"/>
                  <a:cs typeface="Arial"/>
                </a:rPr>
                <a:t>Vibe Coding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048625" y="3676650"/>
              <a:ext cx="1238250" cy="342900"/>
            </a:xfrm>
            <a:prstGeom prst="roundRect">
              <a:avLst>
                <a:gd name="adj" fmla="val 50000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207584" y="3791902"/>
              <a:ext cx="9203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Fine-tuning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4265438" y="4823460"/>
            <a:ext cx="3661124" cy="515302"/>
            <a:chOff x="4265438" y="4823460"/>
            <a:chExt cx="3661124" cy="515302"/>
          </a:xfrm>
        </p:grpSpPr>
        <p:sp>
          <p:nvSpPr>
            <p:cNvPr id="37" name="TextBox 37"/>
            <p:cNvSpPr txBox="1"/>
            <p:nvPr/>
          </p:nvSpPr>
          <p:spPr>
            <a:xfrm>
              <a:off x="4678680" y="4823460"/>
              <a:ext cx="2834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这些词你能准确说出它们的含义吗？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265438" y="5125402"/>
              <a:ext cx="366112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能否区分它们跟 DeepSeek、豆包等软件有什么关系？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369570" y="6522720"/>
            <a:ext cx="11452860" cy="182880"/>
            <a:chOff x="369570" y="6522720"/>
            <a:chExt cx="11452860" cy="182880"/>
          </a:xfrm>
        </p:grpSpPr>
        <p:sp>
          <p:nvSpPr>
            <p:cNvPr id="40" name="TextBox 40"/>
            <p:cNvSpPr txBox="1"/>
            <p:nvPr/>
          </p:nvSpPr>
          <p:spPr>
            <a:xfrm>
              <a:off x="369570" y="6522720"/>
              <a:ext cx="14687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AI大家学 · 大模型技术篇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727275" y="6522720"/>
              <a:ext cx="951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27" name="Group 27"/>
          <p:cNvGrpSpPr/>
          <p:nvPr/>
        </p:nvGrpSpPr>
        <p:grpSpPr>
          <a:xfrm>
            <a:off x="571500" y="952500"/>
            <a:ext cx="10858500" cy="5019675"/>
            <a:chOff x="571500" y="952500"/>
            <a:chExt cx="10858500" cy="5019675"/>
          </a:xfrm>
        </p:grpSpPr>
        <p:grpSp>
          <p:nvGrpSpPr>
            <p:cNvPr id="18" name="Group 18"/>
            <p:cNvGrpSpPr/>
            <p:nvPr/>
          </p:nvGrpSpPr>
          <p:grpSpPr>
            <a:xfrm>
              <a:off x="571500" y="952500"/>
              <a:ext cx="4572000" cy="3810000"/>
              <a:chOff x="571500" y="952500"/>
              <a:chExt cx="4572000" cy="3810000"/>
            </a:xfrm>
          </p:grpSpPr>
          <p:sp>
            <p:nvSpPr>
              <p:cNvPr id="3" name="Rectangle 3"/>
              <p:cNvSpPr/>
              <p:nvPr/>
            </p:nvSpPr>
            <p:spPr>
              <a:xfrm>
                <a:off x="571500" y="952500"/>
                <a:ext cx="4572000" cy="1143000"/>
              </a:xfrm>
              <a:prstGeom prst="roundRect">
                <a:avLst>
                  <a:gd name="adj" fmla="val 10000"/>
                </a:avLst>
              </a:prstGeom>
              <a:solidFill>
                <a:srgbClr val="FAF7F2"/>
              </a:solidFill>
              <a:ln w="9525">
                <a:solidFill>
                  <a:srgbClr val="EDE5D5"/>
                </a:solidFill>
              </a:ln>
            </p:spPr>
          </p:sp>
          <p:sp>
            <p:nvSpPr>
              <p:cNvPr id="4" name="Rectangle 4"/>
              <p:cNvSpPr/>
              <p:nvPr/>
            </p:nvSpPr>
            <p:spPr>
              <a:xfrm>
                <a:off x="571500" y="952500"/>
                <a:ext cx="38100" cy="1143000"/>
              </a:xfrm>
              <a:prstGeom prst="roundRect">
                <a:avLst>
                  <a:gd name="adj" fmla="val 50000"/>
                </a:avLst>
              </a:prstGeom>
              <a:solidFill>
                <a:srgbClr val="D4837F"/>
              </a:solidFill>
              <a:ln>
                <a:noFill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796290" y="1124902"/>
                <a:ext cx="48672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阿里云</a:t>
                </a:r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794385" y="1375410"/>
                <a:ext cx="322327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免费安装</a:t>
                </a:r>
                <a:r>
                  <a:rPr lang="zh-CN" sz="1200" b="1" dirty="0">
                    <a:solidFill>
                      <a:srgbClr val="D4837F"/>
                    </a:solidFill>
                    <a:latin typeface="Arial"/>
                    <a:ea typeface="Microsoft YaHei"/>
                    <a:cs typeface="Arial"/>
                  </a:rPr>
                  <a:t xml:space="preserve"> 阿里Claw</a:t>
                </a:r>
                <a:r>
                  <a:rPr lang="zh-CN" sz="1200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，一键部署AI Agent</a:t>
                </a:r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798195" y="1664970"/>
                <a:ext cx="132416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2026年3月 · 科技新闻</a:t>
                </a:r>
              </a:p>
            </p:txBody>
          </p:sp>
          <p:sp>
            <p:nvSpPr>
              <p:cNvPr id="8" name="Rectangle 8"/>
              <p:cNvSpPr/>
              <p:nvPr/>
            </p:nvSpPr>
            <p:spPr>
              <a:xfrm>
                <a:off x="571500" y="2286000"/>
                <a:ext cx="4572000" cy="1143000"/>
              </a:xfrm>
              <a:prstGeom prst="roundRect">
                <a:avLst>
                  <a:gd name="adj" fmla="val 10000"/>
                </a:avLst>
              </a:prstGeom>
              <a:solidFill>
                <a:srgbClr val="FAF7F2"/>
              </a:solidFill>
              <a:ln w="9525">
                <a:solidFill>
                  <a:srgbClr val="EDE5D5"/>
                </a:solidFill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571500" y="2286000"/>
                <a:ext cx="38100" cy="1143000"/>
              </a:xfrm>
              <a:prstGeom prst="roundRect">
                <a:avLst>
                  <a:gd name="adj" fmla="val 50000"/>
                </a:avLst>
              </a:prstGeom>
              <a:solidFill>
                <a:srgbClr val="D4837F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796290" y="2458402"/>
                <a:ext cx="48672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腾讯云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94385" y="2708910"/>
                <a:ext cx="284603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免费安装</a:t>
                </a:r>
                <a:r>
                  <a:rPr lang="zh-CN" sz="1200" b="1" dirty="0">
                    <a:solidFill>
                      <a:srgbClr val="D4837F"/>
                    </a:solidFill>
                    <a:latin typeface="Arial"/>
                    <a:ea typeface="Microsoft YaHei"/>
                    <a:cs typeface="Arial"/>
                  </a:rPr>
                  <a:t xml:space="preserve"> 腾讯Claw</a:t>
                </a:r>
                <a:r>
                  <a:rPr lang="zh-CN" sz="1200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，企业级AI助手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798195" y="2998470"/>
                <a:ext cx="132416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2026年3月 · 科技新闻</a:t>
                </a:r>
              </a:p>
            </p:txBody>
          </p:sp>
          <p:sp>
            <p:nvSpPr>
              <p:cNvPr id="13" name="Rectangle 13"/>
              <p:cNvSpPr/>
              <p:nvPr/>
            </p:nvSpPr>
            <p:spPr>
              <a:xfrm>
                <a:off x="571500" y="3619500"/>
                <a:ext cx="4572000" cy="1143000"/>
              </a:xfrm>
              <a:prstGeom prst="roundRect">
                <a:avLst>
                  <a:gd name="adj" fmla="val 10000"/>
                </a:avLst>
              </a:prstGeom>
              <a:solidFill>
                <a:srgbClr val="FAF7F2"/>
              </a:solidFill>
              <a:ln w="9525">
                <a:solidFill>
                  <a:srgbClr val="EDE5D5"/>
                </a:solidFill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571500" y="3619500"/>
                <a:ext cx="38100" cy="1143000"/>
              </a:xfrm>
              <a:prstGeom prst="roundRect">
                <a:avLst>
                  <a:gd name="adj" fmla="val 50000"/>
                </a:avLst>
              </a:prstGeom>
              <a:solidFill>
                <a:srgbClr val="D4837F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796290" y="3791902"/>
                <a:ext cx="6400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字节跳动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94385" y="4042410"/>
                <a:ext cx="287363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免费安装</a:t>
                </a:r>
                <a:r>
                  <a:rPr lang="zh-CN" sz="1200" b="1" dirty="0">
                    <a:solidFill>
                      <a:srgbClr val="D4837F"/>
                    </a:solidFill>
                    <a:latin typeface="Arial"/>
                    <a:ea typeface="Microsoft YaHei"/>
                    <a:cs typeface="Arial"/>
                  </a:rPr>
                  <a:t xml:space="preserve"> 字节Claw</a:t>
                </a:r>
                <a:r>
                  <a:rPr lang="zh-CN" sz="1200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，全民养虾时代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98195" y="4331970"/>
                <a:ext cx="132416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2026年4月 · 科技新闻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5905500" y="1143000"/>
              <a:ext cx="5524500" cy="2857500"/>
              <a:chOff x="5905500" y="1143000"/>
              <a:chExt cx="5524500" cy="285750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5905500" y="1143000"/>
                <a:ext cx="5524500" cy="2857500"/>
              </a:xfrm>
              <a:prstGeom prst="roundRect">
                <a:avLst>
                  <a:gd name="adj" fmla="val 5333"/>
                </a:avLst>
              </a:prstGeom>
              <a:noFill/>
              <a:ln w="19050">
                <a:solidFill>
                  <a:srgbClr val="8B7D6B"/>
                </a:solidFill>
                <a:prstDash val="lgDash"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7876461" y="2219325"/>
                <a:ext cx="1582579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OpenClaw Logo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983498" y="2553652"/>
                <a:ext cx="136850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🦞 开源AI Agent工具</a:t>
                </a:r>
              </a:p>
            </p:txBody>
          </p:sp>
          <p:sp>
            <p:nvSpPr>
              <p:cNvPr id="22" name="Freeform 22"/>
              <p:cNvSpPr/>
              <p:nvPr/>
            </p:nvSpPr>
            <p:spPr>
              <a:xfrm>
                <a:off x="8362950" y="2870244"/>
                <a:ext cx="304800" cy="406356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406356">
                    <a:moveTo>
                      <a:pt x="114300" y="25356"/>
                    </a:moveTo>
                    <a:cubicBezTo>
                      <a:pt x="114300" y="8592"/>
                      <a:pt x="134417" y="0"/>
                      <a:pt x="146533" y="11601"/>
                    </a:cubicBezTo>
                    <a:cubicBezTo>
                      <a:pt x="183832" y="47339"/>
                      <a:pt x="205511" y="125806"/>
                      <a:pt x="179870" y="185337"/>
                    </a:cubicBezTo>
                    <a:lnTo>
                      <a:pt x="178346" y="188652"/>
                    </a:lnTo>
                    <a:lnTo>
                      <a:pt x="178575" y="188709"/>
                    </a:lnTo>
                    <a:cubicBezTo>
                      <a:pt x="190481" y="191243"/>
                      <a:pt x="201492" y="180518"/>
                      <a:pt x="222447" y="147314"/>
                    </a:cubicBezTo>
                    <a:lnTo>
                      <a:pt x="225114" y="143046"/>
                    </a:lnTo>
                    <a:cubicBezTo>
                      <a:pt x="228247" y="138003"/>
                      <a:pt x="233552" y="134709"/>
                      <a:pt x="239462" y="134138"/>
                    </a:cubicBezTo>
                    <a:cubicBezTo>
                      <a:pt x="245371" y="133566"/>
                      <a:pt x="251210" y="135782"/>
                      <a:pt x="255251" y="140132"/>
                    </a:cubicBezTo>
                    <a:cubicBezTo>
                      <a:pt x="280664" y="167469"/>
                      <a:pt x="304800" y="223514"/>
                      <a:pt x="304800" y="259575"/>
                    </a:cubicBezTo>
                    <a:cubicBezTo>
                      <a:pt x="304800" y="340824"/>
                      <a:pt x="236391" y="406356"/>
                      <a:pt x="152400" y="406356"/>
                    </a:cubicBezTo>
                    <a:cubicBezTo>
                      <a:pt x="68409" y="406356"/>
                      <a:pt x="0" y="340824"/>
                      <a:pt x="0" y="259556"/>
                    </a:cubicBezTo>
                    <a:cubicBezTo>
                      <a:pt x="0" y="216656"/>
                      <a:pt x="19469" y="169716"/>
                      <a:pt x="50140" y="139522"/>
                    </a:cubicBezTo>
                    <a:lnTo>
                      <a:pt x="61665" y="128302"/>
                    </a:lnTo>
                    <a:cubicBezTo>
                      <a:pt x="66256" y="123806"/>
                      <a:pt x="69933" y="120110"/>
                      <a:pt x="73438" y="116415"/>
                    </a:cubicBezTo>
                    <a:cubicBezTo>
                      <a:pt x="100679" y="87611"/>
                      <a:pt x="114300" y="60712"/>
                      <a:pt x="114300" y="25356"/>
                    </a:cubicBezTo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</p:grpSp>
        <p:grpSp>
          <p:nvGrpSpPr>
            <p:cNvPr id="26" name="Group 26"/>
            <p:cNvGrpSpPr/>
            <p:nvPr/>
          </p:nvGrpSpPr>
          <p:grpSpPr>
            <a:xfrm>
              <a:off x="3658624" y="5378768"/>
              <a:ext cx="4874752" cy="593407"/>
              <a:chOff x="3658624" y="5378768"/>
              <a:chExt cx="4874752" cy="593407"/>
            </a:xfrm>
          </p:grpSpPr>
          <p:sp>
            <p:nvSpPr>
              <p:cNvPr id="24" name="TextBox 24"/>
              <p:cNvSpPr txBox="1"/>
              <p:nvPr/>
            </p:nvSpPr>
            <p:spPr>
              <a:xfrm>
                <a:off x="3658624" y="5378768"/>
                <a:ext cx="487475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 xml:space="preserve">各家改个名字也叫 </a:t>
                </a:r>
                <a:r>
                  <a:rPr lang="zh-CN" sz="1350" b="1" dirty="0">
                    <a:solidFill>
                      <a:srgbClr val="D4837F"/>
                    </a:solidFill>
                    <a:latin typeface="Arial"/>
                    <a:ea typeface="Microsoft YaHei"/>
                    <a:cs typeface="Arial"/>
                  </a:rPr>
                  <a:t>XXClaw</a:t>
                </a:r>
                <a:r>
                  <a:rPr lang="zh-CN" sz="1350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，硬生生炒成了全民养虾运动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328160" y="5728335"/>
                <a:ext cx="35356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今天从最底层的技术视角，把这些概念讲清楚</a:t>
                </a:r>
              </a:p>
            </p:txBody>
          </p:sp>
        </p:grpSp>
      </p:grpSp>
      <p:sp>
        <p:nvSpPr>
          <p:cNvPr id="28" name="TextBox 28"/>
          <p:cNvSpPr txBox="1"/>
          <p:nvPr/>
        </p:nvSpPr>
        <p:spPr>
          <a:xfrm>
            <a:off x="11727275" y="6522720"/>
            <a:ext cx="951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8B6F47"/>
              </a:gs>
              <a:gs pos="100000">
                <a:srgbClr val="6B5535"/>
              </a:gs>
            </a:gsLst>
            <a:lin ang="2700000" scaled="1"/>
          </a:gra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762000" y="190500"/>
            <a:ext cx="11144250" cy="7239000"/>
            <a:chOff x="762000" y="190500"/>
            <a:chExt cx="11144250" cy="7239000"/>
          </a:xfrm>
        </p:grpSpPr>
        <p:sp>
          <p:nvSpPr>
            <p:cNvPr id="3" name="Ellipse 3"/>
            <p:cNvSpPr/>
            <p:nvPr/>
          </p:nvSpPr>
          <p:spPr>
            <a:xfrm>
              <a:off x="8096250" y="3619500"/>
              <a:ext cx="3810000" cy="3810000"/>
            </a:xfrm>
            <a:prstGeom prst="ellipse">
              <a:avLst/>
            </a:prstGeom>
            <a:solidFill>
              <a:srgbClr val="FAF7F2">
                <a:alpha val="500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762000" y="190500"/>
              <a:ext cx="2286000" cy="2286000"/>
            </a:xfrm>
            <a:prstGeom prst="ellipse">
              <a:avLst/>
            </a:prstGeom>
            <a:solidFill>
              <a:srgbClr val="FAF7F2">
                <a:alpha val="4000"/>
              </a:srgbClr>
            </a:solidFill>
            <a:ln>
              <a:noFill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3654171" y="1504950"/>
            <a:ext cx="4883658" cy="3238500"/>
            <a:chOff x="3654171" y="1504950"/>
            <a:chExt cx="4883658" cy="3238500"/>
          </a:xfrm>
        </p:grpSpPr>
        <p:sp>
          <p:nvSpPr>
            <p:cNvPr id="6" name="TextBox 6"/>
            <p:cNvSpPr txBox="1"/>
            <p:nvPr/>
          </p:nvSpPr>
          <p:spPr>
            <a:xfrm>
              <a:off x="5395127" y="1504950"/>
              <a:ext cx="1401747" cy="1828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0" b="1" dirty="0">
                  <a:solidFill>
                    <a:srgbClr val="FAF7F2">
                      <a:alphaMod val="15000"/>
                    </a:srgbClr>
                  </a:solidFill>
                  <a:latin typeface="Georgia"/>
                  <a:ea typeface="Microsoft YaHei"/>
                  <a:cs typeface="Georgia"/>
                </a:rPr>
                <a:t>01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654171" y="2817495"/>
              <a:ext cx="4883658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900" b="1" dirty="0">
                  <a:solidFill>
                    <a:srgbClr val="FAF7F2"/>
                  </a:solidFill>
                  <a:latin typeface="Georgia"/>
                  <a:ea typeface="Microsoft YaHei"/>
                  <a:cs typeface="Georgia"/>
                </a:rPr>
                <a:t>LLM — 大语言模型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4953000" y="3476625"/>
              <a:ext cx="2286000" cy="381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105275" y="3933825"/>
              <a:ext cx="39814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AF7F2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给一段文字，预测下一个最可能出现的词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5838422" y="4457700"/>
              <a:ext cx="286556" cy="285750"/>
              <a:chOff x="5838422" y="4457700"/>
              <a:chExt cx="286556" cy="28575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5838422" y="4586288"/>
                <a:ext cx="43668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43668" h="28575">
                    <a:moveTo>
                      <a:pt x="28978" y="0"/>
                    </a:moveTo>
                    <a:cubicBezTo>
                      <a:pt x="36537" y="8"/>
                      <a:pt x="42782" y="5904"/>
                      <a:pt x="43225" y="13450"/>
                    </a:cubicBezTo>
                    <a:cubicBezTo>
                      <a:pt x="43668" y="20997"/>
                      <a:pt x="38156" y="27582"/>
                      <a:pt x="30649" y="28475"/>
                    </a:cubicBezTo>
                    <a:lnTo>
                      <a:pt x="28978" y="28575"/>
                    </a:lnTo>
                    <a:lnTo>
                      <a:pt x="14690" y="28575"/>
                    </a:lnTo>
                    <a:cubicBezTo>
                      <a:pt x="7131" y="28567"/>
                      <a:pt x="886" y="22671"/>
                      <a:pt x="443" y="15125"/>
                    </a:cubicBezTo>
                    <a:cubicBezTo>
                      <a:pt x="0" y="7578"/>
                      <a:pt x="5512" y="993"/>
                      <a:pt x="13018" y="100"/>
                    </a:cubicBezTo>
                    <a:lnTo>
                      <a:pt x="14690" y="0"/>
                    </a:lnTo>
                    <a:lnTo>
                      <a:pt x="28978" y="0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5967412" y="4457700"/>
                <a:ext cx="28575" cy="4326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43265">
                    <a:moveTo>
                      <a:pt x="14288" y="0"/>
                    </a:moveTo>
                    <a:cubicBezTo>
                      <a:pt x="21531" y="1"/>
                      <a:pt x="27628" y="5422"/>
                      <a:pt x="28475" y="12616"/>
                    </a:cubicBezTo>
                    <a:lnTo>
                      <a:pt x="28575" y="14288"/>
                    </a:lnTo>
                    <a:lnTo>
                      <a:pt x="28575" y="28575"/>
                    </a:lnTo>
                    <a:cubicBezTo>
                      <a:pt x="28567" y="36134"/>
                      <a:pt x="22671" y="42379"/>
                      <a:pt x="15125" y="42822"/>
                    </a:cubicBezTo>
                    <a:cubicBezTo>
                      <a:pt x="7578" y="43265"/>
                      <a:pt x="993" y="37753"/>
                      <a:pt x="100" y="30247"/>
                    </a:cubicBezTo>
                    <a:lnTo>
                      <a:pt x="0" y="28575"/>
                    </a:lnTo>
                    <a:lnTo>
                      <a:pt x="0" y="14288"/>
                    </a:lnTo>
                    <a:cubicBezTo>
                      <a:pt x="0" y="6397"/>
                      <a:pt x="6397" y="0"/>
                      <a:pt x="14288" y="0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6081310" y="4586288"/>
                <a:ext cx="43668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43668" h="28575">
                    <a:moveTo>
                      <a:pt x="28978" y="0"/>
                    </a:moveTo>
                    <a:cubicBezTo>
                      <a:pt x="36537" y="8"/>
                      <a:pt x="42782" y="5904"/>
                      <a:pt x="43225" y="13450"/>
                    </a:cubicBezTo>
                    <a:cubicBezTo>
                      <a:pt x="43668" y="20997"/>
                      <a:pt x="38156" y="27582"/>
                      <a:pt x="30649" y="28475"/>
                    </a:cubicBezTo>
                    <a:lnTo>
                      <a:pt x="28978" y="28575"/>
                    </a:lnTo>
                    <a:lnTo>
                      <a:pt x="14690" y="28575"/>
                    </a:lnTo>
                    <a:cubicBezTo>
                      <a:pt x="7131" y="28567"/>
                      <a:pt x="886" y="22671"/>
                      <a:pt x="443" y="15125"/>
                    </a:cubicBezTo>
                    <a:cubicBezTo>
                      <a:pt x="0" y="7578"/>
                      <a:pt x="5512" y="993"/>
                      <a:pt x="13018" y="100"/>
                    </a:cubicBezTo>
                    <a:lnTo>
                      <a:pt x="14690" y="0"/>
                    </a:lnTo>
                    <a:lnTo>
                      <a:pt x="28978" y="0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5874581" y="4493436"/>
                <a:ext cx="41360" cy="41596"/>
              </a:xfrm>
              <a:custGeom>
                <a:avLst/>
                <a:gdLst/>
                <a:ahLst/>
                <a:cxnLst/>
                <a:rect l="l" t="t" r="r" b="b"/>
                <a:pathLst>
                  <a:path w="41360" h="41596">
                    <a:moveTo>
                      <a:pt x="5578" y="5598"/>
                    </a:moveTo>
                    <a:cubicBezTo>
                      <a:pt x="10668" y="508"/>
                      <a:pt x="18749" y="0"/>
                      <a:pt x="24437" y="4412"/>
                    </a:cubicBezTo>
                    <a:lnTo>
                      <a:pt x="25780" y="5598"/>
                    </a:lnTo>
                    <a:lnTo>
                      <a:pt x="35781" y="15599"/>
                    </a:lnTo>
                    <a:cubicBezTo>
                      <a:pt x="41099" y="20935"/>
                      <a:pt x="41360" y="29484"/>
                      <a:pt x="36378" y="35134"/>
                    </a:cubicBezTo>
                    <a:cubicBezTo>
                      <a:pt x="31395" y="40785"/>
                      <a:pt x="22882" y="41596"/>
                      <a:pt x="16922" y="36988"/>
                    </a:cubicBezTo>
                    <a:lnTo>
                      <a:pt x="15579" y="35802"/>
                    </a:lnTo>
                    <a:lnTo>
                      <a:pt x="5578" y="25800"/>
                    </a:lnTo>
                    <a:cubicBezTo>
                      <a:pt x="0" y="20221"/>
                      <a:pt x="0" y="11177"/>
                      <a:pt x="5578" y="5598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6047243" y="4493455"/>
                <a:ext cx="41792" cy="41362"/>
              </a:xfrm>
              <a:custGeom>
                <a:avLst/>
                <a:gdLst/>
                <a:ahLst/>
                <a:cxnLst/>
                <a:rect l="l" t="t" r="r" b="b"/>
                <a:pathLst>
                  <a:path w="41792" h="41362">
                    <a:moveTo>
                      <a:pt x="15795" y="5579"/>
                    </a:moveTo>
                    <a:cubicBezTo>
                      <a:pt x="21131" y="261"/>
                      <a:pt x="29680" y="0"/>
                      <a:pt x="35330" y="4982"/>
                    </a:cubicBezTo>
                    <a:cubicBezTo>
                      <a:pt x="40981" y="9965"/>
                      <a:pt x="41792" y="18479"/>
                      <a:pt x="37184" y="24438"/>
                    </a:cubicBezTo>
                    <a:lnTo>
                      <a:pt x="35998" y="25782"/>
                    </a:lnTo>
                    <a:lnTo>
                      <a:pt x="25997" y="35783"/>
                    </a:lnTo>
                    <a:cubicBezTo>
                      <a:pt x="20661" y="41101"/>
                      <a:pt x="12112" y="41362"/>
                      <a:pt x="6462" y="36379"/>
                    </a:cubicBezTo>
                    <a:cubicBezTo>
                      <a:pt x="811" y="31397"/>
                      <a:pt x="0" y="22883"/>
                      <a:pt x="4608" y="16923"/>
                    </a:cubicBezTo>
                    <a:lnTo>
                      <a:pt x="5794" y="15580"/>
                    </a:lnTo>
                    <a:lnTo>
                      <a:pt x="15795" y="5579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5938838" y="4686300"/>
                <a:ext cx="857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57150">
                    <a:moveTo>
                      <a:pt x="71438" y="0"/>
                    </a:moveTo>
                    <a:cubicBezTo>
                      <a:pt x="79328" y="0"/>
                      <a:pt x="85725" y="6397"/>
                      <a:pt x="85725" y="14288"/>
                    </a:cubicBezTo>
                    <a:cubicBezTo>
                      <a:pt x="85725" y="37960"/>
                      <a:pt x="66535" y="57150"/>
                      <a:pt x="42862" y="57150"/>
                    </a:cubicBezTo>
                    <a:cubicBezTo>
                      <a:pt x="19190" y="57150"/>
                      <a:pt x="0" y="37960"/>
                      <a:pt x="0" y="14288"/>
                    </a:cubicBezTo>
                    <a:cubicBezTo>
                      <a:pt x="1" y="7044"/>
                      <a:pt x="5422" y="947"/>
                      <a:pt x="12616" y="100"/>
                    </a:cubicBezTo>
                    <a:lnTo>
                      <a:pt x="14288" y="0"/>
                    </a:lnTo>
                    <a:lnTo>
                      <a:pt x="71438" y="0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5888706" y="4514850"/>
                <a:ext cx="185989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85989" h="157162">
                    <a:moveTo>
                      <a:pt x="92994" y="0"/>
                    </a:moveTo>
                    <a:cubicBezTo>
                      <a:pt x="129893" y="0"/>
                      <a:pt x="162652" y="23611"/>
                      <a:pt x="174320" y="58616"/>
                    </a:cubicBezTo>
                    <a:cubicBezTo>
                      <a:pt x="185989" y="93622"/>
                      <a:pt x="173948" y="132166"/>
                      <a:pt x="144429" y="154305"/>
                    </a:cubicBezTo>
                    <a:cubicBezTo>
                      <a:pt x="142460" y="155784"/>
                      <a:pt x="140142" y="156729"/>
                      <a:pt x="137700" y="157048"/>
                    </a:cubicBezTo>
                    <a:lnTo>
                      <a:pt x="135857" y="157162"/>
                    </a:lnTo>
                    <a:lnTo>
                      <a:pt x="50132" y="157162"/>
                    </a:lnTo>
                    <a:cubicBezTo>
                      <a:pt x="47040" y="157162"/>
                      <a:pt x="44032" y="156160"/>
                      <a:pt x="41559" y="154305"/>
                    </a:cubicBezTo>
                    <a:cubicBezTo>
                      <a:pt x="12040" y="132166"/>
                      <a:pt x="0" y="93622"/>
                      <a:pt x="11668" y="58616"/>
                    </a:cubicBezTo>
                    <a:cubicBezTo>
                      <a:pt x="23337" y="23611"/>
                      <a:pt x="56096" y="0"/>
                      <a:pt x="92994" y="0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</p:grpSp>
      </p:grpSp>
      <p:grpSp>
        <p:nvGrpSpPr>
          <p:cNvPr id="21" name="Group 21"/>
          <p:cNvGrpSpPr/>
          <p:nvPr/>
        </p:nvGrpSpPr>
        <p:grpSpPr>
          <a:xfrm>
            <a:off x="369570" y="6522720"/>
            <a:ext cx="11452860" cy="182880"/>
            <a:chOff x="369570" y="6522720"/>
            <a:chExt cx="11452860" cy="182880"/>
          </a:xfrm>
        </p:grpSpPr>
        <p:sp>
          <p:nvSpPr>
            <p:cNvPr id="19" name="TextBox 19"/>
            <p:cNvSpPr txBox="1"/>
            <p:nvPr/>
          </p:nvSpPr>
          <p:spPr>
            <a:xfrm>
              <a:off x="369570" y="6522720"/>
              <a:ext cx="14687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AI大家学 · 大模型技术篇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727275" y="6522720"/>
              <a:ext cx="951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39115" y="343852"/>
            <a:ext cx="4816014" cy="518160"/>
            <a:chOff x="539115" y="343852"/>
            <a:chExt cx="4816014" cy="518160"/>
          </a:xfrm>
        </p:grpSpPr>
        <p:sp>
          <p:nvSpPr>
            <p:cNvPr id="3" name="TextBox 3"/>
            <p:cNvSpPr txBox="1"/>
            <p:nvPr/>
          </p:nvSpPr>
          <p:spPr>
            <a:xfrm>
              <a:off x="539115" y="343852"/>
              <a:ext cx="4816014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LLM 的核心：预测下一个词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3962400" y="1428750"/>
            <a:ext cx="5276850" cy="514350"/>
            <a:chOff x="3962400" y="1428750"/>
            <a:chExt cx="5276850" cy="514350"/>
          </a:xfrm>
        </p:grpSpPr>
        <p:sp>
          <p:nvSpPr>
            <p:cNvPr id="6" name="TextBox 6"/>
            <p:cNvSpPr txBox="1"/>
            <p:nvPr/>
          </p:nvSpPr>
          <p:spPr>
            <a:xfrm>
              <a:off x="3962400" y="1455420"/>
              <a:ext cx="426720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今天天气真好，我们去公园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8286750" y="1428750"/>
              <a:ext cx="952500" cy="419100"/>
            </a:xfrm>
            <a:prstGeom prst="roundRect">
              <a:avLst>
                <a:gd name="adj" fmla="val 18182"/>
              </a:avLst>
            </a:prstGeom>
            <a:noFill/>
            <a:ln w="23812">
              <a:solidFill>
                <a:srgbClr val="E8A87C"/>
              </a:solidFill>
              <a:prstDash val="lgDash"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483298" y="1487805"/>
              <a:ext cx="559403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___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905000" y="2667000"/>
            <a:ext cx="8761333" cy="1524000"/>
            <a:chOff x="1905000" y="2667000"/>
            <a:chExt cx="8761333" cy="1524000"/>
          </a:xfrm>
        </p:grpSpPr>
        <p:grpSp>
          <p:nvGrpSpPr>
            <p:cNvPr id="14" name="Group 14"/>
            <p:cNvGrpSpPr/>
            <p:nvPr/>
          </p:nvGrpSpPr>
          <p:grpSpPr>
            <a:xfrm>
              <a:off x="1905000" y="2667000"/>
              <a:ext cx="2095500" cy="1524000"/>
              <a:chOff x="1905000" y="2667000"/>
              <a:chExt cx="2095500" cy="152400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1905000" y="2667000"/>
                <a:ext cx="2095500" cy="1524000"/>
              </a:xfrm>
              <a:prstGeom prst="roundRect">
                <a:avLst>
                  <a:gd name="adj" fmla="val 12500"/>
                </a:avLst>
              </a:prstGeom>
              <a:solidFill>
                <a:srgbClr val="FAF7F2"/>
              </a:solidFill>
              <a:ln w="19050">
                <a:solidFill>
                  <a:srgbClr val="E8A87C"/>
                </a:solidFill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2504408" y="2947035"/>
                <a:ext cx="896684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700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散步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2514220" y="3422332"/>
                <a:ext cx="877060" cy="640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3150" b="1" dirty="0">
                    <a:solidFill>
                      <a:srgbClr val="E8A87C"/>
                    </a:solidFill>
                    <a:latin typeface="Georgia"/>
                    <a:ea typeface="SimSun"/>
                    <a:cs typeface="Georgia"/>
                  </a:rPr>
                  <a:t>45%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2678430" y="3903345"/>
                <a:ext cx="54864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最高概率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4572000" y="2667000"/>
              <a:ext cx="2095500" cy="1524000"/>
              <a:chOff x="4572000" y="2667000"/>
              <a:chExt cx="2095500" cy="152400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4572000" y="2667000"/>
                <a:ext cx="2095500" cy="1524000"/>
              </a:xfrm>
              <a:prstGeom prst="roundRect">
                <a:avLst>
                  <a:gd name="adj" fmla="val 12500"/>
                </a:avLst>
              </a:prstGeom>
              <a:solidFill>
                <a:srgbClr val="FAF7F2"/>
              </a:solidFill>
              <a:ln w="9525">
                <a:solidFill>
                  <a:srgbClr val="EDE5D5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5378434" y="2947035"/>
                <a:ext cx="482632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700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玩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5181220" y="3422332"/>
                <a:ext cx="877060" cy="640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3150" b="1" dirty="0">
                    <a:solidFill>
                      <a:srgbClr val="8B6F47"/>
                    </a:solidFill>
                    <a:latin typeface="Georgia"/>
                    <a:ea typeface="SimSun"/>
                    <a:cs typeface="Georgia"/>
                  </a:rPr>
                  <a:t>30%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7239000" y="2667000"/>
              <a:ext cx="2095500" cy="1524000"/>
              <a:chOff x="7239000" y="2667000"/>
              <a:chExt cx="2095500" cy="152400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7239000" y="2667000"/>
                <a:ext cx="2095500" cy="1524000"/>
              </a:xfrm>
              <a:prstGeom prst="roundRect">
                <a:avLst>
                  <a:gd name="adj" fmla="val 12500"/>
                </a:avLst>
              </a:prstGeom>
              <a:solidFill>
                <a:srgbClr val="FAF7F2"/>
              </a:solidFill>
              <a:ln w="9525">
                <a:solidFill>
                  <a:srgbClr val="EDE5D5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7838408" y="2947035"/>
                <a:ext cx="896684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700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跑步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908603" y="3422332"/>
                <a:ext cx="756295" cy="640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3150" b="1" dirty="0">
                    <a:solidFill>
                      <a:srgbClr val="8B6F47"/>
                    </a:solidFill>
                    <a:latin typeface="Georgia"/>
                    <a:ea typeface="SimSun"/>
                    <a:cs typeface="Georgia"/>
                  </a:rPr>
                  <a:t>15%</a:t>
                </a:r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9987915" y="3410902"/>
              <a:ext cx="6784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其他 ~10%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2500" y="4762500"/>
            <a:ext cx="10287000" cy="952500"/>
            <a:chOff x="952500" y="4762500"/>
            <a:chExt cx="10287000" cy="952500"/>
          </a:xfrm>
        </p:grpSpPr>
        <p:sp>
          <p:nvSpPr>
            <p:cNvPr id="25" name="Rectangle 25"/>
            <p:cNvSpPr/>
            <p:nvPr/>
          </p:nvSpPr>
          <p:spPr>
            <a:xfrm>
              <a:off x="952500" y="4762500"/>
              <a:ext cx="10287000" cy="952500"/>
            </a:xfrm>
            <a:prstGeom prst="roundRect">
              <a:avLst>
                <a:gd name="adj" fmla="val 16000"/>
              </a:avLst>
            </a:prstGeom>
            <a:solidFill>
              <a:srgbClr val="8B6F47">
                <a:alpha val="6000"/>
              </a:srgbClr>
            </a:solidFill>
            <a:ln w="9525">
              <a:solidFill>
                <a:srgbClr val="8B6F47"/>
              </a:solidFill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1266422" y="5029200"/>
              <a:ext cx="286556" cy="285750"/>
              <a:chOff x="1266422" y="5029200"/>
              <a:chExt cx="286556" cy="28575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1266422" y="5157788"/>
                <a:ext cx="43668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43668" h="28575">
                    <a:moveTo>
                      <a:pt x="28978" y="0"/>
                    </a:moveTo>
                    <a:cubicBezTo>
                      <a:pt x="36537" y="8"/>
                      <a:pt x="42782" y="5904"/>
                      <a:pt x="43225" y="13450"/>
                    </a:cubicBezTo>
                    <a:cubicBezTo>
                      <a:pt x="43668" y="20997"/>
                      <a:pt x="38156" y="27582"/>
                      <a:pt x="30649" y="28475"/>
                    </a:cubicBezTo>
                    <a:lnTo>
                      <a:pt x="28978" y="28575"/>
                    </a:lnTo>
                    <a:lnTo>
                      <a:pt x="14690" y="28575"/>
                    </a:lnTo>
                    <a:cubicBezTo>
                      <a:pt x="7131" y="28567"/>
                      <a:pt x="886" y="22671"/>
                      <a:pt x="443" y="15125"/>
                    </a:cubicBezTo>
                    <a:cubicBezTo>
                      <a:pt x="0" y="7578"/>
                      <a:pt x="5512" y="993"/>
                      <a:pt x="13018" y="100"/>
                    </a:cubicBezTo>
                    <a:lnTo>
                      <a:pt x="14690" y="0"/>
                    </a:lnTo>
                    <a:lnTo>
                      <a:pt x="2897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1395412" y="5029200"/>
                <a:ext cx="28575" cy="4326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43265">
                    <a:moveTo>
                      <a:pt x="14288" y="0"/>
                    </a:moveTo>
                    <a:cubicBezTo>
                      <a:pt x="21531" y="1"/>
                      <a:pt x="27628" y="5422"/>
                      <a:pt x="28475" y="12616"/>
                    </a:cubicBezTo>
                    <a:lnTo>
                      <a:pt x="28575" y="14288"/>
                    </a:lnTo>
                    <a:lnTo>
                      <a:pt x="28575" y="28575"/>
                    </a:lnTo>
                    <a:cubicBezTo>
                      <a:pt x="28567" y="36134"/>
                      <a:pt x="22671" y="42379"/>
                      <a:pt x="15125" y="42822"/>
                    </a:cubicBezTo>
                    <a:cubicBezTo>
                      <a:pt x="7578" y="43265"/>
                      <a:pt x="993" y="37753"/>
                      <a:pt x="100" y="30247"/>
                    </a:cubicBezTo>
                    <a:lnTo>
                      <a:pt x="0" y="28575"/>
                    </a:lnTo>
                    <a:lnTo>
                      <a:pt x="0" y="14288"/>
                    </a:lnTo>
                    <a:cubicBezTo>
                      <a:pt x="0" y="6397"/>
                      <a:pt x="6397" y="0"/>
                      <a:pt x="14288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1509310" y="5157788"/>
                <a:ext cx="43668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43668" h="28575">
                    <a:moveTo>
                      <a:pt x="28978" y="0"/>
                    </a:moveTo>
                    <a:cubicBezTo>
                      <a:pt x="36537" y="8"/>
                      <a:pt x="42782" y="5904"/>
                      <a:pt x="43225" y="13450"/>
                    </a:cubicBezTo>
                    <a:cubicBezTo>
                      <a:pt x="43668" y="20997"/>
                      <a:pt x="38156" y="27582"/>
                      <a:pt x="30649" y="28475"/>
                    </a:cubicBezTo>
                    <a:lnTo>
                      <a:pt x="28978" y="28575"/>
                    </a:lnTo>
                    <a:lnTo>
                      <a:pt x="14690" y="28575"/>
                    </a:lnTo>
                    <a:cubicBezTo>
                      <a:pt x="7131" y="28567"/>
                      <a:pt x="886" y="22671"/>
                      <a:pt x="443" y="15125"/>
                    </a:cubicBezTo>
                    <a:cubicBezTo>
                      <a:pt x="0" y="7578"/>
                      <a:pt x="5512" y="993"/>
                      <a:pt x="13018" y="100"/>
                    </a:cubicBezTo>
                    <a:lnTo>
                      <a:pt x="14690" y="0"/>
                    </a:lnTo>
                    <a:lnTo>
                      <a:pt x="2897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1302581" y="5064936"/>
                <a:ext cx="41360" cy="41596"/>
              </a:xfrm>
              <a:custGeom>
                <a:avLst/>
                <a:gdLst/>
                <a:ahLst/>
                <a:cxnLst/>
                <a:rect l="l" t="t" r="r" b="b"/>
                <a:pathLst>
                  <a:path w="41360" h="41596">
                    <a:moveTo>
                      <a:pt x="5578" y="5598"/>
                    </a:moveTo>
                    <a:cubicBezTo>
                      <a:pt x="10668" y="508"/>
                      <a:pt x="18749" y="0"/>
                      <a:pt x="24437" y="4412"/>
                    </a:cubicBezTo>
                    <a:lnTo>
                      <a:pt x="25780" y="5598"/>
                    </a:lnTo>
                    <a:lnTo>
                      <a:pt x="35781" y="15599"/>
                    </a:lnTo>
                    <a:cubicBezTo>
                      <a:pt x="41099" y="20935"/>
                      <a:pt x="41360" y="29484"/>
                      <a:pt x="36378" y="35134"/>
                    </a:cubicBezTo>
                    <a:cubicBezTo>
                      <a:pt x="31395" y="40785"/>
                      <a:pt x="22882" y="41596"/>
                      <a:pt x="16922" y="36988"/>
                    </a:cubicBezTo>
                    <a:lnTo>
                      <a:pt x="15579" y="35802"/>
                    </a:lnTo>
                    <a:lnTo>
                      <a:pt x="5578" y="25800"/>
                    </a:lnTo>
                    <a:cubicBezTo>
                      <a:pt x="0" y="20221"/>
                      <a:pt x="0" y="11177"/>
                      <a:pt x="5578" y="5598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1475243" y="5064955"/>
                <a:ext cx="41792" cy="41362"/>
              </a:xfrm>
              <a:custGeom>
                <a:avLst/>
                <a:gdLst/>
                <a:ahLst/>
                <a:cxnLst/>
                <a:rect l="l" t="t" r="r" b="b"/>
                <a:pathLst>
                  <a:path w="41792" h="41362">
                    <a:moveTo>
                      <a:pt x="15795" y="5579"/>
                    </a:moveTo>
                    <a:cubicBezTo>
                      <a:pt x="21131" y="261"/>
                      <a:pt x="29680" y="0"/>
                      <a:pt x="35330" y="4982"/>
                    </a:cubicBezTo>
                    <a:cubicBezTo>
                      <a:pt x="40981" y="9965"/>
                      <a:pt x="41792" y="18479"/>
                      <a:pt x="37184" y="24438"/>
                    </a:cubicBezTo>
                    <a:lnTo>
                      <a:pt x="35998" y="25782"/>
                    </a:lnTo>
                    <a:lnTo>
                      <a:pt x="25997" y="35783"/>
                    </a:lnTo>
                    <a:cubicBezTo>
                      <a:pt x="20661" y="41101"/>
                      <a:pt x="12112" y="41362"/>
                      <a:pt x="6462" y="36379"/>
                    </a:cubicBezTo>
                    <a:cubicBezTo>
                      <a:pt x="811" y="31397"/>
                      <a:pt x="0" y="22883"/>
                      <a:pt x="4608" y="16923"/>
                    </a:cubicBezTo>
                    <a:lnTo>
                      <a:pt x="5794" y="15580"/>
                    </a:lnTo>
                    <a:lnTo>
                      <a:pt x="15795" y="5579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1366838" y="5257800"/>
                <a:ext cx="857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57150">
                    <a:moveTo>
                      <a:pt x="71438" y="0"/>
                    </a:moveTo>
                    <a:cubicBezTo>
                      <a:pt x="79328" y="0"/>
                      <a:pt x="85725" y="6397"/>
                      <a:pt x="85725" y="14288"/>
                    </a:cubicBezTo>
                    <a:cubicBezTo>
                      <a:pt x="85725" y="37960"/>
                      <a:pt x="66535" y="57150"/>
                      <a:pt x="42862" y="57150"/>
                    </a:cubicBezTo>
                    <a:cubicBezTo>
                      <a:pt x="19190" y="57150"/>
                      <a:pt x="0" y="37960"/>
                      <a:pt x="0" y="14288"/>
                    </a:cubicBezTo>
                    <a:cubicBezTo>
                      <a:pt x="1" y="7044"/>
                      <a:pt x="5422" y="947"/>
                      <a:pt x="12616" y="100"/>
                    </a:cubicBezTo>
                    <a:lnTo>
                      <a:pt x="14288" y="0"/>
                    </a:lnTo>
                    <a:lnTo>
                      <a:pt x="7143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1316706" y="5086350"/>
                <a:ext cx="185989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85989" h="157162">
                    <a:moveTo>
                      <a:pt x="92994" y="0"/>
                    </a:moveTo>
                    <a:cubicBezTo>
                      <a:pt x="129893" y="0"/>
                      <a:pt x="162652" y="23611"/>
                      <a:pt x="174320" y="58616"/>
                    </a:cubicBezTo>
                    <a:cubicBezTo>
                      <a:pt x="185989" y="93622"/>
                      <a:pt x="173948" y="132166"/>
                      <a:pt x="144429" y="154305"/>
                    </a:cubicBezTo>
                    <a:cubicBezTo>
                      <a:pt x="142460" y="155784"/>
                      <a:pt x="140142" y="156729"/>
                      <a:pt x="137700" y="157048"/>
                    </a:cubicBezTo>
                    <a:lnTo>
                      <a:pt x="135857" y="157162"/>
                    </a:lnTo>
                    <a:lnTo>
                      <a:pt x="50132" y="157162"/>
                    </a:lnTo>
                    <a:cubicBezTo>
                      <a:pt x="47040" y="157162"/>
                      <a:pt x="44032" y="156160"/>
                      <a:pt x="41559" y="154305"/>
                    </a:cubicBezTo>
                    <a:cubicBezTo>
                      <a:pt x="12040" y="132166"/>
                      <a:pt x="0" y="93622"/>
                      <a:pt x="11668" y="58616"/>
                    </a:cubicBezTo>
                    <a:cubicBezTo>
                      <a:pt x="23337" y="23611"/>
                      <a:pt x="56096" y="0"/>
                      <a:pt x="92994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744980" y="4997768"/>
              <a:ext cx="213560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LLM 做的事情和你一样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747838" y="5326856"/>
              <a:ext cx="62722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通过一个复杂的数学函数，基于训练时看过的</a:t>
              </a:r>
              <a:r>
                <a:rPr lang="zh-CN" sz="1125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几千亿字</a:t>
              </a:r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的文本，算出每个候选词的概率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1727275" y="6522720"/>
            <a:ext cx="951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4" grpId="0"/>
      <p:bldP spid="3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9115" y="343852"/>
            <a:ext cx="11094719" cy="518160"/>
            <a:chOff x="539115" y="343852"/>
            <a:chExt cx="11094719" cy="518160"/>
          </a:xfrm>
        </p:grpSpPr>
        <p:sp>
          <p:nvSpPr>
            <p:cNvPr id="3" name="TextBox 3"/>
            <p:cNvSpPr txBox="1"/>
            <p:nvPr/>
          </p:nvSpPr>
          <p:spPr>
            <a:xfrm>
              <a:off x="539115" y="343852"/>
              <a:ext cx="4307650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Attention — 注意力机制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226992" y="458152"/>
              <a:ext cx="1406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同时关注远距离信息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137088" y="1847850"/>
            <a:ext cx="7435787" cy="466725"/>
            <a:chOff x="4137088" y="1847850"/>
            <a:chExt cx="7435787" cy="466725"/>
          </a:xfrm>
        </p:grpSpPr>
        <p:sp>
          <p:nvSpPr>
            <p:cNvPr id="7" name="TextBox 7"/>
            <p:cNvSpPr txBox="1"/>
            <p:nvPr/>
          </p:nvSpPr>
          <p:spPr>
            <a:xfrm>
              <a:off x="5609273" y="1868805"/>
              <a:ext cx="97345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小明在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4533900" y="1847850"/>
              <a:ext cx="685800" cy="381000"/>
            </a:xfrm>
            <a:prstGeom prst="roundRect">
              <a:avLst>
                <a:gd name="adj" fmla="val 20000"/>
              </a:avLst>
            </a:prstGeom>
            <a:solidFill>
              <a:srgbClr val="E8A87C">
                <a:alpha val="15000"/>
              </a:srgbClr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528090" y="1887855"/>
              <a:ext cx="69742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C4956A"/>
                  </a:solidFill>
                  <a:latin typeface="Arial"/>
                  <a:ea typeface="Microsoft YaHei"/>
                  <a:cs typeface="Arial"/>
                </a:rPr>
                <a:t>北京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137088" y="1868805"/>
              <a:ext cx="3917823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小明在</a:t>
              </a:r>
              <a:r>
                <a:rPr lang="zh-CN" sz="2100" b="1" dirty="0">
                  <a:solidFill>
                    <a:srgbClr val="C4956A"/>
                  </a:solidFill>
                  <a:latin typeface="Arial"/>
                  <a:ea typeface="Microsoft YaHei"/>
                  <a:cs typeface="Arial"/>
                </a:rPr>
                <a:t xml:space="preserve"> 北京 </a:t>
              </a:r>
              <a:r>
                <a:rPr lang="zh-CN" sz="21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参加了一场关于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783955" y="1868805"/>
              <a:ext cx="166354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C4956A"/>
                  </a:solidFill>
                  <a:latin typeface="Arial"/>
                  <a:ea typeface="Microsoft YaHei"/>
                  <a:cs typeface="Arial"/>
                </a:rPr>
                <a:t>学术研讨会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0334625" y="1847850"/>
              <a:ext cx="762000" cy="381000"/>
            </a:xfrm>
            <a:prstGeom prst="roundRect">
              <a:avLst>
                <a:gd name="adj" fmla="val 20000"/>
              </a:avLst>
            </a:prstGeom>
            <a:noFill/>
            <a:ln w="19050">
              <a:solidFill>
                <a:srgbClr val="E8A87C"/>
              </a:solidFill>
              <a:prstDash val="dash"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475881" y="1920240"/>
              <a:ext cx="47948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___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212830" y="1868805"/>
              <a:ext cx="36004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的</a:t>
              </a:r>
            </a:p>
          </p:txBody>
        </p:sp>
      </p:grpSp>
      <p:sp>
        <p:nvSpPr>
          <p:cNvPr id="16" name="Rectangle 16"/>
          <p:cNvSpPr/>
          <p:nvPr/>
        </p:nvSpPr>
        <p:spPr>
          <a:xfrm>
            <a:off x="571500" y="1619250"/>
            <a:ext cx="11049000" cy="762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27" name="Group 27"/>
          <p:cNvGrpSpPr/>
          <p:nvPr/>
        </p:nvGrpSpPr>
        <p:grpSpPr>
          <a:xfrm>
            <a:off x="925830" y="1847850"/>
            <a:ext cx="7941945" cy="447675"/>
            <a:chOff x="925830" y="1847850"/>
            <a:chExt cx="7941945" cy="447675"/>
          </a:xfrm>
        </p:grpSpPr>
        <p:sp>
          <p:nvSpPr>
            <p:cNvPr id="17" name="TextBox 17"/>
            <p:cNvSpPr txBox="1"/>
            <p:nvPr/>
          </p:nvSpPr>
          <p:spPr>
            <a:xfrm>
              <a:off x="925830" y="1868805"/>
              <a:ext cx="97345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小明在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047875" y="1847850"/>
              <a:ext cx="723900" cy="361950"/>
            </a:xfrm>
            <a:prstGeom prst="roundRect">
              <a:avLst>
                <a:gd name="adj" fmla="val 21053"/>
              </a:avLst>
            </a:prstGeom>
            <a:solidFill>
              <a:srgbClr val="E8A87C">
                <a:alpha val="15000"/>
              </a:srgbClr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068830" y="1868805"/>
              <a:ext cx="69742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C4956A"/>
                  </a:solidFill>
                  <a:latin typeface="Arial"/>
                  <a:ea typeface="Microsoft YaHei"/>
                  <a:cs typeface="Arial"/>
                </a:rPr>
                <a:t>北京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830830" y="1868805"/>
              <a:ext cx="220027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参加了一场关于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762625" y="1847850"/>
              <a:ext cx="762000" cy="361950"/>
            </a:xfrm>
            <a:prstGeom prst="roundRect">
              <a:avLst>
                <a:gd name="adj" fmla="val 21053"/>
              </a:avLst>
            </a:prstGeom>
            <a:noFill/>
            <a:ln w="19050">
              <a:solidFill>
                <a:srgbClr val="E8A87C"/>
              </a:solidFill>
              <a:prstDash val="dash"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903881" y="1901190"/>
              <a:ext cx="47948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___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593205" y="1868805"/>
              <a:ext cx="36004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的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915150" y="1847850"/>
              <a:ext cx="1524000" cy="361950"/>
            </a:xfrm>
            <a:prstGeom prst="roundRect">
              <a:avLst>
                <a:gd name="adj" fmla="val 21053"/>
              </a:avLst>
            </a:prstGeom>
            <a:solidFill>
              <a:srgbClr val="E8A87C">
                <a:alpha val="15000"/>
              </a:srgbClr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945630" y="1868805"/>
              <a:ext cx="166354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C4956A"/>
                  </a:solidFill>
                  <a:latin typeface="Arial"/>
                  <a:ea typeface="Microsoft YaHei"/>
                  <a:cs typeface="Arial"/>
                </a:rPr>
                <a:t>学术研讨会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507730" y="1868805"/>
              <a:ext cx="36004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。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2409825" y="2228850"/>
            <a:ext cx="5267325" cy="1123950"/>
            <a:chOff x="2409825" y="2228850"/>
            <a:chExt cx="5267325" cy="1123950"/>
          </a:xfrm>
        </p:grpSpPr>
        <p:sp>
          <p:nvSpPr>
            <p:cNvPr id="28" name="Freeform 28"/>
            <p:cNvSpPr/>
            <p:nvPr/>
          </p:nvSpPr>
          <p:spPr>
            <a:xfrm>
              <a:off x="2409825" y="2238375"/>
              <a:ext cx="3733800" cy="1095375"/>
            </a:xfrm>
            <a:custGeom>
              <a:avLst/>
              <a:gdLst/>
              <a:ahLst/>
              <a:cxnLst/>
              <a:rect l="l" t="t" r="r" b="b"/>
              <a:pathLst>
                <a:path w="3733800" h="1095375">
                  <a:moveTo>
                    <a:pt x="0" y="0"/>
                  </a:moveTo>
                  <a:cubicBezTo>
                    <a:pt x="0" y="1095375"/>
                    <a:pt x="3733800" y="1095375"/>
                    <a:pt x="3733800" y="0"/>
                  </a:cubicBezTo>
                </a:path>
              </a:pathLst>
            </a:custGeom>
            <a:noFill/>
            <a:ln w="23812">
              <a:solidFill>
                <a:srgbClr val="E8A87C"/>
              </a:solidFill>
              <a:custDash>
                <a:ds d="240000" sp="160000"/>
              </a:custDash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985260" y="3108960"/>
              <a:ext cx="89538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Attention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6143625" y="2238375"/>
              <a:ext cx="1533525" cy="714375"/>
            </a:xfrm>
            <a:custGeom>
              <a:avLst/>
              <a:gdLst/>
              <a:ahLst/>
              <a:cxnLst/>
              <a:rect l="l" t="t" r="r" b="b"/>
              <a:pathLst>
                <a:path w="1533525" h="714375">
                  <a:moveTo>
                    <a:pt x="1533525" y="0"/>
                  </a:moveTo>
                  <a:cubicBezTo>
                    <a:pt x="1533525" y="714375"/>
                    <a:pt x="0" y="714375"/>
                    <a:pt x="0" y="0"/>
                  </a:cubicBezTo>
                </a:path>
              </a:pathLst>
            </a:custGeom>
            <a:noFill/>
            <a:ln w="23812">
              <a:solidFill>
                <a:srgbClr val="C4956A"/>
              </a:solidFill>
              <a:custDash>
                <a:ds d="240000" sp="160000"/>
              </a:custDash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47510" y="2727960"/>
              <a:ext cx="89538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4956A"/>
                  </a:solidFill>
                  <a:latin typeface="Arial"/>
                  <a:ea typeface="Microsoft YaHei"/>
                  <a:cs typeface="Arial"/>
                </a:rPr>
                <a:t>Attention</a:t>
              </a:r>
            </a:p>
          </p:txBody>
        </p:sp>
        <p:sp>
          <p:nvSpPr>
            <p:cNvPr id="32" name="Polygon 32"/>
            <p:cNvSpPr/>
            <p:nvPr/>
          </p:nvSpPr>
          <p:spPr>
            <a:xfrm>
              <a:off x="6096000" y="22288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0" y="9525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E8A87C"/>
            </a:solidFill>
            <a:ln>
              <a:noFill/>
            </a:ln>
          </p:spPr>
        </p:sp>
      </p:grpSp>
      <p:grpSp>
        <p:nvGrpSpPr>
          <p:cNvPr id="52" name="Group 52"/>
          <p:cNvGrpSpPr/>
          <p:nvPr/>
        </p:nvGrpSpPr>
        <p:grpSpPr>
          <a:xfrm>
            <a:off x="952500" y="3714750"/>
            <a:ext cx="10287000" cy="2571750"/>
            <a:chOff x="952500" y="3714750"/>
            <a:chExt cx="10287000" cy="2571750"/>
          </a:xfrm>
        </p:grpSpPr>
        <p:sp>
          <p:nvSpPr>
            <p:cNvPr id="34" name="Rectangle 34"/>
            <p:cNvSpPr/>
            <p:nvPr/>
          </p:nvSpPr>
          <p:spPr>
            <a:xfrm>
              <a:off x="952500" y="3714750"/>
              <a:ext cx="10287000" cy="2571750"/>
            </a:xfrm>
            <a:prstGeom prst="roundRect">
              <a:avLst>
                <a:gd name="adj" fmla="val 5926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1266422" y="4010025"/>
              <a:ext cx="286556" cy="285750"/>
              <a:chOff x="1266422" y="4010025"/>
              <a:chExt cx="286556" cy="28575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1266422" y="4138612"/>
                <a:ext cx="43668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43668" h="28575">
                    <a:moveTo>
                      <a:pt x="28978" y="0"/>
                    </a:moveTo>
                    <a:cubicBezTo>
                      <a:pt x="36537" y="8"/>
                      <a:pt x="42782" y="5904"/>
                      <a:pt x="43225" y="13450"/>
                    </a:cubicBezTo>
                    <a:cubicBezTo>
                      <a:pt x="43668" y="20997"/>
                      <a:pt x="38156" y="27582"/>
                      <a:pt x="30649" y="28475"/>
                    </a:cubicBezTo>
                    <a:lnTo>
                      <a:pt x="28978" y="28575"/>
                    </a:lnTo>
                    <a:lnTo>
                      <a:pt x="14690" y="28575"/>
                    </a:lnTo>
                    <a:cubicBezTo>
                      <a:pt x="7131" y="28567"/>
                      <a:pt x="886" y="22671"/>
                      <a:pt x="443" y="15125"/>
                    </a:cubicBezTo>
                    <a:cubicBezTo>
                      <a:pt x="0" y="7578"/>
                      <a:pt x="5512" y="993"/>
                      <a:pt x="13018" y="100"/>
                    </a:cubicBezTo>
                    <a:lnTo>
                      <a:pt x="14690" y="0"/>
                    </a:lnTo>
                    <a:lnTo>
                      <a:pt x="2897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1395412" y="4010025"/>
                <a:ext cx="28575" cy="4326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43265">
                    <a:moveTo>
                      <a:pt x="14288" y="0"/>
                    </a:moveTo>
                    <a:cubicBezTo>
                      <a:pt x="21531" y="1"/>
                      <a:pt x="27628" y="5422"/>
                      <a:pt x="28475" y="12616"/>
                    </a:cubicBezTo>
                    <a:lnTo>
                      <a:pt x="28575" y="14288"/>
                    </a:lnTo>
                    <a:lnTo>
                      <a:pt x="28575" y="28575"/>
                    </a:lnTo>
                    <a:cubicBezTo>
                      <a:pt x="28567" y="36134"/>
                      <a:pt x="22671" y="42379"/>
                      <a:pt x="15125" y="42822"/>
                    </a:cubicBezTo>
                    <a:cubicBezTo>
                      <a:pt x="7578" y="43265"/>
                      <a:pt x="993" y="37753"/>
                      <a:pt x="100" y="30247"/>
                    </a:cubicBezTo>
                    <a:lnTo>
                      <a:pt x="0" y="28575"/>
                    </a:lnTo>
                    <a:lnTo>
                      <a:pt x="0" y="14288"/>
                    </a:lnTo>
                    <a:cubicBezTo>
                      <a:pt x="0" y="6397"/>
                      <a:pt x="6397" y="0"/>
                      <a:pt x="14288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1509310" y="4138612"/>
                <a:ext cx="43668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43668" h="28575">
                    <a:moveTo>
                      <a:pt x="28978" y="0"/>
                    </a:moveTo>
                    <a:cubicBezTo>
                      <a:pt x="36537" y="8"/>
                      <a:pt x="42782" y="5904"/>
                      <a:pt x="43225" y="13450"/>
                    </a:cubicBezTo>
                    <a:cubicBezTo>
                      <a:pt x="43668" y="20997"/>
                      <a:pt x="38156" y="27582"/>
                      <a:pt x="30649" y="28475"/>
                    </a:cubicBezTo>
                    <a:lnTo>
                      <a:pt x="28978" y="28575"/>
                    </a:lnTo>
                    <a:lnTo>
                      <a:pt x="14690" y="28575"/>
                    </a:lnTo>
                    <a:cubicBezTo>
                      <a:pt x="7131" y="28567"/>
                      <a:pt x="886" y="22671"/>
                      <a:pt x="443" y="15125"/>
                    </a:cubicBezTo>
                    <a:cubicBezTo>
                      <a:pt x="0" y="7578"/>
                      <a:pt x="5512" y="993"/>
                      <a:pt x="13018" y="100"/>
                    </a:cubicBezTo>
                    <a:lnTo>
                      <a:pt x="14690" y="0"/>
                    </a:lnTo>
                    <a:lnTo>
                      <a:pt x="2897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1302581" y="4045761"/>
                <a:ext cx="41360" cy="41596"/>
              </a:xfrm>
              <a:custGeom>
                <a:avLst/>
                <a:gdLst/>
                <a:ahLst/>
                <a:cxnLst/>
                <a:rect l="l" t="t" r="r" b="b"/>
                <a:pathLst>
                  <a:path w="41360" h="41596">
                    <a:moveTo>
                      <a:pt x="5578" y="5598"/>
                    </a:moveTo>
                    <a:cubicBezTo>
                      <a:pt x="10668" y="508"/>
                      <a:pt x="18749" y="0"/>
                      <a:pt x="24437" y="4412"/>
                    </a:cubicBezTo>
                    <a:lnTo>
                      <a:pt x="25780" y="5598"/>
                    </a:lnTo>
                    <a:lnTo>
                      <a:pt x="35781" y="15599"/>
                    </a:lnTo>
                    <a:cubicBezTo>
                      <a:pt x="41099" y="20935"/>
                      <a:pt x="41360" y="29484"/>
                      <a:pt x="36378" y="35134"/>
                    </a:cubicBezTo>
                    <a:cubicBezTo>
                      <a:pt x="31395" y="40785"/>
                      <a:pt x="22882" y="41596"/>
                      <a:pt x="16922" y="36988"/>
                    </a:cubicBezTo>
                    <a:lnTo>
                      <a:pt x="15579" y="35802"/>
                    </a:lnTo>
                    <a:lnTo>
                      <a:pt x="5578" y="25800"/>
                    </a:lnTo>
                    <a:cubicBezTo>
                      <a:pt x="0" y="20221"/>
                      <a:pt x="0" y="11177"/>
                      <a:pt x="5578" y="5598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1475243" y="4045780"/>
                <a:ext cx="41792" cy="41362"/>
              </a:xfrm>
              <a:custGeom>
                <a:avLst/>
                <a:gdLst/>
                <a:ahLst/>
                <a:cxnLst/>
                <a:rect l="l" t="t" r="r" b="b"/>
                <a:pathLst>
                  <a:path w="41792" h="41362">
                    <a:moveTo>
                      <a:pt x="15795" y="5579"/>
                    </a:moveTo>
                    <a:cubicBezTo>
                      <a:pt x="21131" y="261"/>
                      <a:pt x="29680" y="0"/>
                      <a:pt x="35330" y="4982"/>
                    </a:cubicBezTo>
                    <a:cubicBezTo>
                      <a:pt x="40981" y="9965"/>
                      <a:pt x="41792" y="18479"/>
                      <a:pt x="37184" y="24438"/>
                    </a:cubicBezTo>
                    <a:lnTo>
                      <a:pt x="35998" y="25782"/>
                    </a:lnTo>
                    <a:lnTo>
                      <a:pt x="25997" y="35783"/>
                    </a:lnTo>
                    <a:cubicBezTo>
                      <a:pt x="20661" y="41101"/>
                      <a:pt x="12112" y="41362"/>
                      <a:pt x="6462" y="36379"/>
                    </a:cubicBezTo>
                    <a:cubicBezTo>
                      <a:pt x="811" y="31397"/>
                      <a:pt x="0" y="22883"/>
                      <a:pt x="4608" y="16923"/>
                    </a:cubicBezTo>
                    <a:lnTo>
                      <a:pt x="5794" y="15580"/>
                    </a:lnTo>
                    <a:lnTo>
                      <a:pt x="15795" y="5579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1366838" y="4238625"/>
                <a:ext cx="857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57150">
                    <a:moveTo>
                      <a:pt x="71438" y="0"/>
                    </a:moveTo>
                    <a:cubicBezTo>
                      <a:pt x="79328" y="0"/>
                      <a:pt x="85725" y="6397"/>
                      <a:pt x="85725" y="14288"/>
                    </a:cubicBezTo>
                    <a:cubicBezTo>
                      <a:pt x="85725" y="37960"/>
                      <a:pt x="66535" y="57150"/>
                      <a:pt x="42862" y="57150"/>
                    </a:cubicBezTo>
                    <a:cubicBezTo>
                      <a:pt x="19190" y="57150"/>
                      <a:pt x="0" y="37960"/>
                      <a:pt x="0" y="14288"/>
                    </a:cubicBezTo>
                    <a:cubicBezTo>
                      <a:pt x="1" y="7044"/>
                      <a:pt x="5422" y="947"/>
                      <a:pt x="12616" y="100"/>
                    </a:cubicBezTo>
                    <a:lnTo>
                      <a:pt x="14288" y="0"/>
                    </a:lnTo>
                    <a:lnTo>
                      <a:pt x="7143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1316706" y="4067175"/>
                <a:ext cx="185989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85989" h="157162">
                    <a:moveTo>
                      <a:pt x="92994" y="0"/>
                    </a:moveTo>
                    <a:cubicBezTo>
                      <a:pt x="129893" y="0"/>
                      <a:pt x="162652" y="23611"/>
                      <a:pt x="174320" y="58616"/>
                    </a:cubicBezTo>
                    <a:cubicBezTo>
                      <a:pt x="185989" y="93622"/>
                      <a:pt x="173948" y="132166"/>
                      <a:pt x="144429" y="154305"/>
                    </a:cubicBezTo>
                    <a:cubicBezTo>
                      <a:pt x="142460" y="155784"/>
                      <a:pt x="140142" y="156729"/>
                      <a:pt x="137700" y="157048"/>
                    </a:cubicBezTo>
                    <a:lnTo>
                      <a:pt x="135857" y="157162"/>
                    </a:lnTo>
                    <a:lnTo>
                      <a:pt x="50132" y="157162"/>
                    </a:lnTo>
                    <a:cubicBezTo>
                      <a:pt x="47040" y="157162"/>
                      <a:pt x="44032" y="156160"/>
                      <a:pt x="41559" y="154305"/>
                    </a:cubicBezTo>
                    <a:cubicBezTo>
                      <a:pt x="12040" y="132166"/>
                      <a:pt x="0" y="93622"/>
                      <a:pt x="11668" y="58616"/>
                    </a:cubicBezTo>
                    <a:cubicBezTo>
                      <a:pt x="23337" y="23611"/>
                      <a:pt x="56096" y="0"/>
                      <a:pt x="92994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1695450" y="4057650"/>
              <a:ext cx="233838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Attention 的核心能力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223010" y="4480560"/>
              <a:ext cx="35532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要填这个空，模型不能只看"关于"后面的内容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223010" y="4728210"/>
              <a:ext cx="444703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它需要</a:t>
              </a:r>
              <a:r>
                <a:rPr lang="zh-CN" sz="1200" b="1" dirty="0">
                  <a:solidFill>
                    <a:srgbClr val="C4956A"/>
                  </a:solidFill>
                  <a:latin typeface="Arial"/>
                  <a:ea typeface="Microsoft YaHei"/>
                  <a:cs typeface="Arial"/>
                </a:rPr>
                <a:t>同时关注</a:t>
              </a:r>
              <a:r>
                <a:rPr lang="zh-CN" sz="12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到</a:t>
              </a:r>
              <a:r>
                <a:rPr lang="zh-CN" sz="1200" b="1" dirty="0">
                  <a:solidFill>
                    <a:srgbClr val="C4956A"/>
                  </a:solidFill>
                  <a:latin typeface="Arial"/>
                  <a:ea typeface="Microsoft YaHei"/>
                  <a:cs typeface="Arial"/>
                </a:rPr>
                <a:t>"北京"</a:t>
              </a:r>
              <a:r>
                <a:rPr lang="zh-CN" sz="12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和</a:t>
              </a:r>
              <a:r>
                <a:rPr lang="zh-CN" sz="1200" b="1" dirty="0">
                  <a:solidFill>
                    <a:srgbClr val="C4956A"/>
                  </a:solidFill>
                  <a:latin typeface="Arial"/>
                  <a:ea typeface="Microsoft YaHei"/>
                  <a:cs typeface="Arial"/>
                </a:rPr>
                <a:t>"学术研讨会"</a:t>
              </a:r>
              <a:r>
                <a:rPr lang="zh-CN" sz="12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这两个关键信息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223010" y="4975860"/>
              <a:ext cx="30099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把它们</a:t>
              </a:r>
              <a:r>
                <a:rPr lang="zh-CN" sz="1200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综合起来</a:t>
              </a:r>
              <a:r>
                <a:rPr lang="zh-CN" sz="12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判断空白处应该填什么</a:t>
              </a:r>
            </a:p>
          </p:txBody>
        </p:sp>
        <p:sp>
          <p:nvSpPr>
            <p:cNvPr id="47" name="Line 47"/>
            <p:cNvSpPr/>
            <p:nvPr/>
          </p:nvSpPr>
          <p:spPr>
            <a:xfrm>
              <a:off x="1238250" y="5314950"/>
              <a:ext cx="9620250" cy="9525"/>
            </a:xfrm>
            <a:custGeom>
              <a:avLst/>
              <a:gdLst/>
              <a:ahLst/>
              <a:cxnLst/>
              <a:rect l="l" t="t" r="r" b="b"/>
              <a:pathLst>
                <a:path w="9620250" h="9525">
                  <a:moveTo>
                    <a:pt x="0" y="0"/>
                  </a:moveTo>
                  <a:lnTo>
                    <a:pt x="9620250" y="0"/>
                  </a:lnTo>
                </a:path>
              </a:pathLst>
            </a:custGeom>
            <a:noFill/>
            <a:ln w="9525">
              <a:solidFill>
                <a:srgbClr val="EDE5D5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1264444" y="5459358"/>
              <a:ext cx="153253" cy="153248"/>
            </a:xfrm>
            <a:custGeom>
              <a:avLst/>
              <a:gdLst/>
              <a:ahLst/>
              <a:cxnLst/>
              <a:rect l="l" t="t" r="r" b="b"/>
              <a:pathLst>
                <a:path w="153253" h="153248">
                  <a:moveTo>
                    <a:pt x="79323" y="26645"/>
                  </a:moveTo>
                  <a:lnTo>
                    <a:pt x="126603" y="73924"/>
                  </a:lnTo>
                  <a:lnTo>
                    <a:pt x="49829" y="150690"/>
                  </a:lnTo>
                  <a:cubicBezTo>
                    <a:pt x="48192" y="152327"/>
                    <a:pt x="45972" y="153247"/>
                    <a:pt x="43656" y="153248"/>
                  </a:cubicBezTo>
                  <a:lnTo>
                    <a:pt x="8731" y="153248"/>
                  </a:lnTo>
                  <a:cubicBezTo>
                    <a:pt x="3909" y="153248"/>
                    <a:pt x="0" y="149339"/>
                    <a:pt x="0" y="144517"/>
                  </a:cubicBezTo>
                  <a:lnTo>
                    <a:pt x="0" y="109592"/>
                  </a:lnTo>
                  <a:cubicBezTo>
                    <a:pt x="0" y="107276"/>
                    <a:pt x="921" y="105056"/>
                    <a:pt x="2558" y="103419"/>
                  </a:cubicBezTo>
                  <a:close/>
                  <a:moveTo>
                    <a:pt x="126525" y="3088"/>
                  </a:moveTo>
                  <a:cubicBezTo>
                    <a:pt x="138061" y="6177"/>
                    <a:pt x="147072" y="15188"/>
                    <a:pt x="150163" y="26724"/>
                  </a:cubicBezTo>
                  <a:cubicBezTo>
                    <a:pt x="153253" y="38260"/>
                    <a:pt x="149954" y="50568"/>
                    <a:pt x="141507" y="59011"/>
                  </a:cubicBezTo>
                  <a:lnTo>
                    <a:pt x="138958" y="61570"/>
                  </a:lnTo>
                  <a:lnTo>
                    <a:pt x="91678" y="14290"/>
                  </a:lnTo>
                  <a:lnTo>
                    <a:pt x="94236" y="11740"/>
                  </a:lnTo>
                  <a:cubicBezTo>
                    <a:pt x="102682" y="3298"/>
                    <a:pt x="114989" y="0"/>
                    <a:pt x="126525" y="3088"/>
                  </a:cubicBezTo>
                </a:path>
              </a:pathLst>
            </a:custGeom>
            <a:solidFill>
              <a:srgbClr val="C4956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509712" y="5469731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4956A"/>
                  </a:solidFill>
                  <a:latin typeface="Arial"/>
                  <a:ea typeface="Microsoft YaHei"/>
                  <a:cs typeface="Arial"/>
                </a:rPr>
                <a:t>原理简述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224915" y="5735002"/>
              <a:ext cx="68048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技术上，模型会给句子里的每个词算一个</a:t>
              </a:r>
              <a:r>
                <a:rPr lang="zh-CN" sz="1050" b="1" dirty="0">
                  <a:solidFill>
                    <a:srgbClr val="C4956A"/>
                  </a:solidFill>
                  <a:latin typeface="Arial"/>
                  <a:ea typeface="Microsoft YaHei"/>
                  <a:cs typeface="Arial"/>
                </a:rPr>
                <a:t>"相关性分数"</a:t>
              </a:r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——谁跟当前要填的空关系大，谁的分数就高。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224915" y="5963602"/>
              <a:ext cx="81466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然后把所有词的信息</a:t>
              </a:r>
              <a:r>
                <a:rPr lang="zh-CN" sz="1050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按分数加权合并</a:t>
              </a:r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，分数高的词贡献更多——这就是 Q（查询）· K（键）· V（值）三步计算在做的事。</a:t>
              </a:r>
            </a:p>
          </p:txBody>
        </p:sp>
      </p:grpSp>
      <p:sp>
        <p:nvSpPr>
          <p:cNvPr id="53" name="TextBox 53"/>
          <p:cNvSpPr txBox="1"/>
          <p:nvPr/>
        </p:nvSpPr>
        <p:spPr>
          <a:xfrm>
            <a:off x="11727275" y="6522720"/>
            <a:ext cx="951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7" grpId="0"/>
      <p:bldP spid="33" grpId="0"/>
      <p:bldP spid="5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2925" y="280988"/>
            <a:ext cx="11089957" cy="457200"/>
            <a:chOff x="542925" y="280988"/>
            <a:chExt cx="11089957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280988"/>
              <a:ext cx="2817495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五层叠加产生质变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6286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020371" y="370999"/>
              <a:ext cx="16125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GPT-3.5 爆火的真正原因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082040" y="2019300"/>
            <a:ext cx="9204960" cy="4345781"/>
            <a:chOff x="1082040" y="2019300"/>
            <a:chExt cx="9204960" cy="4345781"/>
          </a:xfrm>
        </p:grpSpPr>
        <p:grpSp>
          <p:nvGrpSpPr>
            <p:cNvPr id="11" name="Group 11"/>
            <p:cNvGrpSpPr/>
            <p:nvPr/>
          </p:nvGrpSpPr>
          <p:grpSpPr>
            <a:xfrm>
              <a:off x="1905000" y="5524500"/>
              <a:ext cx="8382000" cy="762000"/>
              <a:chOff x="1905000" y="5524500"/>
              <a:chExt cx="8382000" cy="76200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1905000" y="5524500"/>
                <a:ext cx="8382000" cy="762000"/>
              </a:xfrm>
              <a:prstGeom prst="roundRect">
                <a:avLst>
                  <a:gd name="adj" fmla="val 15000"/>
                </a:avLst>
              </a:pr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2193350" y="5740400"/>
                <a:ext cx="204350" cy="258712"/>
              </a:xfrm>
              <a:custGeom>
                <a:avLst/>
                <a:gdLst/>
                <a:ahLst/>
                <a:cxnLst/>
                <a:rect l="l" t="t" r="r" b="b"/>
                <a:pathLst>
                  <a:path w="204350" h="258712">
                    <a:moveTo>
                      <a:pt x="114875" y="0"/>
                    </a:moveTo>
                    <a:lnTo>
                      <a:pt x="115104" y="13"/>
                    </a:lnTo>
                    <a:lnTo>
                      <a:pt x="115307" y="25"/>
                    </a:lnTo>
                    <a:lnTo>
                      <a:pt x="116361" y="89"/>
                    </a:lnTo>
                    <a:lnTo>
                      <a:pt x="116501" y="114"/>
                    </a:lnTo>
                    <a:lnTo>
                      <a:pt x="116640" y="114"/>
                    </a:lnTo>
                    <a:lnTo>
                      <a:pt x="117123" y="229"/>
                    </a:lnTo>
                    <a:lnTo>
                      <a:pt x="117783" y="330"/>
                    </a:lnTo>
                    <a:lnTo>
                      <a:pt x="117987" y="406"/>
                    </a:lnTo>
                    <a:lnTo>
                      <a:pt x="118126" y="419"/>
                    </a:lnTo>
                    <a:lnTo>
                      <a:pt x="118495" y="559"/>
                    </a:lnTo>
                    <a:lnTo>
                      <a:pt x="119155" y="737"/>
                    </a:lnTo>
                    <a:lnTo>
                      <a:pt x="119396" y="851"/>
                    </a:lnTo>
                    <a:lnTo>
                      <a:pt x="119587" y="902"/>
                    </a:lnTo>
                    <a:lnTo>
                      <a:pt x="119942" y="1080"/>
                    </a:lnTo>
                    <a:lnTo>
                      <a:pt x="120450" y="1295"/>
                    </a:lnTo>
                    <a:lnTo>
                      <a:pt x="120717" y="1448"/>
                    </a:lnTo>
                    <a:lnTo>
                      <a:pt x="120996" y="1575"/>
                    </a:lnTo>
                    <a:lnTo>
                      <a:pt x="121289" y="1765"/>
                    </a:lnTo>
                    <a:lnTo>
                      <a:pt x="121682" y="1981"/>
                    </a:lnTo>
                    <a:lnTo>
                      <a:pt x="122114" y="2286"/>
                    </a:lnTo>
                    <a:lnTo>
                      <a:pt x="122343" y="2426"/>
                    </a:lnTo>
                    <a:lnTo>
                      <a:pt x="122508" y="2578"/>
                    </a:lnTo>
                    <a:lnTo>
                      <a:pt x="122813" y="2794"/>
                    </a:lnTo>
                    <a:lnTo>
                      <a:pt x="123295" y="3226"/>
                    </a:lnTo>
                    <a:lnTo>
                      <a:pt x="123575" y="3442"/>
                    </a:lnTo>
                    <a:lnTo>
                      <a:pt x="123676" y="3569"/>
                    </a:lnTo>
                    <a:lnTo>
                      <a:pt x="123854" y="3721"/>
                    </a:lnTo>
                    <a:lnTo>
                      <a:pt x="124311" y="4242"/>
                    </a:lnTo>
                    <a:lnTo>
                      <a:pt x="124641" y="4585"/>
                    </a:lnTo>
                    <a:lnTo>
                      <a:pt x="124718" y="4699"/>
                    </a:lnTo>
                    <a:cubicBezTo>
                      <a:pt x="126242" y="6566"/>
                      <a:pt x="127207" y="8788"/>
                      <a:pt x="127486" y="11214"/>
                    </a:cubicBezTo>
                    <a:lnTo>
                      <a:pt x="127499" y="11367"/>
                    </a:lnTo>
                    <a:lnTo>
                      <a:pt x="127524" y="11887"/>
                    </a:lnTo>
                    <a:lnTo>
                      <a:pt x="127575" y="12700"/>
                    </a:lnTo>
                    <a:lnTo>
                      <a:pt x="127575" y="88900"/>
                    </a:lnTo>
                    <a:lnTo>
                      <a:pt x="191075" y="88900"/>
                    </a:lnTo>
                    <a:cubicBezTo>
                      <a:pt x="195605" y="88899"/>
                      <a:pt x="199793" y="91311"/>
                      <a:pt x="202065" y="95230"/>
                    </a:cubicBezTo>
                    <a:cubicBezTo>
                      <a:pt x="204337" y="99148"/>
                      <a:pt x="204350" y="103981"/>
                      <a:pt x="202099" y="107912"/>
                    </a:cubicBezTo>
                    <a:lnTo>
                      <a:pt x="201337" y="109068"/>
                    </a:lnTo>
                    <a:lnTo>
                      <a:pt x="99737" y="248768"/>
                    </a:lnTo>
                    <a:cubicBezTo>
                      <a:pt x="92523" y="258712"/>
                      <a:pt x="76775" y="253594"/>
                      <a:pt x="76775" y="241300"/>
                    </a:cubicBezTo>
                    <a:lnTo>
                      <a:pt x="76775" y="165100"/>
                    </a:lnTo>
                    <a:lnTo>
                      <a:pt x="13275" y="165100"/>
                    </a:lnTo>
                    <a:cubicBezTo>
                      <a:pt x="8745" y="165101"/>
                      <a:pt x="4557" y="162689"/>
                      <a:pt x="2285" y="158770"/>
                    </a:cubicBezTo>
                    <a:cubicBezTo>
                      <a:pt x="13" y="154852"/>
                      <a:pt x="0" y="150019"/>
                      <a:pt x="2251" y="146088"/>
                    </a:cubicBezTo>
                    <a:lnTo>
                      <a:pt x="3013" y="144932"/>
                    </a:lnTo>
                    <a:lnTo>
                      <a:pt x="104613" y="5232"/>
                    </a:lnTo>
                    <a:lnTo>
                      <a:pt x="104740" y="5067"/>
                    </a:lnTo>
                    <a:lnTo>
                      <a:pt x="104969" y="4762"/>
                    </a:lnTo>
                    <a:lnTo>
                      <a:pt x="105388" y="4280"/>
                    </a:lnTo>
                    <a:lnTo>
                      <a:pt x="105617" y="4001"/>
                    </a:lnTo>
                    <a:lnTo>
                      <a:pt x="105731" y="3899"/>
                    </a:lnTo>
                    <a:lnTo>
                      <a:pt x="105896" y="3721"/>
                    </a:lnTo>
                    <a:lnTo>
                      <a:pt x="106404" y="3264"/>
                    </a:lnTo>
                    <a:lnTo>
                      <a:pt x="106760" y="2934"/>
                    </a:lnTo>
                    <a:lnTo>
                      <a:pt x="106861" y="2858"/>
                    </a:lnTo>
                    <a:cubicBezTo>
                      <a:pt x="108350" y="1639"/>
                      <a:pt x="110095" y="775"/>
                      <a:pt x="111967" y="330"/>
                    </a:cubicBezTo>
                    <a:lnTo>
                      <a:pt x="112106" y="318"/>
                    </a:lnTo>
                    <a:lnTo>
                      <a:pt x="112449" y="254"/>
                    </a:lnTo>
                    <a:lnTo>
                      <a:pt x="113389" y="89"/>
                    </a:lnTo>
                    <a:lnTo>
                      <a:pt x="113529" y="76"/>
                    </a:lnTo>
                    <a:lnTo>
                      <a:pt x="114050" y="51"/>
                    </a:lnTo>
                    <a:close/>
                  </a:path>
                </a:pathLst>
              </a:custGeom>
              <a:solidFill>
                <a:srgbClr val="FAF7F2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2602230" y="5740718"/>
                <a:ext cx="231157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AF7F2"/>
                    </a:solidFill>
                    <a:latin typeface="Arial"/>
                    <a:ea typeface="Microsoft YaHei"/>
                    <a:cs typeface="Arial"/>
                  </a:rPr>
                  <a:t>① 自回归架构 — 让它能学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2606040" y="6020752"/>
                <a:ext cx="186690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FAF7F2">
                        <a:alphaMod val="80000"/>
                      </a:srgbClr>
                    </a:solidFill>
                    <a:latin typeface="Arial"/>
                    <a:ea typeface="Microsoft YaHei"/>
                    <a:cs typeface="Arial"/>
                  </a:rPr>
                  <a:t>预测下一个词，一步步生成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1905000" y="4648200"/>
              <a:ext cx="8382000" cy="762000"/>
              <a:chOff x="1905000" y="4648200"/>
              <a:chExt cx="8382000" cy="76200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1905000" y="4648200"/>
                <a:ext cx="8382000" cy="762000"/>
              </a:xfrm>
              <a:prstGeom prst="roundRect">
                <a:avLst>
                  <a:gd name="adj" fmla="val 15000"/>
                </a:avLst>
              </a:prstGeom>
              <a:solidFill>
                <a:srgbClr val="9E7F57"/>
              </a:solidFill>
              <a:ln>
                <a:noFill/>
              </a:ln>
            </p:spPr>
          </p:sp>
          <p:grpSp>
            <p:nvGrpSpPr>
              <p:cNvPr id="16" name="Group 16"/>
              <p:cNvGrpSpPr/>
              <p:nvPr/>
            </p:nvGrpSpPr>
            <p:grpSpPr>
              <a:xfrm>
                <a:off x="2181224" y="4864100"/>
                <a:ext cx="228601" cy="254000"/>
                <a:chOff x="2181224" y="4864100"/>
                <a:chExt cx="228601" cy="254000"/>
              </a:xfrm>
            </p:grpSpPr>
            <p:sp>
              <p:nvSpPr>
                <p:cNvPr id="13" name="Freeform 13"/>
                <p:cNvSpPr/>
                <p:nvPr/>
              </p:nvSpPr>
              <p:spPr>
                <a:xfrm>
                  <a:off x="2181225" y="5038484"/>
                  <a:ext cx="228600" cy="796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79616">
                      <a:moveTo>
                        <a:pt x="0" y="0"/>
                      </a:moveTo>
                      <a:cubicBezTo>
                        <a:pt x="24994" y="19139"/>
                        <a:pt x="66472" y="28816"/>
                        <a:pt x="114300" y="28816"/>
                      </a:cubicBezTo>
                      <a:cubicBezTo>
                        <a:pt x="162052" y="28816"/>
                        <a:pt x="203518" y="19164"/>
                        <a:pt x="228600" y="216"/>
                      </a:cubicBezTo>
                      <a:lnTo>
                        <a:pt x="228600" y="28816"/>
                      </a:lnTo>
                      <a:cubicBezTo>
                        <a:pt x="228600" y="59614"/>
                        <a:pt x="179134" y="78804"/>
                        <a:pt x="118199" y="79591"/>
                      </a:cubicBezTo>
                      <a:lnTo>
                        <a:pt x="114300" y="79616"/>
                      </a:lnTo>
                      <a:cubicBezTo>
                        <a:pt x="51587" y="79616"/>
                        <a:pt x="0" y="60274"/>
                        <a:pt x="0" y="28816"/>
                      </a:cubicBezTo>
                      <a:close/>
                    </a:path>
                  </a:pathLst>
                </a:custGeom>
                <a:solidFill>
                  <a:srgbClr val="FAF7F2"/>
                </a:solidFill>
                <a:ln>
                  <a:noFill/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2181225" y="4962284"/>
                  <a:ext cx="228600" cy="796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79616">
                      <a:moveTo>
                        <a:pt x="0" y="0"/>
                      </a:moveTo>
                      <a:cubicBezTo>
                        <a:pt x="24994" y="19139"/>
                        <a:pt x="66472" y="28816"/>
                        <a:pt x="114300" y="28816"/>
                      </a:cubicBezTo>
                      <a:cubicBezTo>
                        <a:pt x="162052" y="28816"/>
                        <a:pt x="203518" y="19164"/>
                        <a:pt x="228600" y="216"/>
                      </a:cubicBezTo>
                      <a:lnTo>
                        <a:pt x="228600" y="28816"/>
                      </a:lnTo>
                      <a:cubicBezTo>
                        <a:pt x="228600" y="60274"/>
                        <a:pt x="177013" y="79616"/>
                        <a:pt x="114300" y="79616"/>
                      </a:cubicBezTo>
                      <a:cubicBezTo>
                        <a:pt x="53365" y="79616"/>
                        <a:pt x="2921" y="61354"/>
                        <a:pt x="267" y="31420"/>
                      </a:cubicBezTo>
                      <a:lnTo>
                        <a:pt x="63" y="30137"/>
                      </a:lnTo>
                      <a:lnTo>
                        <a:pt x="0" y="28816"/>
                      </a:lnTo>
                      <a:close/>
                    </a:path>
                  </a:pathLst>
                </a:custGeom>
                <a:solidFill>
                  <a:srgbClr val="FAF7F2"/>
                </a:solidFill>
                <a:ln>
                  <a:noFill/>
                </a:ln>
              </p:spPr>
            </p:sp>
            <p:sp>
              <p:nvSpPr>
                <p:cNvPr id="15" name="Freeform 15"/>
                <p:cNvSpPr/>
                <p:nvPr/>
              </p:nvSpPr>
              <p:spPr>
                <a:xfrm>
                  <a:off x="2181224" y="4864100"/>
                  <a:ext cx="228601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1" h="101600">
                      <a:moveTo>
                        <a:pt x="114301" y="0"/>
                      </a:moveTo>
                      <a:cubicBezTo>
                        <a:pt x="127522" y="0"/>
                        <a:pt x="140260" y="864"/>
                        <a:pt x="152109" y="2515"/>
                      </a:cubicBezTo>
                      <a:lnTo>
                        <a:pt x="158065" y="3416"/>
                      </a:lnTo>
                      <a:cubicBezTo>
                        <a:pt x="165177" y="4602"/>
                        <a:pt x="171891" y="6075"/>
                        <a:pt x="178207" y="7836"/>
                      </a:cubicBezTo>
                      <a:lnTo>
                        <a:pt x="183795" y="9500"/>
                      </a:lnTo>
                      <a:lnTo>
                        <a:pt x="184748" y="9804"/>
                      </a:lnTo>
                      <a:cubicBezTo>
                        <a:pt x="188204" y="10941"/>
                        <a:pt x="191614" y="12212"/>
                        <a:pt x="194971" y="13614"/>
                      </a:cubicBezTo>
                      <a:lnTo>
                        <a:pt x="197499" y="14707"/>
                      </a:lnTo>
                      <a:cubicBezTo>
                        <a:pt x="202028" y="16756"/>
                        <a:pt x="206122" y="18999"/>
                        <a:pt x="209780" y="21438"/>
                      </a:cubicBezTo>
                      <a:cubicBezTo>
                        <a:pt x="211177" y="22369"/>
                        <a:pt x="212502" y="23321"/>
                        <a:pt x="213755" y="24295"/>
                      </a:cubicBezTo>
                      <a:cubicBezTo>
                        <a:pt x="216929" y="26758"/>
                        <a:pt x="219783" y="29608"/>
                        <a:pt x="222251" y="32779"/>
                      </a:cubicBezTo>
                      <a:lnTo>
                        <a:pt x="223407" y="34404"/>
                      </a:lnTo>
                      <a:cubicBezTo>
                        <a:pt x="223999" y="35293"/>
                        <a:pt x="224545" y="36187"/>
                        <a:pt x="225045" y="37084"/>
                      </a:cubicBezTo>
                      <a:lnTo>
                        <a:pt x="225934" y="38849"/>
                      </a:lnTo>
                      <a:cubicBezTo>
                        <a:pt x="227314" y="41813"/>
                        <a:pt x="228161" y="44903"/>
                        <a:pt x="228474" y="48120"/>
                      </a:cubicBezTo>
                      <a:lnTo>
                        <a:pt x="228601" y="50800"/>
                      </a:lnTo>
                      <a:cubicBezTo>
                        <a:pt x="228601" y="82258"/>
                        <a:pt x="177014" y="101600"/>
                        <a:pt x="114301" y="101600"/>
                      </a:cubicBezTo>
                      <a:cubicBezTo>
                        <a:pt x="53366" y="101600"/>
                        <a:pt x="2922" y="83337"/>
                        <a:pt x="268" y="53403"/>
                      </a:cubicBezTo>
                      <a:cubicBezTo>
                        <a:pt x="89" y="52547"/>
                        <a:pt x="0" y="51675"/>
                        <a:pt x="1" y="50800"/>
                      </a:cubicBezTo>
                      <a:lnTo>
                        <a:pt x="64" y="49479"/>
                      </a:lnTo>
                      <a:lnTo>
                        <a:pt x="268" y="48209"/>
                      </a:lnTo>
                      <a:cubicBezTo>
                        <a:pt x="2871" y="18923"/>
                        <a:pt x="51195" y="800"/>
                        <a:pt x="110339" y="25"/>
                      </a:cubicBezTo>
                      <a:close/>
                    </a:path>
                  </a:pathLst>
                </a:custGeom>
                <a:solidFill>
                  <a:srgbClr val="FAF7F2"/>
                </a:solidFill>
                <a:ln>
                  <a:noFill/>
                </a:ln>
              </p:spPr>
            </p:sp>
          </p:grpSp>
          <p:sp>
            <p:nvSpPr>
              <p:cNvPr id="17" name="TextBox 17"/>
              <p:cNvSpPr txBox="1"/>
              <p:nvPr/>
            </p:nvSpPr>
            <p:spPr>
              <a:xfrm>
                <a:off x="2602230" y="4864418"/>
                <a:ext cx="251860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AF7F2"/>
                    </a:solidFill>
                    <a:latin typeface="Arial"/>
                    <a:ea typeface="Microsoft YaHei"/>
                    <a:cs typeface="Arial"/>
                  </a:rPr>
                  <a:t>② 海量预训练 — 让它学得广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2606040" y="5144452"/>
                <a:ext cx="179789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FAF7F2">
                        <a:alphaMod val="80000"/>
                      </a:srgbClr>
                    </a:solidFill>
                    <a:latin typeface="Arial"/>
                    <a:ea typeface="Microsoft YaHei"/>
                    <a:cs typeface="Arial"/>
                  </a:rPr>
                  <a:t>4500亿 Token 的文本训练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1905000" y="3771900"/>
              <a:ext cx="8382000" cy="762000"/>
              <a:chOff x="1905000" y="3771900"/>
              <a:chExt cx="8382000" cy="76200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1905000" y="3771900"/>
                <a:ext cx="8382000" cy="762000"/>
              </a:xfrm>
              <a:prstGeom prst="roundRect">
                <a:avLst>
                  <a:gd name="adj" fmla="val 15000"/>
                </a:avLst>
              </a:prstGeom>
              <a:solidFill>
                <a:srgbClr val="B08E67"/>
              </a:solidFill>
              <a:ln>
                <a:noFill/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2168523" y="3982111"/>
                <a:ext cx="267422" cy="268466"/>
              </a:xfrm>
              <a:custGeom>
                <a:avLst/>
                <a:gdLst/>
                <a:ahLst/>
                <a:cxnLst/>
                <a:rect l="l" t="t" r="r" b="b"/>
                <a:pathLst>
                  <a:path w="267422" h="268466">
                    <a:moveTo>
                      <a:pt x="190502" y="22707"/>
                    </a:moveTo>
                    <a:cubicBezTo>
                      <a:pt x="243877" y="53523"/>
                      <a:pt x="267422" y="118214"/>
                      <a:pt x="246342" y="176130"/>
                    </a:cubicBezTo>
                    <a:cubicBezTo>
                      <a:pt x="225262" y="234045"/>
                      <a:pt x="165642" y="268466"/>
                      <a:pt x="104946" y="257762"/>
                    </a:cubicBezTo>
                    <a:cubicBezTo>
                      <a:pt x="44250" y="247059"/>
                      <a:pt x="0" y="194322"/>
                      <a:pt x="2" y="132689"/>
                    </a:cubicBezTo>
                    <a:lnTo>
                      <a:pt x="65" y="128574"/>
                    </a:lnTo>
                    <a:cubicBezTo>
                      <a:pt x="1512" y="83959"/>
                      <a:pt x="26276" y="43379"/>
                      <a:pt x="65291" y="21689"/>
                    </a:cubicBezTo>
                    <a:cubicBezTo>
                      <a:pt x="104306" y="0"/>
                      <a:pt x="151844" y="386"/>
                      <a:pt x="190502" y="22707"/>
                    </a:cubicBezTo>
                    <a:moveTo>
                      <a:pt x="110580" y="98310"/>
                    </a:moveTo>
                    <a:cubicBezTo>
                      <a:pt x="105621" y="93352"/>
                      <a:pt x="97582" y="93352"/>
                      <a:pt x="92623" y="98310"/>
                    </a:cubicBezTo>
                    <a:lnTo>
                      <a:pt x="67223" y="123710"/>
                    </a:lnTo>
                    <a:cubicBezTo>
                      <a:pt x="62265" y="128669"/>
                      <a:pt x="62265" y="136708"/>
                      <a:pt x="67223" y="141668"/>
                    </a:cubicBezTo>
                    <a:lnTo>
                      <a:pt x="92623" y="167068"/>
                    </a:lnTo>
                    <a:cubicBezTo>
                      <a:pt x="97582" y="172026"/>
                      <a:pt x="105621" y="172026"/>
                      <a:pt x="110580" y="167068"/>
                    </a:cubicBezTo>
                    <a:lnTo>
                      <a:pt x="111635" y="165874"/>
                    </a:lnTo>
                    <a:cubicBezTo>
                      <a:pt x="115556" y="160818"/>
                      <a:pt x="115105" y="153635"/>
                      <a:pt x="110580" y="149110"/>
                    </a:cubicBezTo>
                    <a:lnTo>
                      <a:pt x="94172" y="132689"/>
                    </a:lnTo>
                    <a:lnTo>
                      <a:pt x="110580" y="116268"/>
                    </a:lnTo>
                    <a:cubicBezTo>
                      <a:pt x="115538" y="111308"/>
                      <a:pt x="115538" y="103269"/>
                      <a:pt x="110580" y="98310"/>
                    </a:cubicBezTo>
                    <a:moveTo>
                      <a:pt x="161380" y="98310"/>
                    </a:moveTo>
                    <a:cubicBezTo>
                      <a:pt x="156421" y="93352"/>
                      <a:pt x="148382" y="93352"/>
                      <a:pt x="143423" y="98310"/>
                    </a:cubicBezTo>
                    <a:lnTo>
                      <a:pt x="142369" y="99504"/>
                    </a:lnTo>
                    <a:cubicBezTo>
                      <a:pt x="138447" y="104559"/>
                      <a:pt x="138898" y="111743"/>
                      <a:pt x="143423" y="116268"/>
                    </a:cubicBezTo>
                    <a:lnTo>
                      <a:pt x="159831" y="132689"/>
                    </a:lnTo>
                    <a:lnTo>
                      <a:pt x="143423" y="149110"/>
                    </a:lnTo>
                    <a:cubicBezTo>
                      <a:pt x="138610" y="154093"/>
                      <a:pt x="138679" y="162014"/>
                      <a:pt x="143577" y="166913"/>
                    </a:cubicBezTo>
                    <a:cubicBezTo>
                      <a:pt x="148476" y="171812"/>
                      <a:pt x="156397" y="171881"/>
                      <a:pt x="161380" y="167068"/>
                    </a:cubicBezTo>
                    <a:lnTo>
                      <a:pt x="186780" y="141668"/>
                    </a:lnTo>
                    <a:cubicBezTo>
                      <a:pt x="191738" y="136708"/>
                      <a:pt x="191738" y="128669"/>
                      <a:pt x="186780" y="123710"/>
                    </a:cubicBezTo>
                    <a:close/>
                  </a:path>
                </a:pathLst>
              </a:custGeom>
              <a:solidFill>
                <a:srgbClr val="FAF7F2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2602230" y="3988118"/>
                <a:ext cx="231157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AF7F2"/>
                    </a:solidFill>
                    <a:latin typeface="Arial"/>
                    <a:ea typeface="Microsoft YaHei"/>
                    <a:cs typeface="Arial"/>
                  </a:rPr>
                  <a:t>③ 代码训练 — 让它学得深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2606040" y="4268152"/>
                <a:ext cx="217360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FAF7F2">
                        <a:alphaMod val="80000"/>
                      </a:srgbClr>
                    </a:solidFill>
                    <a:latin typeface="Arial"/>
                    <a:ea typeface="Microsoft YaHei"/>
                    <a:cs typeface="Arial"/>
                  </a:rPr>
                  <a:t>逻辑推理、条件分支、变量追踪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1905000" y="2895600"/>
              <a:ext cx="8382000" cy="762000"/>
              <a:chOff x="1905000" y="2895600"/>
              <a:chExt cx="8382000" cy="76200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1905000" y="2895600"/>
                <a:ext cx="8382000" cy="762000"/>
              </a:xfrm>
              <a:prstGeom prst="roundRect">
                <a:avLst>
                  <a:gd name="adj" fmla="val 15000"/>
                </a:avLst>
              </a:prstGeom>
              <a:solidFill>
                <a:srgbClr val="C4956A"/>
              </a:solidFill>
              <a:ln>
                <a:noFill/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2168525" y="3124200"/>
                <a:ext cx="254000" cy="241894"/>
              </a:xfrm>
              <a:custGeom>
                <a:avLst/>
                <a:gdLst/>
                <a:ahLst/>
                <a:cxnLst/>
                <a:rect l="l" t="t" r="r" b="b"/>
                <a:pathLst>
                  <a:path w="254000" h="241894">
                    <a:moveTo>
                      <a:pt x="203200" y="0"/>
                    </a:moveTo>
                    <a:cubicBezTo>
                      <a:pt x="231256" y="0"/>
                      <a:pt x="254000" y="22744"/>
                      <a:pt x="254000" y="50800"/>
                    </a:cubicBezTo>
                    <a:lnTo>
                      <a:pt x="254000" y="152400"/>
                    </a:lnTo>
                    <a:cubicBezTo>
                      <a:pt x="254000" y="180456"/>
                      <a:pt x="231256" y="203200"/>
                      <a:pt x="203200" y="203200"/>
                    </a:cubicBezTo>
                    <a:lnTo>
                      <a:pt x="143205" y="203200"/>
                    </a:lnTo>
                    <a:lnTo>
                      <a:pt x="82728" y="239484"/>
                    </a:lnTo>
                    <a:cubicBezTo>
                      <a:pt x="79027" y="241705"/>
                      <a:pt x="74451" y="241894"/>
                      <a:pt x="70580" y="239987"/>
                    </a:cubicBezTo>
                    <a:cubicBezTo>
                      <a:pt x="66708" y="238079"/>
                      <a:pt x="64070" y="234336"/>
                      <a:pt x="63576" y="230048"/>
                    </a:cubicBezTo>
                    <a:lnTo>
                      <a:pt x="63500" y="228600"/>
                    </a:lnTo>
                    <a:lnTo>
                      <a:pt x="63500" y="203200"/>
                    </a:lnTo>
                    <a:lnTo>
                      <a:pt x="50800" y="203200"/>
                    </a:lnTo>
                    <a:cubicBezTo>
                      <a:pt x="23731" y="203200"/>
                      <a:pt x="1417" y="181975"/>
                      <a:pt x="64" y="154940"/>
                    </a:cubicBezTo>
                    <a:lnTo>
                      <a:pt x="0" y="152400"/>
                    </a:lnTo>
                    <a:lnTo>
                      <a:pt x="0" y="50800"/>
                    </a:lnTo>
                    <a:cubicBezTo>
                      <a:pt x="0" y="22744"/>
                      <a:pt x="22744" y="0"/>
                      <a:pt x="50800" y="0"/>
                    </a:cubicBezTo>
                    <a:close/>
                    <a:moveTo>
                      <a:pt x="152400" y="114300"/>
                    </a:moveTo>
                    <a:lnTo>
                      <a:pt x="76200" y="114300"/>
                    </a:lnTo>
                    <a:cubicBezTo>
                      <a:pt x="69186" y="114300"/>
                      <a:pt x="63500" y="119986"/>
                      <a:pt x="63500" y="127000"/>
                    </a:cubicBezTo>
                    <a:cubicBezTo>
                      <a:pt x="63500" y="134014"/>
                      <a:pt x="69186" y="139700"/>
                      <a:pt x="76200" y="139700"/>
                    </a:cubicBezTo>
                    <a:lnTo>
                      <a:pt x="152400" y="139700"/>
                    </a:lnTo>
                    <a:cubicBezTo>
                      <a:pt x="159414" y="139700"/>
                      <a:pt x="165100" y="134014"/>
                      <a:pt x="165100" y="127000"/>
                    </a:cubicBezTo>
                    <a:cubicBezTo>
                      <a:pt x="165100" y="119986"/>
                      <a:pt x="159414" y="114300"/>
                      <a:pt x="152400" y="114300"/>
                    </a:cubicBezTo>
                    <a:moveTo>
                      <a:pt x="177800" y="63500"/>
                    </a:moveTo>
                    <a:lnTo>
                      <a:pt x="76200" y="63500"/>
                    </a:lnTo>
                    <a:cubicBezTo>
                      <a:pt x="69186" y="63500"/>
                      <a:pt x="63500" y="69186"/>
                      <a:pt x="63500" y="76200"/>
                    </a:cubicBezTo>
                    <a:cubicBezTo>
                      <a:pt x="63500" y="83214"/>
                      <a:pt x="69186" y="88900"/>
                      <a:pt x="76200" y="88900"/>
                    </a:cubicBezTo>
                    <a:lnTo>
                      <a:pt x="177800" y="88900"/>
                    </a:lnTo>
                    <a:cubicBezTo>
                      <a:pt x="184814" y="88900"/>
                      <a:pt x="190500" y="83214"/>
                      <a:pt x="190500" y="76200"/>
                    </a:cubicBezTo>
                    <a:cubicBezTo>
                      <a:pt x="190500" y="69186"/>
                      <a:pt x="184814" y="63500"/>
                      <a:pt x="177800" y="63500"/>
                    </a:cubicBezTo>
                  </a:path>
                </a:pathLst>
              </a:custGeom>
              <a:solidFill>
                <a:srgbClr val="FAF7F2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2602230" y="3111818"/>
                <a:ext cx="271527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AF7F2"/>
                    </a:solidFill>
                    <a:latin typeface="Arial"/>
                    <a:ea typeface="Microsoft YaHei"/>
                    <a:cs typeface="Arial"/>
                  </a:rPr>
                  <a:t>④ SFT 指令微调 — 让它会对话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2606040" y="3391852"/>
                <a:ext cx="186690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FAF7F2">
                        <a:alphaMod val="80000"/>
                      </a:srgbClr>
                    </a:solidFill>
                    <a:latin typeface="Arial"/>
                    <a:ea typeface="Microsoft YaHei"/>
                    <a:cs typeface="Arial"/>
                  </a:rPr>
                  <a:t>从文本续写器变成对话助手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1905000" y="2019300"/>
              <a:ext cx="8382000" cy="762000"/>
              <a:chOff x="1905000" y="2019300"/>
              <a:chExt cx="8382000" cy="76200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1905000" y="2019300"/>
                <a:ext cx="8382000" cy="762000"/>
              </a:xfrm>
              <a:prstGeom prst="roundRect">
                <a:avLst>
                  <a:gd name="adj" fmla="val 15000"/>
                </a:avLst>
              </a:pr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2155164" y="2222526"/>
                <a:ext cx="280582" cy="267416"/>
              </a:xfrm>
              <a:custGeom>
                <a:avLst/>
                <a:gdLst/>
                <a:ahLst/>
                <a:cxnLst/>
                <a:rect l="l" t="t" r="r" b="b"/>
                <a:pathLst>
                  <a:path w="280582" h="267416">
                    <a:moveTo>
                      <a:pt x="92647" y="80492"/>
                    </a:moveTo>
                    <a:lnTo>
                      <a:pt x="11621" y="92240"/>
                    </a:lnTo>
                    <a:lnTo>
                      <a:pt x="10186" y="92532"/>
                    </a:lnTo>
                    <a:cubicBezTo>
                      <a:pt x="5763" y="93706"/>
                      <a:pt x="2314" y="97169"/>
                      <a:pt x="1157" y="101596"/>
                    </a:cubicBezTo>
                    <a:cubicBezTo>
                      <a:pt x="0" y="106024"/>
                      <a:pt x="1314" y="110731"/>
                      <a:pt x="4598" y="113919"/>
                    </a:cubicBezTo>
                    <a:lnTo>
                      <a:pt x="63297" y="171056"/>
                    </a:lnTo>
                    <a:lnTo>
                      <a:pt x="49454" y="251764"/>
                    </a:lnTo>
                    <a:lnTo>
                      <a:pt x="49289" y="253161"/>
                    </a:lnTo>
                    <a:cubicBezTo>
                      <a:pt x="49018" y="257736"/>
                      <a:pt x="51233" y="262102"/>
                      <a:pt x="55084" y="264585"/>
                    </a:cubicBezTo>
                    <a:cubicBezTo>
                      <a:pt x="58936" y="267069"/>
                      <a:pt x="63827" y="267285"/>
                      <a:pt x="67882" y="265150"/>
                    </a:cubicBezTo>
                    <a:lnTo>
                      <a:pt x="140348" y="227050"/>
                    </a:lnTo>
                    <a:lnTo>
                      <a:pt x="212649" y="265150"/>
                    </a:lnTo>
                    <a:lnTo>
                      <a:pt x="213919" y="265734"/>
                    </a:lnTo>
                    <a:cubicBezTo>
                      <a:pt x="218187" y="267416"/>
                      <a:pt x="223030" y="266664"/>
                      <a:pt x="226589" y="263769"/>
                    </a:cubicBezTo>
                    <a:cubicBezTo>
                      <a:pt x="230147" y="260874"/>
                      <a:pt x="231867" y="256285"/>
                      <a:pt x="231090" y="251764"/>
                    </a:cubicBezTo>
                    <a:lnTo>
                      <a:pt x="217234" y="171056"/>
                    </a:lnTo>
                    <a:lnTo>
                      <a:pt x="275959" y="113906"/>
                    </a:lnTo>
                    <a:lnTo>
                      <a:pt x="276949" y="112826"/>
                    </a:lnTo>
                    <a:cubicBezTo>
                      <a:pt x="279830" y="109278"/>
                      <a:pt x="280582" y="104456"/>
                      <a:pt x="278919" y="100199"/>
                    </a:cubicBezTo>
                    <a:cubicBezTo>
                      <a:pt x="277256" y="95942"/>
                      <a:pt x="273433" y="92907"/>
                      <a:pt x="268910" y="92252"/>
                    </a:cubicBezTo>
                    <a:lnTo>
                      <a:pt x="187884" y="80492"/>
                    </a:lnTo>
                    <a:lnTo>
                      <a:pt x="151664" y="7086"/>
                    </a:lnTo>
                    <a:cubicBezTo>
                      <a:pt x="149526" y="2748"/>
                      <a:pt x="145109" y="0"/>
                      <a:pt x="140272" y="0"/>
                    </a:cubicBezTo>
                    <a:cubicBezTo>
                      <a:pt x="135435" y="0"/>
                      <a:pt x="131018" y="2748"/>
                      <a:pt x="128880" y="7086"/>
                    </a:cubicBezTo>
                    <a:lnTo>
                      <a:pt x="92647" y="80492"/>
                    </a:lnTo>
                    <a:close/>
                  </a:path>
                </a:pathLst>
              </a:custGeom>
              <a:solidFill>
                <a:srgbClr val="FAF7F2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2602230" y="2235518"/>
                <a:ext cx="193892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AF7F2"/>
                    </a:solidFill>
                    <a:latin typeface="Arial"/>
                    <a:ea typeface="Microsoft YaHei"/>
                    <a:cs typeface="Arial"/>
                  </a:rPr>
                  <a:t>⑤ RLHF — 让它说得好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2606040" y="2515552"/>
                <a:ext cx="186690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FAF7F2">
                        <a:alphaMod val="80000"/>
                      </a:srgbClr>
                    </a:solidFill>
                    <a:latin typeface="Arial"/>
                    <a:ea typeface="Microsoft YaHei"/>
                    <a:cs typeface="Arial"/>
                  </a:rPr>
                  <a:t>人类偏好调教，回答更像人</a:t>
                </a:r>
              </a:p>
            </p:txBody>
          </p:sp>
        </p:grpSp>
        <p:sp>
          <p:nvSpPr>
            <p:cNvPr id="35" name="Line 35"/>
            <p:cNvSpPr/>
            <p:nvPr/>
          </p:nvSpPr>
          <p:spPr>
            <a:xfrm>
              <a:off x="1524000" y="2095500"/>
              <a:ext cx="9525" cy="4000500"/>
            </a:xfrm>
            <a:custGeom>
              <a:avLst/>
              <a:gdLst/>
              <a:ahLst/>
              <a:cxnLst/>
              <a:rect l="l" t="t" r="r" b="b"/>
              <a:pathLst>
                <a:path w="9525" h="4000500">
                  <a:moveTo>
                    <a:pt x="0" y="40005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8B6F47"/>
              </a:solidFill>
              <a:custDash>
                <a:ds d="300000" sp="200000"/>
              </a:custDash>
            </a:ln>
          </p:spPr>
        </p:sp>
        <p:sp>
          <p:nvSpPr>
            <p:cNvPr id="36" name="Polygon 36"/>
            <p:cNvSpPr/>
            <p:nvPr/>
          </p:nvSpPr>
          <p:spPr>
            <a:xfrm>
              <a:off x="1447800" y="2047875"/>
              <a:ext cx="152400" cy="142875"/>
            </a:xfrm>
            <a:custGeom>
              <a:avLst/>
              <a:gdLst/>
              <a:ahLst/>
              <a:cxnLst/>
              <a:rect l="l" t="t" r="r" b="b"/>
              <a:pathLst>
                <a:path w="152400" h="142875">
                  <a:moveTo>
                    <a:pt x="76200" y="0"/>
                  </a:moveTo>
                  <a:lnTo>
                    <a:pt x="0" y="142875"/>
                  </a:lnTo>
                  <a:lnTo>
                    <a:pt x="152400" y="142875"/>
                  </a:lnTo>
                  <a:close/>
                </a:path>
              </a:pathLst>
            </a:custGeom>
            <a:solidFill>
              <a:srgbClr val="8B6F4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82040" y="6197441"/>
              <a:ext cx="26193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基础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82040" y="2054066"/>
              <a:ext cx="26193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精调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905000" y="914400"/>
            <a:ext cx="8382000" cy="762000"/>
            <a:chOff x="1905000" y="914400"/>
            <a:chExt cx="8382000" cy="762000"/>
          </a:xfrm>
        </p:grpSpPr>
        <p:sp>
          <p:nvSpPr>
            <p:cNvPr id="40" name="Rectangle 40"/>
            <p:cNvSpPr/>
            <p:nvPr/>
          </p:nvSpPr>
          <p:spPr>
            <a:xfrm>
              <a:off x="1905000" y="914400"/>
              <a:ext cx="8382000" cy="762000"/>
            </a:xfrm>
            <a:prstGeom prst="roundRect">
              <a:avLst>
                <a:gd name="adj" fmla="val 15000"/>
              </a:avLst>
            </a:prstGeom>
            <a:solidFill>
              <a:srgbClr val="8B6F47">
                <a:alpha val="6000"/>
              </a:srgbClr>
            </a:solidFill>
            <a:ln w="9525">
              <a:solidFill>
                <a:srgbClr val="8B6F47"/>
              </a:solidFill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2168167" y="1092200"/>
              <a:ext cx="254716" cy="254000"/>
              <a:chOff x="2168167" y="1092200"/>
              <a:chExt cx="254716" cy="25400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2168167" y="1206500"/>
                <a:ext cx="38816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38816" h="25400">
                    <a:moveTo>
                      <a:pt x="25758" y="0"/>
                    </a:moveTo>
                    <a:cubicBezTo>
                      <a:pt x="32477" y="7"/>
                      <a:pt x="38028" y="5248"/>
                      <a:pt x="38422" y="11956"/>
                    </a:cubicBezTo>
                    <a:cubicBezTo>
                      <a:pt x="38816" y="18664"/>
                      <a:pt x="33916" y="24517"/>
                      <a:pt x="27244" y="25311"/>
                    </a:cubicBezTo>
                    <a:lnTo>
                      <a:pt x="25758" y="25400"/>
                    </a:lnTo>
                    <a:lnTo>
                      <a:pt x="13058" y="25400"/>
                    </a:lnTo>
                    <a:cubicBezTo>
                      <a:pt x="6338" y="25393"/>
                      <a:pt x="788" y="20152"/>
                      <a:pt x="394" y="13444"/>
                    </a:cubicBezTo>
                    <a:cubicBezTo>
                      <a:pt x="0" y="6736"/>
                      <a:pt x="4900" y="883"/>
                      <a:pt x="11572" y="89"/>
                    </a:cubicBezTo>
                    <a:lnTo>
                      <a:pt x="13058" y="0"/>
                    </a:lnTo>
                    <a:lnTo>
                      <a:pt x="2575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2282825" y="1092200"/>
                <a:ext cx="25400" cy="38458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38458">
                    <a:moveTo>
                      <a:pt x="12700" y="0"/>
                    </a:moveTo>
                    <a:cubicBezTo>
                      <a:pt x="19139" y="1"/>
                      <a:pt x="24558" y="4820"/>
                      <a:pt x="25311" y="11214"/>
                    </a:cubicBezTo>
                    <a:lnTo>
                      <a:pt x="25400" y="12700"/>
                    </a:lnTo>
                    <a:lnTo>
                      <a:pt x="25400" y="25400"/>
                    </a:lnTo>
                    <a:cubicBezTo>
                      <a:pt x="25393" y="32119"/>
                      <a:pt x="20152" y="37670"/>
                      <a:pt x="13444" y="38064"/>
                    </a:cubicBezTo>
                    <a:cubicBezTo>
                      <a:pt x="6736" y="38458"/>
                      <a:pt x="883" y="33558"/>
                      <a:pt x="89" y="26886"/>
                    </a:cubicBezTo>
                    <a:lnTo>
                      <a:pt x="0" y="25400"/>
                    </a:lnTo>
                    <a:lnTo>
                      <a:pt x="0" y="12700"/>
                    </a:lnTo>
                    <a:cubicBezTo>
                      <a:pt x="0" y="5686"/>
                      <a:pt x="5686" y="0"/>
                      <a:pt x="12700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2384067" y="1206500"/>
                <a:ext cx="38816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38816" h="25400">
                    <a:moveTo>
                      <a:pt x="25758" y="0"/>
                    </a:moveTo>
                    <a:cubicBezTo>
                      <a:pt x="32477" y="7"/>
                      <a:pt x="38028" y="5248"/>
                      <a:pt x="38422" y="11956"/>
                    </a:cubicBezTo>
                    <a:cubicBezTo>
                      <a:pt x="38816" y="18664"/>
                      <a:pt x="33916" y="24517"/>
                      <a:pt x="27244" y="25311"/>
                    </a:cubicBezTo>
                    <a:lnTo>
                      <a:pt x="25758" y="25400"/>
                    </a:lnTo>
                    <a:lnTo>
                      <a:pt x="13058" y="25400"/>
                    </a:lnTo>
                    <a:cubicBezTo>
                      <a:pt x="6338" y="25393"/>
                      <a:pt x="788" y="20152"/>
                      <a:pt x="394" y="13444"/>
                    </a:cubicBezTo>
                    <a:cubicBezTo>
                      <a:pt x="0" y="6736"/>
                      <a:pt x="4900" y="883"/>
                      <a:pt x="11572" y="89"/>
                    </a:cubicBezTo>
                    <a:lnTo>
                      <a:pt x="13058" y="0"/>
                    </a:lnTo>
                    <a:lnTo>
                      <a:pt x="2575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2200308" y="1123965"/>
                <a:ext cx="36765" cy="36974"/>
              </a:xfrm>
              <a:custGeom>
                <a:avLst/>
                <a:gdLst/>
                <a:ahLst/>
                <a:cxnLst/>
                <a:rect l="l" t="t" r="r" b="b"/>
                <a:pathLst>
                  <a:path w="36765" h="36974">
                    <a:moveTo>
                      <a:pt x="4958" y="4976"/>
                    </a:moveTo>
                    <a:cubicBezTo>
                      <a:pt x="9482" y="452"/>
                      <a:pt x="16666" y="0"/>
                      <a:pt x="21722" y="3922"/>
                    </a:cubicBezTo>
                    <a:lnTo>
                      <a:pt x="22916" y="4976"/>
                    </a:lnTo>
                    <a:lnTo>
                      <a:pt x="31806" y="13866"/>
                    </a:lnTo>
                    <a:cubicBezTo>
                      <a:pt x="36533" y="18609"/>
                      <a:pt x="36765" y="26208"/>
                      <a:pt x="32336" y="31230"/>
                    </a:cubicBezTo>
                    <a:cubicBezTo>
                      <a:pt x="27907" y="36253"/>
                      <a:pt x="20339" y="36974"/>
                      <a:pt x="15042" y="32878"/>
                    </a:cubicBezTo>
                    <a:lnTo>
                      <a:pt x="13848" y="31824"/>
                    </a:lnTo>
                    <a:lnTo>
                      <a:pt x="4958" y="22934"/>
                    </a:lnTo>
                    <a:cubicBezTo>
                      <a:pt x="0" y="17974"/>
                      <a:pt x="0" y="9935"/>
                      <a:pt x="4958" y="4976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2353786" y="1123982"/>
                <a:ext cx="37148" cy="36766"/>
              </a:xfrm>
              <a:custGeom>
                <a:avLst/>
                <a:gdLst/>
                <a:ahLst/>
                <a:cxnLst/>
                <a:rect l="l" t="t" r="r" b="b"/>
                <a:pathLst>
                  <a:path w="37148" h="36766">
                    <a:moveTo>
                      <a:pt x="14040" y="4959"/>
                    </a:moveTo>
                    <a:cubicBezTo>
                      <a:pt x="18783" y="232"/>
                      <a:pt x="26382" y="0"/>
                      <a:pt x="31405" y="4429"/>
                    </a:cubicBezTo>
                    <a:cubicBezTo>
                      <a:pt x="36427" y="8858"/>
                      <a:pt x="37148" y="16426"/>
                      <a:pt x="33052" y="21723"/>
                    </a:cubicBezTo>
                    <a:lnTo>
                      <a:pt x="31998" y="22917"/>
                    </a:lnTo>
                    <a:lnTo>
                      <a:pt x="23108" y="31807"/>
                    </a:lnTo>
                    <a:cubicBezTo>
                      <a:pt x="18365" y="36534"/>
                      <a:pt x="10766" y="36766"/>
                      <a:pt x="5744" y="32337"/>
                    </a:cubicBezTo>
                    <a:cubicBezTo>
                      <a:pt x="721" y="27908"/>
                      <a:pt x="0" y="20340"/>
                      <a:pt x="4096" y="15043"/>
                    </a:cubicBezTo>
                    <a:lnTo>
                      <a:pt x="5150" y="13849"/>
                    </a:lnTo>
                    <a:lnTo>
                      <a:pt x="14040" y="4959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2257425" y="1295400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63500" y="0"/>
                    </a:moveTo>
                    <a:cubicBezTo>
                      <a:pt x="70514" y="0"/>
                      <a:pt x="76200" y="5686"/>
                      <a:pt x="76200" y="12700"/>
                    </a:cubicBezTo>
                    <a:cubicBezTo>
                      <a:pt x="76200" y="33742"/>
                      <a:pt x="59142" y="50800"/>
                      <a:pt x="38100" y="50800"/>
                    </a:cubicBezTo>
                    <a:cubicBezTo>
                      <a:pt x="17058" y="50800"/>
                      <a:pt x="0" y="33742"/>
                      <a:pt x="0" y="12700"/>
                    </a:cubicBezTo>
                    <a:cubicBezTo>
                      <a:pt x="1" y="6261"/>
                      <a:pt x="4820" y="842"/>
                      <a:pt x="11214" y="89"/>
                    </a:cubicBezTo>
                    <a:lnTo>
                      <a:pt x="12700" y="0"/>
                    </a:lnTo>
                    <a:lnTo>
                      <a:pt x="63500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2212863" y="1143000"/>
                <a:ext cx="165323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165323" h="139700">
                    <a:moveTo>
                      <a:pt x="82662" y="0"/>
                    </a:moveTo>
                    <a:cubicBezTo>
                      <a:pt x="115460" y="0"/>
                      <a:pt x="144579" y="20988"/>
                      <a:pt x="154951" y="52103"/>
                    </a:cubicBezTo>
                    <a:cubicBezTo>
                      <a:pt x="165323" y="83219"/>
                      <a:pt x="154621" y="117481"/>
                      <a:pt x="128382" y="137160"/>
                    </a:cubicBezTo>
                    <a:cubicBezTo>
                      <a:pt x="126631" y="138475"/>
                      <a:pt x="124571" y="139315"/>
                      <a:pt x="122400" y="139598"/>
                    </a:cubicBezTo>
                    <a:lnTo>
                      <a:pt x="120762" y="139700"/>
                    </a:lnTo>
                    <a:lnTo>
                      <a:pt x="44562" y="139700"/>
                    </a:lnTo>
                    <a:cubicBezTo>
                      <a:pt x="41814" y="139700"/>
                      <a:pt x="39140" y="138809"/>
                      <a:pt x="36942" y="137160"/>
                    </a:cubicBezTo>
                    <a:cubicBezTo>
                      <a:pt x="10703" y="117481"/>
                      <a:pt x="0" y="83219"/>
                      <a:pt x="10372" y="52103"/>
                    </a:cubicBezTo>
                    <a:cubicBezTo>
                      <a:pt x="20744" y="20988"/>
                      <a:pt x="49863" y="0"/>
                      <a:pt x="82662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2604135" y="1108710"/>
              <a:ext cx="205473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五层叠在一起产生了质变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2606040" y="1372552"/>
              <a:ext cx="38604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不是发明了某个新算法，而是工程化落地的五层创新叠加</a:t>
              </a:r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11727275" y="6522720"/>
            <a:ext cx="951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5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8B6F47"/>
              </a:gs>
              <a:gs pos="100000">
                <a:srgbClr val="6B5535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572500" y="3810000"/>
            <a:ext cx="3810000" cy="3810000"/>
          </a:xfrm>
          <a:prstGeom prst="ellipse">
            <a:avLst/>
          </a:prstGeom>
          <a:solidFill>
            <a:srgbClr val="FAF7F2">
              <a:alpha val="5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571500" y="190500"/>
            <a:ext cx="2286000" cy="2286000"/>
          </a:xfrm>
          <a:prstGeom prst="ellipse">
            <a:avLst/>
          </a:prstGeom>
          <a:solidFill>
            <a:srgbClr val="FAF7F2">
              <a:alpha val="4000"/>
            </a:srgbClr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2489435" y="1504950"/>
            <a:ext cx="7213130" cy="3053258"/>
            <a:chOff x="2489435" y="1504950"/>
            <a:chExt cx="7213130" cy="3053258"/>
          </a:xfrm>
        </p:grpSpPr>
        <p:sp>
          <p:nvSpPr>
            <p:cNvPr id="5" name="TextBox 5"/>
            <p:cNvSpPr txBox="1"/>
            <p:nvPr/>
          </p:nvSpPr>
          <p:spPr>
            <a:xfrm>
              <a:off x="5222605" y="1504950"/>
              <a:ext cx="1746790" cy="1828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0" b="1" dirty="0">
                  <a:solidFill>
                    <a:srgbClr val="FAF7F2">
                      <a:alphaMod val="15000"/>
                    </a:srgbClr>
                  </a:solidFill>
                  <a:latin typeface="Georgia"/>
                  <a:ea typeface="Microsoft YaHei"/>
                  <a:cs typeface="Georgia"/>
                </a:rPr>
                <a:t>02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489435" y="2849880"/>
              <a:ext cx="7213130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FAF7F2"/>
                  </a:solidFill>
                  <a:latin typeface="Georgia"/>
                  <a:ea typeface="Microsoft YaHei"/>
                  <a:cs typeface="Georgia"/>
                </a:rPr>
                <a:t>Token — 模型的最小阅读单位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4953000" y="3476625"/>
              <a:ext cx="2286000" cy="381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4307919" y="3838575"/>
              <a:ext cx="357616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AF7F2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模型不认识"字"，它认识的是 Token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5851564" y="4357688"/>
              <a:ext cx="260732" cy="200520"/>
            </a:xfrm>
            <a:custGeom>
              <a:avLst/>
              <a:gdLst/>
              <a:ahLst/>
              <a:cxnLst/>
              <a:rect l="l" t="t" r="r" b="b"/>
              <a:pathLst>
                <a:path w="260732" h="200520">
                  <a:moveTo>
                    <a:pt x="257209" y="122201"/>
                  </a:moveTo>
                  <a:cubicBezTo>
                    <a:pt x="260732" y="129256"/>
                    <a:pt x="257874" y="137831"/>
                    <a:pt x="250823" y="141361"/>
                  </a:cubicBezTo>
                  <a:lnTo>
                    <a:pt x="136523" y="198511"/>
                  </a:lnTo>
                  <a:cubicBezTo>
                    <a:pt x="132502" y="200520"/>
                    <a:pt x="127770" y="200520"/>
                    <a:pt x="123750" y="198511"/>
                  </a:cubicBezTo>
                  <a:lnTo>
                    <a:pt x="9450" y="141361"/>
                  </a:lnTo>
                  <a:cubicBezTo>
                    <a:pt x="2656" y="137697"/>
                    <a:pt x="0" y="129299"/>
                    <a:pt x="3452" y="122395"/>
                  </a:cubicBezTo>
                  <a:cubicBezTo>
                    <a:pt x="6904" y="115491"/>
                    <a:pt x="15215" y="112577"/>
                    <a:pt x="22223" y="115814"/>
                  </a:cubicBezTo>
                  <a:lnTo>
                    <a:pt x="130136" y="169735"/>
                  </a:lnTo>
                  <a:lnTo>
                    <a:pt x="238064" y="115800"/>
                  </a:lnTo>
                  <a:cubicBezTo>
                    <a:pt x="245119" y="112277"/>
                    <a:pt x="253694" y="115135"/>
                    <a:pt x="257224" y="122187"/>
                  </a:cubicBezTo>
                  <a:moveTo>
                    <a:pt x="130250" y="0"/>
                  </a:moveTo>
                  <a:cubicBezTo>
                    <a:pt x="130784" y="0"/>
                    <a:pt x="131313" y="33"/>
                    <a:pt x="131836" y="100"/>
                  </a:cubicBezTo>
                  <a:lnTo>
                    <a:pt x="133422" y="386"/>
                  </a:lnTo>
                  <a:lnTo>
                    <a:pt x="134651" y="729"/>
                  </a:lnTo>
                  <a:lnTo>
                    <a:pt x="134822" y="814"/>
                  </a:lnTo>
                  <a:lnTo>
                    <a:pt x="134994" y="843"/>
                  </a:lnTo>
                  <a:lnTo>
                    <a:pt x="135408" y="1043"/>
                  </a:lnTo>
                  <a:lnTo>
                    <a:pt x="136123" y="1314"/>
                  </a:lnTo>
                  <a:lnTo>
                    <a:pt x="136351" y="1443"/>
                  </a:lnTo>
                  <a:lnTo>
                    <a:pt x="136523" y="1514"/>
                  </a:lnTo>
                  <a:lnTo>
                    <a:pt x="250823" y="58664"/>
                  </a:lnTo>
                  <a:cubicBezTo>
                    <a:pt x="255656" y="61087"/>
                    <a:pt x="258708" y="66031"/>
                    <a:pt x="258708" y="71438"/>
                  </a:cubicBezTo>
                  <a:cubicBezTo>
                    <a:pt x="258708" y="76844"/>
                    <a:pt x="255656" y="81788"/>
                    <a:pt x="250823" y="84211"/>
                  </a:cubicBezTo>
                  <a:lnTo>
                    <a:pt x="136523" y="141361"/>
                  </a:lnTo>
                  <a:cubicBezTo>
                    <a:pt x="132502" y="143370"/>
                    <a:pt x="127770" y="143370"/>
                    <a:pt x="123750" y="141361"/>
                  </a:cubicBezTo>
                  <a:lnTo>
                    <a:pt x="9450" y="84211"/>
                  </a:lnTo>
                  <a:cubicBezTo>
                    <a:pt x="4616" y="81788"/>
                    <a:pt x="1564" y="76844"/>
                    <a:pt x="1564" y="71438"/>
                  </a:cubicBezTo>
                  <a:cubicBezTo>
                    <a:pt x="1564" y="66031"/>
                    <a:pt x="4616" y="61087"/>
                    <a:pt x="9450" y="58664"/>
                  </a:cubicBezTo>
                  <a:lnTo>
                    <a:pt x="123750" y="1514"/>
                  </a:lnTo>
                  <a:lnTo>
                    <a:pt x="123907" y="1443"/>
                  </a:lnTo>
                  <a:lnTo>
                    <a:pt x="124164" y="1300"/>
                  </a:lnTo>
                  <a:lnTo>
                    <a:pt x="125278" y="843"/>
                  </a:lnTo>
                  <a:lnTo>
                    <a:pt x="125436" y="814"/>
                  </a:lnTo>
                  <a:lnTo>
                    <a:pt x="125621" y="729"/>
                  </a:lnTo>
                  <a:lnTo>
                    <a:pt x="126850" y="386"/>
                  </a:lnTo>
                  <a:lnTo>
                    <a:pt x="128422" y="100"/>
                  </a:lnTo>
                  <a:lnTo>
                    <a:pt x="129222" y="29"/>
                  </a:lnTo>
                  <a:close/>
                </a:path>
              </a:pathLst>
            </a:custGeom>
            <a:solidFill>
              <a:srgbClr val="E8A87C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369570" y="6522720"/>
            <a:ext cx="11452860" cy="182880"/>
            <a:chOff x="369570" y="6522720"/>
            <a:chExt cx="11452860" cy="182880"/>
          </a:xfrm>
        </p:grpSpPr>
        <p:sp>
          <p:nvSpPr>
            <p:cNvPr id="11" name="TextBox 11"/>
            <p:cNvSpPr txBox="1"/>
            <p:nvPr/>
          </p:nvSpPr>
          <p:spPr>
            <a:xfrm>
              <a:off x="369570" y="6522720"/>
              <a:ext cx="14687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AI大家学 · 大模型技术篇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727275" y="6522720"/>
              <a:ext cx="951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2925" y="376238"/>
            <a:ext cx="11089957" cy="457200"/>
            <a:chOff x="542925" y="376238"/>
            <a:chExt cx="11089957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376238"/>
              <a:ext cx="2748486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BPE — 字节对编码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611326" y="466249"/>
              <a:ext cx="10215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高频字符先合并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37260" y="1108710"/>
            <a:ext cx="6804184" cy="796290"/>
            <a:chOff x="937260" y="1108710"/>
            <a:chExt cx="6804184" cy="796290"/>
          </a:xfrm>
        </p:grpSpPr>
        <p:sp>
          <p:nvSpPr>
            <p:cNvPr id="7" name="TextBox 7"/>
            <p:cNvSpPr txBox="1"/>
            <p:nvPr/>
          </p:nvSpPr>
          <p:spPr>
            <a:xfrm>
              <a:off x="937260" y="1108710"/>
              <a:ext cx="222035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Qwen Tokenizer 切分结果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952500" y="1409700"/>
              <a:ext cx="762000" cy="495300"/>
            </a:xfrm>
            <a:prstGeom prst="roundRect">
              <a:avLst>
                <a:gd name="adj" fmla="val 15385"/>
              </a:avLst>
            </a:prstGeom>
            <a:solidFill>
              <a:srgbClr val="E8A87C">
                <a:alpha val="20000"/>
              </a:srgbClr>
            </a:solidFill>
            <a:ln w="9525">
              <a:solidFill>
                <a:srgbClr val="E8A87C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72623" y="1539240"/>
              <a:ext cx="32175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我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857375" y="1409700"/>
              <a:ext cx="762000" cy="495300"/>
            </a:xfrm>
            <a:prstGeom prst="roundRect">
              <a:avLst>
                <a:gd name="adj" fmla="val 15385"/>
              </a:avLst>
            </a:prstGeom>
            <a:solidFill>
              <a:srgbClr val="C4956A">
                <a:alpha val="20000"/>
              </a:srgbClr>
            </a:solidFill>
            <a:ln w="9525">
              <a:solidFill>
                <a:srgbClr val="C4956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077498" y="1539240"/>
              <a:ext cx="32175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喜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762250" y="1409700"/>
              <a:ext cx="762000" cy="495300"/>
            </a:xfrm>
            <a:prstGeom prst="roundRect">
              <a:avLst>
                <a:gd name="adj" fmla="val 15385"/>
              </a:avLst>
            </a:prstGeom>
            <a:solidFill>
              <a:srgbClr val="8B6F47">
                <a:alpha val="20000"/>
              </a:srgbClr>
            </a:solidFill>
            <a:ln w="9525">
              <a:solidFill>
                <a:srgbClr val="8B6F47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982373" y="1539240"/>
              <a:ext cx="32175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欢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667125" y="1409700"/>
              <a:ext cx="762000" cy="495300"/>
            </a:xfrm>
            <a:prstGeom prst="roundRect">
              <a:avLst>
                <a:gd name="adj" fmla="val 15385"/>
              </a:avLst>
            </a:prstGeom>
            <a:solidFill>
              <a:srgbClr val="8FBC8F">
                <a:alpha val="20000"/>
              </a:srgbClr>
            </a:solidFill>
            <a:ln w="9525">
              <a:solidFill>
                <a:srgbClr val="8FBC8F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887248" y="1539240"/>
              <a:ext cx="32175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吃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572000" y="1409700"/>
              <a:ext cx="762000" cy="495300"/>
            </a:xfrm>
            <a:prstGeom prst="roundRect">
              <a:avLst>
                <a:gd name="adj" fmla="val 15385"/>
              </a:avLst>
            </a:prstGeom>
            <a:solidFill>
              <a:srgbClr val="E8A87C">
                <a:alpha val="20000"/>
              </a:srgbClr>
            </a:solidFill>
            <a:ln w="9525">
              <a:solidFill>
                <a:srgbClr val="E8A87C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792123" y="1539240"/>
              <a:ext cx="32175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苹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476875" y="1409700"/>
              <a:ext cx="762000" cy="495300"/>
            </a:xfrm>
            <a:prstGeom prst="roundRect">
              <a:avLst>
                <a:gd name="adj" fmla="val 15385"/>
              </a:avLst>
            </a:prstGeom>
            <a:solidFill>
              <a:srgbClr val="C4956A">
                <a:alpha val="20000"/>
              </a:srgbClr>
            </a:solidFill>
            <a:ln w="9525">
              <a:solidFill>
                <a:srgbClr val="C4956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696998" y="1539240"/>
              <a:ext cx="32175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果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553200" y="1552575"/>
              <a:ext cx="11882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B6F47"/>
                  </a:solidFill>
                  <a:latin typeface="Georgia"/>
                  <a:ea typeface="SimSun"/>
                  <a:cs typeface="Georgia"/>
                </a:rPr>
                <a:t>= 6 Tokens</a:t>
              </a:r>
            </a:p>
          </p:txBody>
        </p:sp>
      </p:grpSp>
      <p:sp>
        <p:nvSpPr>
          <p:cNvPr id="22" name="Line 22"/>
          <p:cNvSpPr/>
          <p:nvPr/>
        </p:nvSpPr>
        <p:spPr>
          <a:xfrm>
            <a:off x="571500" y="21907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EDE5D5"/>
            </a:solidFill>
          </a:ln>
        </p:spPr>
      </p:sp>
      <p:grpSp>
        <p:nvGrpSpPr>
          <p:cNvPr id="46" name="Group 46"/>
          <p:cNvGrpSpPr/>
          <p:nvPr/>
        </p:nvGrpSpPr>
        <p:grpSpPr>
          <a:xfrm>
            <a:off x="937260" y="2442210"/>
            <a:ext cx="5975509" cy="2120265"/>
            <a:chOff x="937260" y="2442210"/>
            <a:chExt cx="5975509" cy="2120265"/>
          </a:xfrm>
        </p:grpSpPr>
        <p:sp>
          <p:nvSpPr>
            <p:cNvPr id="23" name="TextBox 23"/>
            <p:cNvSpPr txBox="1"/>
            <p:nvPr/>
          </p:nvSpPr>
          <p:spPr>
            <a:xfrm>
              <a:off x="937260" y="2442210"/>
              <a:ext cx="112541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BPE 合并过程</a:t>
              </a:r>
            </a:p>
          </p:txBody>
        </p:sp>
        <p:grpSp>
          <p:nvGrpSpPr>
            <p:cNvPr id="34" name="Group 34"/>
            <p:cNvGrpSpPr/>
            <p:nvPr/>
          </p:nvGrpSpPr>
          <p:grpSpPr>
            <a:xfrm>
              <a:off x="939165" y="2934652"/>
              <a:ext cx="3900773" cy="675323"/>
              <a:chOff x="939165" y="2934652"/>
              <a:chExt cx="3900773" cy="675323"/>
            </a:xfrm>
          </p:grpSpPr>
          <p:sp>
            <p:nvSpPr>
              <p:cNvPr id="24" name="TextBox 24"/>
              <p:cNvSpPr txBox="1"/>
              <p:nvPr/>
            </p:nvSpPr>
            <p:spPr>
              <a:xfrm>
                <a:off x="939165" y="2934652"/>
                <a:ext cx="45605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Step 1</a:t>
                </a:r>
              </a:p>
            </p:txBody>
          </p:sp>
          <p:sp>
            <p:nvSpPr>
              <p:cNvPr id="25" name="Rectangle 25"/>
              <p:cNvSpPr/>
              <p:nvPr/>
            </p:nvSpPr>
            <p:spPr>
              <a:xfrm>
                <a:off x="952500" y="3190875"/>
                <a:ext cx="571500" cy="419100"/>
              </a:xfrm>
              <a:prstGeom prst="roundRect">
                <a:avLst>
                  <a:gd name="adj" fmla="val 13636"/>
                </a:avLst>
              </a:prstGeom>
              <a:solidFill>
                <a:srgbClr val="FAF7F2"/>
              </a:solidFill>
              <a:ln w="9525">
                <a:solidFill>
                  <a:srgbClr val="EDE5D5"/>
                </a:solidFill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1109662" y="3305175"/>
                <a:ext cx="25717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人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695450" y="3286125"/>
                <a:ext cx="158591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+</a:t>
                </a:r>
              </a:p>
            </p:txBody>
          </p:sp>
          <p:sp>
            <p:nvSpPr>
              <p:cNvPr id="28" name="Rectangle 28"/>
              <p:cNvSpPr/>
              <p:nvPr/>
            </p:nvSpPr>
            <p:spPr>
              <a:xfrm>
                <a:off x="1905000" y="3190875"/>
                <a:ext cx="571500" cy="419100"/>
              </a:xfrm>
              <a:prstGeom prst="roundRect">
                <a:avLst>
                  <a:gd name="adj" fmla="val 13636"/>
                </a:avLst>
              </a:prstGeom>
              <a:solidFill>
                <a:srgbClr val="FAF7F2"/>
              </a:solidFill>
              <a:ln w="9525">
                <a:solidFill>
                  <a:srgbClr val="EDE5D5"/>
                </a:solidFill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2062162" y="3305175"/>
                <a:ext cx="25717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工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2741295" y="3269932"/>
                <a:ext cx="174450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E8A87C"/>
                    </a:solidFill>
                    <a:latin typeface="Arial"/>
                    <a:ea typeface="Microsoft YaHei"/>
                    <a:cs typeface="Arial"/>
                  </a:rPr>
                  <a:t>→</a:t>
                </a: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3048000" y="3190875"/>
                <a:ext cx="952500" cy="419100"/>
              </a:xfrm>
              <a:prstGeom prst="roundRect">
                <a:avLst>
                  <a:gd name="adj" fmla="val 13636"/>
                </a:avLst>
              </a:prstGeom>
              <a:solidFill>
                <a:srgbClr val="E8A87C">
                  <a:alpha val="20000"/>
                </a:srgbClr>
              </a:solidFill>
              <a:ln w="14288">
                <a:solidFill>
                  <a:srgbClr val="E8A87C"/>
                </a:solidFill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3275171" y="3305175"/>
                <a:ext cx="498158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C4956A"/>
                    </a:solidFill>
                    <a:latin typeface="Arial"/>
                    <a:ea typeface="Microsoft YaHei"/>
                    <a:cs typeface="Arial"/>
                  </a:rPr>
                  <a:t>人工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179570" y="3350895"/>
                <a:ext cx="66036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8FBC8F"/>
                    </a:solidFill>
                    <a:latin typeface="Arial"/>
                    <a:ea typeface="Microsoft YaHei"/>
                    <a:cs typeface="Arial"/>
                  </a:rPr>
                  <a:t>✓ 高频合并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939165" y="3887152"/>
              <a:ext cx="5973604" cy="675323"/>
              <a:chOff x="939165" y="3887152"/>
              <a:chExt cx="5973604" cy="675323"/>
            </a:xfrm>
          </p:grpSpPr>
          <p:sp>
            <p:nvSpPr>
              <p:cNvPr id="35" name="TextBox 35"/>
              <p:cNvSpPr txBox="1"/>
              <p:nvPr/>
            </p:nvSpPr>
            <p:spPr>
              <a:xfrm>
                <a:off x="939165" y="3887152"/>
                <a:ext cx="49439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Step 2</a:t>
                </a:r>
              </a:p>
            </p:txBody>
          </p:sp>
          <p:sp>
            <p:nvSpPr>
              <p:cNvPr id="36" name="Rectangle 36"/>
              <p:cNvSpPr/>
              <p:nvPr/>
            </p:nvSpPr>
            <p:spPr>
              <a:xfrm>
                <a:off x="952500" y="4143375"/>
                <a:ext cx="952500" cy="419100"/>
              </a:xfrm>
              <a:prstGeom prst="roundRect">
                <a:avLst>
                  <a:gd name="adj" fmla="val 13636"/>
                </a:avLst>
              </a:prstGeom>
              <a:solidFill>
                <a:srgbClr val="E8A87C">
                  <a:alpha val="15000"/>
                </a:srgbClr>
              </a:solidFill>
              <a:ln w="9525">
                <a:solidFill>
                  <a:srgbClr val="E8A87C"/>
                </a:solidFill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1190625" y="4257675"/>
                <a:ext cx="4762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rgbClr val="C4956A"/>
                    </a:solidFill>
                    <a:latin typeface="Arial"/>
                    <a:ea typeface="Microsoft YaHei"/>
                    <a:cs typeface="Arial"/>
                  </a:rPr>
                  <a:t>人工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2076450" y="4238625"/>
                <a:ext cx="158591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+</a:t>
                </a:r>
              </a:p>
            </p:txBody>
          </p:sp>
          <p:sp>
            <p:nvSpPr>
              <p:cNvPr id="39" name="Rectangle 39"/>
              <p:cNvSpPr/>
              <p:nvPr/>
            </p:nvSpPr>
            <p:spPr>
              <a:xfrm>
                <a:off x="2286000" y="4143375"/>
                <a:ext cx="952500" cy="419100"/>
              </a:xfrm>
              <a:prstGeom prst="roundRect">
                <a:avLst>
                  <a:gd name="adj" fmla="val 13636"/>
                </a:avLst>
              </a:prstGeom>
              <a:solidFill>
                <a:srgbClr val="FAF7F2"/>
              </a:solidFill>
              <a:ln w="9525">
                <a:solidFill>
                  <a:srgbClr val="EDE5D5"/>
                </a:solidFill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2524125" y="4257675"/>
                <a:ext cx="4762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智能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3503295" y="4222432"/>
                <a:ext cx="174450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E8A87C"/>
                    </a:solidFill>
                    <a:latin typeface="Arial"/>
                    <a:ea typeface="Microsoft YaHei"/>
                    <a:cs typeface="Arial"/>
                  </a:rPr>
                  <a:t>→</a:t>
                </a:r>
              </a:p>
            </p:txBody>
          </p:sp>
          <p:sp>
            <p:nvSpPr>
              <p:cNvPr id="42" name="Rectangle 42"/>
              <p:cNvSpPr/>
              <p:nvPr/>
            </p:nvSpPr>
            <p:spPr>
              <a:xfrm>
                <a:off x="3810000" y="4143375"/>
                <a:ext cx="1619250" cy="419100"/>
              </a:xfrm>
              <a:prstGeom prst="roundRect">
                <a:avLst>
                  <a:gd name="adj" fmla="val 13636"/>
                </a:avLst>
              </a:prstGeom>
              <a:solidFill>
                <a:srgbClr val="E8A87C">
                  <a:alpha val="25000"/>
                </a:srgbClr>
              </a:solidFill>
              <a:ln w="19050">
                <a:solidFill>
                  <a:srgbClr val="E8A87C"/>
                </a:solidFill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4140518" y="4257675"/>
                <a:ext cx="95821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C4956A"/>
                    </a:solidFill>
                    <a:latin typeface="Arial"/>
                    <a:ea typeface="Microsoft YaHei"/>
                    <a:cs typeface="Arial"/>
                  </a:rPr>
                  <a:t>人工智能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5608320" y="4303395"/>
                <a:ext cx="130444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8FBC8F"/>
                    </a:solidFill>
                    <a:latin typeface="Arial"/>
                    <a:ea typeface="Microsoft YaHei"/>
                    <a:cs typeface="Arial"/>
                  </a:rPr>
                  <a:t>✓ 超高频 → 完整Token</a:t>
                </a:r>
              </a:p>
            </p:txBody>
          </p:sp>
        </p:grpSp>
      </p:grpSp>
      <p:grpSp>
        <p:nvGrpSpPr>
          <p:cNvPr id="64" name="Group 64"/>
          <p:cNvGrpSpPr/>
          <p:nvPr/>
        </p:nvGrpSpPr>
        <p:grpSpPr>
          <a:xfrm>
            <a:off x="6858000" y="2857500"/>
            <a:ext cx="4762500" cy="2476500"/>
            <a:chOff x="6858000" y="2857500"/>
            <a:chExt cx="4762500" cy="2476500"/>
          </a:xfrm>
        </p:grpSpPr>
        <p:sp>
          <p:nvSpPr>
            <p:cNvPr id="47" name="Rectangle 47"/>
            <p:cNvSpPr/>
            <p:nvPr/>
          </p:nvSpPr>
          <p:spPr>
            <a:xfrm>
              <a:off x="6858000" y="2857500"/>
              <a:ext cx="4762500" cy="2476500"/>
            </a:xfrm>
            <a:prstGeom prst="roundRect">
              <a:avLst>
                <a:gd name="adj" fmla="val 6154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7118037" y="3070225"/>
              <a:ext cx="222876" cy="222250"/>
              <a:chOff x="7118037" y="3070225"/>
              <a:chExt cx="222876" cy="22225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7118037" y="3170238"/>
                <a:ext cx="33964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33964" h="22225">
                    <a:moveTo>
                      <a:pt x="22538" y="0"/>
                    </a:moveTo>
                    <a:cubicBezTo>
                      <a:pt x="28418" y="7"/>
                      <a:pt x="33275" y="4592"/>
                      <a:pt x="33619" y="10461"/>
                    </a:cubicBezTo>
                    <a:cubicBezTo>
                      <a:pt x="33964" y="16331"/>
                      <a:pt x="29677" y="21453"/>
                      <a:pt x="23838" y="22147"/>
                    </a:cubicBezTo>
                    <a:lnTo>
                      <a:pt x="22538" y="22225"/>
                    </a:lnTo>
                    <a:lnTo>
                      <a:pt x="11426" y="22225"/>
                    </a:lnTo>
                    <a:cubicBezTo>
                      <a:pt x="5546" y="22218"/>
                      <a:pt x="689" y="17633"/>
                      <a:pt x="345" y="11764"/>
                    </a:cubicBezTo>
                    <a:cubicBezTo>
                      <a:pt x="0" y="5894"/>
                      <a:pt x="4287" y="772"/>
                      <a:pt x="10125" y="78"/>
                    </a:cubicBezTo>
                    <a:lnTo>
                      <a:pt x="11426" y="0"/>
                    </a:lnTo>
                    <a:lnTo>
                      <a:pt x="2253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7218362" y="3070225"/>
                <a:ext cx="22225" cy="33651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33651">
                    <a:moveTo>
                      <a:pt x="11112" y="0"/>
                    </a:moveTo>
                    <a:cubicBezTo>
                      <a:pt x="16746" y="1"/>
                      <a:pt x="21488" y="4217"/>
                      <a:pt x="22147" y="9812"/>
                    </a:cubicBezTo>
                    <a:lnTo>
                      <a:pt x="22225" y="11113"/>
                    </a:lnTo>
                    <a:lnTo>
                      <a:pt x="22225" y="22225"/>
                    </a:lnTo>
                    <a:cubicBezTo>
                      <a:pt x="22218" y="28105"/>
                      <a:pt x="17633" y="32962"/>
                      <a:pt x="11764" y="33306"/>
                    </a:cubicBezTo>
                    <a:cubicBezTo>
                      <a:pt x="5894" y="33651"/>
                      <a:pt x="772" y="29364"/>
                      <a:pt x="78" y="23525"/>
                    </a:cubicBezTo>
                    <a:lnTo>
                      <a:pt x="0" y="22225"/>
                    </a:lnTo>
                    <a:lnTo>
                      <a:pt x="0" y="11113"/>
                    </a:lnTo>
                    <a:cubicBezTo>
                      <a:pt x="0" y="4975"/>
                      <a:pt x="4975" y="0"/>
                      <a:pt x="11112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7306949" y="3170238"/>
                <a:ext cx="33964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33964" h="22225">
                    <a:moveTo>
                      <a:pt x="22538" y="0"/>
                    </a:moveTo>
                    <a:cubicBezTo>
                      <a:pt x="28418" y="7"/>
                      <a:pt x="33275" y="4592"/>
                      <a:pt x="33619" y="10461"/>
                    </a:cubicBezTo>
                    <a:cubicBezTo>
                      <a:pt x="33964" y="16331"/>
                      <a:pt x="29677" y="21453"/>
                      <a:pt x="23838" y="22147"/>
                    </a:cubicBezTo>
                    <a:lnTo>
                      <a:pt x="22538" y="22225"/>
                    </a:lnTo>
                    <a:lnTo>
                      <a:pt x="11426" y="22225"/>
                    </a:lnTo>
                    <a:cubicBezTo>
                      <a:pt x="5546" y="22218"/>
                      <a:pt x="689" y="17633"/>
                      <a:pt x="345" y="11764"/>
                    </a:cubicBezTo>
                    <a:cubicBezTo>
                      <a:pt x="0" y="5894"/>
                      <a:pt x="4287" y="772"/>
                      <a:pt x="10125" y="78"/>
                    </a:cubicBezTo>
                    <a:lnTo>
                      <a:pt x="11426" y="0"/>
                    </a:lnTo>
                    <a:lnTo>
                      <a:pt x="2253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7146160" y="3098020"/>
                <a:ext cx="32169" cy="32352"/>
              </a:xfrm>
              <a:custGeom>
                <a:avLst/>
                <a:gdLst/>
                <a:ahLst/>
                <a:cxnLst/>
                <a:rect l="l" t="t" r="r" b="b"/>
                <a:pathLst>
                  <a:path w="32169" h="32352">
                    <a:moveTo>
                      <a:pt x="4338" y="4354"/>
                    </a:moveTo>
                    <a:cubicBezTo>
                      <a:pt x="8297" y="395"/>
                      <a:pt x="14583" y="0"/>
                      <a:pt x="19007" y="3432"/>
                    </a:cubicBezTo>
                    <a:lnTo>
                      <a:pt x="20051" y="4354"/>
                    </a:lnTo>
                    <a:lnTo>
                      <a:pt x="27830" y="12133"/>
                    </a:lnTo>
                    <a:cubicBezTo>
                      <a:pt x="31966" y="16283"/>
                      <a:pt x="32169" y="22932"/>
                      <a:pt x="28294" y="27327"/>
                    </a:cubicBezTo>
                    <a:cubicBezTo>
                      <a:pt x="24419" y="31721"/>
                      <a:pt x="17797" y="32352"/>
                      <a:pt x="13161" y="28768"/>
                    </a:cubicBezTo>
                    <a:lnTo>
                      <a:pt x="12117" y="27846"/>
                    </a:lnTo>
                    <a:lnTo>
                      <a:pt x="4338" y="20067"/>
                    </a:lnTo>
                    <a:cubicBezTo>
                      <a:pt x="0" y="15728"/>
                      <a:pt x="0" y="8693"/>
                      <a:pt x="4338" y="4354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7280453" y="3098034"/>
                <a:ext cx="32505" cy="32170"/>
              </a:xfrm>
              <a:custGeom>
                <a:avLst/>
                <a:gdLst/>
                <a:ahLst/>
                <a:cxnLst/>
                <a:rect l="l" t="t" r="r" b="b"/>
                <a:pathLst>
                  <a:path w="32505" h="32170">
                    <a:moveTo>
                      <a:pt x="12285" y="4339"/>
                    </a:moveTo>
                    <a:cubicBezTo>
                      <a:pt x="16436" y="203"/>
                      <a:pt x="23084" y="0"/>
                      <a:pt x="27479" y="3875"/>
                    </a:cubicBezTo>
                    <a:cubicBezTo>
                      <a:pt x="31874" y="7751"/>
                      <a:pt x="32505" y="14372"/>
                      <a:pt x="28921" y="19008"/>
                    </a:cubicBezTo>
                    <a:lnTo>
                      <a:pt x="27998" y="20052"/>
                    </a:lnTo>
                    <a:lnTo>
                      <a:pt x="20220" y="27831"/>
                    </a:lnTo>
                    <a:cubicBezTo>
                      <a:pt x="16069" y="31967"/>
                      <a:pt x="9421" y="32170"/>
                      <a:pt x="5026" y="28295"/>
                    </a:cubicBezTo>
                    <a:cubicBezTo>
                      <a:pt x="631" y="24420"/>
                      <a:pt x="0" y="17798"/>
                      <a:pt x="3584" y="13163"/>
                    </a:cubicBezTo>
                    <a:lnTo>
                      <a:pt x="4507" y="12118"/>
                    </a:lnTo>
                    <a:lnTo>
                      <a:pt x="12285" y="4339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7196138" y="324802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55563" y="0"/>
                    </a:moveTo>
                    <a:cubicBezTo>
                      <a:pt x="61700" y="0"/>
                      <a:pt x="66675" y="4975"/>
                      <a:pt x="66675" y="11113"/>
                    </a:cubicBezTo>
                    <a:cubicBezTo>
                      <a:pt x="66675" y="29524"/>
                      <a:pt x="51749" y="44450"/>
                      <a:pt x="33338" y="44450"/>
                    </a:cubicBezTo>
                    <a:cubicBezTo>
                      <a:pt x="14926" y="44450"/>
                      <a:pt x="0" y="29524"/>
                      <a:pt x="0" y="11113"/>
                    </a:cubicBezTo>
                    <a:cubicBezTo>
                      <a:pt x="1" y="5479"/>
                      <a:pt x="4217" y="737"/>
                      <a:pt x="9812" y="78"/>
                    </a:cubicBezTo>
                    <a:lnTo>
                      <a:pt x="11112" y="0"/>
                    </a:lnTo>
                    <a:lnTo>
                      <a:pt x="55563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7157146" y="3114675"/>
                <a:ext cx="144658" cy="122237"/>
              </a:xfrm>
              <a:custGeom>
                <a:avLst/>
                <a:gdLst/>
                <a:ahLst/>
                <a:cxnLst/>
                <a:rect l="l" t="t" r="r" b="b"/>
                <a:pathLst>
                  <a:path w="144658" h="122237">
                    <a:moveTo>
                      <a:pt x="72329" y="0"/>
                    </a:moveTo>
                    <a:cubicBezTo>
                      <a:pt x="101028" y="0"/>
                      <a:pt x="126507" y="18364"/>
                      <a:pt x="135582" y="45591"/>
                    </a:cubicBezTo>
                    <a:cubicBezTo>
                      <a:pt x="144658" y="72817"/>
                      <a:pt x="135293" y="102796"/>
                      <a:pt x="112334" y="120015"/>
                    </a:cubicBezTo>
                    <a:cubicBezTo>
                      <a:pt x="110802" y="121165"/>
                      <a:pt x="108999" y="121900"/>
                      <a:pt x="107100" y="122149"/>
                    </a:cubicBezTo>
                    <a:lnTo>
                      <a:pt x="105666" y="122237"/>
                    </a:lnTo>
                    <a:lnTo>
                      <a:pt x="38991" y="122237"/>
                    </a:lnTo>
                    <a:cubicBezTo>
                      <a:pt x="36587" y="122237"/>
                      <a:pt x="34247" y="121458"/>
                      <a:pt x="32324" y="120015"/>
                    </a:cubicBezTo>
                    <a:cubicBezTo>
                      <a:pt x="9365" y="102796"/>
                      <a:pt x="0" y="72817"/>
                      <a:pt x="9075" y="45591"/>
                    </a:cubicBezTo>
                    <a:cubicBezTo>
                      <a:pt x="18151" y="18364"/>
                      <a:pt x="43630" y="0"/>
                      <a:pt x="72329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7461885" y="3128010"/>
              <a:ext cx="112541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BPE 核心思想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082790" y="3553778"/>
              <a:ext cx="20202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统计训练语料中哪些字符经常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082790" y="3791902"/>
              <a:ext cx="20202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挨在一起出现</a:t>
              </a:r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，就把它们合并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082790" y="4030028"/>
              <a:ext cx="9544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成一个 Token</a:t>
              </a:r>
            </a:p>
          </p:txBody>
        </p:sp>
        <p:sp>
          <p:nvSpPr>
            <p:cNvPr id="60" name="Line 60"/>
            <p:cNvSpPr/>
            <p:nvPr/>
          </p:nvSpPr>
          <p:spPr>
            <a:xfrm>
              <a:off x="7096125" y="4333875"/>
              <a:ext cx="4143375" cy="9525"/>
            </a:xfrm>
            <a:custGeom>
              <a:avLst/>
              <a:gdLst/>
              <a:ahLst/>
              <a:cxnLst/>
              <a:rect l="l" t="t" r="r" b="b"/>
              <a:pathLst>
                <a:path w="4143375" h="9525">
                  <a:moveTo>
                    <a:pt x="0" y="0"/>
                  </a:moveTo>
                  <a:lnTo>
                    <a:pt x="4143375" y="0"/>
                  </a:lnTo>
                </a:path>
              </a:pathLst>
            </a:custGeom>
            <a:noFill/>
            <a:ln w="9525">
              <a:solidFill>
                <a:srgbClr val="EDE5D5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083742" y="4466749"/>
              <a:ext cx="171219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每个模型的训练数据不同 →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083742" y="4676299"/>
              <a:ext cx="184746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BPE 统计出的高频组合不同 →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083742" y="4885849"/>
              <a:ext cx="159115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最终生成的</a:t>
              </a:r>
              <a:r>
                <a:rPr lang="zh-CN" sz="975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词表</a:t>
              </a:r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就不一样</a:t>
              </a:r>
            </a:p>
          </p:txBody>
        </p:sp>
      </p:grpSp>
      <p:sp>
        <p:nvSpPr>
          <p:cNvPr id="65" name="TextBox 65"/>
          <p:cNvSpPr txBox="1"/>
          <p:nvPr/>
        </p:nvSpPr>
        <p:spPr>
          <a:xfrm>
            <a:off x="11727275" y="6522720"/>
            <a:ext cx="951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46" grpId="0"/>
      <p:bldP spid="6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2925" y="376238"/>
            <a:ext cx="11089958" cy="457200"/>
            <a:chOff x="542925" y="376238"/>
            <a:chExt cx="11089958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376238"/>
              <a:ext cx="4991267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不同模型的 Tokenizer 也不一样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984772" y="466249"/>
              <a:ext cx="16481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"我喜欢吃苹果" 切分对比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71500" y="1047750"/>
            <a:ext cx="11049000" cy="1238250"/>
            <a:chOff x="571500" y="1047750"/>
            <a:chExt cx="11049000" cy="1238250"/>
          </a:xfrm>
        </p:grpSpPr>
        <p:sp>
          <p:nvSpPr>
            <p:cNvPr id="7" name="Rectangle 7"/>
            <p:cNvSpPr/>
            <p:nvPr/>
          </p:nvSpPr>
          <p:spPr>
            <a:xfrm>
              <a:off x="571500" y="1047750"/>
              <a:ext cx="11049000" cy="1238250"/>
            </a:xfrm>
            <a:prstGeom prst="roundRect">
              <a:avLst>
                <a:gd name="adj" fmla="val 12308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35355" y="1263968"/>
              <a:ext cx="57255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Qwen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41070" y="1541145"/>
              <a:ext cx="102841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qwen-tokenizer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3238500" y="1190625"/>
              <a:ext cx="685800" cy="457200"/>
            </a:xfrm>
            <a:prstGeom prst="roundRect">
              <a:avLst>
                <a:gd name="adj" fmla="val 12500"/>
              </a:avLst>
            </a:prstGeom>
            <a:solidFill>
              <a:srgbClr val="E8A87C">
                <a:alpha val="20000"/>
              </a:srgbClr>
            </a:solidFill>
            <a:ln w="9525">
              <a:solidFill>
                <a:srgbClr val="E8A87C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439954" y="1317308"/>
              <a:ext cx="2828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我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019550" y="1190625"/>
              <a:ext cx="685800" cy="457200"/>
            </a:xfrm>
            <a:prstGeom prst="roundRect">
              <a:avLst>
                <a:gd name="adj" fmla="val 12500"/>
              </a:avLst>
            </a:prstGeom>
            <a:solidFill>
              <a:srgbClr val="C4956A">
                <a:alpha val="20000"/>
              </a:srgbClr>
            </a:solidFill>
            <a:ln w="9525">
              <a:solidFill>
                <a:srgbClr val="C4956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221004" y="1317308"/>
              <a:ext cx="2828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喜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800600" y="1190625"/>
              <a:ext cx="685800" cy="457200"/>
            </a:xfrm>
            <a:prstGeom prst="roundRect">
              <a:avLst>
                <a:gd name="adj" fmla="val 12500"/>
              </a:avLst>
            </a:prstGeom>
            <a:solidFill>
              <a:srgbClr val="8B6F47">
                <a:alpha val="15000"/>
              </a:srgbClr>
            </a:solidFill>
            <a:ln w="9525">
              <a:solidFill>
                <a:srgbClr val="8B6F47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002054" y="1317308"/>
              <a:ext cx="2828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欢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581650" y="1190625"/>
              <a:ext cx="685800" cy="457200"/>
            </a:xfrm>
            <a:prstGeom prst="roundRect">
              <a:avLst>
                <a:gd name="adj" fmla="val 12500"/>
              </a:avLst>
            </a:prstGeom>
            <a:solidFill>
              <a:srgbClr val="8FBC8F">
                <a:alpha val="20000"/>
              </a:srgbClr>
            </a:solidFill>
            <a:ln w="9525">
              <a:solidFill>
                <a:srgbClr val="8FBC8F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783104" y="1317308"/>
              <a:ext cx="2828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吃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362700" y="1190625"/>
              <a:ext cx="685800" cy="457200"/>
            </a:xfrm>
            <a:prstGeom prst="roundRect">
              <a:avLst>
                <a:gd name="adj" fmla="val 12500"/>
              </a:avLst>
            </a:prstGeom>
            <a:solidFill>
              <a:srgbClr val="E8A87C">
                <a:alpha val="20000"/>
              </a:srgbClr>
            </a:solidFill>
            <a:ln w="9525">
              <a:solidFill>
                <a:srgbClr val="E8A87C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564154" y="1317308"/>
              <a:ext cx="2828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苹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143750" y="1190625"/>
              <a:ext cx="685800" cy="457200"/>
            </a:xfrm>
            <a:prstGeom prst="roundRect">
              <a:avLst>
                <a:gd name="adj" fmla="val 12500"/>
              </a:avLst>
            </a:prstGeom>
            <a:solidFill>
              <a:srgbClr val="C4956A">
                <a:alpha val="20000"/>
              </a:srgbClr>
            </a:solidFill>
            <a:ln w="9525">
              <a:solidFill>
                <a:srgbClr val="C4956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345204" y="1317308"/>
              <a:ext cx="2828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果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171769" y="1249680"/>
              <a:ext cx="23046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8B6F47"/>
                  </a:solidFill>
                  <a:latin typeface="Georgia"/>
                  <a:ea typeface="SimSun"/>
                  <a:cs typeface="Georgia"/>
                </a:rPr>
                <a:t>6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058686" y="1569720"/>
              <a:ext cx="45662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Tokens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71500" y="2476500"/>
            <a:ext cx="11049000" cy="1238250"/>
            <a:chOff x="571500" y="2476500"/>
            <a:chExt cx="11049000" cy="1238250"/>
          </a:xfrm>
        </p:grpSpPr>
        <p:sp>
          <p:nvSpPr>
            <p:cNvPr id="25" name="Rectangle 25"/>
            <p:cNvSpPr/>
            <p:nvPr/>
          </p:nvSpPr>
          <p:spPr>
            <a:xfrm>
              <a:off x="571500" y="2476500"/>
              <a:ext cx="11049000" cy="1238250"/>
            </a:xfrm>
            <a:prstGeom prst="roundRect">
              <a:avLst>
                <a:gd name="adj" fmla="val 12308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35355" y="2692718"/>
              <a:ext cx="60361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GPT-4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1070" y="2969895"/>
              <a:ext cx="56835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tiktoken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238500" y="2619375"/>
              <a:ext cx="685800" cy="457200"/>
            </a:xfrm>
            <a:prstGeom prst="roundRect">
              <a:avLst>
                <a:gd name="adj" fmla="val 12500"/>
              </a:avLst>
            </a:prstGeom>
            <a:solidFill>
              <a:srgbClr val="E8A87C">
                <a:alpha val="20000"/>
              </a:srgbClr>
            </a:solidFill>
            <a:ln w="9525">
              <a:solidFill>
                <a:srgbClr val="E8A87C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439954" y="2746058"/>
              <a:ext cx="2828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我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4019550" y="2619375"/>
              <a:ext cx="1371600" cy="457200"/>
            </a:xfrm>
            <a:prstGeom prst="roundRect">
              <a:avLst>
                <a:gd name="adj" fmla="val 12500"/>
              </a:avLst>
            </a:prstGeom>
            <a:solidFill>
              <a:srgbClr val="E8A87C">
                <a:alpha val="30000"/>
              </a:srgbClr>
            </a:solidFill>
            <a:ln w="19050">
              <a:solidFill>
                <a:srgbClr val="E8A87C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431363" y="2746058"/>
              <a:ext cx="54797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C4956A"/>
                  </a:solidFill>
                  <a:latin typeface="Arial"/>
                  <a:ea typeface="Microsoft YaHei"/>
                  <a:cs typeface="Arial"/>
                </a:rPr>
                <a:t>喜欢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486400" y="2619375"/>
              <a:ext cx="685800" cy="457200"/>
            </a:xfrm>
            <a:prstGeom prst="roundRect">
              <a:avLst>
                <a:gd name="adj" fmla="val 12500"/>
              </a:avLst>
            </a:prstGeom>
            <a:solidFill>
              <a:srgbClr val="8FBC8F">
                <a:alpha val="20000"/>
              </a:srgbClr>
            </a:solidFill>
            <a:ln w="9525">
              <a:solidFill>
                <a:srgbClr val="8FBC8F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687854" y="2746058"/>
              <a:ext cx="2828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吃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267450" y="2619375"/>
              <a:ext cx="685800" cy="457200"/>
            </a:xfrm>
            <a:prstGeom prst="roundRect">
              <a:avLst>
                <a:gd name="adj" fmla="val 12500"/>
              </a:avLst>
            </a:prstGeom>
            <a:solidFill>
              <a:srgbClr val="E8A87C">
                <a:alpha val="20000"/>
              </a:srgbClr>
            </a:solidFill>
            <a:ln w="9525">
              <a:solidFill>
                <a:srgbClr val="E8A87C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468904" y="2746058"/>
              <a:ext cx="2828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苹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7048500" y="2619375"/>
              <a:ext cx="685800" cy="457200"/>
            </a:xfrm>
            <a:prstGeom prst="roundRect">
              <a:avLst>
                <a:gd name="adj" fmla="val 12500"/>
              </a:avLst>
            </a:prstGeom>
            <a:solidFill>
              <a:srgbClr val="C4956A">
                <a:alpha val="20000"/>
              </a:srgbClr>
            </a:solidFill>
            <a:ln w="9525">
              <a:solidFill>
                <a:srgbClr val="C4956A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249954" y="2746058"/>
              <a:ext cx="2828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果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047232" y="3197066"/>
              <a:ext cx="131623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GPT词表有"喜欢"合并项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171769" y="2678430"/>
              <a:ext cx="23046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E8A87C"/>
                  </a:solidFill>
                  <a:latin typeface="Georgia"/>
                  <a:ea typeface="SimSun"/>
                  <a:cs typeface="Georgia"/>
                </a:rPr>
                <a:t>5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058686" y="2998470"/>
              <a:ext cx="45662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Tokens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571500" y="3905250"/>
            <a:ext cx="11049000" cy="1238250"/>
            <a:chOff x="571500" y="3905250"/>
            <a:chExt cx="11049000" cy="1238250"/>
          </a:xfrm>
        </p:grpSpPr>
        <p:sp>
          <p:nvSpPr>
            <p:cNvPr id="42" name="Rectangle 42"/>
            <p:cNvSpPr/>
            <p:nvPr/>
          </p:nvSpPr>
          <p:spPr>
            <a:xfrm>
              <a:off x="571500" y="3905250"/>
              <a:ext cx="11049000" cy="1238250"/>
            </a:xfrm>
            <a:prstGeom prst="roundRect">
              <a:avLst>
                <a:gd name="adj" fmla="val 12308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35355" y="4121468"/>
              <a:ext cx="6657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Claude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41070" y="4398645"/>
              <a:ext cx="111385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claude-tokenizer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3238500" y="4048125"/>
              <a:ext cx="685800" cy="457200"/>
            </a:xfrm>
            <a:prstGeom prst="roundRect">
              <a:avLst>
                <a:gd name="adj" fmla="val 12500"/>
              </a:avLst>
            </a:prstGeom>
            <a:solidFill>
              <a:srgbClr val="E8A87C">
                <a:alpha val="20000"/>
              </a:srgbClr>
            </a:solidFill>
            <a:ln w="9525">
              <a:solidFill>
                <a:srgbClr val="E8A87C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439954" y="4174808"/>
              <a:ext cx="2828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我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4019550" y="4048125"/>
              <a:ext cx="685800" cy="457200"/>
            </a:xfrm>
            <a:prstGeom prst="roundRect">
              <a:avLst>
                <a:gd name="adj" fmla="val 12500"/>
              </a:avLst>
            </a:prstGeom>
            <a:solidFill>
              <a:srgbClr val="C4956A">
                <a:alpha val="20000"/>
              </a:srgbClr>
            </a:solidFill>
            <a:ln w="9525">
              <a:solidFill>
                <a:srgbClr val="C4956A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221004" y="4174808"/>
              <a:ext cx="2828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喜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4800600" y="4048125"/>
              <a:ext cx="685800" cy="457200"/>
            </a:xfrm>
            <a:prstGeom prst="roundRect">
              <a:avLst>
                <a:gd name="adj" fmla="val 12500"/>
              </a:avLst>
            </a:prstGeom>
            <a:solidFill>
              <a:srgbClr val="8B6F47">
                <a:alpha val="15000"/>
              </a:srgbClr>
            </a:solidFill>
            <a:ln w="9525">
              <a:solidFill>
                <a:srgbClr val="8B6F47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002054" y="4174808"/>
              <a:ext cx="2828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欢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581650" y="4048125"/>
              <a:ext cx="685800" cy="457200"/>
            </a:xfrm>
            <a:prstGeom prst="roundRect">
              <a:avLst>
                <a:gd name="adj" fmla="val 12500"/>
              </a:avLst>
            </a:prstGeom>
            <a:solidFill>
              <a:srgbClr val="8FBC8F">
                <a:alpha val="20000"/>
              </a:srgbClr>
            </a:solidFill>
            <a:ln w="9525">
              <a:solidFill>
                <a:srgbClr val="8FBC8F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783104" y="4174808"/>
              <a:ext cx="2828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吃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362700" y="4048125"/>
              <a:ext cx="685800" cy="457200"/>
            </a:xfrm>
            <a:prstGeom prst="roundRect">
              <a:avLst>
                <a:gd name="adj" fmla="val 12500"/>
              </a:avLst>
            </a:prstGeom>
            <a:solidFill>
              <a:srgbClr val="E8A87C">
                <a:alpha val="20000"/>
              </a:srgbClr>
            </a:solidFill>
            <a:ln w="9525">
              <a:solidFill>
                <a:srgbClr val="E8A87C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564154" y="4174808"/>
              <a:ext cx="2828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苹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7143750" y="4048125"/>
              <a:ext cx="685800" cy="457200"/>
            </a:xfrm>
            <a:prstGeom prst="roundRect">
              <a:avLst>
                <a:gd name="adj" fmla="val 12500"/>
              </a:avLst>
            </a:prstGeom>
            <a:solidFill>
              <a:srgbClr val="C4956A">
                <a:alpha val="20000"/>
              </a:srgbClr>
            </a:solidFill>
            <a:ln w="9525">
              <a:solidFill>
                <a:srgbClr val="C4956A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345204" y="4174808"/>
              <a:ext cx="2828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果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171769" y="4107180"/>
              <a:ext cx="23046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8B6F47"/>
                  </a:solidFill>
                  <a:latin typeface="Georgia"/>
                  <a:ea typeface="SimSun"/>
                  <a:cs typeface="Georgia"/>
                </a:rPr>
                <a:t>6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058686" y="4427220"/>
              <a:ext cx="45662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Tokens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571500" y="5429250"/>
            <a:ext cx="11049000" cy="666750"/>
            <a:chOff x="571500" y="5429250"/>
            <a:chExt cx="11049000" cy="666750"/>
          </a:xfrm>
        </p:grpSpPr>
        <p:sp>
          <p:nvSpPr>
            <p:cNvPr id="60" name="Rectangle 60"/>
            <p:cNvSpPr/>
            <p:nvPr/>
          </p:nvSpPr>
          <p:spPr>
            <a:xfrm>
              <a:off x="571500" y="5429250"/>
              <a:ext cx="11049000" cy="666750"/>
            </a:xfrm>
            <a:prstGeom prst="roundRect">
              <a:avLst>
                <a:gd name="adj" fmla="val 17143"/>
              </a:avLst>
            </a:prstGeom>
            <a:solidFill>
              <a:srgbClr val="8B6F47">
                <a:alpha val="6000"/>
              </a:srgbClr>
            </a:solidFill>
            <a:ln w="9525">
              <a:solidFill>
                <a:srgbClr val="8B6F47"/>
              </a:solidFill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831537" y="5594350"/>
              <a:ext cx="222876" cy="222250"/>
              <a:chOff x="831537" y="5594350"/>
              <a:chExt cx="222876" cy="222250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831537" y="5694362"/>
                <a:ext cx="33964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33964" h="22225">
                    <a:moveTo>
                      <a:pt x="22538" y="0"/>
                    </a:moveTo>
                    <a:cubicBezTo>
                      <a:pt x="28418" y="7"/>
                      <a:pt x="33275" y="4592"/>
                      <a:pt x="33619" y="10461"/>
                    </a:cubicBezTo>
                    <a:cubicBezTo>
                      <a:pt x="33964" y="16331"/>
                      <a:pt x="29677" y="21453"/>
                      <a:pt x="23838" y="22147"/>
                    </a:cubicBezTo>
                    <a:lnTo>
                      <a:pt x="22538" y="22225"/>
                    </a:lnTo>
                    <a:lnTo>
                      <a:pt x="11426" y="22225"/>
                    </a:lnTo>
                    <a:cubicBezTo>
                      <a:pt x="5546" y="22218"/>
                      <a:pt x="689" y="17633"/>
                      <a:pt x="345" y="11764"/>
                    </a:cubicBezTo>
                    <a:cubicBezTo>
                      <a:pt x="0" y="5894"/>
                      <a:pt x="4287" y="772"/>
                      <a:pt x="10125" y="78"/>
                    </a:cubicBezTo>
                    <a:lnTo>
                      <a:pt x="11426" y="0"/>
                    </a:lnTo>
                    <a:lnTo>
                      <a:pt x="2253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931862" y="5594350"/>
                <a:ext cx="22225" cy="33651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33651">
                    <a:moveTo>
                      <a:pt x="11113" y="0"/>
                    </a:moveTo>
                    <a:cubicBezTo>
                      <a:pt x="16746" y="1"/>
                      <a:pt x="21488" y="4217"/>
                      <a:pt x="22147" y="9812"/>
                    </a:cubicBezTo>
                    <a:lnTo>
                      <a:pt x="22225" y="11112"/>
                    </a:lnTo>
                    <a:lnTo>
                      <a:pt x="22225" y="22225"/>
                    </a:lnTo>
                    <a:cubicBezTo>
                      <a:pt x="22218" y="28105"/>
                      <a:pt x="17633" y="32962"/>
                      <a:pt x="11764" y="33306"/>
                    </a:cubicBezTo>
                    <a:cubicBezTo>
                      <a:pt x="5894" y="33651"/>
                      <a:pt x="772" y="29364"/>
                      <a:pt x="78" y="23525"/>
                    </a:cubicBezTo>
                    <a:lnTo>
                      <a:pt x="0" y="22225"/>
                    </a:lnTo>
                    <a:lnTo>
                      <a:pt x="0" y="11112"/>
                    </a:lnTo>
                    <a:cubicBezTo>
                      <a:pt x="0" y="4975"/>
                      <a:pt x="4975" y="0"/>
                      <a:pt x="11113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1020449" y="5694362"/>
                <a:ext cx="33964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33964" h="22225">
                    <a:moveTo>
                      <a:pt x="22538" y="0"/>
                    </a:moveTo>
                    <a:cubicBezTo>
                      <a:pt x="28418" y="7"/>
                      <a:pt x="33275" y="4592"/>
                      <a:pt x="33619" y="10461"/>
                    </a:cubicBezTo>
                    <a:cubicBezTo>
                      <a:pt x="33964" y="16331"/>
                      <a:pt x="29677" y="21453"/>
                      <a:pt x="23838" y="22147"/>
                    </a:cubicBezTo>
                    <a:lnTo>
                      <a:pt x="22538" y="22225"/>
                    </a:lnTo>
                    <a:lnTo>
                      <a:pt x="11426" y="22225"/>
                    </a:lnTo>
                    <a:cubicBezTo>
                      <a:pt x="5546" y="22218"/>
                      <a:pt x="689" y="17633"/>
                      <a:pt x="345" y="11764"/>
                    </a:cubicBezTo>
                    <a:cubicBezTo>
                      <a:pt x="0" y="5894"/>
                      <a:pt x="4287" y="772"/>
                      <a:pt x="10125" y="78"/>
                    </a:cubicBezTo>
                    <a:lnTo>
                      <a:pt x="11426" y="0"/>
                    </a:lnTo>
                    <a:lnTo>
                      <a:pt x="2253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59660" y="5622145"/>
                <a:ext cx="32169" cy="32352"/>
              </a:xfrm>
              <a:custGeom>
                <a:avLst/>
                <a:gdLst/>
                <a:ahLst/>
                <a:cxnLst/>
                <a:rect l="l" t="t" r="r" b="b"/>
                <a:pathLst>
                  <a:path w="32169" h="32352">
                    <a:moveTo>
                      <a:pt x="4338" y="4354"/>
                    </a:moveTo>
                    <a:cubicBezTo>
                      <a:pt x="8297" y="395"/>
                      <a:pt x="14583" y="0"/>
                      <a:pt x="19007" y="3432"/>
                    </a:cubicBezTo>
                    <a:lnTo>
                      <a:pt x="20051" y="4354"/>
                    </a:lnTo>
                    <a:lnTo>
                      <a:pt x="27830" y="12133"/>
                    </a:lnTo>
                    <a:cubicBezTo>
                      <a:pt x="31966" y="16283"/>
                      <a:pt x="32169" y="22932"/>
                      <a:pt x="28294" y="27327"/>
                    </a:cubicBezTo>
                    <a:cubicBezTo>
                      <a:pt x="24419" y="31721"/>
                      <a:pt x="17797" y="32352"/>
                      <a:pt x="13161" y="28768"/>
                    </a:cubicBezTo>
                    <a:lnTo>
                      <a:pt x="12117" y="27846"/>
                    </a:lnTo>
                    <a:lnTo>
                      <a:pt x="4338" y="20067"/>
                    </a:lnTo>
                    <a:cubicBezTo>
                      <a:pt x="0" y="15728"/>
                      <a:pt x="0" y="8693"/>
                      <a:pt x="4338" y="4354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993953" y="5622159"/>
                <a:ext cx="32505" cy="32170"/>
              </a:xfrm>
              <a:custGeom>
                <a:avLst/>
                <a:gdLst/>
                <a:ahLst/>
                <a:cxnLst/>
                <a:rect l="l" t="t" r="r" b="b"/>
                <a:pathLst>
                  <a:path w="32505" h="32170">
                    <a:moveTo>
                      <a:pt x="12285" y="4339"/>
                    </a:moveTo>
                    <a:cubicBezTo>
                      <a:pt x="16436" y="203"/>
                      <a:pt x="23084" y="0"/>
                      <a:pt x="27479" y="3875"/>
                    </a:cubicBezTo>
                    <a:cubicBezTo>
                      <a:pt x="31874" y="7751"/>
                      <a:pt x="32505" y="14372"/>
                      <a:pt x="28921" y="19008"/>
                    </a:cubicBezTo>
                    <a:lnTo>
                      <a:pt x="27998" y="20052"/>
                    </a:lnTo>
                    <a:lnTo>
                      <a:pt x="20220" y="27831"/>
                    </a:lnTo>
                    <a:cubicBezTo>
                      <a:pt x="16069" y="31967"/>
                      <a:pt x="9421" y="32170"/>
                      <a:pt x="5026" y="28295"/>
                    </a:cubicBezTo>
                    <a:cubicBezTo>
                      <a:pt x="631" y="24420"/>
                      <a:pt x="0" y="17798"/>
                      <a:pt x="3584" y="13163"/>
                    </a:cubicBezTo>
                    <a:lnTo>
                      <a:pt x="4507" y="12118"/>
                    </a:lnTo>
                    <a:lnTo>
                      <a:pt x="12285" y="4339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909638" y="577215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55563" y="0"/>
                    </a:moveTo>
                    <a:cubicBezTo>
                      <a:pt x="61700" y="0"/>
                      <a:pt x="66675" y="4975"/>
                      <a:pt x="66675" y="11112"/>
                    </a:cubicBezTo>
                    <a:cubicBezTo>
                      <a:pt x="66675" y="29524"/>
                      <a:pt x="51749" y="44450"/>
                      <a:pt x="33338" y="44450"/>
                    </a:cubicBezTo>
                    <a:cubicBezTo>
                      <a:pt x="14926" y="44450"/>
                      <a:pt x="0" y="29524"/>
                      <a:pt x="0" y="11112"/>
                    </a:cubicBezTo>
                    <a:cubicBezTo>
                      <a:pt x="1" y="5479"/>
                      <a:pt x="4217" y="737"/>
                      <a:pt x="9812" y="78"/>
                    </a:cubicBezTo>
                    <a:lnTo>
                      <a:pt x="11113" y="0"/>
                    </a:lnTo>
                    <a:lnTo>
                      <a:pt x="55563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870646" y="5638800"/>
                <a:ext cx="144658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44658" h="122238">
                    <a:moveTo>
                      <a:pt x="72329" y="0"/>
                    </a:moveTo>
                    <a:cubicBezTo>
                      <a:pt x="101028" y="0"/>
                      <a:pt x="126507" y="18364"/>
                      <a:pt x="135582" y="45591"/>
                    </a:cubicBezTo>
                    <a:cubicBezTo>
                      <a:pt x="144658" y="72817"/>
                      <a:pt x="135293" y="102796"/>
                      <a:pt x="112334" y="120015"/>
                    </a:cubicBezTo>
                    <a:cubicBezTo>
                      <a:pt x="110802" y="121165"/>
                      <a:pt x="108999" y="121900"/>
                      <a:pt x="107100" y="122149"/>
                    </a:cubicBezTo>
                    <a:lnTo>
                      <a:pt x="105666" y="122238"/>
                    </a:lnTo>
                    <a:lnTo>
                      <a:pt x="38991" y="122238"/>
                    </a:lnTo>
                    <a:cubicBezTo>
                      <a:pt x="36587" y="122238"/>
                      <a:pt x="34247" y="121458"/>
                      <a:pt x="32324" y="120015"/>
                    </a:cubicBezTo>
                    <a:cubicBezTo>
                      <a:pt x="9365" y="102796"/>
                      <a:pt x="0" y="72817"/>
                      <a:pt x="9075" y="45591"/>
                    </a:cubicBezTo>
                    <a:cubicBezTo>
                      <a:pt x="18151" y="18364"/>
                      <a:pt x="43630" y="0"/>
                      <a:pt x="72329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1176338" y="5622131"/>
              <a:ext cx="55061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训练数据不同 → BPE 高频组合不同 → 词表不同 → 同样的话 Token 数不同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78242" y="5847874"/>
              <a:ext cx="25096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中文消耗 Token 通常比英文多 1.5-2 倍</a:t>
              </a:r>
            </a:p>
          </p:txBody>
        </p:sp>
      </p:grpSp>
      <p:sp>
        <p:nvSpPr>
          <p:cNvPr id="72" name="TextBox 72"/>
          <p:cNvSpPr txBox="1"/>
          <p:nvPr/>
        </p:nvSpPr>
        <p:spPr>
          <a:xfrm>
            <a:off x="11687842" y="6522720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5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41" grpId="0"/>
      <p:bldP spid="59" grpId="0"/>
      <p:bldP spid="7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2925" y="376238"/>
            <a:ext cx="11089957" cy="457200"/>
            <a:chOff x="542925" y="376238"/>
            <a:chExt cx="11089957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376238"/>
              <a:ext cx="2489704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Token 计费实例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134290" y="466249"/>
              <a:ext cx="149859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DeepSeek-V3 官方定价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333500" y="1047750"/>
            <a:ext cx="9543097" cy="4191000"/>
            <a:chOff x="1333500" y="1047750"/>
            <a:chExt cx="9543097" cy="4191000"/>
          </a:xfrm>
        </p:grpSpPr>
        <p:sp>
          <p:nvSpPr>
            <p:cNvPr id="7" name="Rectangle 7"/>
            <p:cNvSpPr/>
            <p:nvPr/>
          </p:nvSpPr>
          <p:spPr>
            <a:xfrm>
              <a:off x="1333500" y="1047750"/>
              <a:ext cx="9525000" cy="4191000"/>
            </a:xfrm>
            <a:prstGeom prst="roundRect">
              <a:avLst>
                <a:gd name="adj" fmla="val 4545"/>
              </a:avLst>
            </a:prstGeom>
            <a:solidFill>
              <a:srgbClr val="FAF7F2"/>
            </a:solidFill>
            <a:ln w="14288">
              <a:solidFill>
                <a:srgbClr val="EDE5D5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1333500" y="1047750"/>
              <a:ext cx="9525000" cy="571500"/>
            </a:xfrm>
            <a:prstGeom prst="roundRect">
              <a:avLst>
                <a:gd name="adj" fmla="val 33333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1333500" y="1428750"/>
              <a:ext cx="9525000" cy="190500"/>
            </a:xfrm>
            <a:prstGeom prst="rect">
              <a:avLst/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1692275" y="1206500"/>
              <a:ext cx="254000" cy="177800"/>
            </a:xfrm>
            <a:custGeom>
              <a:avLst/>
              <a:gdLst/>
              <a:ahLst/>
              <a:cxnLst/>
              <a:rect l="l" t="t" r="r" b="b"/>
              <a:pathLst>
                <a:path w="254000" h="177800">
                  <a:moveTo>
                    <a:pt x="215900" y="0"/>
                  </a:moveTo>
                  <a:cubicBezTo>
                    <a:pt x="236942" y="0"/>
                    <a:pt x="254000" y="17058"/>
                    <a:pt x="254000" y="38100"/>
                  </a:cubicBezTo>
                  <a:lnTo>
                    <a:pt x="254000" y="139700"/>
                  </a:lnTo>
                  <a:cubicBezTo>
                    <a:pt x="254000" y="160742"/>
                    <a:pt x="236942" y="177800"/>
                    <a:pt x="215900" y="177800"/>
                  </a:cubicBezTo>
                  <a:lnTo>
                    <a:pt x="38100" y="177800"/>
                  </a:lnTo>
                  <a:cubicBezTo>
                    <a:pt x="17058" y="177800"/>
                    <a:pt x="0" y="160742"/>
                    <a:pt x="0" y="1397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  <a:moveTo>
                    <a:pt x="127000" y="50800"/>
                  </a:moveTo>
                  <a:cubicBezTo>
                    <a:pt x="106700" y="50802"/>
                    <a:pt x="89966" y="66720"/>
                    <a:pt x="88951" y="86995"/>
                  </a:cubicBezTo>
                  <a:lnTo>
                    <a:pt x="88900" y="88900"/>
                  </a:lnTo>
                  <a:cubicBezTo>
                    <a:pt x="88900" y="109942"/>
                    <a:pt x="105958" y="127000"/>
                    <a:pt x="127000" y="127000"/>
                  </a:cubicBezTo>
                  <a:cubicBezTo>
                    <a:pt x="148042" y="127000"/>
                    <a:pt x="165100" y="109942"/>
                    <a:pt x="165100" y="88900"/>
                  </a:cubicBezTo>
                  <a:cubicBezTo>
                    <a:pt x="165100" y="67858"/>
                    <a:pt x="148042" y="50800"/>
                    <a:pt x="127000" y="50800"/>
                  </a:cubicBezTo>
                  <a:moveTo>
                    <a:pt x="203327" y="76200"/>
                  </a:moveTo>
                  <a:lnTo>
                    <a:pt x="203200" y="76200"/>
                  </a:lnTo>
                  <a:cubicBezTo>
                    <a:pt x="196186" y="76200"/>
                    <a:pt x="190500" y="81886"/>
                    <a:pt x="190500" y="88900"/>
                  </a:cubicBezTo>
                  <a:cubicBezTo>
                    <a:pt x="190500" y="95914"/>
                    <a:pt x="196186" y="101600"/>
                    <a:pt x="203200" y="101600"/>
                  </a:cubicBezTo>
                  <a:lnTo>
                    <a:pt x="203327" y="101600"/>
                  </a:lnTo>
                  <a:cubicBezTo>
                    <a:pt x="210341" y="101600"/>
                    <a:pt x="216027" y="95914"/>
                    <a:pt x="216027" y="88900"/>
                  </a:cubicBezTo>
                  <a:cubicBezTo>
                    <a:pt x="216027" y="81886"/>
                    <a:pt x="210341" y="76200"/>
                    <a:pt x="203327" y="76200"/>
                  </a:cubicBezTo>
                  <a:moveTo>
                    <a:pt x="50927" y="76200"/>
                  </a:moveTo>
                  <a:lnTo>
                    <a:pt x="50800" y="76200"/>
                  </a:lnTo>
                  <a:cubicBezTo>
                    <a:pt x="46263" y="76223"/>
                    <a:pt x="42082" y="78664"/>
                    <a:pt x="39833" y="82605"/>
                  </a:cubicBezTo>
                  <a:cubicBezTo>
                    <a:pt x="37584" y="86546"/>
                    <a:pt x="37608" y="91387"/>
                    <a:pt x="39897" y="95305"/>
                  </a:cubicBezTo>
                  <a:cubicBezTo>
                    <a:pt x="42185" y="99223"/>
                    <a:pt x="46390" y="101623"/>
                    <a:pt x="50927" y="101600"/>
                  </a:cubicBezTo>
                  <a:cubicBezTo>
                    <a:pt x="57941" y="101600"/>
                    <a:pt x="63627" y="95914"/>
                    <a:pt x="63627" y="88900"/>
                  </a:cubicBezTo>
                  <a:cubicBezTo>
                    <a:pt x="63627" y="81886"/>
                    <a:pt x="57941" y="76200"/>
                    <a:pt x="50927" y="76200"/>
                  </a:cubicBezTo>
                </a:path>
              </a:pathLst>
            </a:custGeom>
            <a:solidFill>
              <a:srgbClr val="FAF7F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076450" y="1238250"/>
              <a:ext cx="287895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DeepSeek-V3 调用费用计算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1714500" y="1857375"/>
              <a:ext cx="7895654" cy="342900"/>
              <a:chOff x="1714500" y="1857375"/>
              <a:chExt cx="7895654" cy="34290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1714500" y="1857375"/>
                <a:ext cx="857250" cy="285750"/>
              </a:xfrm>
              <a:prstGeom prst="roundRect">
                <a:avLst>
                  <a:gd name="adj" fmla="val 20000"/>
                </a:avLst>
              </a:prstGeom>
              <a:solidFill>
                <a:srgbClr val="8FBC8F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968770" y="1944052"/>
                <a:ext cx="3487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8FBC8F"/>
                    </a:solidFill>
                    <a:latin typeface="Arial"/>
                    <a:ea typeface="Microsoft YaHei"/>
                    <a:cs typeface="Arial"/>
                  </a:rPr>
                  <a:t>输入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2747010" y="1927860"/>
                <a:ext cx="223875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D4E37"/>
                    </a:solidFill>
                    <a:latin typeface="Consolas"/>
                    <a:ea typeface="Microsoft YaHei"/>
                    <a:cs typeface="Consolas"/>
                  </a:rPr>
                  <a:t>50 Token × ¥2 / 百万 Token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8366760" y="1927860"/>
                <a:ext cx="12687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D4E37"/>
                    </a:solidFill>
                    <a:latin typeface="Consolas"/>
                    <a:ea typeface="Microsoft YaHei"/>
                    <a:cs typeface="Consolas"/>
                  </a:rPr>
                  <a:t>=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743950" y="1895475"/>
                <a:ext cx="86620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8B6F47"/>
                    </a:solidFill>
                    <a:latin typeface="Georgia"/>
                    <a:ea typeface="SimSun"/>
                    <a:cs typeface="Georgia"/>
                  </a:rPr>
                  <a:t>¥0.0001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1714500" y="2333625"/>
              <a:ext cx="7826645" cy="342900"/>
              <a:chOff x="1714500" y="2333625"/>
              <a:chExt cx="7826645" cy="34290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1714500" y="2333625"/>
                <a:ext cx="857250" cy="285750"/>
              </a:xfrm>
              <a:prstGeom prst="roundRect">
                <a:avLst>
                  <a:gd name="adj" fmla="val 20000"/>
                </a:avLst>
              </a:prstGeom>
              <a:solidFill>
                <a:srgbClr val="E8A87C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968770" y="2420302"/>
                <a:ext cx="3487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E8A87C"/>
                    </a:solidFill>
                    <a:latin typeface="Arial"/>
                    <a:ea typeface="Microsoft YaHei"/>
                    <a:cs typeface="Arial"/>
                  </a:rPr>
                  <a:t>输出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2747010" y="2404110"/>
                <a:ext cx="233514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D4E37"/>
                    </a:solidFill>
                    <a:latin typeface="Consolas"/>
                    <a:ea typeface="Microsoft YaHei"/>
                    <a:cs typeface="Consolas"/>
                  </a:rPr>
                  <a:t>500 Token × ¥8 / 百万 Token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366760" y="2404110"/>
                <a:ext cx="12687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D4E37"/>
                    </a:solidFill>
                    <a:latin typeface="Consolas"/>
                    <a:ea typeface="Microsoft YaHei"/>
                    <a:cs typeface="Consolas"/>
                  </a:rPr>
                  <a:t>=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743950" y="2371725"/>
                <a:ext cx="79719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8B6F47"/>
                    </a:solidFill>
                    <a:latin typeface="Georgia"/>
                    <a:ea typeface="SimSun"/>
                    <a:cs typeface="Georgia"/>
                  </a:rPr>
                  <a:t>¥0.004</a:t>
                </a:r>
              </a:p>
            </p:txBody>
          </p:sp>
        </p:grpSp>
        <p:sp>
          <p:nvSpPr>
            <p:cNvPr id="24" name="Line 24"/>
            <p:cNvSpPr/>
            <p:nvPr/>
          </p:nvSpPr>
          <p:spPr>
            <a:xfrm>
              <a:off x="1714500" y="2857500"/>
              <a:ext cx="8763000" cy="9525"/>
            </a:xfrm>
            <a:custGeom>
              <a:avLst/>
              <a:gdLst/>
              <a:ahLst/>
              <a:cxnLst/>
              <a:rect l="l" t="t" r="r" b="b"/>
              <a:pathLst>
                <a:path w="8763000" h="9525">
                  <a:moveTo>
                    <a:pt x="0" y="0"/>
                  </a:moveTo>
                  <a:lnTo>
                    <a:pt x="8763000" y="0"/>
                  </a:lnTo>
                </a:path>
              </a:pathLst>
            </a:custGeom>
            <a:noFill/>
            <a:ln w="14288">
              <a:solidFill>
                <a:srgbClr val="EDE5D5"/>
              </a:solidFill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2745105" y="3027045"/>
              <a:ext cx="8131492" cy="487680"/>
              <a:chOff x="2745105" y="3027045"/>
              <a:chExt cx="8131492" cy="487680"/>
            </a:xfrm>
          </p:grpSpPr>
          <p:sp>
            <p:nvSpPr>
              <p:cNvPr id="25" name="TextBox 25"/>
              <p:cNvSpPr txBox="1"/>
              <p:nvPr/>
            </p:nvSpPr>
            <p:spPr>
              <a:xfrm>
                <a:off x="2745105" y="3092768"/>
                <a:ext cx="1483471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单次调用合计：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8732520" y="3027045"/>
                <a:ext cx="1275512" cy="4876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E8A87C"/>
                    </a:solidFill>
                    <a:latin typeface="Georgia"/>
                    <a:ea typeface="SimSun"/>
                    <a:cs typeface="Georgia"/>
                  </a:rPr>
                  <a:t>¥0.004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0083165" y="3125152"/>
                <a:ext cx="79343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不到半分钱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1714500" y="3524250"/>
              <a:ext cx="8763000" cy="571500"/>
              <a:chOff x="1714500" y="3524250"/>
              <a:chExt cx="8763000" cy="57150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1714500" y="3524250"/>
                <a:ext cx="8763000" cy="571500"/>
              </a:xfrm>
              <a:prstGeom prst="roundRect">
                <a:avLst>
                  <a:gd name="adj" fmla="val 16667"/>
                </a:avLst>
              </a:prstGeom>
              <a:solidFill>
                <a:srgbClr val="E8A87C">
                  <a:alpha val="8000"/>
                </a:srgbClr>
              </a:solidFill>
              <a:ln w="9525">
                <a:solidFill>
                  <a:srgbClr val="E8A87C"/>
                </a:solidFill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1985962" y="3640931"/>
                <a:ext cx="192631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 xml:space="preserve">每日 </a:t>
                </a:r>
                <a:r>
                  <a:rPr lang="zh-CN" sz="1125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10万次</a:t>
                </a:r>
                <a:r>
                  <a:rPr lang="zh-CN" sz="1125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 xml:space="preserve"> 调用 × 30天 ≈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7783830" y="3602355"/>
                <a:ext cx="1905071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C4956A"/>
                    </a:solidFill>
                    <a:latin typeface="Georgia"/>
                    <a:ea typeface="SimSun"/>
                    <a:cs typeface="Georgia"/>
                  </a:rPr>
                  <a:t>¥12,000 / 月</a:t>
                </a:r>
              </a:p>
            </p:txBody>
          </p:sp>
        </p:grpSp>
        <p:sp>
          <p:nvSpPr>
            <p:cNvPr id="33" name="TextBox 33"/>
            <p:cNvSpPr txBox="1"/>
            <p:nvPr/>
          </p:nvSpPr>
          <p:spPr>
            <a:xfrm>
              <a:off x="1986915" y="4315778"/>
              <a:ext cx="30093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换成 GPT-5.6 同样的调用量一个月要好几万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986915" y="4572952"/>
              <a:ext cx="391415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⚠ 同样的内容，中文消耗 Token 通常比英文多 1.5 到 2 倍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333500" y="5476875"/>
            <a:ext cx="9525000" cy="619125"/>
            <a:chOff x="1333500" y="5476875"/>
            <a:chExt cx="9525000" cy="619125"/>
          </a:xfrm>
        </p:grpSpPr>
        <p:sp>
          <p:nvSpPr>
            <p:cNvPr id="36" name="Rectangle 36"/>
            <p:cNvSpPr/>
            <p:nvPr/>
          </p:nvSpPr>
          <p:spPr>
            <a:xfrm>
              <a:off x="1333500" y="5476875"/>
              <a:ext cx="9525000" cy="619125"/>
            </a:xfrm>
            <a:prstGeom prst="roundRect">
              <a:avLst>
                <a:gd name="adj" fmla="val 18462"/>
              </a:avLst>
            </a:prstGeom>
            <a:solidFill>
              <a:srgbClr val="8B6F47">
                <a:alpha val="6000"/>
              </a:srgbClr>
            </a:solidFill>
            <a:ln w="9525">
              <a:solidFill>
                <a:srgbClr val="8B6F47"/>
              </a:solidFill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1593537" y="5641975"/>
              <a:ext cx="222876" cy="222250"/>
              <a:chOff x="1593537" y="5641975"/>
              <a:chExt cx="222876" cy="22225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1593537" y="5741988"/>
                <a:ext cx="33964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33964" h="22225">
                    <a:moveTo>
                      <a:pt x="22538" y="0"/>
                    </a:moveTo>
                    <a:cubicBezTo>
                      <a:pt x="28418" y="7"/>
                      <a:pt x="33275" y="4592"/>
                      <a:pt x="33619" y="10461"/>
                    </a:cubicBezTo>
                    <a:cubicBezTo>
                      <a:pt x="33964" y="16331"/>
                      <a:pt x="29677" y="21453"/>
                      <a:pt x="23838" y="22147"/>
                    </a:cubicBezTo>
                    <a:lnTo>
                      <a:pt x="22538" y="22225"/>
                    </a:lnTo>
                    <a:lnTo>
                      <a:pt x="11426" y="22225"/>
                    </a:lnTo>
                    <a:cubicBezTo>
                      <a:pt x="5546" y="22218"/>
                      <a:pt x="689" y="17633"/>
                      <a:pt x="345" y="11764"/>
                    </a:cubicBezTo>
                    <a:cubicBezTo>
                      <a:pt x="0" y="5894"/>
                      <a:pt x="4287" y="772"/>
                      <a:pt x="10125" y="78"/>
                    </a:cubicBezTo>
                    <a:lnTo>
                      <a:pt x="11426" y="0"/>
                    </a:lnTo>
                    <a:lnTo>
                      <a:pt x="2253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1693862" y="5641975"/>
                <a:ext cx="22225" cy="33651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33651">
                    <a:moveTo>
                      <a:pt x="11112" y="0"/>
                    </a:moveTo>
                    <a:cubicBezTo>
                      <a:pt x="16746" y="1"/>
                      <a:pt x="21488" y="4217"/>
                      <a:pt x="22147" y="9812"/>
                    </a:cubicBezTo>
                    <a:lnTo>
                      <a:pt x="22225" y="11112"/>
                    </a:lnTo>
                    <a:lnTo>
                      <a:pt x="22225" y="22225"/>
                    </a:lnTo>
                    <a:cubicBezTo>
                      <a:pt x="22218" y="28105"/>
                      <a:pt x="17633" y="32962"/>
                      <a:pt x="11764" y="33306"/>
                    </a:cubicBezTo>
                    <a:cubicBezTo>
                      <a:pt x="5894" y="33651"/>
                      <a:pt x="772" y="29364"/>
                      <a:pt x="78" y="23525"/>
                    </a:cubicBezTo>
                    <a:lnTo>
                      <a:pt x="0" y="22225"/>
                    </a:lnTo>
                    <a:lnTo>
                      <a:pt x="0" y="11112"/>
                    </a:lnTo>
                    <a:cubicBezTo>
                      <a:pt x="0" y="4975"/>
                      <a:pt x="4975" y="0"/>
                      <a:pt x="11112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1782449" y="5741988"/>
                <a:ext cx="33964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33964" h="22225">
                    <a:moveTo>
                      <a:pt x="22538" y="0"/>
                    </a:moveTo>
                    <a:cubicBezTo>
                      <a:pt x="28418" y="7"/>
                      <a:pt x="33275" y="4592"/>
                      <a:pt x="33619" y="10461"/>
                    </a:cubicBezTo>
                    <a:cubicBezTo>
                      <a:pt x="33964" y="16331"/>
                      <a:pt x="29677" y="21453"/>
                      <a:pt x="23838" y="22147"/>
                    </a:cubicBezTo>
                    <a:lnTo>
                      <a:pt x="22538" y="22225"/>
                    </a:lnTo>
                    <a:lnTo>
                      <a:pt x="11426" y="22225"/>
                    </a:lnTo>
                    <a:cubicBezTo>
                      <a:pt x="5546" y="22218"/>
                      <a:pt x="689" y="17633"/>
                      <a:pt x="345" y="11764"/>
                    </a:cubicBezTo>
                    <a:cubicBezTo>
                      <a:pt x="0" y="5894"/>
                      <a:pt x="4287" y="772"/>
                      <a:pt x="10125" y="78"/>
                    </a:cubicBezTo>
                    <a:lnTo>
                      <a:pt x="11426" y="0"/>
                    </a:lnTo>
                    <a:lnTo>
                      <a:pt x="2253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1621660" y="5669770"/>
                <a:ext cx="32169" cy="32352"/>
              </a:xfrm>
              <a:custGeom>
                <a:avLst/>
                <a:gdLst/>
                <a:ahLst/>
                <a:cxnLst/>
                <a:rect l="l" t="t" r="r" b="b"/>
                <a:pathLst>
                  <a:path w="32169" h="32352">
                    <a:moveTo>
                      <a:pt x="4338" y="4354"/>
                    </a:moveTo>
                    <a:cubicBezTo>
                      <a:pt x="8297" y="395"/>
                      <a:pt x="14583" y="0"/>
                      <a:pt x="19007" y="3432"/>
                    </a:cubicBezTo>
                    <a:lnTo>
                      <a:pt x="20051" y="4354"/>
                    </a:lnTo>
                    <a:lnTo>
                      <a:pt x="27830" y="12133"/>
                    </a:lnTo>
                    <a:cubicBezTo>
                      <a:pt x="31966" y="16283"/>
                      <a:pt x="32169" y="22932"/>
                      <a:pt x="28294" y="27327"/>
                    </a:cubicBezTo>
                    <a:cubicBezTo>
                      <a:pt x="24419" y="31721"/>
                      <a:pt x="17797" y="32352"/>
                      <a:pt x="13161" y="28768"/>
                    </a:cubicBezTo>
                    <a:lnTo>
                      <a:pt x="12117" y="27846"/>
                    </a:lnTo>
                    <a:lnTo>
                      <a:pt x="4338" y="20067"/>
                    </a:lnTo>
                    <a:cubicBezTo>
                      <a:pt x="0" y="15728"/>
                      <a:pt x="0" y="8693"/>
                      <a:pt x="4338" y="4354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1755953" y="5669784"/>
                <a:ext cx="32505" cy="32170"/>
              </a:xfrm>
              <a:custGeom>
                <a:avLst/>
                <a:gdLst/>
                <a:ahLst/>
                <a:cxnLst/>
                <a:rect l="l" t="t" r="r" b="b"/>
                <a:pathLst>
                  <a:path w="32505" h="32170">
                    <a:moveTo>
                      <a:pt x="12285" y="4339"/>
                    </a:moveTo>
                    <a:cubicBezTo>
                      <a:pt x="16436" y="203"/>
                      <a:pt x="23084" y="0"/>
                      <a:pt x="27479" y="3875"/>
                    </a:cubicBezTo>
                    <a:cubicBezTo>
                      <a:pt x="31874" y="7751"/>
                      <a:pt x="32505" y="14372"/>
                      <a:pt x="28921" y="19008"/>
                    </a:cubicBezTo>
                    <a:lnTo>
                      <a:pt x="27998" y="20052"/>
                    </a:lnTo>
                    <a:lnTo>
                      <a:pt x="20220" y="27831"/>
                    </a:lnTo>
                    <a:cubicBezTo>
                      <a:pt x="16069" y="31967"/>
                      <a:pt x="9421" y="32170"/>
                      <a:pt x="5026" y="28295"/>
                    </a:cubicBezTo>
                    <a:cubicBezTo>
                      <a:pt x="631" y="24420"/>
                      <a:pt x="0" y="17798"/>
                      <a:pt x="3584" y="13163"/>
                    </a:cubicBezTo>
                    <a:lnTo>
                      <a:pt x="4507" y="12118"/>
                    </a:lnTo>
                    <a:lnTo>
                      <a:pt x="12285" y="4339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1671638" y="581977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55563" y="0"/>
                    </a:moveTo>
                    <a:cubicBezTo>
                      <a:pt x="61700" y="0"/>
                      <a:pt x="66675" y="4975"/>
                      <a:pt x="66675" y="11112"/>
                    </a:cubicBezTo>
                    <a:cubicBezTo>
                      <a:pt x="66675" y="29524"/>
                      <a:pt x="51749" y="44450"/>
                      <a:pt x="33338" y="44450"/>
                    </a:cubicBezTo>
                    <a:cubicBezTo>
                      <a:pt x="14926" y="44450"/>
                      <a:pt x="0" y="29524"/>
                      <a:pt x="0" y="11112"/>
                    </a:cubicBezTo>
                    <a:cubicBezTo>
                      <a:pt x="1" y="5479"/>
                      <a:pt x="4217" y="737"/>
                      <a:pt x="9812" y="78"/>
                    </a:cubicBezTo>
                    <a:lnTo>
                      <a:pt x="11112" y="0"/>
                    </a:lnTo>
                    <a:lnTo>
                      <a:pt x="55563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1632646" y="5686425"/>
                <a:ext cx="144658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44658" h="122238">
                    <a:moveTo>
                      <a:pt x="72329" y="0"/>
                    </a:moveTo>
                    <a:cubicBezTo>
                      <a:pt x="101028" y="0"/>
                      <a:pt x="126507" y="18364"/>
                      <a:pt x="135582" y="45591"/>
                    </a:cubicBezTo>
                    <a:cubicBezTo>
                      <a:pt x="144658" y="72817"/>
                      <a:pt x="135293" y="102796"/>
                      <a:pt x="112334" y="120015"/>
                    </a:cubicBezTo>
                    <a:cubicBezTo>
                      <a:pt x="110802" y="121165"/>
                      <a:pt x="108999" y="121900"/>
                      <a:pt x="107100" y="122149"/>
                    </a:cubicBezTo>
                    <a:lnTo>
                      <a:pt x="105666" y="122238"/>
                    </a:lnTo>
                    <a:lnTo>
                      <a:pt x="38991" y="122238"/>
                    </a:lnTo>
                    <a:cubicBezTo>
                      <a:pt x="36587" y="122238"/>
                      <a:pt x="34247" y="121458"/>
                      <a:pt x="32324" y="120015"/>
                    </a:cubicBezTo>
                    <a:cubicBezTo>
                      <a:pt x="9365" y="102796"/>
                      <a:pt x="0" y="72817"/>
                      <a:pt x="9075" y="45591"/>
                    </a:cubicBezTo>
                    <a:cubicBezTo>
                      <a:pt x="18151" y="18364"/>
                      <a:pt x="43630" y="0"/>
                      <a:pt x="72329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938338" y="5660231"/>
              <a:ext cx="19349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Token 直接决定使用成本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940242" y="5876449"/>
              <a:ext cx="379121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中文场景下成本控制更重要 — 选对模型和 Tokenizer 是关键</a:t>
              </a: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1720703" y="6522720"/>
            <a:ext cx="10172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4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2925" y="376238"/>
            <a:ext cx="11089958" cy="457200"/>
            <a:chOff x="542925" y="376238"/>
            <a:chExt cx="11089958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376238"/>
              <a:ext cx="179961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特殊 Token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326529" y="466249"/>
              <a:ext cx="13063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你看不到的控制信号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52500" y="1714500"/>
            <a:ext cx="9163050" cy="533400"/>
            <a:chOff x="952500" y="1714500"/>
            <a:chExt cx="9163050" cy="533400"/>
          </a:xfrm>
        </p:grpSpPr>
        <p:sp>
          <p:nvSpPr>
            <p:cNvPr id="7" name="Rectangle 7"/>
            <p:cNvSpPr/>
            <p:nvPr/>
          </p:nvSpPr>
          <p:spPr>
            <a:xfrm>
              <a:off x="952500" y="1714500"/>
              <a:ext cx="952500" cy="533400"/>
            </a:xfrm>
            <a:prstGeom prst="roundRect">
              <a:avLst>
                <a:gd name="adj" fmla="val 14286"/>
              </a:avLst>
            </a:prstGeom>
            <a:solidFill>
              <a:srgbClr val="C4956A">
                <a:alpha val="20000"/>
              </a:srgbClr>
            </a:solidFill>
            <a:ln w="19050">
              <a:solidFill>
                <a:srgbClr val="C4956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60478" y="1927860"/>
              <a:ext cx="5365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4956A"/>
                  </a:solidFill>
                  <a:latin typeface="Consolas"/>
                  <a:ea typeface="Microsoft YaHei"/>
                  <a:cs typeface="Consolas"/>
                </a:rPr>
                <a:t>&lt;bos&gt;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2095500" y="1714500"/>
              <a:ext cx="685800" cy="533400"/>
            </a:xfrm>
            <a:prstGeom prst="roundRect">
              <a:avLst>
                <a:gd name="adj" fmla="val 14286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296954" y="1879282"/>
              <a:ext cx="2828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我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2876550" y="1714500"/>
              <a:ext cx="685800" cy="533400"/>
            </a:xfrm>
            <a:prstGeom prst="roundRect">
              <a:avLst>
                <a:gd name="adj" fmla="val 14286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078004" y="1879282"/>
              <a:ext cx="2828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喜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3657600" y="1714500"/>
              <a:ext cx="685800" cy="533400"/>
            </a:xfrm>
            <a:prstGeom prst="roundRect">
              <a:avLst>
                <a:gd name="adj" fmla="val 14286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859054" y="1879282"/>
              <a:ext cx="2828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欢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438650" y="1714500"/>
              <a:ext cx="685800" cy="533400"/>
            </a:xfrm>
            <a:prstGeom prst="roundRect">
              <a:avLst>
                <a:gd name="adj" fmla="val 14286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640104" y="1879282"/>
              <a:ext cx="2828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吃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219700" y="1714500"/>
              <a:ext cx="685800" cy="533400"/>
            </a:xfrm>
            <a:prstGeom prst="roundRect">
              <a:avLst>
                <a:gd name="adj" fmla="val 14286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421154" y="1879282"/>
              <a:ext cx="2828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苹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000750" y="1714500"/>
              <a:ext cx="685800" cy="533400"/>
            </a:xfrm>
            <a:prstGeom prst="roundRect">
              <a:avLst>
                <a:gd name="adj" fmla="val 14286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02204" y="1879282"/>
              <a:ext cx="2828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果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877050" y="1714500"/>
              <a:ext cx="952500" cy="533400"/>
            </a:xfrm>
            <a:prstGeom prst="roundRect">
              <a:avLst>
                <a:gd name="adj" fmla="val 14286"/>
              </a:avLst>
            </a:prstGeom>
            <a:solidFill>
              <a:srgbClr val="C4956A">
                <a:alpha val="20000"/>
              </a:srgbClr>
            </a:solidFill>
            <a:ln w="19050">
              <a:solidFill>
                <a:srgbClr val="C4956A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085028" y="1927860"/>
              <a:ext cx="5365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4956A"/>
                  </a:solidFill>
                  <a:latin typeface="Consolas"/>
                  <a:ea typeface="Microsoft YaHei"/>
                  <a:cs typeface="Consolas"/>
                </a:rPr>
                <a:t>&lt;eos&gt;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020050" y="1714500"/>
              <a:ext cx="952500" cy="533400"/>
            </a:xfrm>
            <a:prstGeom prst="roundRect">
              <a:avLst>
                <a:gd name="adj" fmla="val 14286"/>
              </a:avLst>
            </a:prstGeom>
            <a:solidFill>
              <a:srgbClr val="8B7D6B">
                <a:alpha val="15000"/>
              </a:srgbClr>
            </a:solidFill>
            <a:ln w="14288">
              <a:solidFill>
                <a:srgbClr val="8B7D6B"/>
              </a:solidFill>
              <a:custDash>
                <a:ds d="266666" sp="200000"/>
              </a:custDash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240078" y="1927860"/>
              <a:ext cx="51244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&lt;pad&gt;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9163050" y="1714500"/>
              <a:ext cx="952500" cy="533400"/>
            </a:xfrm>
            <a:prstGeom prst="roundRect">
              <a:avLst>
                <a:gd name="adj" fmla="val 14286"/>
              </a:avLst>
            </a:prstGeom>
            <a:solidFill>
              <a:srgbClr val="8B7D6B">
                <a:alpha val="15000"/>
              </a:srgbClr>
            </a:solidFill>
            <a:ln w="14288">
              <a:solidFill>
                <a:srgbClr val="8B7D6B"/>
              </a:solidFill>
              <a:custDash>
                <a:ds d="266666" sp="200000"/>
              </a:custDash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383078" y="1927860"/>
              <a:ext cx="51244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&lt;pad&gt;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381000" y="2286000"/>
            <a:ext cx="10287000" cy="1524000"/>
            <a:chOff x="381000" y="2286000"/>
            <a:chExt cx="10287000" cy="1524000"/>
          </a:xfrm>
        </p:grpSpPr>
        <p:sp>
          <p:nvSpPr>
            <p:cNvPr id="28" name="Line 28"/>
            <p:cNvSpPr/>
            <p:nvPr/>
          </p:nvSpPr>
          <p:spPr>
            <a:xfrm>
              <a:off x="1428750" y="2286000"/>
              <a:ext cx="9525" cy="666750"/>
            </a:xfrm>
            <a:custGeom>
              <a:avLst/>
              <a:gdLst/>
              <a:ahLst/>
              <a:cxnLst/>
              <a:rect l="l" t="t" r="r" b="b"/>
              <a:pathLst>
                <a:path w="9525" h="666750">
                  <a:moveTo>
                    <a:pt x="0" y="0"/>
                  </a:moveTo>
                  <a:lnTo>
                    <a:pt x="0" y="666750"/>
                  </a:lnTo>
                </a:path>
              </a:pathLst>
            </a:custGeom>
            <a:noFill/>
            <a:ln w="9525">
              <a:solidFill>
                <a:srgbClr val="C4956A"/>
              </a:solidFill>
              <a:custDash>
                <a:ds d="400000" sp="300000"/>
              </a:custDash>
            </a:ln>
          </p:spPr>
        </p:sp>
        <p:sp>
          <p:nvSpPr>
            <p:cNvPr id="29" name="Rectangle 29"/>
            <p:cNvSpPr/>
            <p:nvPr/>
          </p:nvSpPr>
          <p:spPr>
            <a:xfrm>
              <a:off x="381000" y="2952750"/>
              <a:ext cx="2095500" cy="857250"/>
            </a:xfrm>
            <a:prstGeom prst="roundRect">
              <a:avLst>
                <a:gd name="adj" fmla="val 13333"/>
              </a:avLst>
            </a:prstGeom>
            <a:solidFill>
              <a:srgbClr val="FAF7F2"/>
            </a:solidFill>
            <a:ln w="9525">
              <a:solidFill>
                <a:srgbClr val="C4956A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194012" y="3125152"/>
              <a:ext cx="4694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4956A"/>
                  </a:solidFill>
                  <a:latin typeface="Consolas"/>
                  <a:ea typeface="Microsoft YaHei"/>
                  <a:cs typeface="Consolas"/>
                </a:rPr>
                <a:t>&lt;bos&gt;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5214" y="3342799"/>
              <a:ext cx="152707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Beginning of Sequence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25818" y="3541395"/>
              <a:ext cx="12058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标记一段文本的开头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7353300" y="2286000"/>
              <a:ext cx="9525" cy="666750"/>
            </a:xfrm>
            <a:custGeom>
              <a:avLst/>
              <a:gdLst/>
              <a:ahLst/>
              <a:cxnLst/>
              <a:rect l="l" t="t" r="r" b="b"/>
              <a:pathLst>
                <a:path w="9525" h="666750">
                  <a:moveTo>
                    <a:pt x="0" y="0"/>
                  </a:moveTo>
                  <a:lnTo>
                    <a:pt x="0" y="666750"/>
                  </a:lnTo>
                </a:path>
              </a:pathLst>
            </a:custGeom>
            <a:noFill/>
            <a:ln w="9525">
              <a:solidFill>
                <a:srgbClr val="C4956A"/>
              </a:solidFill>
              <a:custDash>
                <a:ds d="400000" sp="300000"/>
              </a:custDash>
            </a:ln>
          </p:spPr>
        </p:sp>
        <p:sp>
          <p:nvSpPr>
            <p:cNvPr id="34" name="Rectangle 34"/>
            <p:cNvSpPr/>
            <p:nvPr/>
          </p:nvSpPr>
          <p:spPr>
            <a:xfrm>
              <a:off x="6305550" y="2952750"/>
              <a:ext cx="2095500" cy="857250"/>
            </a:xfrm>
            <a:prstGeom prst="roundRect">
              <a:avLst>
                <a:gd name="adj" fmla="val 13333"/>
              </a:avLst>
            </a:prstGeom>
            <a:solidFill>
              <a:srgbClr val="FAF7F2"/>
            </a:solidFill>
            <a:ln w="9525">
              <a:solidFill>
                <a:srgbClr val="C4956A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118562" y="3125152"/>
              <a:ext cx="4694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4956A"/>
                  </a:solidFill>
                  <a:latin typeface="Consolas"/>
                  <a:ea typeface="Microsoft YaHei"/>
                  <a:cs typeface="Consolas"/>
                </a:rPr>
                <a:t>&lt;eos&gt;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789122" y="3342799"/>
              <a:ext cx="11283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End of Sequence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750367" y="3541395"/>
              <a:ext cx="12058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模型看到就停止生成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9067800" y="2286000"/>
              <a:ext cx="9525" cy="666750"/>
            </a:xfrm>
            <a:custGeom>
              <a:avLst/>
              <a:gdLst/>
              <a:ahLst/>
              <a:cxnLst/>
              <a:rect l="l" t="t" r="r" b="b"/>
              <a:pathLst>
                <a:path w="9525" h="666750">
                  <a:moveTo>
                    <a:pt x="0" y="0"/>
                  </a:moveTo>
                  <a:lnTo>
                    <a:pt x="0" y="666750"/>
                  </a:lnTo>
                </a:path>
              </a:pathLst>
            </a:custGeom>
            <a:noFill/>
            <a:ln w="9525">
              <a:solidFill>
                <a:srgbClr val="8B7D6B"/>
              </a:solidFill>
              <a:custDash>
                <a:ds d="400000" sp="300000"/>
              </a:custDash>
            </a:ln>
          </p:spPr>
        </p:sp>
        <p:sp>
          <p:nvSpPr>
            <p:cNvPr id="39" name="Rectangle 39"/>
            <p:cNvSpPr/>
            <p:nvPr/>
          </p:nvSpPr>
          <p:spPr>
            <a:xfrm>
              <a:off x="8572500" y="2952750"/>
              <a:ext cx="2095500" cy="857250"/>
            </a:xfrm>
            <a:prstGeom prst="roundRect">
              <a:avLst>
                <a:gd name="adj" fmla="val 13333"/>
              </a:avLst>
            </a:prstGeom>
            <a:solidFill>
              <a:srgbClr val="FAF7F2"/>
            </a:solidFill>
            <a:ln w="9525">
              <a:solidFill>
                <a:srgbClr val="8B7D6B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385512" y="3125152"/>
              <a:ext cx="4694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&lt;pad&gt;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351550" y="3342799"/>
              <a:ext cx="5374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Padding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280208" y="3541395"/>
              <a:ext cx="680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补齐对齐用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952500" y="4381500"/>
            <a:ext cx="10287000" cy="1143000"/>
            <a:chOff x="952500" y="4381500"/>
            <a:chExt cx="10287000" cy="1143000"/>
          </a:xfrm>
        </p:grpSpPr>
        <p:sp>
          <p:nvSpPr>
            <p:cNvPr id="44" name="Rectangle 44"/>
            <p:cNvSpPr/>
            <p:nvPr/>
          </p:nvSpPr>
          <p:spPr>
            <a:xfrm>
              <a:off x="952500" y="4381500"/>
              <a:ext cx="10287000" cy="1143000"/>
            </a:xfrm>
            <a:prstGeom prst="roundRect">
              <a:avLst>
                <a:gd name="adj" fmla="val 13333"/>
              </a:avLst>
            </a:prstGeom>
            <a:solidFill>
              <a:srgbClr val="8B6F47">
                <a:alpha val="6000"/>
              </a:srgbClr>
            </a:solidFill>
            <a:ln w="9525">
              <a:solidFill>
                <a:srgbClr val="8B6F47"/>
              </a:solidFill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1263292" y="4645025"/>
              <a:ext cx="254716" cy="254000"/>
              <a:chOff x="1263292" y="4645025"/>
              <a:chExt cx="254716" cy="25400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1263292" y="4759325"/>
                <a:ext cx="38816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38816" h="25400">
                    <a:moveTo>
                      <a:pt x="25758" y="0"/>
                    </a:moveTo>
                    <a:cubicBezTo>
                      <a:pt x="32477" y="7"/>
                      <a:pt x="38028" y="5248"/>
                      <a:pt x="38422" y="11956"/>
                    </a:cubicBezTo>
                    <a:cubicBezTo>
                      <a:pt x="38816" y="18664"/>
                      <a:pt x="33916" y="24517"/>
                      <a:pt x="27244" y="25311"/>
                    </a:cubicBezTo>
                    <a:lnTo>
                      <a:pt x="25758" y="25400"/>
                    </a:lnTo>
                    <a:lnTo>
                      <a:pt x="13058" y="25400"/>
                    </a:lnTo>
                    <a:cubicBezTo>
                      <a:pt x="6338" y="25393"/>
                      <a:pt x="788" y="20152"/>
                      <a:pt x="394" y="13444"/>
                    </a:cubicBezTo>
                    <a:cubicBezTo>
                      <a:pt x="0" y="6736"/>
                      <a:pt x="4900" y="883"/>
                      <a:pt x="11572" y="89"/>
                    </a:cubicBezTo>
                    <a:lnTo>
                      <a:pt x="13058" y="0"/>
                    </a:lnTo>
                    <a:lnTo>
                      <a:pt x="2575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1377950" y="4645025"/>
                <a:ext cx="25400" cy="38458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38458">
                    <a:moveTo>
                      <a:pt x="12700" y="0"/>
                    </a:moveTo>
                    <a:cubicBezTo>
                      <a:pt x="19139" y="1"/>
                      <a:pt x="24558" y="4820"/>
                      <a:pt x="25311" y="11214"/>
                    </a:cubicBezTo>
                    <a:lnTo>
                      <a:pt x="25400" y="12700"/>
                    </a:lnTo>
                    <a:lnTo>
                      <a:pt x="25400" y="25400"/>
                    </a:lnTo>
                    <a:cubicBezTo>
                      <a:pt x="25393" y="32119"/>
                      <a:pt x="20152" y="37670"/>
                      <a:pt x="13444" y="38064"/>
                    </a:cubicBezTo>
                    <a:cubicBezTo>
                      <a:pt x="6736" y="38458"/>
                      <a:pt x="883" y="33558"/>
                      <a:pt x="89" y="26886"/>
                    </a:cubicBezTo>
                    <a:lnTo>
                      <a:pt x="0" y="25400"/>
                    </a:lnTo>
                    <a:lnTo>
                      <a:pt x="0" y="12700"/>
                    </a:lnTo>
                    <a:cubicBezTo>
                      <a:pt x="0" y="5686"/>
                      <a:pt x="5686" y="0"/>
                      <a:pt x="12700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1479192" y="4759325"/>
                <a:ext cx="38816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38816" h="25400">
                    <a:moveTo>
                      <a:pt x="25758" y="0"/>
                    </a:moveTo>
                    <a:cubicBezTo>
                      <a:pt x="32477" y="7"/>
                      <a:pt x="38028" y="5248"/>
                      <a:pt x="38422" y="11956"/>
                    </a:cubicBezTo>
                    <a:cubicBezTo>
                      <a:pt x="38816" y="18664"/>
                      <a:pt x="33916" y="24517"/>
                      <a:pt x="27244" y="25311"/>
                    </a:cubicBezTo>
                    <a:lnTo>
                      <a:pt x="25758" y="25400"/>
                    </a:lnTo>
                    <a:lnTo>
                      <a:pt x="13058" y="25400"/>
                    </a:lnTo>
                    <a:cubicBezTo>
                      <a:pt x="6338" y="25393"/>
                      <a:pt x="788" y="20152"/>
                      <a:pt x="394" y="13444"/>
                    </a:cubicBezTo>
                    <a:cubicBezTo>
                      <a:pt x="0" y="6736"/>
                      <a:pt x="4900" y="883"/>
                      <a:pt x="11572" y="89"/>
                    </a:cubicBezTo>
                    <a:lnTo>
                      <a:pt x="13058" y="0"/>
                    </a:lnTo>
                    <a:lnTo>
                      <a:pt x="2575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1295433" y="4676790"/>
                <a:ext cx="36765" cy="36974"/>
              </a:xfrm>
              <a:custGeom>
                <a:avLst/>
                <a:gdLst/>
                <a:ahLst/>
                <a:cxnLst/>
                <a:rect l="l" t="t" r="r" b="b"/>
                <a:pathLst>
                  <a:path w="36765" h="36974">
                    <a:moveTo>
                      <a:pt x="4958" y="4976"/>
                    </a:moveTo>
                    <a:cubicBezTo>
                      <a:pt x="9482" y="452"/>
                      <a:pt x="16666" y="0"/>
                      <a:pt x="21722" y="3922"/>
                    </a:cubicBezTo>
                    <a:lnTo>
                      <a:pt x="22916" y="4976"/>
                    </a:lnTo>
                    <a:lnTo>
                      <a:pt x="31806" y="13866"/>
                    </a:lnTo>
                    <a:cubicBezTo>
                      <a:pt x="36533" y="18609"/>
                      <a:pt x="36765" y="26208"/>
                      <a:pt x="32336" y="31230"/>
                    </a:cubicBezTo>
                    <a:cubicBezTo>
                      <a:pt x="27907" y="36253"/>
                      <a:pt x="20339" y="36974"/>
                      <a:pt x="15042" y="32878"/>
                    </a:cubicBezTo>
                    <a:lnTo>
                      <a:pt x="13848" y="31824"/>
                    </a:lnTo>
                    <a:lnTo>
                      <a:pt x="4958" y="22934"/>
                    </a:lnTo>
                    <a:cubicBezTo>
                      <a:pt x="0" y="17974"/>
                      <a:pt x="0" y="9935"/>
                      <a:pt x="4958" y="4976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1448911" y="4676807"/>
                <a:ext cx="37148" cy="36766"/>
              </a:xfrm>
              <a:custGeom>
                <a:avLst/>
                <a:gdLst/>
                <a:ahLst/>
                <a:cxnLst/>
                <a:rect l="l" t="t" r="r" b="b"/>
                <a:pathLst>
                  <a:path w="37148" h="36766">
                    <a:moveTo>
                      <a:pt x="14040" y="4959"/>
                    </a:moveTo>
                    <a:cubicBezTo>
                      <a:pt x="18783" y="232"/>
                      <a:pt x="26382" y="0"/>
                      <a:pt x="31405" y="4429"/>
                    </a:cubicBezTo>
                    <a:cubicBezTo>
                      <a:pt x="36427" y="8858"/>
                      <a:pt x="37148" y="16426"/>
                      <a:pt x="33052" y="21723"/>
                    </a:cubicBezTo>
                    <a:lnTo>
                      <a:pt x="31998" y="22917"/>
                    </a:lnTo>
                    <a:lnTo>
                      <a:pt x="23108" y="31807"/>
                    </a:lnTo>
                    <a:cubicBezTo>
                      <a:pt x="18365" y="36534"/>
                      <a:pt x="10766" y="36766"/>
                      <a:pt x="5744" y="32337"/>
                    </a:cubicBezTo>
                    <a:cubicBezTo>
                      <a:pt x="721" y="27908"/>
                      <a:pt x="0" y="20340"/>
                      <a:pt x="4096" y="15043"/>
                    </a:cubicBezTo>
                    <a:lnTo>
                      <a:pt x="5150" y="13849"/>
                    </a:lnTo>
                    <a:lnTo>
                      <a:pt x="14040" y="4959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1352550" y="4848225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63500" y="0"/>
                    </a:moveTo>
                    <a:cubicBezTo>
                      <a:pt x="70514" y="0"/>
                      <a:pt x="76200" y="5686"/>
                      <a:pt x="76200" y="12700"/>
                    </a:cubicBezTo>
                    <a:cubicBezTo>
                      <a:pt x="76200" y="33742"/>
                      <a:pt x="59142" y="50800"/>
                      <a:pt x="38100" y="50800"/>
                    </a:cubicBezTo>
                    <a:cubicBezTo>
                      <a:pt x="17058" y="50800"/>
                      <a:pt x="0" y="33742"/>
                      <a:pt x="0" y="12700"/>
                    </a:cubicBezTo>
                    <a:cubicBezTo>
                      <a:pt x="1" y="6261"/>
                      <a:pt x="4820" y="842"/>
                      <a:pt x="11214" y="89"/>
                    </a:cubicBezTo>
                    <a:lnTo>
                      <a:pt x="12700" y="0"/>
                    </a:lnTo>
                    <a:lnTo>
                      <a:pt x="63500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1307988" y="4695825"/>
                <a:ext cx="165323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165323" h="139700">
                    <a:moveTo>
                      <a:pt x="82662" y="0"/>
                    </a:moveTo>
                    <a:cubicBezTo>
                      <a:pt x="115460" y="0"/>
                      <a:pt x="144579" y="20988"/>
                      <a:pt x="154951" y="52103"/>
                    </a:cubicBezTo>
                    <a:cubicBezTo>
                      <a:pt x="165323" y="83219"/>
                      <a:pt x="154621" y="117481"/>
                      <a:pt x="128382" y="137160"/>
                    </a:cubicBezTo>
                    <a:cubicBezTo>
                      <a:pt x="126631" y="138475"/>
                      <a:pt x="124571" y="139315"/>
                      <a:pt x="122400" y="139598"/>
                    </a:cubicBezTo>
                    <a:lnTo>
                      <a:pt x="120762" y="139700"/>
                    </a:lnTo>
                    <a:lnTo>
                      <a:pt x="44562" y="139700"/>
                    </a:lnTo>
                    <a:cubicBezTo>
                      <a:pt x="41814" y="139700"/>
                      <a:pt x="39140" y="138809"/>
                      <a:pt x="36942" y="137160"/>
                    </a:cubicBezTo>
                    <a:cubicBezTo>
                      <a:pt x="10703" y="117481"/>
                      <a:pt x="0" y="83219"/>
                      <a:pt x="10372" y="52103"/>
                    </a:cubicBezTo>
                    <a:cubicBezTo>
                      <a:pt x="20744" y="20988"/>
                      <a:pt x="49863" y="0"/>
                      <a:pt x="82662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1697355" y="4664392"/>
              <a:ext cx="231157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模型生成回答的运行机制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700212" y="5022056"/>
              <a:ext cx="624756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 xml:space="preserve">不断预测下一个 Token → 追加到序列末尾 → 再预测下一个 → 直到预测出 </a:t>
              </a:r>
              <a:r>
                <a:rPr lang="zh-CN" sz="1125" b="1" dirty="0">
                  <a:solidFill>
                    <a:srgbClr val="C4956A"/>
                  </a:solidFill>
                  <a:latin typeface="Arial"/>
                  <a:ea typeface="Microsoft YaHei"/>
                  <a:cs typeface="Arial"/>
                </a:rPr>
                <a:t>&lt;eos&gt;</a:t>
              </a:r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 xml:space="preserve"> 才停止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702118" y="5276374"/>
              <a:ext cx="377697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这些特殊 Token 不承载语义，但对模型的运行机制至关重要</a:t>
              </a:r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11687842" y="6522720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43" grpId="0"/>
      <p:bldP spid="5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8B6F47"/>
              </a:gs>
              <a:gs pos="100000">
                <a:srgbClr val="6B5535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572500" y="3810000"/>
            <a:ext cx="3810000" cy="3810000"/>
          </a:xfrm>
          <a:prstGeom prst="ellipse">
            <a:avLst/>
          </a:prstGeom>
          <a:solidFill>
            <a:srgbClr val="FAF7F2">
              <a:alpha val="5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571500" y="190500"/>
            <a:ext cx="2286000" cy="2286000"/>
          </a:xfrm>
          <a:prstGeom prst="ellipse">
            <a:avLst/>
          </a:prstGeom>
          <a:solidFill>
            <a:srgbClr val="FAF7F2">
              <a:alpha val="4000"/>
            </a:srgbClr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2434228" y="1504950"/>
            <a:ext cx="7323544" cy="3096293"/>
            <a:chOff x="2434228" y="1504950"/>
            <a:chExt cx="7323544" cy="3096293"/>
          </a:xfrm>
        </p:grpSpPr>
        <p:sp>
          <p:nvSpPr>
            <p:cNvPr id="5" name="TextBox 5"/>
            <p:cNvSpPr txBox="1"/>
            <p:nvPr/>
          </p:nvSpPr>
          <p:spPr>
            <a:xfrm>
              <a:off x="5222605" y="1504950"/>
              <a:ext cx="1746790" cy="1828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0" b="1" dirty="0">
                  <a:solidFill>
                    <a:srgbClr val="FAF7F2">
                      <a:alphaMod val="15000"/>
                    </a:srgbClr>
                  </a:solidFill>
                  <a:latin typeface="Georgia"/>
                  <a:ea typeface="Microsoft YaHei"/>
                  <a:cs typeface="Georgia"/>
                </a:rPr>
                <a:t>03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434228" y="2849880"/>
              <a:ext cx="7323544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FAF7F2"/>
                  </a:solidFill>
                  <a:latin typeface="Georgia"/>
                  <a:ea typeface="Microsoft YaHei"/>
                  <a:cs typeface="Georgia"/>
                </a:rPr>
                <a:t>Context — 大模型没有"记忆"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4953000" y="3476625"/>
              <a:ext cx="2286000" cy="381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091112" y="3838575"/>
              <a:ext cx="20097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AF7F2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每次对话都是失忆的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5838825" y="4329112"/>
              <a:ext cx="285750" cy="272131"/>
            </a:xfrm>
            <a:custGeom>
              <a:avLst/>
              <a:gdLst/>
              <a:ahLst/>
              <a:cxnLst/>
              <a:rect l="l" t="t" r="r" b="b"/>
              <a:pathLst>
                <a:path w="285750" h="272131">
                  <a:moveTo>
                    <a:pt x="228600" y="0"/>
                  </a:moveTo>
                  <a:cubicBezTo>
                    <a:pt x="260163" y="0"/>
                    <a:pt x="285750" y="25587"/>
                    <a:pt x="285750" y="57150"/>
                  </a:cubicBezTo>
                  <a:lnTo>
                    <a:pt x="285750" y="171450"/>
                  </a:lnTo>
                  <a:cubicBezTo>
                    <a:pt x="285750" y="203013"/>
                    <a:pt x="260163" y="228600"/>
                    <a:pt x="228600" y="228600"/>
                  </a:cubicBezTo>
                  <a:lnTo>
                    <a:pt x="161106" y="228600"/>
                  </a:lnTo>
                  <a:lnTo>
                    <a:pt x="93069" y="269419"/>
                  </a:lnTo>
                  <a:cubicBezTo>
                    <a:pt x="88905" y="271918"/>
                    <a:pt x="83758" y="272131"/>
                    <a:pt x="79402" y="269985"/>
                  </a:cubicBezTo>
                  <a:cubicBezTo>
                    <a:pt x="75047" y="267839"/>
                    <a:pt x="72079" y="263628"/>
                    <a:pt x="71523" y="258804"/>
                  </a:cubicBezTo>
                  <a:lnTo>
                    <a:pt x="71438" y="257175"/>
                  </a:lnTo>
                  <a:lnTo>
                    <a:pt x="71438" y="228600"/>
                  </a:lnTo>
                  <a:lnTo>
                    <a:pt x="57150" y="228600"/>
                  </a:lnTo>
                  <a:cubicBezTo>
                    <a:pt x="26698" y="228600"/>
                    <a:pt x="1594" y="204722"/>
                    <a:pt x="71" y="174308"/>
                  </a:cubicBezTo>
                  <a:lnTo>
                    <a:pt x="0" y="171450"/>
                  </a:ln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  <a:moveTo>
                    <a:pt x="171450" y="128588"/>
                  </a:moveTo>
                  <a:lnTo>
                    <a:pt x="85725" y="128588"/>
                  </a:lnTo>
                  <a:cubicBezTo>
                    <a:pt x="77834" y="128588"/>
                    <a:pt x="71438" y="134984"/>
                    <a:pt x="71438" y="142875"/>
                  </a:cubicBezTo>
                  <a:cubicBezTo>
                    <a:pt x="71438" y="150766"/>
                    <a:pt x="77834" y="157162"/>
                    <a:pt x="85725" y="157162"/>
                  </a:cubicBezTo>
                  <a:lnTo>
                    <a:pt x="171450" y="157162"/>
                  </a:lnTo>
                  <a:cubicBezTo>
                    <a:pt x="179341" y="157162"/>
                    <a:pt x="185738" y="150766"/>
                    <a:pt x="185738" y="142875"/>
                  </a:cubicBezTo>
                  <a:cubicBezTo>
                    <a:pt x="185738" y="134984"/>
                    <a:pt x="179341" y="128588"/>
                    <a:pt x="171450" y="128588"/>
                  </a:cubicBezTo>
                  <a:moveTo>
                    <a:pt x="200025" y="71438"/>
                  </a:moveTo>
                  <a:lnTo>
                    <a:pt x="85725" y="71438"/>
                  </a:lnTo>
                  <a:cubicBezTo>
                    <a:pt x="77834" y="71438"/>
                    <a:pt x="71438" y="77834"/>
                    <a:pt x="71438" y="85725"/>
                  </a:cubicBezTo>
                  <a:cubicBezTo>
                    <a:pt x="71438" y="93616"/>
                    <a:pt x="77834" y="100012"/>
                    <a:pt x="85725" y="100012"/>
                  </a:cubicBezTo>
                  <a:lnTo>
                    <a:pt x="200025" y="100012"/>
                  </a:lnTo>
                  <a:cubicBezTo>
                    <a:pt x="207916" y="100012"/>
                    <a:pt x="214312" y="93616"/>
                    <a:pt x="214312" y="85725"/>
                  </a:cubicBezTo>
                  <a:cubicBezTo>
                    <a:pt x="214312" y="77834"/>
                    <a:pt x="207916" y="71438"/>
                    <a:pt x="200025" y="71438"/>
                  </a:cubicBezTo>
                </a:path>
              </a:pathLst>
            </a:custGeom>
            <a:solidFill>
              <a:srgbClr val="E8A87C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369570" y="6522720"/>
            <a:ext cx="11452860" cy="182880"/>
            <a:chOff x="369570" y="6522720"/>
            <a:chExt cx="11452860" cy="182880"/>
          </a:xfrm>
        </p:grpSpPr>
        <p:sp>
          <p:nvSpPr>
            <p:cNvPr id="11" name="TextBox 11"/>
            <p:cNvSpPr txBox="1"/>
            <p:nvPr/>
          </p:nvSpPr>
          <p:spPr>
            <a:xfrm>
              <a:off x="369570" y="6522720"/>
              <a:ext cx="14687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AI大家学 · 大模型技术篇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687842" y="6522720"/>
              <a:ext cx="1345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2925" y="376238"/>
            <a:ext cx="11089958" cy="457200"/>
            <a:chOff x="542925" y="376238"/>
            <a:chExt cx="11089958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376238"/>
              <a:ext cx="2472452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多轮对话的真相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756934" y="466249"/>
              <a:ext cx="18759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每次请求都重新发送全部历史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48665" y="1029652"/>
            <a:ext cx="4775835" cy="1180148"/>
            <a:chOff x="748665" y="1029652"/>
            <a:chExt cx="4775835" cy="1180148"/>
          </a:xfrm>
        </p:grpSpPr>
        <p:sp>
          <p:nvSpPr>
            <p:cNvPr id="7" name="TextBox 7"/>
            <p:cNvSpPr txBox="1"/>
            <p:nvPr/>
          </p:nvSpPr>
          <p:spPr>
            <a:xfrm>
              <a:off x="748665" y="1029652"/>
              <a:ext cx="8317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第一轮请求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762000" y="1257300"/>
              <a:ext cx="4762500" cy="952500"/>
            </a:xfrm>
            <a:prstGeom prst="roundRect">
              <a:avLst>
                <a:gd name="adj" fmla="val 10000"/>
              </a:avLst>
            </a:prstGeom>
            <a:solidFill>
              <a:srgbClr val="F0EBE0"/>
            </a:solidFill>
            <a:ln w="9525">
              <a:solidFill>
                <a:srgbClr val="EDE5D5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40118" y="1399699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messages: [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30618" y="1609249"/>
              <a:ext cx="10927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 xml:space="preserve">{ role: </a:t>
              </a:r>
              <a:r>
                <a:rPr lang="zh-CN" sz="975" dirty="0">
                  <a:solidFill>
                    <a:srgbClr val="E8A87C"/>
                  </a:solidFill>
                  <a:latin typeface="Consolas"/>
                  <a:ea typeface="Microsoft YaHei"/>
                  <a:cs typeface="Consolas"/>
                </a:rPr>
                <a:t>"user"</a:t>
              </a:r>
              <a:r>
                <a:rPr lang="zh-CN" sz="975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,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21118" y="1799749"/>
              <a:ext cx="25808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 xml:space="preserve">content: </a:t>
              </a:r>
              <a:r>
                <a:rPr lang="zh-CN" sz="975" dirty="0">
                  <a:solidFill>
                    <a:srgbClr val="8FBC8F"/>
                  </a:solidFill>
                  <a:latin typeface="Consolas"/>
                  <a:ea typeface="Microsoft YaHei"/>
                  <a:cs typeface="Consolas"/>
                </a:rPr>
                <a:t>"帮我写Python的快速排序"</a:t>
              </a:r>
              <a:r>
                <a:rPr lang="zh-CN" sz="975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 xml:space="preserve"> }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0118" y="199024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]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179570" y="1474470"/>
              <a:ext cx="49606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1 条消息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142500" y="2298382"/>
            <a:ext cx="36205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E8A87C"/>
                </a:solidFill>
                <a:latin typeface="Arial"/>
                <a:ea typeface="Microsoft YaHei"/>
                <a:cs typeface="Arial"/>
              </a:rPr>
              <a:t>↓ 模型返回回答后，用户继续追问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748665" y="2696528"/>
            <a:ext cx="4775835" cy="2418397"/>
            <a:chOff x="748665" y="2696528"/>
            <a:chExt cx="4775835" cy="2418397"/>
          </a:xfrm>
        </p:grpSpPr>
        <p:sp>
          <p:nvSpPr>
            <p:cNvPr id="16" name="TextBox 16"/>
            <p:cNvSpPr txBox="1"/>
            <p:nvPr/>
          </p:nvSpPr>
          <p:spPr>
            <a:xfrm>
              <a:off x="748665" y="2696528"/>
              <a:ext cx="8317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第二轮请求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2924175"/>
              <a:ext cx="4762500" cy="2190750"/>
            </a:xfrm>
            <a:prstGeom prst="roundRect">
              <a:avLst>
                <a:gd name="adj" fmla="val 4348"/>
              </a:avLst>
            </a:prstGeom>
            <a:solidFill>
              <a:srgbClr val="F0EBE0"/>
            </a:solidFill>
            <a:ln w="9525">
              <a:solidFill>
                <a:srgbClr val="EDE5D5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0118" y="3066574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messages: [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047750" y="3257550"/>
              <a:ext cx="4286250" cy="400050"/>
            </a:xfrm>
            <a:prstGeom prst="roundRect">
              <a:avLst>
                <a:gd name="adj" fmla="val 9524"/>
              </a:avLst>
            </a:prstGeom>
            <a:solidFill>
              <a:srgbClr val="EDE5D5">
                <a:alpha val="40000"/>
              </a:srgbClr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31570" y="3312795"/>
              <a:ext cx="100869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{ role: "user",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22070" y="3474720"/>
              <a:ext cx="24545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content: "帮我写Python的快速排序" },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47750" y="3714750"/>
              <a:ext cx="4286250" cy="400050"/>
            </a:xfrm>
            <a:prstGeom prst="roundRect">
              <a:avLst>
                <a:gd name="adj" fmla="val 9524"/>
              </a:avLst>
            </a:prstGeom>
            <a:solidFill>
              <a:srgbClr val="EDE5D5">
                <a:alpha val="40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131570" y="3769995"/>
              <a:ext cx="13373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{ role: "assistant",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322070" y="3931920"/>
              <a:ext cx="260575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content: "def quick_sort(arr): ..." },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047750" y="4191000"/>
              <a:ext cx="4286250" cy="400050"/>
            </a:xfrm>
            <a:prstGeom prst="roundRect">
              <a:avLst>
                <a:gd name="adj" fmla="val 9524"/>
              </a:avLst>
            </a:prstGeom>
            <a:solidFill>
              <a:srgbClr val="E8A87C">
                <a:alpha val="10000"/>
              </a:srgbClr>
            </a:solidFill>
            <a:ln w="9525">
              <a:solidFill>
                <a:srgbClr val="E8A87C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130618" y="4238149"/>
              <a:ext cx="10927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 xml:space="preserve">{ role: </a:t>
              </a:r>
              <a:r>
                <a:rPr lang="zh-CN" sz="975" dirty="0">
                  <a:solidFill>
                    <a:srgbClr val="E8A87C"/>
                  </a:solidFill>
                  <a:latin typeface="Consolas"/>
                  <a:ea typeface="Microsoft YaHei"/>
                  <a:cs typeface="Consolas"/>
                </a:rPr>
                <a:t>"user"</a:t>
              </a:r>
              <a:r>
                <a:rPr lang="zh-CN" sz="975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,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321118" y="4419124"/>
              <a:ext cx="211090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 xml:space="preserve">content: </a:t>
              </a:r>
              <a:r>
                <a:rPr lang="zh-CN" sz="975" dirty="0">
                  <a:solidFill>
                    <a:srgbClr val="8FBC8F"/>
                  </a:solidFill>
                  <a:latin typeface="Consolas"/>
                  <a:ea typeface="Microsoft YaHei"/>
                  <a:cs typeface="Consolas"/>
                </a:rPr>
                <a:t>"把它改成降序排列"</a:t>
              </a:r>
              <a:r>
                <a:rPr lang="zh-CN" sz="975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 xml:space="preserve"> }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0118" y="4704874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]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179570" y="2998470"/>
              <a:ext cx="528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3 条消息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76300" y="1143000"/>
            <a:ext cx="10553700" cy="4000500"/>
            <a:chOff x="876300" y="1143000"/>
            <a:chExt cx="10553700" cy="4000500"/>
          </a:xfrm>
        </p:grpSpPr>
        <p:sp>
          <p:nvSpPr>
            <p:cNvPr id="31" name="Rectangle 31"/>
            <p:cNvSpPr/>
            <p:nvPr/>
          </p:nvSpPr>
          <p:spPr>
            <a:xfrm>
              <a:off x="6096000" y="1143000"/>
              <a:ext cx="5334000" cy="4000500"/>
            </a:xfrm>
            <a:prstGeom prst="roundRect">
              <a:avLst>
                <a:gd name="adj" fmla="val 3810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6392650" y="1402334"/>
              <a:ext cx="282852" cy="245440"/>
            </a:xfrm>
            <a:custGeom>
              <a:avLst/>
              <a:gdLst/>
              <a:ahLst/>
              <a:cxnLst/>
              <a:rect l="l" t="t" r="r" b="b"/>
              <a:pathLst>
                <a:path w="282852" h="245440">
                  <a:moveTo>
                    <a:pt x="141500" y="0"/>
                  </a:moveTo>
                  <a:cubicBezTo>
                    <a:pt x="153628" y="0"/>
                    <a:pt x="164931" y="5931"/>
                    <a:pt x="171853" y="15837"/>
                  </a:cubicBezTo>
                  <a:lnTo>
                    <a:pt x="173186" y="17869"/>
                  </a:lnTo>
                  <a:lnTo>
                    <a:pt x="276234" y="189928"/>
                  </a:lnTo>
                  <a:cubicBezTo>
                    <a:pt x="282600" y="200954"/>
                    <a:pt x="282852" y="214477"/>
                    <a:pt x="276900" y="225732"/>
                  </a:cubicBezTo>
                  <a:cubicBezTo>
                    <a:pt x="270949" y="236987"/>
                    <a:pt x="259631" y="244392"/>
                    <a:pt x="246935" y="245339"/>
                  </a:cubicBezTo>
                  <a:lnTo>
                    <a:pt x="244458" y="245440"/>
                  </a:lnTo>
                  <a:lnTo>
                    <a:pt x="38401" y="245440"/>
                  </a:lnTo>
                  <a:cubicBezTo>
                    <a:pt x="25693" y="245297"/>
                    <a:pt x="13947" y="238643"/>
                    <a:pt x="7291" y="227816"/>
                  </a:cubicBezTo>
                  <a:cubicBezTo>
                    <a:pt x="635" y="216989"/>
                    <a:pt x="0" y="203504"/>
                    <a:pt x="5610" y="192100"/>
                  </a:cubicBezTo>
                  <a:lnTo>
                    <a:pt x="6867" y="189751"/>
                  </a:lnTo>
                  <a:lnTo>
                    <a:pt x="109864" y="17818"/>
                  </a:lnTo>
                  <a:cubicBezTo>
                    <a:pt x="116571" y="6758"/>
                    <a:pt x="128565" y="3"/>
                    <a:pt x="141500" y="0"/>
                  </a:cubicBezTo>
                  <a:close/>
                  <a:moveTo>
                    <a:pt x="141627" y="169291"/>
                  </a:moveTo>
                  <a:lnTo>
                    <a:pt x="140014" y="169380"/>
                  </a:lnTo>
                  <a:cubicBezTo>
                    <a:pt x="133625" y="170140"/>
                    <a:pt x="128814" y="175557"/>
                    <a:pt x="128814" y="181991"/>
                  </a:cubicBezTo>
                  <a:cubicBezTo>
                    <a:pt x="128814" y="188425"/>
                    <a:pt x="133625" y="193842"/>
                    <a:pt x="140014" y="194602"/>
                  </a:cubicBezTo>
                  <a:lnTo>
                    <a:pt x="141500" y="194691"/>
                  </a:lnTo>
                  <a:lnTo>
                    <a:pt x="143112" y="194602"/>
                  </a:lnTo>
                  <a:cubicBezTo>
                    <a:pt x="149501" y="193842"/>
                    <a:pt x="154312" y="188425"/>
                    <a:pt x="154312" y="181991"/>
                  </a:cubicBezTo>
                  <a:cubicBezTo>
                    <a:pt x="154312" y="175557"/>
                    <a:pt x="149501" y="170140"/>
                    <a:pt x="143112" y="169380"/>
                  </a:cubicBezTo>
                  <a:lnTo>
                    <a:pt x="141627" y="169291"/>
                  </a:lnTo>
                  <a:close/>
                  <a:moveTo>
                    <a:pt x="141500" y="80391"/>
                  </a:moveTo>
                  <a:cubicBezTo>
                    <a:pt x="135061" y="80392"/>
                    <a:pt x="129642" y="85211"/>
                    <a:pt x="128888" y="91605"/>
                  </a:cubicBezTo>
                  <a:lnTo>
                    <a:pt x="128800" y="93091"/>
                  </a:lnTo>
                  <a:lnTo>
                    <a:pt x="128800" y="143891"/>
                  </a:lnTo>
                  <a:lnTo>
                    <a:pt x="128888" y="145377"/>
                  </a:lnTo>
                  <a:cubicBezTo>
                    <a:pt x="129648" y="151766"/>
                    <a:pt x="135066" y="156577"/>
                    <a:pt x="141500" y="156577"/>
                  </a:cubicBezTo>
                  <a:cubicBezTo>
                    <a:pt x="147933" y="156577"/>
                    <a:pt x="153351" y="151766"/>
                    <a:pt x="154111" y="145377"/>
                  </a:cubicBezTo>
                  <a:lnTo>
                    <a:pt x="154200" y="143891"/>
                  </a:lnTo>
                  <a:lnTo>
                    <a:pt x="154200" y="93091"/>
                  </a:lnTo>
                  <a:lnTo>
                    <a:pt x="154111" y="91605"/>
                  </a:lnTo>
                  <a:cubicBezTo>
                    <a:pt x="153357" y="85211"/>
                    <a:pt x="147938" y="80392"/>
                    <a:pt x="141500" y="80391"/>
                  </a:cubicBezTo>
                  <a:close/>
                </a:path>
              </a:pathLst>
            </a:custGeom>
            <a:solidFill>
              <a:srgbClr val="D4837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793230" y="145446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关键发现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366510" y="1918335"/>
              <a:ext cx="21511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模型并没有"回忆"起上一轮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6381750" y="2238375"/>
              <a:ext cx="4667250" cy="9525"/>
            </a:xfrm>
            <a:custGeom>
              <a:avLst/>
              <a:gdLst/>
              <a:ahLst/>
              <a:cxnLst/>
              <a:rect l="l" t="t" r="r" b="b"/>
              <a:pathLst>
                <a:path w="4667250" h="9525">
                  <a:moveTo>
                    <a:pt x="0" y="0"/>
                  </a:moveTo>
                  <a:lnTo>
                    <a:pt x="4667250" y="0"/>
                  </a:lnTo>
                </a:path>
              </a:pathLst>
            </a:custGeom>
            <a:noFill/>
            <a:ln w="9525">
              <a:solidFill>
                <a:srgbClr val="EDE5D5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67462" y="2450306"/>
              <a:ext cx="20002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你的客户端在</a:t>
              </a:r>
              <a:r>
                <a:rPr lang="zh-CN" sz="1125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每一轮对话</a:t>
              </a:r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时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367462" y="2717006"/>
              <a:ext cx="20002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都把前面</a:t>
              </a:r>
              <a:r>
                <a:rPr lang="zh-CN" sz="1125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所有记录重新发送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367462" y="2983706"/>
              <a:ext cx="52149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给模型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6381750" y="3333750"/>
              <a:ext cx="4667250" cy="9525"/>
            </a:xfrm>
            <a:custGeom>
              <a:avLst/>
              <a:gdLst/>
              <a:ahLst/>
              <a:cxnLst/>
              <a:rect l="l" t="t" r="r" b="b"/>
              <a:pathLst>
                <a:path w="4667250" h="9525">
                  <a:moveTo>
                    <a:pt x="0" y="0"/>
                  </a:moveTo>
                  <a:lnTo>
                    <a:pt x="4667250" y="0"/>
                  </a:lnTo>
                </a:path>
              </a:pathLst>
            </a:custGeom>
            <a:noFill/>
            <a:ln w="9525">
              <a:solidFill>
                <a:srgbClr val="EDE5D5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68415" y="3506152"/>
              <a:ext cx="24803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模型每次收到的都是完整的对话历史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368415" y="3744278"/>
              <a:ext cx="18669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然后只生成最新一轮的回答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876300" y="3238500"/>
              <a:ext cx="4533900" cy="952500"/>
            </a:xfrm>
            <a:prstGeom prst="roundRect">
              <a:avLst>
                <a:gd name="adj" fmla="val 4000"/>
              </a:avLst>
            </a:prstGeom>
            <a:noFill/>
            <a:ln w="14288">
              <a:solidFill>
                <a:srgbClr val="D4837F"/>
              </a:solidFill>
              <a:custDash>
                <a:ds d="400000" sp="266666"/>
              </a:custDash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2358616" y="4292441"/>
              <a:ext cx="156926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↑ 第一轮的内容全部重新发送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381750" y="4191000"/>
              <a:ext cx="4762500" cy="619125"/>
            </a:xfrm>
            <a:prstGeom prst="roundRect">
              <a:avLst>
                <a:gd name="adj" fmla="val 15385"/>
              </a:avLst>
            </a:prstGeom>
            <a:solidFill>
              <a:srgbClr val="8B6F47">
                <a:alpha val="6000"/>
              </a:srgbClr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6591032" y="4352925"/>
              <a:ext cx="191037" cy="190500"/>
              <a:chOff x="6591032" y="4352925"/>
              <a:chExt cx="191037" cy="19050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6591032" y="4438650"/>
                <a:ext cx="2911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29112" h="19050">
                    <a:moveTo>
                      <a:pt x="19318" y="0"/>
                    </a:moveTo>
                    <a:cubicBezTo>
                      <a:pt x="24358" y="6"/>
                      <a:pt x="28521" y="3936"/>
                      <a:pt x="28816" y="8967"/>
                    </a:cubicBezTo>
                    <a:cubicBezTo>
                      <a:pt x="29112" y="13998"/>
                      <a:pt x="25437" y="18388"/>
                      <a:pt x="20433" y="18983"/>
                    </a:cubicBezTo>
                    <a:lnTo>
                      <a:pt x="19318" y="19050"/>
                    </a:lnTo>
                    <a:lnTo>
                      <a:pt x="9793" y="19050"/>
                    </a:lnTo>
                    <a:cubicBezTo>
                      <a:pt x="4754" y="19044"/>
                      <a:pt x="591" y="15114"/>
                      <a:pt x="295" y="10083"/>
                    </a:cubicBezTo>
                    <a:cubicBezTo>
                      <a:pt x="0" y="5052"/>
                      <a:pt x="3675" y="662"/>
                      <a:pt x="8679" y="67"/>
                    </a:cubicBezTo>
                    <a:lnTo>
                      <a:pt x="9793" y="0"/>
                    </a:lnTo>
                    <a:lnTo>
                      <a:pt x="1931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677025" y="4352925"/>
                <a:ext cx="19050" cy="28843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28843">
                    <a:moveTo>
                      <a:pt x="9525" y="0"/>
                    </a:moveTo>
                    <a:cubicBezTo>
                      <a:pt x="14354" y="1"/>
                      <a:pt x="18418" y="3615"/>
                      <a:pt x="18983" y="8411"/>
                    </a:cubicBezTo>
                    <a:lnTo>
                      <a:pt x="19050" y="9525"/>
                    </a:lnTo>
                    <a:lnTo>
                      <a:pt x="19050" y="19050"/>
                    </a:lnTo>
                    <a:cubicBezTo>
                      <a:pt x="19044" y="24090"/>
                      <a:pt x="15114" y="28253"/>
                      <a:pt x="10083" y="28548"/>
                    </a:cubicBezTo>
                    <a:cubicBezTo>
                      <a:pt x="5052" y="28843"/>
                      <a:pt x="662" y="25169"/>
                      <a:pt x="67" y="20164"/>
                    </a:cubicBezTo>
                    <a:lnTo>
                      <a:pt x="0" y="19050"/>
                    </a:lnTo>
                    <a:lnTo>
                      <a:pt x="0" y="9525"/>
                    </a:lnTo>
                    <a:cubicBezTo>
                      <a:pt x="0" y="4264"/>
                      <a:pt x="4264" y="0"/>
                      <a:pt x="9525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752957" y="4438650"/>
                <a:ext cx="2911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29112" h="19050">
                    <a:moveTo>
                      <a:pt x="19318" y="0"/>
                    </a:moveTo>
                    <a:cubicBezTo>
                      <a:pt x="24358" y="6"/>
                      <a:pt x="28521" y="3936"/>
                      <a:pt x="28816" y="8967"/>
                    </a:cubicBezTo>
                    <a:cubicBezTo>
                      <a:pt x="29112" y="13998"/>
                      <a:pt x="25437" y="18388"/>
                      <a:pt x="20433" y="18983"/>
                    </a:cubicBezTo>
                    <a:lnTo>
                      <a:pt x="19318" y="19050"/>
                    </a:lnTo>
                    <a:lnTo>
                      <a:pt x="9793" y="19050"/>
                    </a:lnTo>
                    <a:cubicBezTo>
                      <a:pt x="4754" y="19044"/>
                      <a:pt x="591" y="15114"/>
                      <a:pt x="295" y="10083"/>
                    </a:cubicBezTo>
                    <a:cubicBezTo>
                      <a:pt x="0" y="5052"/>
                      <a:pt x="3675" y="662"/>
                      <a:pt x="8679" y="67"/>
                    </a:cubicBezTo>
                    <a:lnTo>
                      <a:pt x="9793" y="0"/>
                    </a:lnTo>
                    <a:lnTo>
                      <a:pt x="1931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615137" y="4376749"/>
                <a:ext cx="27574" cy="27730"/>
              </a:xfrm>
              <a:custGeom>
                <a:avLst/>
                <a:gdLst/>
                <a:ahLst/>
                <a:cxnLst/>
                <a:rect l="l" t="t" r="r" b="b"/>
                <a:pathLst>
                  <a:path w="27574" h="27730">
                    <a:moveTo>
                      <a:pt x="3718" y="3732"/>
                    </a:moveTo>
                    <a:cubicBezTo>
                      <a:pt x="7112" y="339"/>
                      <a:pt x="12500" y="0"/>
                      <a:pt x="16291" y="2941"/>
                    </a:cubicBezTo>
                    <a:lnTo>
                      <a:pt x="17187" y="3732"/>
                    </a:lnTo>
                    <a:lnTo>
                      <a:pt x="23854" y="10399"/>
                    </a:lnTo>
                    <a:cubicBezTo>
                      <a:pt x="27400" y="13957"/>
                      <a:pt x="27574" y="19656"/>
                      <a:pt x="24252" y="23423"/>
                    </a:cubicBezTo>
                    <a:cubicBezTo>
                      <a:pt x="20930" y="27190"/>
                      <a:pt x="15254" y="27730"/>
                      <a:pt x="11281" y="24658"/>
                    </a:cubicBezTo>
                    <a:lnTo>
                      <a:pt x="10386" y="23868"/>
                    </a:lnTo>
                    <a:lnTo>
                      <a:pt x="3718" y="17200"/>
                    </a:lnTo>
                    <a:cubicBezTo>
                      <a:pt x="0" y="13481"/>
                      <a:pt x="0" y="7451"/>
                      <a:pt x="3718" y="3732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6730246" y="4376761"/>
                <a:ext cx="27861" cy="27575"/>
              </a:xfrm>
              <a:custGeom>
                <a:avLst/>
                <a:gdLst/>
                <a:ahLst/>
                <a:cxnLst/>
                <a:rect l="l" t="t" r="r" b="b"/>
                <a:pathLst>
                  <a:path w="27861" h="27575">
                    <a:moveTo>
                      <a:pt x="10530" y="3719"/>
                    </a:moveTo>
                    <a:cubicBezTo>
                      <a:pt x="14088" y="174"/>
                      <a:pt x="19786" y="0"/>
                      <a:pt x="23554" y="3322"/>
                    </a:cubicBezTo>
                    <a:cubicBezTo>
                      <a:pt x="27321" y="6643"/>
                      <a:pt x="27861" y="12319"/>
                      <a:pt x="24789" y="16292"/>
                    </a:cubicBezTo>
                    <a:lnTo>
                      <a:pt x="23999" y="17188"/>
                    </a:lnTo>
                    <a:lnTo>
                      <a:pt x="17331" y="23855"/>
                    </a:lnTo>
                    <a:cubicBezTo>
                      <a:pt x="13774" y="27400"/>
                      <a:pt x="8075" y="27575"/>
                      <a:pt x="4308" y="24253"/>
                    </a:cubicBezTo>
                    <a:cubicBezTo>
                      <a:pt x="541" y="20931"/>
                      <a:pt x="0" y="15255"/>
                      <a:pt x="3072" y="11282"/>
                    </a:cubicBezTo>
                    <a:lnTo>
                      <a:pt x="3863" y="10387"/>
                    </a:lnTo>
                    <a:lnTo>
                      <a:pt x="10530" y="3719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6657975" y="4505325"/>
                <a:ext cx="5715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38100">
                    <a:moveTo>
                      <a:pt x="47625" y="0"/>
                    </a:moveTo>
                    <a:cubicBezTo>
                      <a:pt x="52886" y="0"/>
                      <a:pt x="57150" y="4264"/>
                      <a:pt x="57150" y="9525"/>
                    </a:cubicBezTo>
                    <a:cubicBezTo>
                      <a:pt x="57150" y="25307"/>
                      <a:pt x="44357" y="38100"/>
                      <a:pt x="28575" y="38100"/>
                    </a:cubicBezTo>
                    <a:cubicBezTo>
                      <a:pt x="12793" y="38100"/>
                      <a:pt x="0" y="25307"/>
                      <a:pt x="0" y="9525"/>
                    </a:cubicBezTo>
                    <a:cubicBezTo>
                      <a:pt x="1" y="4696"/>
                      <a:pt x="3615" y="632"/>
                      <a:pt x="8411" y="67"/>
                    </a:cubicBezTo>
                    <a:lnTo>
                      <a:pt x="9525" y="0"/>
                    </a:lnTo>
                    <a:lnTo>
                      <a:pt x="47625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624554" y="4391025"/>
                <a:ext cx="123992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23992" h="104775">
                    <a:moveTo>
                      <a:pt x="61996" y="0"/>
                    </a:moveTo>
                    <a:cubicBezTo>
                      <a:pt x="86595" y="0"/>
                      <a:pt x="108435" y="15741"/>
                      <a:pt x="116213" y="39078"/>
                    </a:cubicBezTo>
                    <a:cubicBezTo>
                      <a:pt x="123992" y="62414"/>
                      <a:pt x="115965" y="88111"/>
                      <a:pt x="96286" y="102870"/>
                    </a:cubicBezTo>
                    <a:cubicBezTo>
                      <a:pt x="94973" y="103856"/>
                      <a:pt x="93428" y="104486"/>
                      <a:pt x="91800" y="104699"/>
                    </a:cubicBezTo>
                    <a:lnTo>
                      <a:pt x="90571" y="104775"/>
                    </a:lnTo>
                    <a:lnTo>
                      <a:pt x="33421" y="104775"/>
                    </a:lnTo>
                    <a:cubicBezTo>
                      <a:pt x="31360" y="104775"/>
                      <a:pt x="29355" y="104107"/>
                      <a:pt x="27706" y="102870"/>
                    </a:cubicBezTo>
                    <a:cubicBezTo>
                      <a:pt x="8027" y="88111"/>
                      <a:pt x="0" y="62414"/>
                      <a:pt x="7779" y="39078"/>
                    </a:cubicBezTo>
                    <a:cubicBezTo>
                      <a:pt x="15558" y="15741"/>
                      <a:pt x="37397" y="0"/>
                      <a:pt x="61996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6892290" y="4363402"/>
              <a:ext cx="14516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Context（上下文）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893242" y="4581049"/>
              <a:ext cx="17335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你发给模型的整段输入内容</a:t>
              </a:r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11687842" y="6522720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30" grpId="0"/>
      <p:bldP spid="5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2925" y="376238"/>
            <a:ext cx="11089958" cy="457200"/>
            <a:chOff x="542925" y="376238"/>
            <a:chExt cx="11089958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376238"/>
              <a:ext cx="4801493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Context Window — 上下文窗口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550456" y="466249"/>
              <a:ext cx="208242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模型一次能"读"的最大 Token 数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571500" y="1143000"/>
            <a:ext cx="11144250" cy="2667000"/>
            <a:chOff x="571500" y="1143000"/>
            <a:chExt cx="11144250" cy="2667000"/>
          </a:xfrm>
        </p:grpSpPr>
        <p:grpSp>
          <p:nvGrpSpPr>
            <p:cNvPr id="15" name="Group 15"/>
            <p:cNvGrpSpPr/>
            <p:nvPr/>
          </p:nvGrpSpPr>
          <p:grpSpPr>
            <a:xfrm>
              <a:off x="571500" y="1143000"/>
              <a:ext cx="2571750" cy="2667000"/>
              <a:chOff x="571500" y="1143000"/>
              <a:chExt cx="2571750" cy="266700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571500" y="1143000"/>
                <a:ext cx="2571750" cy="2667000"/>
              </a:xfrm>
              <a:prstGeom prst="roundRect">
                <a:avLst>
                  <a:gd name="adj" fmla="val 5926"/>
                </a:avLst>
              </a:prstGeom>
              <a:solidFill>
                <a:srgbClr val="FAF7F2"/>
              </a:solidFill>
              <a:ln w="9525">
                <a:solidFill>
                  <a:srgbClr val="EDE5D5"/>
                </a:solidFill>
              </a:ln>
            </p:spPr>
          </p:sp>
          <p:sp>
            <p:nvSpPr>
              <p:cNvPr id="8" name="Rectangle 8"/>
              <p:cNvSpPr/>
              <p:nvPr/>
            </p:nvSpPr>
            <p:spPr>
              <a:xfrm>
                <a:off x="571500" y="1143000"/>
                <a:ext cx="2571750" cy="57150"/>
              </a:xfrm>
              <a:prstGeom prst="roundRect">
                <a:avLst>
                  <a:gd name="adj" fmla="val 50000"/>
                </a:avLst>
              </a:pr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441705" y="1473518"/>
                <a:ext cx="83134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8B6F47"/>
                    </a:solidFill>
                    <a:latin typeface="Arial"/>
                    <a:ea typeface="Microsoft YaHei"/>
                    <a:cs typeface="Arial"/>
                  </a:rPr>
                  <a:t>GPT-5.6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237698" y="1945958"/>
                <a:ext cx="1239355" cy="640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3150" b="1" dirty="0">
                    <a:solidFill>
                      <a:srgbClr val="8B6F47"/>
                    </a:solidFill>
                    <a:latin typeface="Georgia"/>
                    <a:ea typeface="SimSun"/>
                    <a:cs typeface="Georgia"/>
                  </a:rPr>
                  <a:t>105万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633180" y="2458402"/>
                <a:ext cx="44838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Token</a:t>
                </a:r>
              </a:p>
            </p:txBody>
          </p:sp>
          <p:sp>
            <p:nvSpPr>
              <p:cNvPr id="12" name="Line 12"/>
              <p:cNvSpPr/>
              <p:nvPr/>
            </p:nvSpPr>
            <p:spPr>
              <a:xfrm>
                <a:off x="952500" y="2762250"/>
                <a:ext cx="1809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09750" h="9525">
                    <a:moveTo>
                      <a:pt x="0" y="0"/>
                    </a:moveTo>
                    <a:lnTo>
                      <a:pt x="1809750" y="0"/>
                    </a:lnTo>
                  </a:path>
                </a:pathLst>
              </a:custGeom>
              <a:noFill/>
              <a:ln w="9525">
                <a:solidFill>
                  <a:srgbClr val="EDE5D5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286077" y="2942749"/>
                <a:ext cx="114259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≈ 三四本书的内容</a:t>
                </a:r>
              </a:p>
            </p:txBody>
          </p:sp>
          <p:sp>
            <p:nvSpPr>
              <p:cNvPr id="14" name="Freeform 14"/>
              <p:cNvSpPr/>
              <p:nvPr/>
            </p:nvSpPr>
            <p:spPr>
              <a:xfrm>
                <a:off x="1710822" y="3260725"/>
                <a:ext cx="178806" cy="226373"/>
              </a:xfrm>
              <a:custGeom>
                <a:avLst/>
                <a:gdLst/>
                <a:ahLst/>
                <a:cxnLst/>
                <a:rect l="l" t="t" r="r" b="b"/>
                <a:pathLst>
                  <a:path w="178806" h="226373">
                    <a:moveTo>
                      <a:pt x="100516" y="0"/>
                    </a:moveTo>
                    <a:lnTo>
                      <a:pt x="100716" y="11"/>
                    </a:lnTo>
                    <a:lnTo>
                      <a:pt x="100893" y="22"/>
                    </a:lnTo>
                    <a:lnTo>
                      <a:pt x="101816" y="78"/>
                    </a:lnTo>
                    <a:lnTo>
                      <a:pt x="101938" y="100"/>
                    </a:lnTo>
                    <a:lnTo>
                      <a:pt x="102060" y="100"/>
                    </a:lnTo>
                    <a:lnTo>
                      <a:pt x="102483" y="200"/>
                    </a:lnTo>
                    <a:lnTo>
                      <a:pt x="103060" y="289"/>
                    </a:lnTo>
                    <a:lnTo>
                      <a:pt x="103238" y="356"/>
                    </a:lnTo>
                    <a:lnTo>
                      <a:pt x="103360" y="367"/>
                    </a:lnTo>
                    <a:lnTo>
                      <a:pt x="103683" y="489"/>
                    </a:lnTo>
                    <a:lnTo>
                      <a:pt x="104261" y="645"/>
                    </a:lnTo>
                    <a:lnTo>
                      <a:pt x="104472" y="745"/>
                    </a:lnTo>
                    <a:lnTo>
                      <a:pt x="104638" y="789"/>
                    </a:lnTo>
                    <a:lnTo>
                      <a:pt x="104950" y="945"/>
                    </a:lnTo>
                    <a:lnTo>
                      <a:pt x="105394" y="1133"/>
                    </a:lnTo>
                    <a:lnTo>
                      <a:pt x="105627" y="1267"/>
                    </a:lnTo>
                    <a:lnTo>
                      <a:pt x="105872" y="1378"/>
                    </a:lnTo>
                    <a:lnTo>
                      <a:pt x="106127" y="1545"/>
                    </a:lnTo>
                    <a:lnTo>
                      <a:pt x="106472" y="1734"/>
                    </a:lnTo>
                    <a:lnTo>
                      <a:pt x="106850" y="2000"/>
                    </a:lnTo>
                    <a:lnTo>
                      <a:pt x="107050" y="2122"/>
                    </a:lnTo>
                    <a:lnTo>
                      <a:pt x="107194" y="2256"/>
                    </a:lnTo>
                    <a:lnTo>
                      <a:pt x="107461" y="2445"/>
                    </a:lnTo>
                    <a:lnTo>
                      <a:pt x="107883" y="2823"/>
                    </a:lnTo>
                    <a:lnTo>
                      <a:pt x="108128" y="3011"/>
                    </a:lnTo>
                    <a:lnTo>
                      <a:pt x="108217" y="3123"/>
                    </a:lnTo>
                    <a:lnTo>
                      <a:pt x="108372" y="3256"/>
                    </a:lnTo>
                    <a:lnTo>
                      <a:pt x="108772" y="3712"/>
                    </a:lnTo>
                    <a:lnTo>
                      <a:pt x="109061" y="4012"/>
                    </a:lnTo>
                    <a:lnTo>
                      <a:pt x="109128" y="4112"/>
                    </a:lnTo>
                    <a:cubicBezTo>
                      <a:pt x="110461" y="5745"/>
                      <a:pt x="111306" y="7690"/>
                      <a:pt x="111550" y="9812"/>
                    </a:cubicBezTo>
                    <a:lnTo>
                      <a:pt x="111561" y="9946"/>
                    </a:lnTo>
                    <a:lnTo>
                      <a:pt x="111584" y="10401"/>
                    </a:lnTo>
                    <a:lnTo>
                      <a:pt x="111628" y="11113"/>
                    </a:lnTo>
                    <a:lnTo>
                      <a:pt x="111628" y="77788"/>
                    </a:lnTo>
                    <a:lnTo>
                      <a:pt x="167191" y="77788"/>
                    </a:lnTo>
                    <a:cubicBezTo>
                      <a:pt x="171154" y="77787"/>
                      <a:pt x="174819" y="79897"/>
                      <a:pt x="176807" y="83326"/>
                    </a:cubicBezTo>
                    <a:cubicBezTo>
                      <a:pt x="178795" y="86755"/>
                      <a:pt x="178806" y="90983"/>
                      <a:pt x="176836" y="94423"/>
                    </a:cubicBezTo>
                    <a:lnTo>
                      <a:pt x="176170" y="95434"/>
                    </a:lnTo>
                    <a:lnTo>
                      <a:pt x="87270" y="217672"/>
                    </a:lnTo>
                    <a:cubicBezTo>
                      <a:pt x="80958" y="226373"/>
                      <a:pt x="67178" y="221894"/>
                      <a:pt x="67178" y="211138"/>
                    </a:cubicBezTo>
                    <a:lnTo>
                      <a:pt x="67178" y="144463"/>
                    </a:lnTo>
                    <a:lnTo>
                      <a:pt x="11616" y="144463"/>
                    </a:lnTo>
                    <a:cubicBezTo>
                      <a:pt x="7652" y="144463"/>
                      <a:pt x="3988" y="142353"/>
                      <a:pt x="1999" y="138924"/>
                    </a:cubicBezTo>
                    <a:cubicBezTo>
                      <a:pt x="11" y="135495"/>
                      <a:pt x="0" y="131267"/>
                      <a:pt x="1970" y="127827"/>
                    </a:cubicBezTo>
                    <a:lnTo>
                      <a:pt x="2637" y="126816"/>
                    </a:lnTo>
                    <a:lnTo>
                      <a:pt x="91537" y="4578"/>
                    </a:lnTo>
                    <a:lnTo>
                      <a:pt x="91648" y="4434"/>
                    </a:lnTo>
                    <a:lnTo>
                      <a:pt x="91848" y="4167"/>
                    </a:lnTo>
                    <a:lnTo>
                      <a:pt x="92215" y="3745"/>
                    </a:lnTo>
                    <a:lnTo>
                      <a:pt x="92415" y="3500"/>
                    </a:lnTo>
                    <a:lnTo>
                      <a:pt x="92515" y="3412"/>
                    </a:lnTo>
                    <a:lnTo>
                      <a:pt x="92659" y="3256"/>
                    </a:lnTo>
                    <a:lnTo>
                      <a:pt x="93104" y="2856"/>
                    </a:lnTo>
                    <a:lnTo>
                      <a:pt x="93415" y="2567"/>
                    </a:lnTo>
                    <a:lnTo>
                      <a:pt x="93504" y="2500"/>
                    </a:lnTo>
                    <a:cubicBezTo>
                      <a:pt x="94806" y="1434"/>
                      <a:pt x="96334" y="678"/>
                      <a:pt x="97971" y="289"/>
                    </a:cubicBezTo>
                    <a:lnTo>
                      <a:pt x="98093" y="278"/>
                    </a:lnTo>
                    <a:lnTo>
                      <a:pt x="98393" y="222"/>
                    </a:lnTo>
                    <a:lnTo>
                      <a:pt x="99215" y="78"/>
                    </a:lnTo>
                    <a:lnTo>
                      <a:pt x="99338" y="67"/>
                    </a:lnTo>
                    <a:lnTo>
                      <a:pt x="99793" y="44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</p:grpSp>
        <p:grpSp>
          <p:nvGrpSpPr>
            <p:cNvPr id="31" name="Group 31"/>
            <p:cNvGrpSpPr/>
            <p:nvPr/>
          </p:nvGrpSpPr>
          <p:grpSpPr>
            <a:xfrm>
              <a:off x="3429000" y="1143000"/>
              <a:ext cx="2571750" cy="2667000"/>
              <a:chOff x="3429000" y="1143000"/>
              <a:chExt cx="2571750" cy="266700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3429000" y="1143000"/>
                <a:ext cx="2571750" cy="2667000"/>
              </a:xfrm>
              <a:prstGeom prst="roundRect">
                <a:avLst>
                  <a:gd name="adj" fmla="val 5926"/>
                </a:avLst>
              </a:prstGeom>
              <a:solidFill>
                <a:srgbClr val="FAF7F2"/>
              </a:solidFill>
              <a:ln w="9525">
                <a:solidFill>
                  <a:srgbClr val="EDE5D5"/>
                </a:solidFill>
              </a:ln>
            </p:spPr>
          </p:sp>
          <p:sp>
            <p:nvSpPr>
              <p:cNvPr id="17" name="Rectangle 17"/>
              <p:cNvSpPr/>
              <p:nvPr/>
            </p:nvSpPr>
            <p:spPr>
              <a:xfrm>
                <a:off x="3429000" y="1143000"/>
                <a:ext cx="2571750" cy="57150"/>
              </a:xfrm>
              <a:prstGeom prst="roundRect">
                <a:avLst>
                  <a:gd name="adj" fmla="val 50000"/>
                </a:avLst>
              </a:prstGeom>
              <a:solidFill>
                <a:srgbClr val="C4956A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4014545" y="1473518"/>
                <a:ext cx="1400661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C4956A"/>
                    </a:solidFill>
                    <a:latin typeface="Arial"/>
                    <a:ea typeface="Microsoft YaHei"/>
                    <a:cs typeface="Arial"/>
                  </a:rPr>
                  <a:t>Claude Opus 5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4095198" y="1945958"/>
                <a:ext cx="1239355" cy="640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3150" b="1" dirty="0">
                    <a:solidFill>
                      <a:srgbClr val="C4956A"/>
                    </a:solidFill>
                    <a:latin typeface="Georgia"/>
                    <a:ea typeface="SimSun"/>
                    <a:cs typeface="Georgia"/>
                  </a:rPr>
                  <a:t>100万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490680" y="2458402"/>
                <a:ext cx="44838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Token</a:t>
                </a:r>
              </a:p>
            </p:txBody>
          </p:sp>
          <p:sp>
            <p:nvSpPr>
              <p:cNvPr id="21" name="Line 21"/>
              <p:cNvSpPr/>
              <p:nvPr/>
            </p:nvSpPr>
            <p:spPr>
              <a:xfrm>
                <a:off x="3810000" y="2762250"/>
                <a:ext cx="1809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09750" h="9525">
                    <a:moveTo>
                      <a:pt x="0" y="0"/>
                    </a:moveTo>
                    <a:lnTo>
                      <a:pt x="1809750" y="0"/>
                    </a:lnTo>
                  </a:path>
                </a:pathLst>
              </a:custGeom>
              <a:noFill/>
              <a:ln w="9525">
                <a:solidFill>
                  <a:srgbClr val="EDE5D5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4143577" y="2942749"/>
                <a:ext cx="114259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≈ 三四本书的内容</a:t>
                </a:r>
              </a:p>
            </p:txBody>
          </p:sp>
          <p:grpSp>
            <p:nvGrpSpPr>
              <p:cNvPr id="30" name="Group 30"/>
              <p:cNvGrpSpPr/>
              <p:nvPr/>
            </p:nvGrpSpPr>
            <p:grpSpPr>
              <a:xfrm>
                <a:off x="4546287" y="3260725"/>
                <a:ext cx="222876" cy="222250"/>
                <a:chOff x="4546287" y="3260725"/>
                <a:chExt cx="222876" cy="222250"/>
              </a:xfrm>
            </p:grpSpPr>
            <p:sp>
              <p:nvSpPr>
                <p:cNvPr id="23" name="Freeform 23"/>
                <p:cNvSpPr/>
                <p:nvPr/>
              </p:nvSpPr>
              <p:spPr>
                <a:xfrm>
                  <a:off x="4546287" y="3360738"/>
                  <a:ext cx="33964" cy="2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964" h="22225">
                      <a:moveTo>
                        <a:pt x="22538" y="0"/>
                      </a:moveTo>
                      <a:cubicBezTo>
                        <a:pt x="28418" y="7"/>
                        <a:pt x="33275" y="4592"/>
                        <a:pt x="33619" y="10461"/>
                      </a:cubicBezTo>
                      <a:cubicBezTo>
                        <a:pt x="33964" y="16331"/>
                        <a:pt x="29677" y="21453"/>
                        <a:pt x="23838" y="22147"/>
                      </a:cubicBezTo>
                      <a:lnTo>
                        <a:pt x="22538" y="22225"/>
                      </a:lnTo>
                      <a:lnTo>
                        <a:pt x="11426" y="22225"/>
                      </a:lnTo>
                      <a:cubicBezTo>
                        <a:pt x="5546" y="22218"/>
                        <a:pt x="689" y="17633"/>
                        <a:pt x="345" y="11764"/>
                      </a:cubicBezTo>
                      <a:cubicBezTo>
                        <a:pt x="0" y="5894"/>
                        <a:pt x="4287" y="772"/>
                        <a:pt x="10125" y="78"/>
                      </a:cubicBezTo>
                      <a:lnTo>
                        <a:pt x="11426" y="0"/>
                      </a:lnTo>
                      <a:lnTo>
                        <a:pt x="22538" y="0"/>
                      </a:lnTo>
                      <a:close/>
                    </a:path>
                  </a:pathLst>
                </a:custGeom>
                <a:solidFill>
                  <a:srgbClr val="E8A87C"/>
                </a:solidFill>
                <a:ln>
                  <a:noFill/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4646612" y="3260725"/>
                  <a:ext cx="22225" cy="336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" h="33651">
                      <a:moveTo>
                        <a:pt x="11113" y="0"/>
                      </a:moveTo>
                      <a:cubicBezTo>
                        <a:pt x="16746" y="1"/>
                        <a:pt x="21488" y="4217"/>
                        <a:pt x="22147" y="9812"/>
                      </a:cubicBezTo>
                      <a:lnTo>
                        <a:pt x="22225" y="11113"/>
                      </a:lnTo>
                      <a:lnTo>
                        <a:pt x="22225" y="22225"/>
                      </a:lnTo>
                      <a:cubicBezTo>
                        <a:pt x="22218" y="28105"/>
                        <a:pt x="17633" y="32962"/>
                        <a:pt x="11764" y="33306"/>
                      </a:cubicBezTo>
                      <a:cubicBezTo>
                        <a:pt x="5894" y="33651"/>
                        <a:pt x="772" y="29364"/>
                        <a:pt x="78" y="23525"/>
                      </a:cubicBezTo>
                      <a:lnTo>
                        <a:pt x="0" y="22225"/>
                      </a:lnTo>
                      <a:lnTo>
                        <a:pt x="0" y="11113"/>
                      </a:lnTo>
                      <a:cubicBezTo>
                        <a:pt x="0" y="4975"/>
                        <a:pt x="4975" y="0"/>
                        <a:pt x="11113" y="0"/>
                      </a:cubicBezTo>
                      <a:close/>
                    </a:path>
                  </a:pathLst>
                </a:custGeom>
                <a:solidFill>
                  <a:srgbClr val="E8A87C"/>
                </a:solidFill>
                <a:ln>
                  <a:noFill/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4735199" y="3360738"/>
                  <a:ext cx="33964" cy="2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964" h="22225">
                      <a:moveTo>
                        <a:pt x="22538" y="0"/>
                      </a:moveTo>
                      <a:cubicBezTo>
                        <a:pt x="28418" y="7"/>
                        <a:pt x="33275" y="4592"/>
                        <a:pt x="33619" y="10461"/>
                      </a:cubicBezTo>
                      <a:cubicBezTo>
                        <a:pt x="33964" y="16331"/>
                        <a:pt x="29677" y="21453"/>
                        <a:pt x="23838" y="22147"/>
                      </a:cubicBezTo>
                      <a:lnTo>
                        <a:pt x="22538" y="22225"/>
                      </a:lnTo>
                      <a:lnTo>
                        <a:pt x="11426" y="22225"/>
                      </a:lnTo>
                      <a:cubicBezTo>
                        <a:pt x="5546" y="22218"/>
                        <a:pt x="689" y="17633"/>
                        <a:pt x="345" y="11764"/>
                      </a:cubicBezTo>
                      <a:cubicBezTo>
                        <a:pt x="0" y="5894"/>
                        <a:pt x="4287" y="772"/>
                        <a:pt x="10125" y="78"/>
                      </a:cubicBezTo>
                      <a:lnTo>
                        <a:pt x="11426" y="0"/>
                      </a:lnTo>
                      <a:lnTo>
                        <a:pt x="22538" y="0"/>
                      </a:lnTo>
                      <a:close/>
                    </a:path>
                  </a:pathLst>
                </a:custGeom>
                <a:solidFill>
                  <a:srgbClr val="E8A87C"/>
                </a:solidFill>
                <a:ln>
                  <a:noFill/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4574410" y="3288520"/>
                  <a:ext cx="32169" cy="32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169" h="32352">
                      <a:moveTo>
                        <a:pt x="4338" y="4354"/>
                      </a:moveTo>
                      <a:cubicBezTo>
                        <a:pt x="8297" y="395"/>
                        <a:pt x="14583" y="0"/>
                        <a:pt x="19007" y="3432"/>
                      </a:cubicBezTo>
                      <a:lnTo>
                        <a:pt x="20051" y="4354"/>
                      </a:lnTo>
                      <a:lnTo>
                        <a:pt x="27830" y="12133"/>
                      </a:lnTo>
                      <a:cubicBezTo>
                        <a:pt x="31966" y="16283"/>
                        <a:pt x="32169" y="22932"/>
                        <a:pt x="28294" y="27327"/>
                      </a:cubicBezTo>
                      <a:cubicBezTo>
                        <a:pt x="24419" y="31721"/>
                        <a:pt x="17797" y="32352"/>
                        <a:pt x="13161" y="28768"/>
                      </a:cubicBezTo>
                      <a:lnTo>
                        <a:pt x="12117" y="27846"/>
                      </a:lnTo>
                      <a:lnTo>
                        <a:pt x="4338" y="20067"/>
                      </a:lnTo>
                      <a:cubicBezTo>
                        <a:pt x="0" y="15728"/>
                        <a:pt x="0" y="8693"/>
                        <a:pt x="4338" y="4354"/>
                      </a:cubicBezTo>
                      <a:close/>
                    </a:path>
                  </a:pathLst>
                </a:custGeom>
                <a:solidFill>
                  <a:srgbClr val="E8A87C"/>
                </a:solidFill>
                <a:ln>
                  <a:noFill/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4708703" y="3288534"/>
                  <a:ext cx="32505" cy="321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505" h="32170">
                      <a:moveTo>
                        <a:pt x="12285" y="4339"/>
                      </a:moveTo>
                      <a:cubicBezTo>
                        <a:pt x="16436" y="203"/>
                        <a:pt x="23084" y="0"/>
                        <a:pt x="27479" y="3875"/>
                      </a:cubicBezTo>
                      <a:cubicBezTo>
                        <a:pt x="31874" y="7751"/>
                        <a:pt x="32505" y="14372"/>
                        <a:pt x="28921" y="19008"/>
                      </a:cubicBezTo>
                      <a:lnTo>
                        <a:pt x="27998" y="20052"/>
                      </a:lnTo>
                      <a:lnTo>
                        <a:pt x="20220" y="27831"/>
                      </a:lnTo>
                      <a:cubicBezTo>
                        <a:pt x="16069" y="31967"/>
                        <a:pt x="9421" y="32170"/>
                        <a:pt x="5026" y="28295"/>
                      </a:cubicBezTo>
                      <a:cubicBezTo>
                        <a:pt x="631" y="24420"/>
                        <a:pt x="0" y="17798"/>
                        <a:pt x="3584" y="13163"/>
                      </a:cubicBezTo>
                      <a:lnTo>
                        <a:pt x="4507" y="12118"/>
                      </a:lnTo>
                      <a:lnTo>
                        <a:pt x="12285" y="4339"/>
                      </a:lnTo>
                      <a:close/>
                    </a:path>
                  </a:pathLst>
                </a:custGeom>
                <a:solidFill>
                  <a:srgbClr val="E8A87C"/>
                </a:solidFill>
                <a:ln>
                  <a:noFill/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4624388" y="3438525"/>
                  <a:ext cx="6667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44450">
                      <a:moveTo>
                        <a:pt x="55562" y="0"/>
                      </a:moveTo>
                      <a:cubicBezTo>
                        <a:pt x="61700" y="0"/>
                        <a:pt x="66675" y="4975"/>
                        <a:pt x="66675" y="11113"/>
                      </a:cubicBezTo>
                      <a:cubicBezTo>
                        <a:pt x="66675" y="29524"/>
                        <a:pt x="51749" y="44450"/>
                        <a:pt x="33338" y="44450"/>
                      </a:cubicBezTo>
                      <a:cubicBezTo>
                        <a:pt x="14926" y="44450"/>
                        <a:pt x="0" y="29524"/>
                        <a:pt x="0" y="11113"/>
                      </a:cubicBezTo>
                      <a:cubicBezTo>
                        <a:pt x="1" y="5479"/>
                        <a:pt x="4217" y="737"/>
                        <a:pt x="9812" y="78"/>
                      </a:cubicBezTo>
                      <a:lnTo>
                        <a:pt x="11113" y="0"/>
                      </a:lnTo>
                      <a:lnTo>
                        <a:pt x="55562" y="0"/>
                      </a:lnTo>
                      <a:close/>
                    </a:path>
                  </a:pathLst>
                </a:custGeom>
                <a:solidFill>
                  <a:srgbClr val="E8A87C"/>
                </a:solidFill>
                <a:ln>
                  <a:noFill/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4585396" y="3305175"/>
                  <a:ext cx="144658" cy="1222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658" h="122237">
                      <a:moveTo>
                        <a:pt x="72329" y="0"/>
                      </a:moveTo>
                      <a:cubicBezTo>
                        <a:pt x="101028" y="0"/>
                        <a:pt x="126507" y="18364"/>
                        <a:pt x="135582" y="45591"/>
                      </a:cubicBezTo>
                      <a:cubicBezTo>
                        <a:pt x="144658" y="72817"/>
                        <a:pt x="135293" y="102796"/>
                        <a:pt x="112334" y="120015"/>
                      </a:cubicBezTo>
                      <a:cubicBezTo>
                        <a:pt x="110802" y="121165"/>
                        <a:pt x="108999" y="121900"/>
                        <a:pt x="107100" y="122149"/>
                      </a:cubicBezTo>
                      <a:lnTo>
                        <a:pt x="105666" y="122237"/>
                      </a:lnTo>
                      <a:lnTo>
                        <a:pt x="38991" y="122237"/>
                      </a:lnTo>
                      <a:cubicBezTo>
                        <a:pt x="36587" y="122237"/>
                        <a:pt x="34247" y="121458"/>
                        <a:pt x="32324" y="120015"/>
                      </a:cubicBezTo>
                      <a:cubicBezTo>
                        <a:pt x="9365" y="102796"/>
                        <a:pt x="0" y="72817"/>
                        <a:pt x="9075" y="45591"/>
                      </a:cubicBezTo>
                      <a:cubicBezTo>
                        <a:pt x="18151" y="18364"/>
                        <a:pt x="43630" y="0"/>
                        <a:pt x="72329" y="0"/>
                      </a:cubicBezTo>
                      <a:close/>
                    </a:path>
                  </a:pathLst>
                </a:custGeom>
                <a:solidFill>
                  <a:srgbClr val="E8A87C"/>
                </a:solidFill>
                <a:ln>
                  <a:noFill/>
                </a:ln>
              </p:spPr>
            </p:sp>
          </p:grpSp>
        </p:grpSp>
        <p:grpSp>
          <p:nvGrpSpPr>
            <p:cNvPr id="49" name="Group 49"/>
            <p:cNvGrpSpPr/>
            <p:nvPr/>
          </p:nvGrpSpPr>
          <p:grpSpPr>
            <a:xfrm>
              <a:off x="6286500" y="1143000"/>
              <a:ext cx="2571750" cy="2667000"/>
              <a:chOff x="6286500" y="1143000"/>
              <a:chExt cx="2571750" cy="266700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6286500" y="1143000"/>
                <a:ext cx="2571750" cy="2667000"/>
              </a:xfrm>
              <a:prstGeom prst="roundRect">
                <a:avLst>
                  <a:gd name="adj" fmla="val 5926"/>
                </a:avLst>
              </a:prstGeom>
              <a:solidFill>
                <a:srgbClr val="FAF7F2"/>
              </a:solidFill>
              <a:ln w="9525">
                <a:solidFill>
                  <a:srgbClr val="EDE5D5"/>
                </a:solidFill>
              </a:ln>
            </p:spPr>
          </p:sp>
          <p:sp>
            <p:nvSpPr>
              <p:cNvPr id="33" name="Rectangle 33"/>
              <p:cNvSpPr/>
              <p:nvPr/>
            </p:nvSpPr>
            <p:spPr>
              <a:xfrm>
                <a:off x="6286500" y="1143000"/>
                <a:ext cx="2571750" cy="57150"/>
              </a:xfrm>
              <a:prstGeom prst="roundRect">
                <a:avLst>
                  <a:gd name="adj" fmla="val 50000"/>
                </a:avLst>
              </a:pr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7244691" y="1473518"/>
                <a:ext cx="65536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E8A87C"/>
                    </a:solidFill>
                    <a:latin typeface="Arial"/>
                    <a:ea typeface="Microsoft YaHei"/>
                    <a:cs typeface="Arial"/>
                  </a:rPr>
                  <a:t>Gemini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6819856" y="1945958"/>
                <a:ext cx="1505038" cy="640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3150" b="1" dirty="0">
                    <a:solidFill>
                      <a:srgbClr val="E8A87C"/>
                    </a:solidFill>
                    <a:latin typeface="Georgia"/>
                    <a:ea typeface="SimSun"/>
                    <a:cs typeface="Georgia"/>
                  </a:rPr>
                  <a:t>100万+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7348180" y="2458402"/>
                <a:ext cx="44838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Token</a:t>
                </a:r>
              </a:p>
            </p:txBody>
          </p:sp>
          <p:sp>
            <p:nvSpPr>
              <p:cNvPr id="37" name="Line 37"/>
              <p:cNvSpPr/>
              <p:nvPr/>
            </p:nvSpPr>
            <p:spPr>
              <a:xfrm>
                <a:off x="6667500" y="2762250"/>
                <a:ext cx="1809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09750" h="9525">
                    <a:moveTo>
                      <a:pt x="0" y="0"/>
                    </a:moveTo>
                    <a:lnTo>
                      <a:pt x="1809750" y="0"/>
                    </a:lnTo>
                  </a:path>
                </a:pathLst>
              </a:custGeom>
              <a:noFill/>
              <a:ln w="9525">
                <a:solidFill>
                  <a:srgbClr val="EDE5D5"/>
                </a:solidFill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7132796" y="2942749"/>
                <a:ext cx="87915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百万级上下文</a:t>
                </a:r>
              </a:p>
            </p:txBody>
          </p:sp>
          <p:grpSp>
            <p:nvGrpSpPr>
              <p:cNvPr id="48" name="Group 48"/>
              <p:cNvGrpSpPr/>
              <p:nvPr/>
            </p:nvGrpSpPr>
            <p:grpSpPr>
              <a:xfrm>
                <a:off x="7403336" y="3261014"/>
                <a:ext cx="223762" cy="221661"/>
                <a:chOff x="7403336" y="3261014"/>
                <a:chExt cx="223762" cy="221661"/>
              </a:xfrm>
            </p:grpSpPr>
            <p:sp>
              <p:nvSpPr>
                <p:cNvPr id="39" name="Freeform 39"/>
                <p:cNvSpPr/>
                <p:nvPr/>
              </p:nvSpPr>
              <p:spPr>
                <a:xfrm>
                  <a:off x="7523348" y="3416300"/>
                  <a:ext cx="93723" cy="66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723" h="66375">
                      <a:moveTo>
                        <a:pt x="93723" y="0"/>
                      </a:moveTo>
                      <a:cubicBezTo>
                        <a:pt x="77222" y="37805"/>
                        <a:pt x="41139" y="63359"/>
                        <a:pt x="0" y="66375"/>
                      </a:cubicBezTo>
                      <a:cubicBezTo>
                        <a:pt x="2846" y="65697"/>
                        <a:pt x="5309" y="63924"/>
                        <a:pt x="6856" y="61441"/>
                      </a:cubicBezTo>
                      <a:cubicBezTo>
                        <a:pt x="18668" y="42520"/>
                        <a:pt x="27232" y="21757"/>
                        <a:pt x="32193" y="11"/>
                      </a:cubicBezTo>
                      <a:close/>
                    </a:path>
                  </a:pathLst>
                </a:custGeom>
                <a:solidFill>
                  <a:srgbClr val="E8A87C"/>
                </a:solidFill>
                <a:ln>
                  <a:noFill/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7413379" y="3416300"/>
                  <a:ext cx="93712" cy="66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712" h="66375">
                      <a:moveTo>
                        <a:pt x="61530" y="0"/>
                      </a:moveTo>
                      <a:cubicBezTo>
                        <a:pt x="66489" y="21754"/>
                        <a:pt x="75053" y="42525"/>
                        <a:pt x="86866" y="61452"/>
                      </a:cubicBezTo>
                      <a:cubicBezTo>
                        <a:pt x="88413" y="63929"/>
                        <a:pt x="90872" y="65697"/>
                        <a:pt x="93712" y="66375"/>
                      </a:cubicBezTo>
                      <a:cubicBezTo>
                        <a:pt x="52577" y="63355"/>
                        <a:pt x="16499" y="37802"/>
                        <a:pt x="0" y="0"/>
                      </a:cubicBezTo>
                      <a:close/>
                    </a:path>
                  </a:pathLst>
                </a:custGeom>
                <a:solidFill>
                  <a:srgbClr val="E8A87C"/>
                </a:solidFill>
                <a:ln>
                  <a:noFill/>
                </a:ln>
              </p:spPr>
            </p:sp>
            <p:sp>
              <p:nvSpPr>
                <p:cNvPr id="41" name="Freeform 41"/>
                <p:cNvSpPr/>
                <p:nvPr/>
              </p:nvSpPr>
              <p:spPr>
                <a:xfrm>
                  <a:off x="7497778" y="3416300"/>
                  <a:ext cx="34893" cy="431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893" h="43161">
                      <a:moveTo>
                        <a:pt x="34893" y="0"/>
                      </a:moveTo>
                      <a:cubicBezTo>
                        <a:pt x="30994" y="15089"/>
                        <a:pt x="25129" y="29601"/>
                        <a:pt x="17447" y="43161"/>
                      </a:cubicBezTo>
                      <a:cubicBezTo>
                        <a:pt x="9765" y="29601"/>
                        <a:pt x="3899" y="15089"/>
                        <a:pt x="0" y="0"/>
                      </a:cubicBezTo>
                    </a:path>
                  </a:pathLst>
                </a:custGeom>
                <a:solidFill>
                  <a:srgbClr val="E8A87C"/>
                </a:solidFill>
                <a:ln>
                  <a:noFill/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7403336" y="3349625"/>
                  <a:ext cx="67817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817" h="44450">
                      <a:moveTo>
                        <a:pt x="67817" y="0"/>
                      </a:moveTo>
                      <a:cubicBezTo>
                        <a:pt x="66165" y="14771"/>
                        <a:pt x="66165" y="29679"/>
                        <a:pt x="67817" y="44450"/>
                      </a:cubicBezTo>
                      <a:lnTo>
                        <a:pt x="3008" y="44450"/>
                      </a:lnTo>
                      <a:cubicBezTo>
                        <a:pt x="8" y="29786"/>
                        <a:pt x="0" y="14667"/>
                        <a:pt x="2986" y="0"/>
                      </a:cubicBezTo>
                      <a:close/>
                    </a:path>
                  </a:pathLst>
                </a:custGeom>
                <a:solidFill>
                  <a:srgbClr val="E8A87C"/>
                </a:solidFill>
                <a:ln>
                  <a:noFill/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7491674" y="3349625"/>
                  <a:ext cx="47102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102" h="44450">
                      <a:moveTo>
                        <a:pt x="45243" y="0"/>
                      </a:moveTo>
                      <a:cubicBezTo>
                        <a:pt x="47102" y="14758"/>
                        <a:pt x="47102" y="29692"/>
                        <a:pt x="45243" y="44450"/>
                      </a:cubicBezTo>
                      <a:lnTo>
                        <a:pt x="1859" y="44450"/>
                      </a:lnTo>
                      <a:cubicBezTo>
                        <a:pt x="0" y="29692"/>
                        <a:pt x="0" y="14758"/>
                        <a:pt x="1859" y="0"/>
                      </a:cubicBezTo>
                      <a:close/>
                    </a:path>
                  </a:pathLst>
                </a:custGeom>
                <a:solidFill>
                  <a:srgbClr val="E8A87C"/>
                </a:solidFill>
                <a:ln>
                  <a:noFill/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7559297" y="3349625"/>
                  <a:ext cx="67801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801" h="44450">
                      <a:moveTo>
                        <a:pt x="64830" y="0"/>
                      </a:moveTo>
                      <a:cubicBezTo>
                        <a:pt x="67801" y="14668"/>
                        <a:pt x="67794" y="29784"/>
                        <a:pt x="64808" y="44450"/>
                      </a:cubicBezTo>
                      <a:lnTo>
                        <a:pt x="0" y="44450"/>
                      </a:lnTo>
                      <a:cubicBezTo>
                        <a:pt x="1656" y="29681"/>
                        <a:pt x="1656" y="14780"/>
                        <a:pt x="0" y="0"/>
                      </a:cubicBezTo>
                      <a:close/>
                    </a:path>
                  </a:pathLst>
                </a:custGeom>
                <a:solidFill>
                  <a:srgbClr val="E8A87C"/>
                </a:solidFill>
                <a:ln>
                  <a:noFill/>
                </a:ln>
              </p:spPr>
            </p:sp>
            <p:sp>
              <p:nvSpPr>
                <p:cNvPr id="45" name="Freeform 45"/>
                <p:cNvSpPr/>
                <p:nvPr/>
              </p:nvSpPr>
              <p:spPr>
                <a:xfrm>
                  <a:off x="7413346" y="3261025"/>
                  <a:ext cx="93734" cy="66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734" h="66375">
                      <a:moveTo>
                        <a:pt x="93734" y="0"/>
                      </a:moveTo>
                      <a:cubicBezTo>
                        <a:pt x="90896" y="683"/>
                        <a:pt x="88441" y="2456"/>
                        <a:pt x="86900" y="4934"/>
                      </a:cubicBezTo>
                      <a:cubicBezTo>
                        <a:pt x="75087" y="23858"/>
                        <a:pt x="66523" y="44625"/>
                        <a:pt x="61563" y="66375"/>
                      </a:cubicBezTo>
                      <a:lnTo>
                        <a:pt x="0" y="66375"/>
                      </a:lnTo>
                      <a:cubicBezTo>
                        <a:pt x="16354" y="28945"/>
                        <a:pt x="51908" y="3489"/>
                        <a:pt x="92612" y="67"/>
                      </a:cubicBezTo>
                      <a:close/>
                    </a:path>
                  </a:pathLst>
                </a:custGeom>
                <a:solidFill>
                  <a:srgbClr val="E8A87C"/>
                </a:solidFill>
                <a:ln>
                  <a:noFill/>
                </a:ln>
              </p:spPr>
            </p:sp>
            <p:sp>
              <p:nvSpPr>
                <p:cNvPr id="46" name="Freeform 46"/>
                <p:cNvSpPr/>
                <p:nvPr/>
              </p:nvSpPr>
              <p:spPr>
                <a:xfrm>
                  <a:off x="7497778" y="3284239"/>
                  <a:ext cx="34893" cy="431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893" h="43172">
                      <a:moveTo>
                        <a:pt x="17447" y="0"/>
                      </a:moveTo>
                      <a:cubicBezTo>
                        <a:pt x="25130" y="13564"/>
                        <a:pt x="30995" y="28079"/>
                        <a:pt x="34893" y="43172"/>
                      </a:cubicBezTo>
                      <a:lnTo>
                        <a:pt x="0" y="43172"/>
                      </a:lnTo>
                      <a:cubicBezTo>
                        <a:pt x="3778" y="28537"/>
                        <a:pt x="9446" y="14280"/>
                        <a:pt x="17002" y="756"/>
                      </a:cubicBezTo>
                      <a:close/>
                    </a:path>
                  </a:pathLst>
                </a:custGeom>
                <a:solidFill>
                  <a:srgbClr val="E8A87C"/>
                </a:solidFill>
                <a:ln>
                  <a:noFill/>
                </a:ln>
              </p:spPr>
            </p:sp>
            <p:sp>
              <p:nvSpPr>
                <p:cNvPr id="47" name="Freeform 47"/>
                <p:cNvSpPr/>
                <p:nvPr/>
              </p:nvSpPr>
              <p:spPr>
                <a:xfrm>
                  <a:off x="7523370" y="3261014"/>
                  <a:ext cx="93734" cy="663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734" h="66386">
                      <a:moveTo>
                        <a:pt x="0" y="0"/>
                      </a:moveTo>
                      <a:cubicBezTo>
                        <a:pt x="41137" y="3038"/>
                        <a:pt x="77215" y="28590"/>
                        <a:pt x="93734" y="66386"/>
                      </a:cubicBezTo>
                      <a:lnTo>
                        <a:pt x="32171" y="66386"/>
                      </a:lnTo>
                      <a:cubicBezTo>
                        <a:pt x="27212" y="44632"/>
                        <a:pt x="18648" y="23862"/>
                        <a:pt x="6834" y="4934"/>
                      </a:cubicBezTo>
                      <a:cubicBezTo>
                        <a:pt x="5497" y="2792"/>
                        <a:pt x="3471" y="1170"/>
                        <a:pt x="1089" y="333"/>
                      </a:cubicBezTo>
                      <a:close/>
                    </a:path>
                  </a:pathLst>
                </a:custGeom>
                <a:solidFill>
                  <a:srgbClr val="E8A87C"/>
                </a:solidFill>
                <a:ln>
                  <a:noFill/>
                </a:ln>
              </p:spPr>
            </p:sp>
          </p:grpSp>
        </p:grpSp>
        <p:grpSp>
          <p:nvGrpSpPr>
            <p:cNvPr id="62" name="Group 62"/>
            <p:cNvGrpSpPr/>
            <p:nvPr/>
          </p:nvGrpSpPr>
          <p:grpSpPr>
            <a:xfrm>
              <a:off x="9144000" y="1143000"/>
              <a:ext cx="2571750" cy="2667000"/>
              <a:chOff x="9144000" y="1143000"/>
              <a:chExt cx="2571750" cy="2667000"/>
            </a:xfrm>
          </p:grpSpPr>
          <p:sp>
            <p:nvSpPr>
              <p:cNvPr id="50" name="Rectangle 50"/>
              <p:cNvSpPr/>
              <p:nvPr/>
            </p:nvSpPr>
            <p:spPr>
              <a:xfrm>
                <a:off x="9144000" y="1143000"/>
                <a:ext cx="2571750" cy="2667000"/>
              </a:xfrm>
              <a:prstGeom prst="roundRect">
                <a:avLst>
                  <a:gd name="adj" fmla="val 5926"/>
                </a:avLst>
              </a:prstGeom>
              <a:solidFill>
                <a:srgbClr val="FAF7F2"/>
              </a:solidFill>
              <a:ln w="9525">
                <a:solidFill>
                  <a:srgbClr val="EDE5D5"/>
                </a:solidFill>
              </a:ln>
            </p:spPr>
          </p:sp>
          <p:sp>
            <p:nvSpPr>
              <p:cNvPr id="51" name="Rectangle 51"/>
              <p:cNvSpPr/>
              <p:nvPr/>
            </p:nvSpPr>
            <p:spPr>
              <a:xfrm>
                <a:off x="9144000" y="1143000"/>
                <a:ext cx="2571750" cy="57150"/>
              </a:xfrm>
              <a:prstGeom prst="roundRect">
                <a:avLst>
                  <a:gd name="adj" fmla="val 50000"/>
                </a:avLst>
              </a:prstGeom>
              <a:solidFill>
                <a:srgbClr val="8FBC8F"/>
              </a:solidFill>
              <a:ln>
                <a:noFill/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9857965" y="1442085"/>
                <a:ext cx="114381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8B6F47"/>
                    </a:solidFill>
                    <a:latin typeface="Arial"/>
                    <a:ea typeface="Microsoft YaHei"/>
                    <a:cs typeface="Arial"/>
                  </a:rPr>
                  <a:t>DeepSeek-V3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10098334" y="1648778"/>
                <a:ext cx="66308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/ Kimi K3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9918886" y="1993582"/>
                <a:ext cx="1021978" cy="640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3150" b="1" dirty="0">
                    <a:solidFill>
                      <a:srgbClr val="8B6F47"/>
                    </a:solidFill>
                    <a:latin typeface="Georgia"/>
                    <a:ea typeface="SimSun"/>
                    <a:cs typeface="Georgia"/>
                  </a:rPr>
                  <a:t>128K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10205680" y="2506028"/>
                <a:ext cx="44838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Token</a:t>
                </a:r>
              </a:p>
            </p:txBody>
          </p:sp>
          <p:sp>
            <p:nvSpPr>
              <p:cNvPr id="56" name="Line 56"/>
              <p:cNvSpPr/>
              <p:nvPr/>
            </p:nvSpPr>
            <p:spPr>
              <a:xfrm>
                <a:off x="9525000" y="2809875"/>
                <a:ext cx="1809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09750" h="9525">
                    <a:moveTo>
                      <a:pt x="0" y="0"/>
                    </a:moveTo>
                    <a:lnTo>
                      <a:pt x="1809750" y="0"/>
                    </a:lnTo>
                  </a:path>
                </a:pathLst>
              </a:custGeom>
              <a:noFill/>
              <a:ln w="9525">
                <a:solidFill>
                  <a:srgbClr val="EDE5D5"/>
                </a:solidFill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10082855" y="2990374"/>
                <a:ext cx="69403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≈ 10万汉字</a:t>
                </a:r>
              </a:p>
            </p:txBody>
          </p:sp>
          <p:grpSp>
            <p:nvGrpSpPr>
              <p:cNvPr id="61" name="Group 61"/>
              <p:cNvGrpSpPr/>
              <p:nvPr/>
            </p:nvGrpSpPr>
            <p:grpSpPr>
              <a:xfrm>
                <a:off x="10272712" y="3260725"/>
                <a:ext cx="200026" cy="222250"/>
                <a:chOff x="10272712" y="3260725"/>
                <a:chExt cx="200026" cy="222250"/>
              </a:xfrm>
            </p:grpSpPr>
            <p:sp>
              <p:nvSpPr>
                <p:cNvPr id="58" name="Freeform 58"/>
                <p:cNvSpPr/>
                <p:nvPr/>
              </p:nvSpPr>
              <p:spPr>
                <a:xfrm>
                  <a:off x="10272712" y="3413311"/>
                  <a:ext cx="200025" cy="696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69664">
                      <a:moveTo>
                        <a:pt x="0" y="0"/>
                      </a:moveTo>
                      <a:cubicBezTo>
                        <a:pt x="21869" y="16747"/>
                        <a:pt x="58163" y="25214"/>
                        <a:pt x="100012" y="25214"/>
                      </a:cubicBezTo>
                      <a:cubicBezTo>
                        <a:pt x="141796" y="25214"/>
                        <a:pt x="178078" y="16769"/>
                        <a:pt x="200025" y="189"/>
                      </a:cubicBezTo>
                      <a:lnTo>
                        <a:pt x="200025" y="25214"/>
                      </a:lnTo>
                      <a:cubicBezTo>
                        <a:pt x="200025" y="52162"/>
                        <a:pt x="156742" y="68953"/>
                        <a:pt x="103424" y="69642"/>
                      </a:cubicBezTo>
                      <a:lnTo>
                        <a:pt x="100012" y="69664"/>
                      </a:lnTo>
                      <a:cubicBezTo>
                        <a:pt x="45139" y="69664"/>
                        <a:pt x="0" y="52740"/>
                        <a:pt x="0" y="25214"/>
                      </a:cubicBezTo>
                      <a:close/>
                    </a:path>
                  </a:pathLst>
                </a:custGeom>
                <a:solidFill>
                  <a:srgbClr val="8FBC8F"/>
                </a:solidFill>
                <a:ln>
                  <a:noFill/>
                </a:ln>
              </p:spPr>
            </p:sp>
            <p:sp>
              <p:nvSpPr>
                <p:cNvPr id="59" name="Freeform 59"/>
                <p:cNvSpPr/>
                <p:nvPr/>
              </p:nvSpPr>
              <p:spPr>
                <a:xfrm>
                  <a:off x="10272712" y="3346636"/>
                  <a:ext cx="200025" cy="696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69664">
                      <a:moveTo>
                        <a:pt x="0" y="0"/>
                      </a:moveTo>
                      <a:cubicBezTo>
                        <a:pt x="21869" y="16747"/>
                        <a:pt x="58163" y="25214"/>
                        <a:pt x="100012" y="25214"/>
                      </a:cubicBezTo>
                      <a:cubicBezTo>
                        <a:pt x="141796" y="25214"/>
                        <a:pt x="178078" y="16769"/>
                        <a:pt x="200025" y="189"/>
                      </a:cubicBezTo>
                      <a:lnTo>
                        <a:pt x="200025" y="25214"/>
                      </a:lnTo>
                      <a:cubicBezTo>
                        <a:pt x="200025" y="52740"/>
                        <a:pt x="154886" y="69664"/>
                        <a:pt x="100012" y="69664"/>
                      </a:cubicBezTo>
                      <a:cubicBezTo>
                        <a:pt x="46695" y="69664"/>
                        <a:pt x="2556" y="53684"/>
                        <a:pt x="233" y="27492"/>
                      </a:cubicBezTo>
                      <a:lnTo>
                        <a:pt x="56" y="26370"/>
                      </a:lnTo>
                      <a:lnTo>
                        <a:pt x="0" y="25214"/>
                      </a:lnTo>
                      <a:close/>
                    </a:path>
                  </a:pathLst>
                </a:custGeom>
                <a:solidFill>
                  <a:srgbClr val="8FBC8F"/>
                </a:solidFill>
                <a:ln>
                  <a:noFill/>
                </a:ln>
              </p:spPr>
            </p:sp>
            <p:sp>
              <p:nvSpPr>
                <p:cNvPr id="60" name="Freeform 60"/>
                <p:cNvSpPr/>
                <p:nvPr/>
              </p:nvSpPr>
              <p:spPr>
                <a:xfrm>
                  <a:off x="10272712" y="3260725"/>
                  <a:ext cx="200026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6" h="88900">
                      <a:moveTo>
                        <a:pt x="100013" y="0"/>
                      </a:moveTo>
                      <a:cubicBezTo>
                        <a:pt x="111581" y="0"/>
                        <a:pt x="122727" y="756"/>
                        <a:pt x="133095" y="2200"/>
                      </a:cubicBezTo>
                      <a:lnTo>
                        <a:pt x="138307" y="2989"/>
                      </a:lnTo>
                      <a:cubicBezTo>
                        <a:pt x="144530" y="4026"/>
                        <a:pt x="150405" y="5315"/>
                        <a:pt x="155931" y="6856"/>
                      </a:cubicBezTo>
                      <a:lnTo>
                        <a:pt x="160821" y="8312"/>
                      </a:lnTo>
                      <a:lnTo>
                        <a:pt x="161654" y="8579"/>
                      </a:lnTo>
                      <a:cubicBezTo>
                        <a:pt x="164679" y="9573"/>
                        <a:pt x="167663" y="10685"/>
                        <a:pt x="170600" y="11913"/>
                      </a:cubicBezTo>
                      <a:lnTo>
                        <a:pt x="172811" y="12868"/>
                      </a:lnTo>
                      <a:cubicBezTo>
                        <a:pt x="176775" y="14661"/>
                        <a:pt x="180357" y="16624"/>
                        <a:pt x="183557" y="18758"/>
                      </a:cubicBezTo>
                      <a:cubicBezTo>
                        <a:pt x="184780" y="19573"/>
                        <a:pt x="185939" y="20406"/>
                        <a:pt x="187035" y="21258"/>
                      </a:cubicBezTo>
                      <a:cubicBezTo>
                        <a:pt x="189813" y="23413"/>
                        <a:pt x="192310" y="25907"/>
                        <a:pt x="194470" y="28681"/>
                      </a:cubicBezTo>
                      <a:lnTo>
                        <a:pt x="195481" y="30104"/>
                      </a:lnTo>
                      <a:cubicBezTo>
                        <a:pt x="195999" y="30882"/>
                        <a:pt x="196477" y="31663"/>
                        <a:pt x="196914" y="32449"/>
                      </a:cubicBezTo>
                      <a:lnTo>
                        <a:pt x="197692" y="33993"/>
                      </a:lnTo>
                      <a:cubicBezTo>
                        <a:pt x="198900" y="36586"/>
                        <a:pt x="199641" y="39290"/>
                        <a:pt x="199915" y="42105"/>
                      </a:cubicBezTo>
                      <a:lnTo>
                        <a:pt x="200026" y="44450"/>
                      </a:lnTo>
                      <a:cubicBezTo>
                        <a:pt x="200026" y="71976"/>
                        <a:pt x="154887" y="88900"/>
                        <a:pt x="100013" y="88900"/>
                      </a:cubicBezTo>
                      <a:cubicBezTo>
                        <a:pt x="46696" y="88900"/>
                        <a:pt x="2557" y="72920"/>
                        <a:pt x="234" y="46728"/>
                      </a:cubicBezTo>
                      <a:cubicBezTo>
                        <a:pt x="78" y="45979"/>
                        <a:pt x="0" y="45215"/>
                        <a:pt x="1" y="44450"/>
                      </a:cubicBezTo>
                      <a:lnTo>
                        <a:pt x="56" y="43294"/>
                      </a:lnTo>
                      <a:lnTo>
                        <a:pt x="234" y="42183"/>
                      </a:lnTo>
                      <a:cubicBezTo>
                        <a:pt x="2512" y="16558"/>
                        <a:pt x="44795" y="700"/>
                        <a:pt x="96546" y="22"/>
                      </a:cubicBezTo>
                      <a:close/>
                    </a:path>
                  </a:pathLst>
                </a:custGeom>
                <a:solidFill>
                  <a:srgbClr val="8FBC8F"/>
                </a:solidFill>
                <a:ln>
                  <a:noFill/>
                </a:ln>
              </p:spPr>
            </p:sp>
          </p:grpSp>
        </p:grpSp>
      </p:grpSp>
      <p:grpSp>
        <p:nvGrpSpPr>
          <p:cNvPr id="68" name="Group 68"/>
          <p:cNvGrpSpPr/>
          <p:nvPr/>
        </p:nvGrpSpPr>
        <p:grpSpPr>
          <a:xfrm>
            <a:off x="571500" y="4191000"/>
            <a:ext cx="11049000" cy="762000"/>
            <a:chOff x="571500" y="4191000"/>
            <a:chExt cx="11049000" cy="762000"/>
          </a:xfrm>
        </p:grpSpPr>
        <p:sp>
          <p:nvSpPr>
            <p:cNvPr id="64" name="Rectangle 64"/>
            <p:cNvSpPr/>
            <p:nvPr/>
          </p:nvSpPr>
          <p:spPr>
            <a:xfrm>
              <a:off x="571500" y="4191000"/>
              <a:ext cx="11049000" cy="762000"/>
            </a:xfrm>
            <a:prstGeom prst="roundRect">
              <a:avLst>
                <a:gd name="adj" fmla="val 15000"/>
              </a:avLst>
            </a:prstGeom>
            <a:solidFill>
              <a:srgbClr val="D4837F">
                <a:alpha val="8000"/>
              </a:srgbClr>
            </a:solidFill>
            <a:ln w="9525">
              <a:solidFill>
                <a:srgbClr val="D4837F"/>
              </a:solidFill>
            </a:ln>
          </p:spPr>
        </p:sp>
        <p:sp>
          <p:nvSpPr>
            <p:cNvPr id="65" name="Freeform 65"/>
            <p:cNvSpPr/>
            <p:nvPr/>
          </p:nvSpPr>
          <p:spPr>
            <a:xfrm>
              <a:off x="866788" y="4381008"/>
              <a:ext cx="247495" cy="214760"/>
            </a:xfrm>
            <a:custGeom>
              <a:avLst/>
              <a:gdLst/>
              <a:ahLst/>
              <a:cxnLst/>
              <a:rect l="l" t="t" r="r" b="b"/>
              <a:pathLst>
                <a:path w="247495" h="214760">
                  <a:moveTo>
                    <a:pt x="123812" y="0"/>
                  </a:moveTo>
                  <a:cubicBezTo>
                    <a:pt x="134425" y="0"/>
                    <a:pt x="144315" y="5190"/>
                    <a:pt x="150371" y="13857"/>
                  </a:cubicBezTo>
                  <a:lnTo>
                    <a:pt x="151538" y="15635"/>
                  </a:lnTo>
                  <a:lnTo>
                    <a:pt x="241705" y="166187"/>
                  </a:lnTo>
                  <a:cubicBezTo>
                    <a:pt x="247275" y="175835"/>
                    <a:pt x="247495" y="187668"/>
                    <a:pt x="242288" y="197516"/>
                  </a:cubicBezTo>
                  <a:cubicBezTo>
                    <a:pt x="237081" y="207363"/>
                    <a:pt x="227177" y="213843"/>
                    <a:pt x="216068" y="214671"/>
                  </a:cubicBezTo>
                  <a:lnTo>
                    <a:pt x="213901" y="214760"/>
                  </a:lnTo>
                  <a:lnTo>
                    <a:pt x="33601" y="214760"/>
                  </a:lnTo>
                  <a:cubicBezTo>
                    <a:pt x="22481" y="214635"/>
                    <a:pt x="12203" y="208813"/>
                    <a:pt x="6379" y="199339"/>
                  </a:cubicBezTo>
                  <a:cubicBezTo>
                    <a:pt x="555" y="189866"/>
                    <a:pt x="0" y="178066"/>
                    <a:pt x="4908" y="168088"/>
                  </a:cubicBezTo>
                  <a:lnTo>
                    <a:pt x="6009" y="166032"/>
                  </a:lnTo>
                  <a:lnTo>
                    <a:pt x="96131" y="15591"/>
                  </a:lnTo>
                  <a:cubicBezTo>
                    <a:pt x="101999" y="5914"/>
                    <a:pt x="112495" y="2"/>
                    <a:pt x="123812" y="0"/>
                  </a:cubicBezTo>
                  <a:close/>
                  <a:moveTo>
                    <a:pt x="123923" y="148130"/>
                  </a:moveTo>
                  <a:lnTo>
                    <a:pt x="122512" y="148207"/>
                  </a:lnTo>
                  <a:cubicBezTo>
                    <a:pt x="116922" y="148872"/>
                    <a:pt x="112712" y="153613"/>
                    <a:pt x="112712" y="159242"/>
                  </a:cubicBezTo>
                  <a:cubicBezTo>
                    <a:pt x="112712" y="164872"/>
                    <a:pt x="116922" y="169612"/>
                    <a:pt x="122512" y="170277"/>
                  </a:cubicBezTo>
                  <a:lnTo>
                    <a:pt x="123812" y="170355"/>
                  </a:lnTo>
                  <a:lnTo>
                    <a:pt x="125223" y="170277"/>
                  </a:lnTo>
                  <a:cubicBezTo>
                    <a:pt x="130814" y="169612"/>
                    <a:pt x="135023" y="164872"/>
                    <a:pt x="135023" y="159242"/>
                  </a:cubicBezTo>
                  <a:cubicBezTo>
                    <a:pt x="135023" y="153613"/>
                    <a:pt x="130814" y="148872"/>
                    <a:pt x="125223" y="148207"/>
                  </a:cubicBezTo>
                  <a:lnTo>
                    <a:pt x="123923" y="148130"/>
                  </a:lnTo>
                  <a:close/>
                  <a:moveTo>
                    <a:pt x="123812" y="70342"/>
                  </a:moveTo>
                  <a:cubicBezTo>
                    <a:pt x="118178" y="70343"/>
                    <a:pt x="113437" y="74559"/>
                    <a:pt x="112777" y="80154"/>
                  </a:cubicBezTo>
                  <a:lnTo>
                    <a:pt x="112700" y="81455"/>
                  </a:lnTo>
                  <a:lnTo>
                    <a:pt x="112700" y="125905"/>
                  </a:lnTo>
                  <a:lnTo>
                    <a:pt x="112777" y="127205"/>
                  </a:lnTo>
                  <a:cubicBezTo>
                    <a:pt x="113442" y="132795"/>
                    <a:pt x="118183" y="137005"/>
                    <a:pt x="123812" y="137005"/>
                  </a:cubicBezTo>
                  <a:cubicBezTo>
                    <a:pt x="129442" y="137005"/>
                    <a:pt x="134182" y="132795"/>
                    <a:pt x="134847" y="127205"/>
                  </a:cubicBezTo>
                  <a:lnTo>
                    <a:pt x="134925" y="125905"/>
                  </a:lnTo>
                  <a:lnTo>
                    <a:pt x="134925" y="81455"/>
                  </a:lnTo>
                  <a:lnTo>
                    <a:pt x="134847" y="80154"/>
                  </a:lnTo>
                  <a:cubicBezTo>
                    <a:pt x="134188" y="74559"/>
                    <a:pt x="129446" y="70343"/>
                    <a:pt x="123812" y="70342"/>
                  </a:cubicBezTo>
                  <a:close/>
                </a:path>
              </a:pathLst>
            </a:custGeom>
            <a:solidFill>
              <a:srgbClr val="D4837F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1223010" y="4404360"/>
              <a:ext cx="263440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窗口大 ≠ 每个位置都能完美关注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224915" y="4668202"/>
              <a:ext cx="497228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模型对不同位置的注意力是不均匀的 — 后面讲 Prompt 时会给出实用技巧</a:t>
              </a:r>
            </a:p>
          </p:txBody>
        </p:sp>
      </p:grpSp>
      <p:sp>
        <p:nvSpPr>
          <p:cNvPr id="69" name="TextBox 69"/>
          <p:cNvSpPr txBox="1"/>
          <p:nvPr/>
        </p:nvSpPr>
        <p:spPr>
          <a:xfrm>
            <a:off x="11687842" y="6522720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/>
      <p:bldP spid="6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2925" y="376238"/>
            <a:ext cx="11089957" cy="457200"/>
            <a:chOff x="542925" y="376238"/>
            <a:chExt cx="11089957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376238"/>
              <a:ext cx="6026396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KV Cache — 为什么多轮对话越来越慢？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041731" y="466249"/>
              <a:ext cx="159115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显存占用随对话轮次增长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-48625" y="996791"/>
            <a:ext cx="10907125" cy="4606290"/>
            <a:chOff x="-48625" y="996791"/>
            <a:chExt cx="10907125" cy="4606290"/>
          </a:xfrm>
        </p:grpSpPr>
        <p:sp>
          <p:nvSpPr>
            <p:cNvPr id="7" name="TextBox 7"/>
            <p:cNvSpPr txBox="1"/>
            <p:nvPr/>
          </p:nvSpPr>
          <p:spPr>
            <a:xfrm rot="-5400000">
              <a:off x="-48625" y="3242310"/>
              <a:ext cx="113357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KV Cache 显存占用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1143000" y="1047750"/>
              <a:ext cx="9525" cy="4286250"/>
            </a:xfrm>
            <a:custGeom>
              <a:avLst/>
              <a:gdLst/>
              <a:ahLst/>
              <a:cxnLst/>
              <a:rect l="l" t="t" r="r" b="b"/>
              <a:pathLst>
                <a:path w="9525" h="4286250">
                  <a:moveTo>
                    <a:pt x="0" y="0"/>
                  </a:moveTo>
                  <a:lnTo>
                    <a:pt x="0" y="4286250"/>
                  </a:lnTo>
                </a:path>
              </a:pathLst>
            </a:custGeom>
            <a:noFill/>
            <a:ln w="14288">
              <a:solidFill>
                <a:srgbClr val="EDE5D5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143000" y="5334000"/>
              <a:ext cx="9715500" cy="9525"/>
            </a:xfrm>
            <a:custGeom>
              <a:avLst/>
              <a:gdLst/>
              <a:ahLst/>
              <a:cxnLst/>
              <a:rect l="l" t="t" r="r" b="b"/>
              <a:pathLst>
                <a:path w="9715500" h="9525">
                  <a:moveTo>
                    <a:pt x="0" y="0"/>
                  </a:moveTo>
                  <a:lnTo>
                    <a:pt x="9715500" y="0"/>
                  </a:lnTo>
                </a:path>
              </a:pathLst>
            </a:custGeom>
            <a:noFill/>
            <a:ln w="14288">
              <a:solidFill>
                <a:srgbClr val="EDE5D5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1143000" y="4286250"/>
              <a:ext cx="9715500" cy="9525"/>
            </a:xfrm>
            <a:custGeom>
              <a:avLst/>
              <a:gdLst/>
              <a:ahLst/>
              <a:cxnLst/>
              <a:rect l="l" t="t" r="r" b="b"/>
              <a:pathLst>
                <a:path w="9715500" h="9525">
                  <a:moveTo>
                    <a:pt x="0" y="0"/>
                  </a:moveTo>
                  <a:lnTo>
                    <a:pt x="9715500" y="0"/>
                  </a:lnTo>
                </a:path>
              </a:pathLst>
            </a:custGeom>
            <a:noFill/>
            <a:ln w="4762">
              <a:solidFill>
                <a:srgbClr val="EDE5D5"/>
              </a:solidFill>
              <a:prstDash val="dash"/>
            </a:ln>
          </p:spPr>
        </p:sp>
        <p:sp>
          <p:nvSpPr>
            <p:cNvPr id="11" name="Line 11"/>
            <p:cNvSpPr/>
            <p:nvPr/>
          </p:nvSpPr>
          <p:spPr>
            <a:xfrm>
              <a:off x="1143000" y="3238500"/>
              <a:ext cx="9715500" cy="9525"/>
            </a:xfrm>
            <a:custGeom>
              <a:avLst/>
              <a:gdLst/>
              <a:ahLst/>
              <a:cxnLst/>
              <a:rect l="l" t="t" r="r" b="b"/>
              <a:pathLst>
                <a:path w="9715500" h="9525">
                  <a:moveTo>
                    <a:pt x="0" y="0"/>
                  </a:moveTo>
                  <a:lnTo>
                    <a:pt x="9715500" y="0"/>
                  </a:lnTo>
                </a:path>
              </a:pathLst>
            </a:custGeom>
            <a:noFill/>
            <a:ln w="4762">
              <a:solidFill>
                <a:srgbClr val="EDE5D5"/>
              </a:solidFill>
              <a:prstDash val="dash"/>
            </a:ln>
          </p:spPr>
        </p:sp>
        <p:sp>
          <p:nvSpPr>
            <p:cNvPr id="12" name="Line 12"/>
            <p:cNvSpPr/>
            <p:nvPr/>
          </p:nvSpPr>
          <p:spPr>
            <a:xfrm>
              <a:off x="1143000" y="2190750"/>
              <a:ext cx="9715500" cy="9525"/>
            </a:xfrm>
            <a:custGeom>
              <a:avLst/>
              <a:gdLst/>
              <a:ahLst/>
              <a:cxnLst/>
              <a:rect l="l" t="t" r="r" b="b"/>
              <a:pathLst>
                <a:path w="9715500" h="9525">
                  <a:moveTo>
                    <a:pt x="0" y="0"/>
                  </a:moveTo>
                  <a:lnTo>
                    <a:pt x="9715500" y="0"/>
                  </a:lnTo>
                </a:path>
              </a:pathLst>
            </a:custGeom>
            <a:noFill/>
            <a:ln w="4762">
              <a:solidFill>
                <a:srgbClr val="EDE5D5"/>
              </a:solidFill>
              <a:prstDash val="dash"/>
            </a:ln>
          </p:spPr>
        </p:sp>
        <p:sp>
          <p:nvSpPr>
            <p:cNvPr id="13" name="Line 13"/>
            <p:cNvSpPr/>
            <p:nvPr/>
          </p:nvSpPr>
          <p:spPr>
            <a:xfrm>
              <a:off x="1143000" y="1143000"/>
              <a:ext cx="9715500" cy="9525"/>
            </a:xfrm>
            <a:custGeom>
              <a:avLst/>
              <a:gdLst/>
              <a:ahLst/>
              <a:cxnLst/>
              <a:rect l="l" t="t" r="r" b="b"/>
              <a:pathLst>
                <a:path w="9715500" h="9525">
                  <a:moveTo>
                    <a:pt x="0" y="0"/>
                  </a:moveTo>
                  <a:lnTo>
                    <a:pt x="9715500" y="0"/>
                  </a:lnTo>
                </a:path>
              </a:pathLst>
            </a:custGeom>
            <a:noFill/>
            <a:ln w="4762">
              <a:solidFill>
                <a:srgbClr val="EDE5D5"/>
              </a:solidFill>
              <a:prstDash val="dash"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71002" y="5283041"/>
              <a:ext cx="8722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02315" y="4235291"/>
              <a:ext cx="2559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5 GB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6167" y="3187541"/>
              <a:ext cx="29206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10 GB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6167" y="2139791"/>
              <a:ext cx="29206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15 GB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9774" y="1092041"/>
              <a:ext cx="38845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20+ GB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428750" y="5124450"/>
              <a:ext cx="666750" cy="209550"/>
            </a:xfrm>
            <a:prstGeom prst="roundRect">
              <a:avLst>
                <a:gd name="adj" fmla="val 18182"/>
              </a:avLst>
            </a:prstGeom>
            <a:solidFill>
              <a:srgbClr val="E8A87C">
                <a:alpha val="30000"/>
              </a:srgbClr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673328" y="5435441"/>
              <a:ext cx="1775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1轮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706047" y="4986338"/>
              <a:ext cx="112157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8B6F47"/>
                  </a:solidFill>
                  <a:latin typeface="Consolas"/>
                  <a:ea typeface="Microsoft YaHei"/>
                  <a:cs typeface="Consolas"/>
                </a:rPr>
                <a:t>~1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2381250" y="4914900"/>
              <a:ext cx="666750" cy="419100"/>
            </a:xfrm>
            <a:prstGeom prst="roundRect">
              <a:avLst>
                <a:gd name="adj" fmla="val 9091"/>
              </a:avLst>
            </a:prstGeom>
            <a:solidFill>
              <a:srgbClr val="E8A87C">
                <a:alpha val="35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610767" y="5435441"/>
              <a:ext cx="20771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2轮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644854" y="4776788"/>
              <a:ext cx="139541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8B6F47"/>
                  </a:solidFill>
                  <a:latin typeface="Consolas"/>
                  <a:ea typeface="Microsoft YaHei"/>
                  <a:cs typeface="Consolas"/>
                </a:rPr>
                <a:t>~2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333750" y="4600575"/>
              <a:ext cx="666750" cy="733425"/>
            </a:xfrm>
            <a:prstGeom prst="roundRect">
              <a:avLst>
                <a:gd name="adj" fmla="val 5714"/>
              </a:avLst>
            </a:prstGeom>
            <a:solidFill>
              <a:srgbClr val="E8A87C">
                <a:alpha val="40000"/>
              </a:srgbClr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563267" y="5435441"/>
              <a:ext cx="20771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3轮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286250" y="4286250"/>
              <a:ext cx="666750" cy="1047750"/>
            </a:xfrm>
            <a:prstGeom prst="roundRect">
              <a:avLst>
                <a:gd name="adj" fmla="val 5714"/>
              </a:avLst>
            </a:prstGeom>
            <a:solidFill>
              <a:srgbClr val="E8A87C">
                <a:alpha val="50000"/>
              </a:srgbClr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515767" y="5435441"/>
              <a:ext cx="20771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4轮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238750" y="3657600"/>
              <a:ext cx="666750" cy="1676400"/>
            </a:xfrm>
            <a:prstGeom prst="roundRect">
              <a:avLst>
                <a:gd name="adj" fmla="val 5714"/>
              </a:avLst>
            </a:prstGeom>
            <a:solidFill>
              <a:srgbClr val="C4956A">
                <a:alpha val="50000"/>
              </a:srgbClr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468267" y="5435441"/>
              <a:ext cx="20771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5轮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502354" y="3519488"/>
              <a:ext cx="139541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C4956A"/>
                  </a:solidFill>
                  <a:latin typeface="Consolas"/>
                  <a:ea typeface="Microsoft YaHei"/>
                  <a:cs typeface="Consolas"/>
                </a:rPr>
                <a:t>~8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191250" y="3238500"/>
              <a:ext cx="666750" cy="2095500"/>
            </a:xfrm>
            <a:prstGeom prst="roundRect">
              <a:avLst>
                <a:gd name="adj" fmla="val 5714"/>
              </a:avLst>
            </a:prstGeom>
            <a:solidFill>
              <a:srgbClr val="C4956A">
                <a:alpha val="55000"/>
              </a:srgbClr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420767" y="5435441"/>
              <a:ext cx="20771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6轮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7143750" y="2609850"/>
              <a:ext cx="666750" cy="2724150"/>
            </a:xfrm>
            <a:prstGeom prst="roundRect">
              <a:avLst>
                <a:gd name="adj" fmla="val 5714"/>
              </a:avLst>
            </a:prstGeom>
            <a:solidFill>
              <a:srgbClr val="8B6F47">
                <a:alpha val="50000"/>
              </a:srgbClr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373267" y="5435441"/>
              <a:ext cx="20771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7轮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096250" y="1981200"/>
              <a:ext cx="666750" cy="3352800"/>
            </a:xfrm>
            <a:prstGeom prst="roundRect">
              <a:avLst>
                <a:gd name="adj" fmla="val 5714"/>
              </a:avLst>
            </a:prstGeom>
            <a:solidFill>
              <a:srgbClr val="8B6F47">
                <a:alpha val="60000"/>
              </a:srgbClr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325767" y="5435441"/>
              <a:ext cx="20771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8轮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9048750" y="1562100"/>
              <a:ext cx="666750" cy="3771900"/>
            </a:xfrm>
            <a:prstGeom prst="roundRect">
              <a:avLst>
                <a:gd name="adj" fmla="val 5714"/>
              </a:avLst>
            </a:prstGeom>
            <a:solidFill>
              <a:srgbClr val="8B6F47">
                <a:alpha val="70000"/>
              </a:srgbClr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278267" y="5435441"/>
              <a:ext cx="20771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9轮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10001250" y="1143000"/>
              <a:ext cx="666750" cy="4191000"/>
            </a:xfrm>
            <a:prstGeom prst="roundRect">
              <a:avLst>
                <a:gd name="adj" fmla="val 5714"/>
              </a:avLst>
            </a:prstGeom>
            <a:solidFill>
              <a:srgbClr val="D4837F">
                <a:alpha val="70000"/>
              </a:srgbClr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212693" y="5435441"/>
              <a:ext cx="24386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10轮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150188" y="996791"/>
              <a:ext cx="3688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D4837F"/>
                  </a:solidFill>
                  <a:latin typeface="Consolas"/>
                  <a:ea typeface="Microsoft YaHei"/>
                  <a:cs typeface="Consolas"/>
                </a:rPr>
                <a:t>20+GB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5703570" y="570499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对话轮次</a:t>
            </a:r>
          </a:p>
        </p:txBody>
      </p:sp>
      <p:grpSp>
        <p:nvGrpSpPr>
          <p:cNvPr id="47" name="Group 47"/>
          <p:cNvGrpSpPr/>
          <p:nvPr/>
        </p:nvGrpSpPr>
        <p:grpSpPr>
          <a:xfrm>
            <a:off x="1143000" y="6000750"/>
            <a:ext cx="9715500" cy="381000"/>
            <a:chOff x="1143000" y="6000750"/>
            <a:chExt cx="9715500" cy="381000"/>
          </a:xfrm>
        </p:grpSpPr>
        <p:sp>
          <p:nvSpPr>
            <p:cNvPr id="45" name="Rectangle 45"/>
            <p:cNvSpPr/>
            <p:nvPr/>
          </p:nvSpPr>
          <p:spPr>
            <a:xfrm>
              <a:off x="1143000" y="6000750"/>
              <a:ext cx="9715500" cy="381000"/>
            </a:xfrm>
            <a:prstGeom prst="roundRect">
              <a:avLst>
                <a:gd name="adj" fmla="val 20000"/>
              </a:avLst>
            </a:prstGeom>
            <a:solidFill>
              <a:srgbClr val="8B6F47">
                <a:alpha val="6000"/>
              </a:srgbClr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4446222" y="6135052"/>
              <a:ext cx="310905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不是模型变笨了，是</a:t>
              </a:r>
              <a:r>
                <a:rPr lang="zh-CN" sz="1050" b="1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"记忆"的物理代价</a:t>
              </a:r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在增长</a:t>
              </a: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1687842" y="6522720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8B6F47"/>
              </a:gs>
              <a:gs pos="100000">
                <a:srgbClr val="6B5535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572500" y="3810000"/>
            <a:ext cx="3810000" cy="3810000"/>
          </a:xfrm>
          <a:prstGeom prst="ellipse">
            <a:avLst/>
          </a:prstGeom>
          <a:solidFill>
            <a:srgbClr val="FAF7F2">
              <a:alpha val="5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571500" y="190500"/>
            <a:ext cx="2286000" cy="2286000"/>
          </a:xfrm>
          <a:prstGeom prst="ellipse">
            <a:avLst/>
          </a:prstGeom>
          <a:solidFill>
            <a:srgbClr val="FAF7F2">
              <a:alpha val="4000"/>
            </a:srgbClr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2751668" y="1504950"/>
            <a:ext cx="6688665" cy="3096293"/>
            <a:chOff x="2751668" y="1504950"/>
            <a:chExt cx="6688665" cy="3096293"/>
          </a:xfrm>
        </p:grpSpPr>
        <p:sp>
          <p:nvSpPr>
            <p:cNvPr id="5" name="TextBox 5"/>
            <p:cNvSpPr txBox="1"/>
            <p:nvPr/>
          </p:nvSpPr>
          <p:spPr>
            <a:xfrm>
              <a:off x="5222605" y="1504950"/>
              <a:ext cx="1746790" cy="1828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0" b="1" dirty="0">
                  <a:solidFill>
                    <a:srgbClr val="FAF7F2">
                      <a:alphaMod val="15000"/>
                    </a:srgbClr>
                  </a:solidFill>
                  <a:latin typeface="Georgia"/>
                  <a:ea typeface="Microsoft YaHei"/>
                  <a:cs typeface="Georgia"/>
                </a:rPr>
                <a:t>04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751668" y="2849880"/>
              <a:ext cx="6688665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FAF7F2"/>
                  </a:solidFill>
                  <a:latin typeface="Georgia"/>
                  <a:ea typeface="Microsoft YaHei"/>
                  <a:cs typeface="Georgia"/>
                </a:rPr>
                <a:t>Prompt &amp; System Prompt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4953000" y="3476625"/>
              <a:ext cx="2286000" cy="381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4872038" y="3838575"/>
              <a:ext cx="24479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AF7F2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你怎么问，决定它怎么答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5838825" y="4329112"/>
              <a:ext cx="285750" cy="272131"/>
            </a:xfrm>
            <a:custGeom>
              <a:avLst/>
              <a:gdLst/>
              <a:ahLst/>
              <a:cxnLst/>
              <a:rect l="l" t="t" r="r" b="b"/>
              <a:pathLst>
                <a:path w="285750" h="272131">
                  <a:moveTo>
                    <a:pt x="228600" y="0"/>
                  </a:moveTo>
                  <a:cubicBezTo>
                    <a:pt x="260163" y="0"/>
                    <a:pt x="285750" y="25587"/>
                    <a:pt x="285750" y="57150"/>
                  </a:cubicBezTo>
                  <a:lnTo>
                    <a:pt x="285750" y="171450"/>
                  </a:lnTo>
                  <a:cubicBezTo>
                    <a:pt x="285750" y="203013"/>
                    <a:pt x="260163" y="228600"/>
                    <a:pt x="228600" y="228600"/>
                  </a:cubicBezTo>
                  <a:lnTo>
                    <a:pt x="161106" y="228600"/>
                  </a:lnTo>
                  <a:lnTo>
                    <a:pt x="93069" y="269419"/>
                  </a:lnTo>
                  <a:cubicBezTo>
                    <a:pt x="88905" y="271918"/>
                    <a:pt x="83758" y="272131"/>
                    <a:pt x="79402" y="269985"/>
                  </a:cubicBezTo>
                  <a:cubicBezTo>
                    <a:pt x="75047" y="267839"/>
                    <a:pt x="72079" y="263628"/>
                    <a:pt x="71523" y="258804"/>
                  </a:cubicBezTo>
                  <a:lnTo>
                    <a:pt x="71438" y="257175"/>
                  </a:lnTo>
                  <a:lnTo>
                    <a:pt x="71438" y="228600"/>
                  </a:lnTo>
                  <a:lnTo>
                    <a:pt x="57150" y="228600"/>
                  </a:lnTo>
                  <a:cubicBezTo>
                    <a:pt x="26698" y="228600"/>
                    <a:pt x="1594" y="204722"/>
                    <a:pt x="71" y="174308"/>
                  </a:cubicBezTo>
                  <a:lnTo>
                    <a:pt x="0" y="171450"/>
                  </a:ln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  <a:moveTo>
                    <a:pt x="171450" y="128588"/>
                  </a:moveTo>
                  <a:lnTo>
                    <a:pt x="85725" y="128588"/>
                  </a:lnTo>
                  <a:cubicBezTo>
                    <a:pt x="77834" y="128588"/>
                    <a:pt x="71438" y="134984"/>
                    <a:pt x="71438" y="142875"/>
                  </a:cubicBezTo>
                  <a:cubicBezTo>
                    <a:pt x="71438" y="150766"/>
                    <a:pt x="77834" y="157162"/>
                    <a:pt x="85725" y="157162"/>
                  </a:cubicBezTo>
                  <a:lnTo>
                    <a:pt x="171450" y="157162"/>
                  </a:lnTo>
                  <a:cubicBezTo>
                    <a:pt x="179341" y="157162"/>
                    <a:pt x="185738" y="150766"/>
                    <a:pt x="185738" y="142875"/>
                  </a:cubicBezTo>
                  <a:cubicBezTo>
                    <a:pt x="185738" y="134984"/>
                    <a:pt x="179341" y="128588"/>
                    <a:pt x="171450" y="128588"/>
                  </a:cubicBezTo>
                  <a:moveTo>
                    <a:pt x="200025" y="71438"/>
                  </a:moveTo>
                  <a:lnTo>
                    <a:pt x="85725" y="71438"/>
                  </a:lnTo>
                  <a:cubicBezTo>
                    <a:pt x="77834" y="71438"/>
                    <a:pt x="71438" y="77834"/>
                    <a:pt x="71438" y="85725"/>
                  </a:cubicBezTo>
                  <a:cubicBezTo>
                    <a:pt x="71438" y="93616"/>
                    <a:pt x="77834" y="100012"/>
                    <a:pt x="85725" y="100012"/>
                  </a:cubicBezTo>
                  <a:lnTo>
                    <a:pt x="200025" y="100012"/>
                  </a:lnTo>
                  <a:cubicBezTo>
                    <a:pt x="207916" y="100012"/>
                    <a:pt x="214312" y="93616"/>
                    <a:pt x="214312" y="85725"/>
                  </a:cubicBezTo>
                  <a:cubicBezTo>
                    <a:pt x="214312" y="77834"/>
                    <a:pt x="207916" y="71438"/>
                    <a:pt x="200025" y="71438"/>
                  </a:cubicBezTo>
                </a:path>
              </a:pathLst>
            </a:custGeom>
            <a:solidFill>
              <a:srgbClr val="E8A87C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369570" y="6522720"/>
            <a:ext cx="11452860" cy="182880"/>
            <a:chOff x="369570" y="6522720"/>
            <a:chExt cx="11452860" cy="182880"/>
          </a:xfrm>
        </p:grpSpPr>
        <p:sp>
          <p:nvSpPr>
            <p:cNvPr id="11" name="TextBox 11"/>
            <p:cNvSpPr txBox="1"/>
            <p:nvPr/>
          </p:nvSpPr>
          <p:spPr>
            <a:xfrm>
              <a:off x="369570" y="6522720"/>
              <a:ext cx="14687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AI大家学 · 大模型技术篇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687842" y="6522720"/>
              <a:ext cx="1345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42925" y="376238"/>
            <a:ext cx="3852624" cy="457200"/>
            <a:chOff x="542925" y="376238"/>
            <a:chExt cx="3852624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376238"/>
              <a:ext cx="3852624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同样的模型，不同的问法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571500" y="1047750"/>
            <a:ext cx="5238750" cy="3238500"/>
            <a:chOff x="571500" y="1047750"/>
            <a:chExt cx="5238750" cy="3238500"/>
          </a:xfrm>
        </p:grpSpPr>
        <p:sp>
          <p:nvSpPr>
            <p:cNvPr id="6" name="Rectangle 6"/>
            <p:cNvSpPr/>
            <p:nvPr/>
          </p:nvSpPr>
          <p:spPr>
            <a:xfrm>
              <a:off x="571500" y="1047750"/>
              <a:ext cx="5238750" cy="3238500"/>
            </a:xfrm>
            <a:prstGeom prst="roundRect">
              <a:avLst>
                <a:gd name="adj" fmla="val 4706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42010" y="1280160"/>
              <a:ext cx="109781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模糊 Prompt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857250" y="1571625"/>
              <a:ext cx="4667250" cy="762000"/>
            </a:xfrm>
            <a:prstGeom prst="roundRect">
              <a:avLst>
                <a:gd name="adj" fmla="val 12500"/>
              </a:avLst>
            </a:prstGeom>
            <a:solidFill>
              <a:srgbClr val="F0EBE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32510" y="1727835"/>
              <a:ext cx="162534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"帮我写个排序算法"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952988" y="2276475"/>
              <a:ext cx="475774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500" dirty="0">
                  <a:solidFill>
                    <a:srgbClr val="EDE5D5"/>
                  </a:solidFill>
                  <a:latin typeface="Arial"/>
                  <a:ea typeface="Microsoft YaHei"/>
                  <a:cs typeface="Arial"/>
                </a:rPr>
                <a:t>❓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257425" y="3315652"/>
              <a:ext cx="18669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冒泡？插入？快速？不确定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794159" y="3553778"/>
              <a:ext cx="7934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看模型心情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524000" y="3905250"/>
              <a:ext cx="3333750" cy="266700"/>
            </a:xfrm>
            <a:prstGeom prst="roundRect">
              <a:avLst>
                <a:gd name="adj" fmla="val 50000"/>
              </a:avLst>
            </a:prstGeom>
            <a:solidFill>
              <a:srgbClr val="D4837F">
                <a:alpha val="10000"/>
              </a:srgbClr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384619" y="3990499"/>
              <a:ext cx="16125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搜索空间大 → 结果不确定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381750" y="1047750"/>
            <a:ext cx="5238750" cy="3238500"/>
            <a:chOff x="6381750" y="1047750"/>
            <a:chExt cx="5238750" cy="3238500"/>
          </a:xfrm>
        </p:grpSpPr>
        <p:sp>
          <p:nvSpPr>
            <p:cNvPr id="16" name="Rectangle 16"/>
            <p:cNvSpPr/>
            <p:nvPr/>
          </p:nvSpPr>
          <p:spPr>
            <a:xfrm>
              <a:off x="6381750" y="1047750"/>
              <a:ext cx="5238750" cy="3238500"/>
            </a:xfrm>
            <a:prstGeom prst="roundRect">
              <a:avLst>
                <a:gd name="adj" fmla="val 4706"/>
              </a:avLst>
            </a:prstGeom>
            <a:solidFill>
              <a:srgbClr val="FAF7F2"/>
            </a:solidFill>
            <a:ln w="19050">
              <a:solidFill>
                <a:srgbClr val="E8A87C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652260" y="1280160"/>
              <a:ext cx="109781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精确 Prompt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667500" y="1571625"/>
              <a:ext cx="4667250" cy="1143000"/>
            </a:xfrm>
            <a:prstGeom prst="roundRect">
              <a:avLst>
                <a:gd name="adj" fmla="val 8333"/>
              </a:avLst>
            </a:prstGeom>
            <a:solidFill>
              <a:srgbClr val="F0EBE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844665" y="1744028"/>
              <a:ext cx="193590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 xml:space="preserve">"用 </a:t>
              </a:r>
              <a:r>
                <a:rPr lang="zh-CN" sz="1050" b="1" dirty="0">
                  <a:solidFill>
                    <a:srgbClr val="E8A87C"/>
                  </a:solidFill>
                  <a:latin typeface="Consolas"/>
                  <a:ea typeface="Microsoft YaHei"/>
                  <a:cs typeface="Consolas"/>
                </a:rPr>
                <a:t>Python</a:t>
              </a:r>
              <a:r>
                <a:rPr lang="zh-CN" sz="1050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 xml:space="preserve"> 实现</a:t>
              </a:r>
              <a:r>
                <a:rPr lang="zh-CN" sz="1050" b="1" dirty="0">
                  <a:solidFill>
                    <a:srgbClr val="E8A87C"/>
                  </a:solidFill>
                  <a:latin typeface="Consolas"/>
                  <a:ea typeface="Microsoft YaHei"/>
                  <a:cs typeface="Consolas"/>
                </a:rPr>
                <a:t>快速排序</a:t>
              </a:r>
              <a:r>
                <a:rPr lang="zh-CN" sz="1050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844665" y="1963102"/>
              <a:ext cx="12534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输入是</a:t>
              </a:r>
              <a:r>
                <a:rPr lang="zh-CN" sz="1050" b="1" dirty="0">
                  <a:solidFill>
                    <a:srgbClr val="E8A87C"/>
                  </a:solidFill>
                  <a:latin typeface="Consolas"/>
                  <a:ea typeface="Microsoft YaHei"/>
                  <a:cs typeface="Consolas"/>
                </a:rPr>
                <a:t>整数列表</a:t>
              </a:r>
              <a:r>
                <a:rPr lang="zh-CN" sz="1050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844665" y="2182178"/>
              <a:ext cx="21736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要求</a:t>
              </a:r>
              <a:r>
                <a:rPr lang="zh-CN" sz="1050" b="1" dirty="0">
                  <a:solidFill>
                    <a:srgbClr val="E8A87C"/>
                  </a:solidFill>
                  <a:latin typeface="Consolas"/>
                  <a:ea typeface="Microsoft YaHei"/>
                  <a:cs typeface="Consolas"/>
                </a:rPr>
                <a:t>原地排序</a:t>
              </a:r>
              <a:r>
                <a:rPr lang="zh-CN" sz="1050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，返回</a:t>
              </a:r>
              <a:r>
                <a:rPr lang="zh-CN" sz="1050" b="1" dirty="0">
                  <a:solidFill>
                    <a:srgbClr val="E8A87C"/>
                  </a:solidFill>
                  <a:latin typeface="Consolas"/>
                  <a:ea typeface="Microsoft YaHei"/>
                  <a:cs typeface="Consolas"/>
                </a:rPr>
                <a:t>升序</a:t>
              </a:r>
              <a:r>
                <a:rPr lang="zh-CN" sz="1050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结果，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844665" y="2401252"/>
              <a:ext cx="16828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 xml:space="preserve">时间复杂度 </a:t>
              </a:r>
              <a:r>
                <a:rPr lang="zh-CN" sz="1050" b="1" dirty="0">
                  <a:solidFill>
                    <a:srgbClr val="E8A87C"/>
                  </a:solidFill>
                  <a:latin typeface="Consolas"/>
                  <a:ea typeface="Microsoft YaHei"/>
                  <a:cs typeface="Consolas"/>
                </a:rPr>
                <a:t>O(n log n)</a:t>
              </a:r>
              <a:r>
                <a:rPr lang="zh-CN" sz="1050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"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763238" y="2657475"/>
              <a:ext cx="475774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500" dirty="0">
                  <a:solidFill>
                    <a:srgbClr val="8FBC8F"/>
                  </a:solidFill>
                  <a:latin typeface="Arial"/>
                  <a:ea typeface="Microsoft YaHei"/>
                  <a:cs typeface="Arial"/>
                </a:rPr>
                <a:t>✓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263199" y="3553778"/>
              <a:ext cx="14758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结果确定，质量可控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334250" y="3905250"/>
              <a:ext cx="3333750" cy="266700"/>
            </a:xfrm>
            <a:prstGeom prst="roundRect">
              <a:avLst>
                <a:gd name="adj" fmla="val 50000"/>
              </a:avLst>
            </a:prstGeom>
            <a:solidFill>
              <a:srgbClr val="8FBC8F">
                <a:alpha val="15000"/>
              </a:srgbClr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241149" y="3990499"/>
              <a:ext cx="15199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8FBC8F"/>
                  </a:solidFill>
                  <a:latin typeface="Arial"/>
                  <a:ea typeface="Microsoft YaHei"/>
                  <a:cs typeface="Arial"/>
                </a:rPr>
                <a:t>约束条件缩小搜索空间</a:t>
              </a:r>
            </a:p>
          </p:txBody>
        </p:sp>
      </p:grpSp>
      <p:sp>
        <p:nvSpPr>
          <p:cNvPr id="28" name="Rectangle 28"/>
          <p:cNvSpPr/>
          <p:nvPr/>
        </p:nvSpPr>
        <p:spPr>
          <a:xfrm>
            <a:off x="5572125" y="2286000"/>
            <a:ext cx="1047750" cy="381000"/>
          </a:xfrm>
          <a:prstGeom prst="roundRect">
            <a:avLst>
              <a:gd name="adj" fmla="val 50000"/>
            </a:avLst>
          </a:prstGeom>
          <a:solidFill>
            <a:srgbClr val="8B6F47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5950434" y="2381250"/>
            <a:ext cx="29113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AF7F2"/>
                </a:solidFill>
                <a:latin typeface="Georgia"/>
                <a:ea typeface="SimSun"/>
                <a:cs typeface="Georgia"/>
              </a:rPr>
              <a:t>VS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571500" y="4572000"/>
            <a:ext cx="11049000" cy="983456"/>
            <a:chOff x="571500" y="4572000"/>
            <a:chExt cx="11049000" cy="983456"/>
          </a:xfrm>
        </p:grpSpPr>
        <p:sp>
          <p:nvSpPr>
            <p:cNvPr id="30" name="Rectangle 30"/>
            <p:cNvSpPr/>
            <p:nvPr/>
          </p:nvSpPr>
          <p:spPr>
            <a:xfrm>
              <a:off x="571500" y="4572000"/>
              <a:ext cx="11049000" cy="952500"/>
            </a:xfrm>
            <a:prstGeom prst="roundRect">
              <a:avLst>
                <a:gd name="adj" fmla="val 16000"/>
              </a:avLst>
            </a:prstGeom>
            <a:solidFill>
              <a:srgbClr val="8B6F47">
                <a:alpha val="6000"/>
              </a:srgbClr>
            </a:solidFill>
            <a:ln w="9525">
              <a:solidFill>
                <a:srgbClr val="8B6F47"/>
              </a:solidFill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882292" y="4835525"/>
              <a:ext cx="254716" cy="254000"/>
              <a:chOff x="882292" y="4835525"/>
              <a:chExt cx="254716" cy="2540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882292" y="4949825"/>
                <a:ext cx="38816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38816" h="25400">
                    <a:moveTo>
                      <a:pt x="25758" y="0"/>
                    </a:moveTo>
                    <a:cubicBezTo>
                      <a:pt x="32477" y="7"/>
                      <a:pt x="38028" y="5248"/>
                      <a:pt x="38422" y="11956"/>
                    </a:cubicBezTo>
                    <a:cubicBezTo>
                      <a:pt x="38816" y="18664"/>
                      <a:pt x="33916" y="24517"/>
                      <a:pt x="27244" y="25311"/>
                    </a:cubicBezTo>
                    <a:lnTo>
                      <a:pt x="25758" y="25400"/>
                    </a:lnTo>
                    <a:lnTo>
                      <a:pt x="13058" y="25400"/>
                    </a:lnTo>
                    <a:cubicBezTo>
                      <a:pt x="6338" y="25393"/>
                      <a:pt x="788" y="20152"/>
                      <a:pt x="394" y="13444"/>
                    </a:cubicBezTo>
                    <a:cubicBezTo>
                      <a:pt x="0" y="6736"/>
                      <a:pt x="4900" y="883"/>
                      <a:pt x="11572" y="89"/>
                    </a:cubicBezTo>
                    <a:lnTo>
                      <a:pt x="13058" y="0"/>
                    </a:lnTo>
                    <a:lnTo>
                      <a:pt x="2575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996950" y="4835525"/>
                <a:ext cx="25400" cy="38458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38458">
                    <a:moveTo>
                      <a:pt x="12700" y="0"/>
                    </a:moveTo>
                    <a:cubicBezTo>
                      <a:pt x="19139" y="1"/>
                      <a:pt x="24558" y="4820"/>
                      <a:pt x="25311" y="11214"/>
                    </a:cubicBezTo>
                    <a:lnTo>
                      <a:pt x="25400" y="12700"/>
                    </a:lnTo>
                    <a:lnTo>
                      <a:pt x="25400" y="25400"/>
                    </a:lnTo>
                    <a:cubicBezTo>
                      <a:pt x="25393" y="32119"/>
                      <a:pt x="20152" y="37670"/>
                      <a:pt x="13444" y="38064"/>
                    </a:cubicBezTo>
                    <a:cubicBezTo>
                      <a:pt x="6736" y="38458"/>
                      <a:pt x="883" y="33558"/>
                      <a:pt x="89" y="26886"/>
                    </a:cubicBezTo>
                    <a:lnTo>
                      <a:pt x="0" y="25400"/>
                    </a:lnTo>
                    <a:lnTo>
                      <a:pt x="0" y="12700"/>
                    </a:lnTo>
                    <a:cubicBezTo>
                      <a:pt x="0" y="5686"/>
                      <a:pt x="5686" y="0"/>
                      <a:pt x="12700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1098192" y="4949825"/>
                <a:ext cx="38816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38816" h="25400">
                    <a:moveTo>
                      <a:pt x="25758" y="0"/>
                    </a:moveTo>
                    <a:cubicBezTo>
                      <a:pt x="32477" y="7"/>
                      <a:pt x="38028" y="5248"/>
                      <a:pt x="38422" y="11956"/>
                    </a:cubicBezTo>
                    <a:cubicBezTo>
                      <a:pt x="38816" y="18664"/>
                      <a:pt x="33916" y="24517"/>
                      <a:pt x="27244" y="25311"/>
                    </a:cubicBezTo>
                    <a:lnTo>
                      <a:pt x="25758" y="25400"/>
                    </a:lnTo>
                    <a:lnTo>
                      <a:pt x="13058" y="25400"/>
                    </a:lnTo>
                    <a:cubicBezTo>
                      <a:pt x="6338" y="25393"/>
                      <a:pt x="788" y="20152"/>
                      <a:pt x="394" y="13444"/>
                    </a:cubicBezTo>
                    <a:cubicBezTo>
                      <a:pt x="0" y="6736"/>
                      <a:pt x="4900" y="883"/>
                      <a:pt x="11572" y="89"/>
                    </a:cubicBezTo>
                    <a:lnTo>
                      <a:pt x="13058" y="0"/>
                    </a:lnTo>
                    <a:lnTo>
                      <a:pt x="2575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914433" y="4867290"/>
                <a:ext cx="36765" cy="36974"/>
              </a:xfrm>
              <a:custGeom>
                <a:avLst/>
                <a:gdLst/>
                <a:ahLst/>
                <a:cxnLst/>
                <a:rect l="l" t="t" r="r" b="b"/>
                <a:pathLst>
                  <a:path w="36765" h="36974">
                    <a:moveTo>
                      <a:pt x="4958" y="4976"/>
                    </a:moveTo>
                    <a:cubicBezTo>
                      <a:pt x="9482" y="452"/>
                      <a:pt x="16666" y="0"/>
                      <a:pt x="21722" y="3922"/>
                    </a:cubicBezTo>
                    <a:lnTo>
                      <a:pt x="22916" y="4976"/>
                    </a:lnTo>
                    <a:lnTo>
                      <a:pt x="31806" y="13866"/>
                    </a:lnTo>
                    <a:cubicBezTo>
                      <a:pt x="36533" y="18609"/>
                      <a:pt x="36765" y="26208"/>
                      <a:pt x="32336" y="31230"/>
                    </a:cubicBezTo>
                    <a:cubicBezTo>
                      <a:pt x="27907" y="36253"/>
                      <a:pt x="20339" y="36974"/>
                      <a:pt x="15042" y="32878"/>
                    </a:cubicBezTo>
                    <a:lnTo>
                      <a:pt x="13848" y="31824"/>
                    </a:lnTo>
                    <a:lnTo>
                      <a:pt x="4958" y="22934"/>
                    </a:lnTo>
                    <a:cubicBezTo>
                      <a:pt x="0" y="17974"/>
                      <a:pt x="0" y="9935"/>
                      <a:pt x="4958" y="4976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1067911" y="4867307"/>
                <a:ext cx="37148" cy="36766"/>
              </a:xfrm>
              <a:custGeom>
                <a:avLst/>
                <a:gdLst/>
                <a:ahLst/>
                <a:cxnLst/>
                <a:rect l="l" t="t" r="r" b="b"/>
                <a:pathLst>
                  <a:path w="37148" h="36766">
                    <a:moveTo>
                      <a:pt x="14040" y="4959"/>
                    </a:moveTo>
                    <a:cubicBezTo>
                      <a:pt x="18783" y="232"/>
                      <a:pt x="26382" y="0"/>
                      <a:pt x="31405" y="4429"/>
                    </a:cubicBezTo>
                    <a:cubicBezTo>
                      <a:pt x="36427" y="8858"/>
                      <a:pt x="37148" y="16426"/>
                      <a:pt x="33052" y="21723"/>
                    </a:cubicBezTo>
                    <a:lnTo>
                      <a:pt x="31998" y="22917"/>
                    </a:lnTo>
                    <a:lnTo>
                      <a:pt x="23108" y="31807"/>
                    </a:lnTo>
                    <a:cubicBezTo>
                      <a:pt x="18365" y="36534"/>
                      <a:pt x="10766" y="36766"/>
                      <a:pt x="5744" y="32337"/>
                    </a:cubicBezTo>
                    <a:cubicBezTo>
                      <a:pt x="721" y="27908"/>
                      <a:pt x="0" y="20340"/>
                      <a:pt x="4096" y="15043"/>
                    </a:cubicBezTo>
                    <a:lnTo>
                      <a:pt x="5150" y="13849"/>
                    </a:lnTo>
                    <a:lnTo>
                      <a:pt x="14040" y="4959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971550" y="5038725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63500" y="0"/>
                    </a:moveTo>
                    <a:cubicBezTo>
                      <a:pt x="70514" y="0"/>
                      <a:pt x="76200" y="5686"/>
                      <a:pt x="76200" y="12700"/>
                    </a:cubicBezTo>
                    <a:cubicBezTo>
                      <a:pt x="76200" y="33742"/>
                      <a:pt x="59142" y="50800"/>
                      <a:pt x="38100" y="50800"/>
                    </a:cubicBezTo>
                    <a:cubicBezTo>
                      <a:pt x="17058" y="50800"/>
                      <a:pt x="0" y="33742"/>
                      <a:pt x="0" y="12700"/>
                    </a:cubicBezTo>
                    <a:cubicBezTo>
                      <a:pt x="1" y="6261"/>
                      <a:pt x="4820" y="842"/>
                      <a:pt x="11214" y="89"/>
                    </a:cubicBezTo>
                    <a:lnTo>
                      <a:pt x="12700" y="0"/>
                    </a:lnTo>
                    <a:lnTo>
                      <a:pt x="63500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926988" y="4886325"/>
                <a:ext cx="165323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165323" h="139700">
                    <a:moveTo>
                      <a:pt x="82662" y="0"/>
                    </a:moveTo>
                    <a:cubicBezTo>
                      <a:pt x="115460" y="0"/>
                      <a:pt x="144579" y="20988"/>
                      <a:pt x="154951" y="52103"/>
                    </a:cubicBezTo>
                    <a:cubicBezTo>
                      <a:pt x="165323" y="83219"/>
                      <a:pt x="154621" y="117481"/>
                      <a:pt x="128382" y="137160"/>
                    </a:cubicBezTo>
                    <a:cubicBezTo>
                      <a:pt x="126631" y="138475"/>
                      <a:pt x="124571" y="139315"/>
                      <a:pt x="122400" y="139598"/>
                    </a:cubicBezTo>
                    <a:lnTo>
                      <a:pt x="120762" y="139700"/>
                    </a:lnTo>
                    <a:lnTo>
                      <a:pt x="44562" y="139700"/>
                    </a:lnTo>
                    <a:cubicBezTo>
                      <a:pt x="41814" y="139700"/>
                      <a:pt x="39140" y="138809"/>
                      <a:pt x="36942" y="137160"/>
                    </a:cubicBezTo>
                    <a:cubicBezTo>
                      <a:pt x="10703" y="117481"/>
                      <a:pt x="0" y="83219"/>
                      <a:pt x="10372" y="52103"/>
                    </a:cubicBezTo>
                    <a:cubicBezTo>
                      <a:pt x="20744" y="20988"/>
                      <a:pt x="49863" y="0"/>
                      <a:pt x="82662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316355" y="4807268"/>
              <a:ext cx="341916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Prompt Engineering（提示词工程）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319212" y="5117306"/>
              <a:ext cx="28217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研究怎么把需求说得更精确、更结构化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319212" y="5326856"/>
              <a:ext cx="23288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让模型更容易给出你想要的答案</a:t>
              </a: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11687842" y="6522720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18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7" grpId="0"/>
      <p:bldP spid="4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42925" y="376238"/>
            <a:ext cx="2127409" cy="457200"/>
            <a:chOff x="542925" y="376238"/>
            <a:chExt cx="2127409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376238"/>
              <a:ext cx="2127409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两个实用技巧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571500" y="952500"/>
            <a:ext cx="5334000" cy="2667000"/>
            <a:chOff x="571500" y="952500"/>
            <a:chExt cx="5334000" cy="2667000"/>
          </a:xfrm>
        </p:grpSpPr>
        <p:sp>
          <p:nvSpPr>
            <p:cNvPr id="6" name="Rectangle 6"/>
            <p:cNvSpPr/>
            <p:nvPr/>
          </p:nvSpPr>
          <p:spPr>
            <a:xfrm>
              <a:off x="571500" y="952500"/>
              <a:ext cx="5334000" cy="2667000"/>
            </a:xfrm>
            <a:prstGeom prst="roundRect">
              <a:avLst>
                <a:gd name="adj" fmla="val 5714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571500" y="952500"/>
              <a:ext cx="57150" cy="26670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40105" y="1111568"/>
              <a:ext cx="208384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Few-shot 少样本学习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44868" y="1371124"/>
              <a:ext cx="24597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在 Prompt 里给几个示范，模型照着来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57250" y="1666875"/>
              <a:ext cx="4762500" cy="1333500"/>
            </a:xfrm>
            <a:prstGeom prst="roundRect">
              <a:avLst>
                <a:gd name="adj" fmla="val 5714"/>
              </a:avLst>
            </a:prstGeom>
            <a:solidFill>
              <a:srgbClr val="F0EBE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34415" y="1791652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把以下中文翻译成英文：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34415" y="2058352"/>
              <a:ext cx="177488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中文：你好 → 英文：Hello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34415" y="2296478"/>
              <a:ext cx="21506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中文：谢谢 → 英文：Thank you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34415" y="2582228"/>
              <a:ext cx="20202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中文：再见 → 英文：</a:t>
              </a:r>
              <a:r>
                <a:rPr lang="zh-CN" sz="1050" b="1" dirty="0">
                  <a:solidFill>
                    <a:srgbClr val="E8A87C"/>
                  </a:solidFill>
                  <a:latin typeface="Consolas"/>
                  <a:ea typeface="Microsoft YaHei"/>
                  <a:cs typeface="Consolas"/>
                </a:rPr>
                <a:t>Goodbye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4868" y="3180874"/>
              <a:ext cx="162675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给 0 个例子 = Zero-shot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4868" y="3399949"/>
              <a:ext cx="24099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给几个例子 = Few-shot（无需训练）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71500" y="3810000"/>
            <a:ext cx="5334000" cy="2476500"/>
            <a:chOff x="571500" y="3810000"/>
            <a:chExt cx="5334000" cy="2476500"/>
          </a:xfrm>
        </p:grpSpPr>
        <p:sp>
          <p:nvSpPr>
            <p:cNvPr id="18" name="Rectangle 18"/>
            <p:cNvSpPr/>
            <p:nvPr/>
          </p:nvSpPr>
          <p:spPr>
            <a:xfrm>
              <a:off x="571500" y="3810000"/>
              <a:ext cx="5334000" cy="2476500"/>
            </a:xfrm>
            <a:prstGeom prst="roundRect">
              <a:avLst>
                <a:gd name="adj" fmla="val 6154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71500" y="3810000"/>
              <a:ext cx="57150" cy="2476500"/>
            </a:xfrm>
            <a:prstGeom prst="roundRect">
              <a:avLst>
                <a:gd name="adj" fmla="val 50000"/>
              </a:avLst>
            </a:prstGeom>
            <a:solidFill>
              <a:srgbClr val="8FBC8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40105" y="3969068"/>
              <a:ext cx="313967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CoT 思维链（Chain of Thought）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44868" y="4228624"/>
              <a:ext cx="24597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让模型"一步步想"，而不是直接猜答案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57250" y="4524375"/>
              <a:ext cx="2190750" cy="857250"/>
            </a:xfrm>
            <a:prstGeom prst="roundRect">
              <a:avLst>
                <a:gd name="adj" fmla="val 8889"/>
              </a:avLst>
            </a:prstGeom>
            <a:solidFill>
              <a:srgbClr val="F0EBE0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41070" y="4646295"/>
              <a:ext cx="548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普通问法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0118" y="4847749"/>
              <a:ext cx="1334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"30人，男多女6人，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0118" y="5038249"/>
              <a:ext cx="81507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男生几人？"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265170" y="4822508"/>
              <a:ext cx="17445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3619500" y="4524375"/>
              <a:ext cx="2190750" cy="857250"/>
            </a:xfrm>
            <a:prstGeom prst="roundRect">
              <a:avLst>
                <a:gd name="adj" fmla="val 8889"/>
              </a:avLst>
            </a:prstGeom>
            <a:solidFill>
              <a:srgbClr val="E8A87C">
                <a:alpha val="8000"/>
              </a:srgbClr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703320" y="4646295"/>
              <a:ext cx="54206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CoT 问法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702368" y="4847749"/>
              <a:ext cx="12422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"</a:t>
              </a:r>
              <a:r>
                <a:rPr lang="zh-CN" sz="975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请一步一步思考</a:t>
              </a:r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702368" y="5038249"/>
              <a:ext cx="142739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30人，男多女6人..."</a:t>
              </a:r>
            </a:p>
          </p:txBody>
        </p:sp>
        <p:grpSp>
          <p:nvGrpSpPr>
            <p:cNvPr id="36" name="Group 36"/>
            <p:cNvGrpSpPr/>
            <p:nvPr/>
          </p:nvGrpSpPr>
          <p:grpSpPr>
            <a:xfrm>
              <a:off x="972145" y="5471160"/>
              <a:ext cx="4393966" cy="662940"/>
              <a:chOff x="972145" y="5471160"/>
              <a:chExt cx="4393966" cy="662940"/>
            </a:xfrm>
          </p:grpSpPr>
          <p:sp>
            <p:nvSpPr>
              <p:cNvPr id="31" name="TextBox 31"/>
              <p:cNvSpPr txBox="1"/>
              <p:nvPr/>
            </p:nvSpPr>
            <p:spPr>
              <a:xfrm>
                <a:off x="972145" y="5471160"/>
                <a:ext cx="1103709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700" b="1" dirty="0">
                    <a:solidFill>
                      <a:srgbClr val="D4837F"/>
                    </a:solidFill>
                    <a:latin typeface="Georgia"/>
                    <a:ea typeface="SimSun"/>
                    <a:cs typeface="Georgia"/>
                  </a:rPr>
                  <a:t>17.7%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249680" y="5951220"/>
                <a:ext cx="54864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直接回答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3127486" y="5583555"/>
                <a:ext cx="222028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dirty="0">
                    <a:solidFill>
                      <a:srgbClr val="8B6F47"/>
                    </a:solidFill>
                    <a:latin typeface="Arial"/>
                    <a:ea typeface="Microsoft YaHei"/>
                    <a:cs typeface="Arial"/>
                  </a:rPr>
                  <a:t>→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158889" y="5471160"/>
                <a:ext cx="1207222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700" b="1" dirty="0">
                    <a:solidFill>
                      <a:srgbClr val="8FBC8F"/>
                    </a:solidFill>
                    <a:latin typeface="Georgia"/>
                    <a:ea typeface="SimSun"/>
                    <a:cs typeface="Georgia"/>
                  </a:rPr>
                  <a:t>78.7%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4422458" y="5951220"/>
                <a:ext cx="68008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一步步思考</a:t>
                </a:r>
              </a:p>
            </p:txBody>
          </p:sp>
        </p:grpSp>
      </p:grpSp>
      <p:grpSp>
        <p:nvGrpSpPr>
          <p:cNvPr id="65" name="Group 65"/>
          <p:cNvGrpSpPr/>
          <p:nvPr/>
        </p:nvGrpSpPr>
        <p:grpSpPr>
          <a:xfrm>
            <a:off x="6286500" y="952500"/>
            <a:ext cx="5334000" cy="5334000"/>
            <a:chOff x="6286500" y="952500"/>
            <a:chExt cx="5334000" cy="5334000"/>
          </a:xfrm>
        </p:grpSpPr>
        <p:sp>
          <p:nvSpPr>
            <p:cNvPr id="38" name="Rectangle 38"/>
            <p:cNvSpPr/>
            <p:nvPr/>
          </p:nvSpPr>
          <p:spPr>
            <a:xfrm>
              <a:off x="6286500" y="952500"/>
              <a:ext cx="5334000" cy="5334000"/>
            </a:xfrm>
            <a:prstGeom prst="roundRect">
              <a:avLst>
                <a:gd name="adj" fmla="val 2857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6597292" y="1216025"/>
              <a:ext cx="254716" cy="254000"/>
              <a:chOff x="6597292" y="1216025"/>
              <a:chExt cx="254716" cy="2540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6597292" y="1330325"/>
                <a:ext cx="38816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38816" h="25400">
                    <a:moveTo>
                      <a:pt x="25758" y="0"/>
                    </a:moveTo>
                    <a:cubicBezTo>
                      <a:pt x="32477" y="7"/>
                      <a:pt x="38028" y="5248"/>
                      <a:pt x="38422" y="11956"/>
                    </a:cubicBezTo>
                    <a:cubicBezTo>
                      <a:pt x="38816" y="18664"/>
                      <a:pt x="33916" y="24517"/>
                      <a:pt x="27244" y="25311"/>
                    </a:cubicBezTo>
                    <a:lnTo>
                      <a:pt x="25758" y="25400"/>
                    </a:lnTo>
                    <a:lnTo>
                      <a:pt x="13058" y="25400"/>
                    </a:lnTo>
                    <a:cubicBezTo>
                      <a:pt x="6338" y="25393"/>
                      <a:pt x="788" y="20152"/>
                      <a:pt x="394" y="13444"/>
                    </a:cubicBezTo>
                    <a:cubicBezTo>
                      <a:pt x="0" y="6736"/>
                      <a:pt x="4900" y="883"/>
                      <a:pt x="11572" y="89"/>
                    </a:cubicBezTo>
                    <a:lnTo>
                      <a:pt x="13058" y="0"/>
                    </a:lnTo>
                    <a:lnTo>
                      <a:pt x="2575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711950" y="1216025"/>
                <a:ext cx="25400" cy="38458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38458">
                    <a:moveTo>
                      <a:pt x="12700" y="0"/>
                    </a:moveTo>
                    <a:cubicBezTo>
                      <a:pt x="19139" y="1"/>
                      <a:pt x="24558" y="4820"/>
                      <a:pt x="25311" y="11214"/>
                    </a:cubicBezTo>
                    <a:lnTo>
                      <a:pt x="25400" y="12700"/>
                    </a:lnTo>
                    <a:lnTo>
                      <a:pt x="25400" y="25400"/>
                    </a:lnTo>
                    <a:cubicBezTo>
                      <a:pt x="25393" y="32119"/>
                      <a:pt x="20152" y="37670"/>
                      <a:pt x="13444" y="38064"/>
                    </a:cubicBezTo>
                    <a:cubicBezTo>
                      <a:pt x="6736" y="38458"/>
                      <a:pt x="883" y="33558"/>
                      <a:pt x="89" y="26886"/>
                    </a:cubicBezTo>
                    <a:lnTo>
                      <a:pt x="0" y="25400"/>
                    </a:lnTo>
                    <a:lnTo>
                      <a:pt x="0" y="12700"/>
                    </a:lnTo>
                    <a:cubicBezTo>
                      <a:pt x="0" y="5686"/>
                      <a:pt x="5686" y="0"/>
                      <a:pt x="12700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813192" y="1330325"/>
                <a:ext cx="38816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38816" h="25400">
                    <a:moveTo>
                      <a:pt x="25758" y="0"/>
                    </a:moveTo>
                    <a:cubicBezTo>
                      <a:pt x="32477" y="7"/>
                      <a:pt x="38028" y="5248"/>
                      <a:pt x="38422" y="11956"/>
                    </a:cubicBezTo>
                    <a:cubicBezTo>
                      <a:pt x="38816" y="18664"/>
                      <a:pt x="33916" y="24517"/>
                      <a:pt x="27244" y="25311"/>
                    </a:cubicBezTo>
                    <a:lnTo>
                      <a:pt x="25758" y="25400"/>
                    </a:lnTo>
                    <a:lnTo>
                      <a:pt x="13058" y="25400"/>
                    </a:lnTo>
                    <a:cubicBezTo>
                      <a:pt x="6338" y="25393"/>
                      <a:pt x="788" y="20152"/>
                      <a:pt x="394" y="13444"/>
                    </a:cubicBezTo>
                    <a:cubicBezTo>
                      <a:pt x="0" y="6736"/>
                      <a:pt x="4900" y="883"/>
                      <a:pt x="11572" y="89"/>
                    </a:cubicBezTo>
                    <a:lnTo>
                      <a:pt x="13058" y="0"/>
                    </a:lnTo>
                    <a:lnTo>
                      <a:pt x="2575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629433" y="1247790"/>
                <a:ext cx="36765" cy="36974"/>
              </a:xfrm>
              <a:custGeom>
                <a:avLst/>
                <a:gdLst/>
                <a:ahLst/>
                <a:cxnLst/>
                <a:rect l="l" t="t" r="r" b="b"/>
                <a:pathLst>
                  <a:path w="36765" h="36974">
                    <a:moveTo>
                      <a:pt x="4958" y="4976"/>
                    </a:moveTo>
                    <a:cubicBezTo>
                      <a:pt x="9482" y="452"/>
                      <a:pt x="16666" y="0"/>
                      <a:pt x="21722" y="3922"/>
                    </a:cubicBezTo>
                    <a:lnTo>
                      <a:pt x="22916" y="4976"/>
                    </a:lnTo>
                    <a:lnTo>
                      <a:pt x="31806" y="13866"/>
                    </a:lnTo>
                    <a:cubicBezTo>
                      <a:pt x="36533" y="18609"/>
                      <a:pt x="36765" y="26208"/>
                      <a:pt x="32336" y="31230"/>
                    </a:cubicBezTo>
                    <a:cubicBezTo>
                      <a:pt x="27907" y="36253"/>
                      <a:pt x="20339" y="36974"/>
                      <a:pt x="15042" y="32878"/>
                    </a:cubicBezTo>
                    <a:lnTo>
                      <a:pt x="13848" y="31824"/>
                    </a:lnTo>
                    <a:lnTo>
                      <a:pt x="4958" y="22934"/>
                    </a:lnTo>
                    <a:cubicBezTo>
                      <a:pt x="0" y="17974"/>
                      <a:pt x="0" y="9935"/>
                      <a:pt x="4958" y="4976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782911" y="1247807"/>
                <a:ext cx="37148" cy="36766"/>
              </a:xfrm>
              <a:custGeom>
                <a:avLst/>
                <a:gdLst/>
                <a:ahLst/>
                <a:cxnLst/>
                <a:rect l="l" t="t" r="r" b="b"/>
                <a:pathLst>
                  <a:path w="37148" h="36766">
                    <a:moveTo>
                      <a:pt x="14040" y="4959"/>
                    </a:moveTo>
                    <a:cubicBezTo>
                      <a:pt x="18783" y="232"/>
                      <a:pt x="26382" y="0"/>
                      <a:pt x="31405" y="4429"/>
                    </a:cubicBezTo>
                    <a:cubicBezTo>
                      <a:pt x="36427" y="8858"/>
                      <a:pt x="37148" y="16426"/>
                      <a:pt x="33052" y="21723"/>
                    </a:cubicBezTo>
                    <a:lnTo>
                      <a:pt x="31998" y="22917"/>
                    </a:lnTo>
                    <a:lnTo>
                      <a:pt x="23108" y="31807"/>
                    </a:lnTo>
                    <a:cubicBezTo>
                      <a:pt x="18365" y="36534"/>
                      <a:pt x="10766" y="36766"/>
                      <a:pt x="5744" y="32337"/>
                    </a:cubicBezTo>
                    <a:cubicBezTo>
                      <a:pt x="721" y="27908"/>
                      <a:pt x="0" y="20340"/>
                      <a:pt x="4096" y="15043"/>
                    </a:cubicBezTo>
                    <a:lnTo>
                      <a:pt x="5150" y="13849"/>
                    </a:lnTo>
                    <a:lnTo>
                      <a:pt x="14040" y="4959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686550" y="1419225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63500" y="0"/>
                    </a:moveTo>
                    <a:cubicBezTo>
                      <a:pt x="70514" y="0"/>
                      <a:pt x="76200" y="5686"/>
                      <a:pt x="76200" y="12700"/>
                    </a:cubicBezTo>
                    <a:cubicBezTo>
                      <a:pt x="76200" y="33742"/>
                      <a:pt x="59142" y="50800"/>
                      <a:pt x="38100" y="50800"/>
                    </a:cubicBezTo>
                    <a:cubicBezTo>
                      <a:pt x="17058" y="50800"/>
                      <a:pt x="0" y="33742"/>
                      <a:pt x="0" y="12700"/>
                    </a:cubicBezTo>
                    <a:cubicBezTo>
                      <a:pt x="1" y="6261"/>
                      <a:pt x="4820" y="842"/>
                      <a:pt x="11214" y="89"/>
                    </a:cubicBezTo>
                    <a:lnTo>
                      <a:pt x="12700" y="0"/>
                    </a:lnTo>
                    <a:lnTo>
                      <a:pt x="63500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641988" y="1266825"/>
                <a:ext cx="165323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165323" h="139700">
                    <a:moveTo>
                      <a:pt x="82662" y="0"/>
                    </a:moveTo>
                    <a:cubicBezTo>
                      <a:pt x="115460" y="0"/>
                      <a:pt x="144579" y="20988"/>
                      <a:pt x="154951" y="52103"/>
                    </a:cubicBezTo>
                    <a:cubicBezTo>
                      <a:pt x="165323" y="83219"/>
                      <a:pt x="154621" y="117481"/>
                      <a:pt x="128382" y="137160"/>
                    </a:cubicBezTo>
                    <a:cubicBezTo>
                      <a:pt x="126631" y="138475"/>
                      <a:pt x="124571" y="139315"/>
                      <a:pt x="122400" y="139598"/>
                    </a:cubicBezTo>
                    <a:lnTo>
                      <a:pt x="120762" y="139700"/>
                    </a:lnTo>
                    <a:lnTo>
                      <a:pt x="44562" y="139700"/>
                    </a:lnTo>
                    <a:cubicBezTo>
                      <a:pt x="41814" y="139700"/>
                      <a:pt x="39140" y="138809"/>
                      <a:pt x="36942" y="137160"/>
                    </a:cubicBezTo>
                    <a:cubicBezTo>
                      <a:pt x="10703" y="117481"/>
                      <a:pt x="0" y="83219"/>
                      <a:pt x="10372" y="52103"/>
                    </a:cubicBezTo>
                    <a:cubicBezTo>
                      <a:pt x="20744" y="20988"/>
                      <a:pt x="49863" y="0"/>
                      <a:pt x="82662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6983730" y="1263968"/>
              <a:ext cx="236333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为什么 CoT 效果这么好？</a:t>
              </a:r>
            </a:p>
          </p:txBody>
        </p:sp>
        <p:sp>
          <p:nvSpPr>
            <p:cNvPr id="48" name="Line 48"/>
            <p:cNvSpPr/>
            <p:nvPr/>
          </p:nvSpPr>
          <p:spPr>
            <a:xfrm>
              <a:off x="6572250" y="1571625"/>
              <a:ext cx="4667250" cy="9525"/>
            </a:xfrm>
            <a:custGeom>
              <a:avLst/>
              <a:gdLst/>
              <a:ahLst/>
              <a:cxnLst/>
              <a:rect l="l" t="t" r="r" b="b"/>
              <a:pathLst>
                <a:path w="4667250" h="9525">
                  <a:moveTo>
                    <a:pt x="0" y="0"/>
                  </a:moveTo>
                  <a:lnTo>
                    <a:pt x="4667250" y="0"/>
                  </a:lnTo>
                </a:path>
              </a:pathLst>
            </a:custGeom>
            <a:noFill/>
            <a:ln w="9525">
              <a:solidFill>
                <a:srgbClr val="EDE5D5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557962" y="1783556"/>
              <a:ext cx="15073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直接回答时，模型在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557962" y="2021681"/>
              <a:ext cx="108095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"猜最终答案"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6572250" y="2333625"/>
              <a:ext cx="4667250" cy="9525"/>
            </a:xfrm>
            <a:custGeom>
              <a:avLst/>
              <a:gdLst/>
              <a:ahLst/>
              <a:cxnLst/>
              <a:rect l="l" t="t" r="r" b="b"/>
              <a:pathLst>
                <a:path w="4667250" h="9525">
                  <a:moveTo>
                    <a:pt x="0" y="0"/>
                  </a:moveTo>
                  <a:lnTo>
                    <a:pt x="4667250" y="0"/>
                  </a:lnTo>
                </a:path>
              </a:pathLst>
            </a:custGeom>
            <a:noFill/>
            <a:ln w="9525">
              <a:solidFill>
                <a:srgbClr val="EDE5D5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557962" y="2545556"/>
              <a:ext cx="100619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CoT 让模型在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557962" y="2783681"/>
              <a:ext cx="108095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FBC8F"/>
                  </a:solidFill>
                  <a:latin typeface="Arial"/>
                  <a:ea typeface="Microsoft YaHei"/>
                  <a:cs typeface="Arial"/>
                </a:rPr>
                <a:t>"推理每一步"</a:t>
              </a:r>
            </a:p>
          </p:txBody>
        </p:sp>
        <p:sp>
          <p:nvSpPr>
            <p:cNvPr id="54" name="Line 54"/>
            <p:cNvSpPr/>
            <p:nvPr/>
          </p:nvSpPr>
          <p:spPr>
            <a:xfrm>
              <a:off x="6572250" y="3095625"/>
              <a:ext cx="4667250" cy="9525"/>
            </a:xfrm>
            <a:custGeom>
              <a:avLst/>
              <a:gdLst/>
              <a:ahLst/>
              <a:cxnLst/>
              <a:rect l="l" t="t" r="r" b="b"/>
              <a:pathLst>
                <a:path w="4667250" h="9525">
                  <a:moveTo>
                    <a:pt x="0" y="0"/>
                  </a:moveTo>
                  <a:lnTo>
                    <a:pt x="4667250" y="0"/>
                  </a:lnTo>
                </a:path>
              </a:pathLst>
            </a:custGeom>
            <a:noFill/>
            <a:ln w="9525">
              <a:solidFill>
                <a:srgbClr val="EDE5D5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557010" y="3347085"/>
              <a:ext cx="16078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推理比猜测容易得多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572250" y="3810000"/>
              <a:ext cx="4762500" cy="762000"/>
            </a:xfrm>
            <a:prstGeom prst="roundRect">
              <a:avLst>
                <a:gd name="adj" fmla="val 12500"/>
              </a:avLst>
            </a:prstGeom>
            <a:solidFill>
              <a:srgbClr val="E8A87C">
                <a:alpha val="8000"/>
              </a:srgbClr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749415" y="3963352"/>
              <a:ext cx="25339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CoT 示例：设女生 x 人，男生 x+6 人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750368" y="4209574"/>
              <a:ext cx="214650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x + (x+6) = 30 → 2x = 24 → x = 12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750368" y="4371499"/>
              <a:ext cx="7153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6F47"/>
                  </a:solidFill>
                  <a:latin typeface="Consolas"/>
                  <a:ea typeface="Microsoft YaHei"/>
                  <a:cs typeface="Consolas"/>
                </a:rPr>
                <a:t>男生 = 18 ✓</a:t>
              </a:r>
            </a:p>
          </p:txBody>
        </p:sp>
        <p:sp>
          <p:nvSpPr>
            <p:cNvPr id="60" name="Line 60"/>
            <p:cNvSpPr/>
            <p:nvPr/>
          </p:nvSpPr>
          <p:spPr>
            <a:xfrm>
              <a:off x="6572250" y="4762500"/>
              <a:ext cx="4667250" cy="9525"/>
            </a:xfrm>
            <a:custGeom>
              <a:avLst/>
              <a:gdLst/>
              <a:ahLst/>
              <a:cxnLst/>
              <a:rect l="l" t="t" r="r" b="b"/>
              <a:pathLst>
                <a:path w="4667250" h="9525">
                  <a:moveTo>
                    <a:pt x="0" y="0"/>
                  </a:moveTo>
                  <a:lnTo>
                    <a:pt x="4667250" y="0"/>
                  </a:lnTo>
                </a:path>
              </a:pathLst>
            </a:custGeom>
            <a:noFill/>
            <a:ln w="9525">
              <a:solidFill>
                <a:srgbClr val="EDE5D5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559868" y="4990624"/>
              <a:ext cx="14843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GSM8K 数学推理数据集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559868" y="5209699"/>
              <a:ext cx="11639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原始论文实验结果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572250" y="5524500"/>
              <a:ext cx="4762500" cy="476250"/>
            </a:xfrm>
            <a:prstGeom prst="roundRect">
              <a:avLst>
                <a:gd name="adj" fmla="val 20000"/>
              </a:avLst>
            </a:prstGeom>
            <a:solidFill>
              <a:srgbClr val="8B6F47">
                <a:alpha val="6000"/>
              </a:srgbClr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749415" y="5706428"/>
              <a:ext cx="23422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只需加一句</a:t>
              </a:r>
              <a:r>
                <a:rPr lang="zh-CN" sz="1050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"请一步一步思考"</a:t>
              </a:r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即可</a:t>
              </a:r>
            </a:p>
          </p:txBody>
        </p:sp>
      </p:grpSp>
      <p:sp>
        <p:nvSpPr>
          <p:cNvPr id="66" name="TextBox 66"/>
          <p:cNvSpPr txBox="1"/>
          <p:nvPr/>
        </p:nvSpPr>
        <p:spPr>
          <a:xfrm>
            <a:off x="11687842" y="6522720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19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37" grpId="0"/>
      <p:bldP spid="6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382105" y="343852"/>
            <a:ext cx="3427790" cy="518160"/>
            <a:chOff x="4382105" y="343852"/>
            <a:chExt cx="3427790" cy="518160"/>
          </a:xfrm>
        </p:grpSpPr>
        <p:sp>
          <p:nvSpPr>
            <p:cNvPr id="3" name="TextBox 3"/>
            <p:cNvSpPr txBox="1"/>
            <p:nvPr/>
          </p:nvSpPr>
          <p:spPr>
            <a:xfrm>
              <a:off x="4382105" y="343852"/>
              <a:ext cx="3427790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Lost in the Middle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334000" y="742950"/>
              <a:ext cx="1524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952500" y="1905000"/>
            <a:ext cx="10477500" cy="1528762"/>
            <a:chOff x="952500" y="1905000"/>
            <a:chExt cx="10477500" cy="1528762"/>
          </a:xfrm>
        </p:grpSpPr>
        <p:sp>
          <p:nvSpPr>
            <p:cNvPr id="6" name="Rectangle 6"/>
            <p:cNvSpPr/>
            <p:nvPr/>
          </p:nvSpPr>
          <p:spPr>
            <a:xfrm>
              <a:off x="952500" y="1905000"/>
              <a:ext cx="10287000" cy="952500"/>
            </a:xfrm>
            <a:prstGeom prst="roundRect">
              <a:avLst>
                <a:gd name="adj" fmla="val 16000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952500" y="1905000"/>
              <a:ext cx="3238500" cy="952500"/>
            </a:xfrm>
            <a:prstGeom prst="roundRect">
              <a:avLst>
                <a:gd name="adj" fmla="val 16000"/>
              </a:avLst>
            </a:prstGeom>
            <a:solidFill>
              <a:srgbClr val="8FBC8F">
                <a:alpha val="20000"/>
              </a:srgbClr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4000500" y="1905000"/>
              <a:ext cx="190500" cy="952500"/>
            </a:xfrm>
            <a:prstGeom prst="rect">
              <a:avLst/>
            </a:prstGeom>
            <a:solidFill>
              <a:srgbClr val="8FBC8F">
                <a:alpha val="20000"/>
              </a:srgbClr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322671" y="2171700"/>
              <a:ext cx="4981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8FBC8F"/>
                  </a:solidFill>
                  <a:latin typeface="Arial"/>
                  <a:ea typeface="Microsoft YaHei"/>
                  <a:cs typeface="Arial"/>
                </a:rPr>
                <a:t>开头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429018" y="2356485"/>
              <a:ext cx="28546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dirty="0">
                  <a:solidFill>
                    <a:srgbClr val="8FBC8F"/>
                  </a:solidFill>
                  <a:latin typeface="Arial"/>
                  <a:ea typeface="Microsoft YaHei"/>
                  <a:cs typeface="Arial"/>
                </a:rPr>
                <a:t>✓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191000" y="1905000"/>
              <a:ext cx="3619500" cy="952500"/>
            </a:xfrm>
            <a:prstGeom prst="rect">
              <a:avLst/>
            </a:prstGeom>
            <a:solidFill>
              <a:srgbClr val="D4837F">
                <a:alpha val="20000"/>
              </a:srgbClr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751671" y="2171700"/>
              <a:ext cx="4981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中间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858018" y="2356485"/>
              <a:ext cx="28546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⚠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810500" y="1905000"/>
              <a:ext cx="190500" cy="952500"/>
            </a:xfrm>
            <a:prstGeom prst="rect">
              <a:avLst/>
            </a:prstGeom>
            <a:solidFill>
              <a:srgbClr val="8FBC8F">
                <a:alpha val="20000"/>
              </a:srgbClr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8001000" y="1905000"/>
              <a:ext cx="3238500" cy="952500"/>
            </a:xfrm>
            <a:prstGeom prst="roundRect">
              <a:avLst>
                <a:gd name="adj" fmla="val 16000"/>
              </a:avLst>
            </a:prstGeom>
            <a:solidFill>
              <a:srgbClr val="8FBC8F">
                <a:alpha val="20000"/>
              </a:srgbClr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810500" y="1905000"/>
              <a:ext cx="3619500" cy="952500"/>
            </a:xfrm>
            <a:prstGeom prst="rect">
              <a:avLst/>
            </a:prstGeom>
            <a:solidFill>
              <a:srgbClr val="8FBC8F">
                <a:alpha val="20000"/>
              </a:srgbClr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371171" y="2171700"/>
              <a:ext cx="4981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8FBC8F"/>
                  </a:solidFill>
                  <a:latin typeface="Arial"/>
                  <a:ea typeface="Microsoft YaHei"/>
                  <a:cs typeface="Arial"/>
                </a:rPr>
                <a:t>结尾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77518" y="2356485"/>
              <a:ext cx="28546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dirty="0">
                  <a:solidFill>
                    <a:srgbClr val="8FBC8F"/>
                  </a:solidFill>
                  <a:latin typeface="Arial"/>
                  <a:ea typeface="Microsoft YaHei"/>
                  <a:cs typeface="Arial"/>
                </a:rPr>
                <a:t>✓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085874" y="3220402"/>
              <a:ext cx="20202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注意力强度：两端高，中间低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2667000" y="3869055"/>
            <a:ext cx="6858000" cy="1083945"/>
            <a:chOff x="2667000" y="3869055"/>
            <a:chExt cx="6858000" cy="1083945"/>
          </a:xfrm>
        </p:grpSpPr>
        <p:sp>
          <p:nvSpPr>
            <p:cNvPr id="21" name="TextBox 21"/>
            <p:cNvSpPr txBox="1"/>
            <p:nvPr/>
          </p:nvSpPr>
          <p:spPr>
            <a:xfrm>
              <a:off x="4032425" y="3869055"/>
              <a:ext cx="4127149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8B6F47"/>
                  </a:solidFill>
                  <a:latin typeface="Georgia"/>
                  <a:ea typeface="SimSun"/>
                  <a:cs typeface="Georgia"/>
                </a:rPr>
                <a:t>128K ≠ 完美处理 128K 的信息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2667000" y="4381500"/>
              <a:ext cx="6858000" cy="571500"/>
            </a:xfrm>
            <a:prstGeom prst="roundRect">
              <a:avLst>
                <a:gd name="adj" fmla="val 20000"/>
              </a:avLst>
            </a:prstGeom>
            <a:solidFill>
              <a:srgbClr val="E8A87C">
                <a:alpha val="10000"/>
              </a:srgbClr>
            </a:solidFill>
            <a:ln w="9525">
              <a:solidFill>
                <a:srgbClr val="E8A87C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422648" y="4588192"/>
              <a:ext cx="334670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关键信息放开头或结尾，别夹在中间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905000" y="5334000"/>
            <a:ext cx="8382000" cy="762000"/>
            <a:chOff x="1905000" y="5334000"/>
            <a:chExt cx="8382000" cy="762000"/>
          </a:xfrm>
        </p:grpSpPr>
        <p:sp>
          <p:nvSpPr>
            <p:cNvPr id="25" name="Rectangle 25"/>
            <p:cNvSpPr/>
            <p:nvPr/>
          </p:nvSpPr>
          <p:spPr>
            <a:xfrm>
              <a:off x="1905000" y="5334000"/>
              <a:ext cx="8382000" cy="762000"/>
            </a:xfrm>
            <a:prstGeom prst="roundRect">
              <a:avLst>
                <a:gd name="adj" fmla="val 20000"/>
              </a:avLst>
            </a:prstGeom>
            <a:solidFill>
              <a:srgbClr val="8B6F47">
                <a:alpha val="6000"/>
              </a:srgbClr>
            </a:solidFill>
            <a:ln w="9525">
              <a:solidFill>
                <a:srgbClr val="8B6F47"/>
              </a:solidFill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2215792" y="5549900"/>
              <a:ext cx="254716" cy="254000"/>
              <a:chOff x="2215792" y="5549900"/>
              <a:chExt cx="254716" cy="2540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2215792" y="5664200"/>
                <a:ext cx="38816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38816" h="25400">
                    <a:moveTo>
                      <a:pt x="25758" y="0"/>
                    </a:moveTo>
                    <a:cubicBezTo>
                      <a:pt x="32477" y="7"/>
                      <a:pt x="38028" y="5248"/>
                      <a:pt x="38422" y="11956"/>
                    </a:cubicBezTo>
                    <a:cubicBezTo>
                      <a:pt x="38816" y="18664"/>
                      <a:pt x="33916" y="24517"/>
                      <a:pt x="27244" y="25311"/>
                    </a:cubicBezTo>
                    <a:lnTo>
                      <a:pt x="25758" y="25400"/>
                    </a:lnTo>
                    <a:lnTo>
                      <a:pt x="13058" y="25400"/>
                    </a:lnTo>
                    <a:cubicBezTo>
                      <a:pt x="6338" y="25393"/>
                      <a:pt x="788" y="20152"/>
                      <a:pt x="394" y="13444"/>
                    </a:cubicBezTo>
                    <a:cubicBezTo>
                      <a:pt x="0" y="6736"/>
                      <a:pt x="4900" y="883"/>
                      <a:pt x="11572" y="89"/>
                    </a:cubicBezTo>
                    <a:lnTo>
                      <a:pt x="13058" y="0"/>
                    </a:lnTo>
                    <a:lnTo>
                      <a:pt x="2575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2330450" y="5549900"/>
                <a:ext cx="25400" cy="38458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38458">
                    <a:moveTo>
                      <a:pt x="12700" y="0"/>
                    </a:moveTo>
                    <a:cubicBezTo>
                      <a:pt x="19139" y="1"/>
                      <a:pt x="24558" y="4820"/>
                      <a:pt x="25311" y="11214"/>
                    </a:cubicBezTo>
                    <a:lnTo>
                      <a:pt x="25400" y="12700"/>
                    </a:lnTo>
                    <a:lnTo>
                      <a:pt x="25400" y="25400"/>
                    </a:lnTo>
                    <a:cubicBezTo>
                      <a:pt x="25393" y="32119"/>
                      <a:pt x="20152" y="37670"/>
                      <a:pt x="13444" y="38064"/>
                    </a:cubicBezTo>
                    <a:cubicBezTo>
                      <a:pt x="6736" y="38458"/>
                      <a:pt x="883" y="33558"/>
                      <a:pt x="89" y="26886"/>
                    </a:cubicBezTo>
                    <a:lnTo>
                      <a:pt x="0" y="25400"/>
                    </a:lnTo>
                    <a:lnTo>
                      <a:pt x="0" y="12700"/>
                    </a:lnTo>
                    <a:cubicBezTo>
                      <a:pt x="0" y="5686"/>
                      <a:pt x="5686" y="0"/>
                      <a:pt x="12700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2431692" y="5664200"/>
                <a:ext cx="38816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38816" h="25400">
                    <a:moveTo>
                      <a:pt x="25758" y="0"/>
                    </a:moveTo>
                    <a:cubicBezTo>
                      <a:pt x="32477" y="7"/>
                      <a:pt x="38028" y="5248"/>
                      <a:pt x="38422" y="11956"/>
                    </a:cubicBezTo>
                    <a:cubicBezTo>
                      <a:pt x="38816" y="18664"/>
                      <a:pt x="33916" y="24517"/>
                      <a:pt x="27244" y="25311"/>
                    </a:cubicBezTo>
                    <a:lnTo>
                      <a:pt x="25758" y="25400"/>
                    </a:lnTo>
                    <a:lnTo>
                      <a:pt x="13058" y="25400"/>
                    </a:lnTo>
                    <a:cubicBezTo>
                      <a:pt x="6338" y="25393"/>
                      <a:pt x="788" y="20152"/>
                      <a:pt x="394" y="13444"/>
                    </a:cubicBezTo>
                    <a:cubicBezTo>
                      <a:pt x="0" y="6736"/>
                      <a:pt x="4900" y="883"/>
                      <a:pt x="11572" y="89"/>
                    </a:cubicBezTo>
                    <a:lnTo>
                      <a:pt x="13058" y="0"/>
                    </a:lnTo>
                    <a:lnTo>
                      <a:pt x="2575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2247933" y="5581665"/>
                <a:ext cx="36765" cy="36974"/>
              </a:xfrm>
              <a:custGeom>
                <a:avLst/>
                <a:gdLst/>
                <a:ahLst/>
                <a:cxnLst/>
                <a:rect l="l" t="t" r="r" b="b"/>
                <a:pathLst>
                  <a:path w="36765" h="36974">
                    <a:moveTo>
                      <a:pt x="4958" y="4976"/>
                    </a:moveTo>
                    <a:cubicBezTo>
                      <a:pt x="9482" y="452"/>
                      <a:pt x="16666" y="0"/>
                      <a:pt x="21722" y="3922"/>
                    </a:cubicBezTo>
                    <a:lnTo>
                      <a:pt x="22916" y="4976"/>
                    </a:lnTo>
                    <a:lnTo>
                      <a:pt x="31806" y="13866"/>
                    </a:lnTo>
                    <a:cubicBezTo>
                      <a:pt x="36533" y="18609"/>
                      <a:pt x="36765" y="26208"/>
                      <a:pt x="32336" y="31230"/>
                    </a:cubicBezTo>
                    <a:cubicBezTo>
                      <a:pt x="27907" y="36253"/>
                      <a:pt x="20339" y="36974"/>
                      <a:pt x="15042" y="32878"/>
                    </a:cubicBezTo>
                    <a:lnTo>
                      <a:pt x="13848" y="31824"/>
                    </a:lnTo>
                    <a:lnTo>
                      <a:pt x="4958" y="22934"/>
                    </a:lnTo>
                    <a:cubicBezTo>
                      <a:pt x="0" y="17974"/>
                      <a:pt x="0" y="9935"/>
                      <a:pt x="4958" y="4976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2401411" y="5581682"/>
                <a:ext cx="37148" cy="36766"/>
              </a:xfrm>
              <a:custGeom>
                <a:avLst/>
                <a:gdLst/>
                <a:ahLst/>
                <a:cxnLst/>
                <a:rect l="l" t="t" r="r" b="b"/>
                <a:pathLst>
                  <a:path w="37148" h="36766">
                    <a:moveTo>
                      <a:pt x="14040" y="4959"/>
                    </a:moveTo>
                    <a:cubicBezTo>
                      <a:pt x="18783" y="232"/>
                      <a:pt x="26382" y="0"/>
                      <a:pt x="31405" y="4429"/>
                    </a:cubicBezTo>
                    <a:cubicBezTo>
                      <a:pt x="36427" y="8858"/>
                      <a:pt x="37148" y="16426"/>
                      <a:pt x="33052" y="21723"/>
                    </a:cubicBezTo>
                    <a:lnTo>
                      <a:pt x="31998" y="22917"/>
                    </a:lnTo>
                    <a:lnTo>
                      <a:pt x="23108" y="31807"/>
                    </a:lnTo>
                    <a:cubicBezTo>
                      <a:pt x="18365" y="36534"/>
                      <a:pt x="10766" y="36766"/>
                      <a:pt x="5744" y="32337"/>
                    </a:cubicBezTo>
                    <a:cubicBezTo>
                      <a:pt x="721" y="27908"/>
                      <a:pt x="0" y="20340"/>
                      <a:pt x="4096" y="15043"/>
                    </a:cubicBezTo>
                    <a:lnTo>
                      <a:pt x="5150" y="13849"/>
                    </a:lnTo>
                    <a:lnTo>
                      <a:pt x="14040" y="4959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2305050" y="5753100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63500" y="0"/>
                    </a:moveTo>
                    <a:cubicBezTo>
                      <a:pt x="70514" y="0"/>
                      <a:pt x="76200" y="5686"/>
                      <a:pt x="76200" y="12700"/>
                    </a:cubicBezTo>
                    <a:cubicBezTo>
                      <a:pt x="76200" y="33742"/>
                      <a:pt x="59142" y="50800"/>
                      <a:pt x="38100" y="50800"/>
                    </a:cubicBezTo>
                    <a:cubicBezTo>
                      <a:pt x="17058" y="50800"/>
                      <a:pt x="0" y="33742"/>
                      <a:pt x="0" y="12700"/>
                    </a:cubicBezTo>
                    <a:cubicBezTo>
                      <a:pt x="1" y="6261"/>
                      <a:pt x="4820" y="842"/>
                      <a:pt x="11214" y="89"/>
                    </a:cubicBezTo>
                    <a:lnTo>
                      <a:pt x="12700" y="0"/>
                    </a:lnTo>
                    <a:lnTo>
                      <a:pt x="63500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2260488" y="5600700"/>
                <a:ext cx="165323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165323" h="139700">
                    <a:moveTo>
                      <a:pt x="82662" y="0"/>
                    </a:moveTo>
                    <a:cubicBezTo>
                      <a:pt x="115460" y="0"/>
                      <a:pt x="144579" y="20988"/>
                      <a:pt x="154951" y="52103"/>
                    </a:cubicBezTo>
                    <a:cubicBezTo>
                      <a:pt x="165323" y="83219"/>
                      <a:pt x="154621" y="117481"/>
                      <a:pt x="128382" y="137160"/>
                    </a:cubicBezTo>
                    <a:cubicBezTo>
                      <a:pt x="126631" y="138475"/>
                      <a:pt x="124571" y="139315"/>
                      <a:pt x="122400" y="139598"/>
                    </a:cubicBezTo>
                    <a:lnTo>
                      <a:pt x="120762" y="139700"/>
                    </a:lnTo>
                    <a:lnTo>
                      <a:pt x="44562" y="139700"/>
                    </a:lnTo>
                    <a:cubicBezTo>
                      <a:pt x="41814" y="139700"/>
                      <a:pt x="39140" y="138809"/>
                      <a:pt x="36942" y="137160"/>
                    </a:cubicBezTo>
                    <a:cubicBezTo>
                      <a:pt x="10703" y="117481"/>
                      <a:pt x="0" y="83219"/>
                      <a:pt x="10372" y="52103"/>
                    </a:cubicBezTo>
                    <a:cubicBezTo>
                      <a:pt x="20744" y="20988"/>
                      <a:pt x="49863" y="0"/>
                      <a:pt x="82662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2652712" y="5574506"/>
              <a:ext cx="265747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如果你有很长的背景资料要喂给模型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652712" y="5831681"/>
              <a:ext cx="28217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把</a:t>
              </a:r>
              <a:r>
                <a:rPr lang="zh-CN" sz="1125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核心问题或指令</a:t>
              </a:r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放在</a:t>
              </a:r>
              <a:r>
                <a:rPr lang="zh-CN" sz="1125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最前面或最后面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1654980" y="6522720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20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4" grpId="0"/>
      <p:bldP spid="3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42925" y="376238"/>
            <a:ext cx="6837247" cy="457200"/>
            <a:chOff x="542925" y="376238"/>
            <a:chExt cx="6837247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376238"/>
              <a:ext cx="6837247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System Prompt — 给模型设"人设"和"规矩"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571500" y="952500"/>
            <a:ext cx="6858000" cy="3810000"/>
            <a:chOff x="571500" y="952500"/>
            <a:chExt cx="6858000" cy="3810000"/>
          </a:xfrm>
        </p:grpSpPr>
        <p:sp>
          <p:nvSpPr>
            <p:cNvPr id="6" name="Rectangle 6"/>
            <p:cNvSpPr/>
            <p:nvPr/>
          </p:nvSpPr>
          <p:spPr>
            <a:xfrm>
              <a:off x="571500" y="952500"/>
              <a:ext cx="6858000" cy="3810000"/>
            </a:xfrm>
            <a:prstGeom prst="roundRect">
              <a:avLst>
                <a:gd name="adj" fmla="val 4000"/>
              </a:avLst>
            </a:prstGeom>
            <a:solidFill>
              <a:srgbClr val="F0EBE0"/>
            </a:solidFill>
            <a:ln w="9525">
              <a:solidFill>
                <a:srgbClr val="EDE5D5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44868" y="1132999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messages: [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762000" y="1352550"/>
              <a:ext cx="6477000" cy="1333500"/>
            </a:xfrm>
            <a:prstGeom prst="roundRect">
              <a:avLst>
                <a:gd name="adj" fmla="val 5714"/>
              </a:avLst>
            </a:prstGeom>
            <a:solidFill>
              <a:srgbClr val="E8A87C">
                <a:alpha val="10000"/>
              </a:srgbClr>
            </a:solidFill>
            <a:ln w="14288">
              <a:solidFill>
                <a:srgbClr val="E8A87C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40118" y="149494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{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30618" y="1733074"/>
              <a:ext cx="115683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 xml:space="preserve">role: </a:t>
              </a:r>
              <a:r>
                <a:rPr lang="zh-CN" sz="975" b="1" dirty="0">
                  <a:solidFill>
                    <a:srgbClr val="E8A87C"/>
                  </a:solidFill>
                  <a:latin typeface="Consolas"/>
                  <a:ea typeface="Microsoft YaHei"/>
                  <a:cs typeface="Consolas"/>
                </a:rPr>
                <a:t>"system"</a:t>
              </a:r>
              <a:r>
                <a:rPr lang="zh-CN" sz="975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,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30618" y="1971199"/>
              <a:ext cx="235298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 xml:space="preserve">content: </a:t>
              </a:r>
              <a:r>
                <a:rPr lang="zh-CN" sz="975" dirty="0">
                  <a:solidFill>
                    <a:srgbClr val="8FBC8F"/>
                  </a:solidFill>
                  <a:latin typeface="Consolas"/>
                  <a:ea typeface="Microsoft YaHei"/>
                  <a:cs typeface="Consolas"/>
                </a:rPr>
                <a:t>"你是XX公司的智能客服。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22070" y="2188845"/>
              <a:ext cx="21259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FBC8F"/>
                  </a:solidFill>
                  <a:latin typeface="Consolas"/>
                  <a:ea typeface="Microsoft YaHei"/>
                  <a:cs typeface="Consolas"/>
                </a:rPr>
                <a:t>职责：帮助用户解决订单相关问题。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22070" y="2379345"/>
              <a:ext cx="189595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FBC8F"/>
                  </a:solidFill>
                  <a:latin typeface="Consolas"/>
                  <a:ea typeface="Microsoft YaHei"/>
                  <a:cs typeface="Consolas"/>
                </a:rPr>
                <a:t>规则：1.语气友好 2.不讨论竞品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22070" y="2531745"/>
              <a:ext cx="19945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FBC8F"/>
                  </a:solidFill>
                  <a:latin typeface="Consolas"/>
                  <a:ea typeface="Microsoft YaHei"/>
                  <a:cs typeface="Consolas"/>
                </a:rPr>
                <a:t>3.不确定的转人工 4.回答≤100字"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0118" y="252364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}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35368" y="267604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,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2809875"/>
              <a:ext cx="6477000" cy="476250"/>
            </a:xfrm>
            <a:prstGeom prst="roundRect">
              <a:avLst>
                <a:gd name="adj" fmla="val 16000"/>
              </a:avLst>
            </a:prstGeom>
            <a:solidFill>
              <a:srgbClr val="EDE5D5">
                <a:alpha val="50000"/>
              </a:srgbClr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0118" y="2923699"/>
              <a:ext cx="10927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 xml:space="preserve">{ role: </a:t>
              </a:r>
              <a:r>
                <a:rPr lang="zh-CN" sz="975" dirty="0">
                  <a:solidFill>
                    <a:srgbClr val="8B6F47"/>
                  </a:solidFill>
                  <a:latin typeface="Consolas"/>
                  <a:ea typeface="Microsoft YaHei"/>
                  <a:cs typeface="Consolas"/>
                </a:rPr>
                <a:t>"user"</a:t>
              </a:r>
              <a:r>
                <a:rPr lang="zh-CN" sz="975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,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940368" y="2923699"/>
              <a:ext cx="253810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 xml:space="preserve">content: </a:t>
              </a:r>
              <a:r>
                <a:rPr lang="zh-CN" sz="975" dirty="0">
                  <a:solidFill>
                    <a:srgbClr val="8FBC8F"/>
                  </a:solidFill>
                  <a:latin typeface="Consolas"/>
                  <a:ea typeface="Microsoft YaHei"/>
                  <a:cs typeface="Consolas"/>
                </a:rPr>
                <a:t>"我的订单怎么还没发货？"</a:t>
              </a:r>
              <a:r>
                <a:rPr lang="zh-CN" sz="975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 xml:space="preserve"> }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44868" y="341899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Consolas"/>
                  <a:ea typeface="Microsoft YaHei"/>
                  <a:cs typeface="Consolas"/>
                </a:rPr>
                <a:t>]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7905750" y="952500"/>
            <a:ext cx="3714750" cy="3810000"/>
            <a:chOff x="7905750" y="952500"/>
            <a:chExt cx="3714750" cy="3810000"/>
          </a:xfrm>
        </p:grpSpPr>
        <p:sp>
          <p:nvSpPr>
            <p:cNvPr id="22" name="Rectangle 22"/>
            <p:cNvSpPr/>
            <p:nvPr/>
          </p:nvSpPr>
          <p:spPr>
            <a:xfrm>
              <a:off x="7905750" y="952500"/>
              <a:ext cx="3714750" cy="1714500"/>
            </a:xfrm>
            <a:prstGeom prst="roundRect">
              <a:avLst>
                <a:gd name="adj" fmla="val 8889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8223250" y="1244302"/>
              <a:ext cx="317500" cy="264531"/>
            </a:xfrm>
            <a:custGeom>
              <a:avLst/>
              <a:gdLst/>
              <a:ahLst/>
              <a:cxnLst/>
              <a:rect l="l" t="t" r="r" b="b"/>
              <a:pathLst>
                <a:path w="317500" h="264531">
                  <a:moveTo>
                    <a:pt x="309562" y="27825"/>
                  </a:moveTo>
                  <a:cubicBezTo>
                    <a:pt x="313898" y="30328"/>
                    <a:pt x="316798" y="34729"/>
                    <a:pt x="317389" y="39700"/>
                  </a:cubicBezTo>
                  <a:lnTo>
                    <a:pt x="317500" y="41573"/>
                  </a:lnTo>
                  <a:lnTo>
                    <a:pt x="317500" y="247948"/>
                  </a:lnTo>
                  <a:cubicBezTo>
                    <a:pt x="317500" y="253619"/>
                    <a:pt x="314474" y="258860"/>
                    <a:pt x="309562" y="261696"/>
                  </a:cubicBezTo>
                  <a:cubicBezTo>
                    <a:pt x="304651" y="264531"/>
                    <a:pt x="298599" y="264531"/>
                    <a:pt x="293688" y="261696"/>
                  </a:cubicBezTo>
                  <a:cubicBezTo>
                    <a:pt x="257163" y="240605"/>
                    <a:pt x="212552" y="239023"/>
                    <a:pt x="174625" y="257473"/>
                  </a:cubicBezTo>
                  <a:lnTo>
                    <a:pt x="174625" y="16586"/>
                  </a:lnTo>
                  <a:cubicBezTo>
                    <a:pt x="219027" y="0"/>
                    <a:pt x="268517" y="4122"/>
                    <a:pt x="309562" y="27825"/>
                  </a:cubicBezTo>
                  <a:moveTo>
                    <a:pt x="142875" y="16601"/>
                  </a:moveTo>
                  <a:lnTo>
                    <a:pt x="142891" y="257489"/>
                  </a:lnTo>
                  <a:cubicBezTo>
                    <a:pt x="106502" y="239774"/>
                    <a:pt x="63848" y="240464"/>
                    <a:pt x="28051" y="259346"/>
                  </a:cubicBezTo>
                  <a:lnTo>
                    <a:pt x="22860" y="262204"/>
                  </a:lnTo>
                  <a:lnTo>
                    <a:pt x="21225" y="262902"/>
                  </a:lnTo>
                  <a:lnTo>
                    <a:pt x="20447" y="263156"/>
                  </a:lnTo>
                  <a:lnTo>
                    <a:pt x="18701" y="263569"/>
                  </a:lnTo>
                  <a:lnTo>
                    <a:pt x="17732" y="263728"/>
                  </a:lnTo>
                  <a:lnTo>
                    <a:pt x="15875" y="263823"/>
                  </a:lnTo>
                  <a:lnTo>
                    <a:pt x="15208" y="263823"/>
                  </a:lnTo>
                  <a:lnTo>
                    <a:pt x="13462" y="263632"/>
                  </a:lnTo>
                  <a:lnTo>
                    <a:pt x="12240" y="263410"/>
                  </a:lnTo>
                  <a:lnTo>
                    <a:pt x="10525" y="262902"/>
                  </a:lnTo>
                  <a:lnTo>
                    <a:pt x="8525" y="262013"/>
                  </a:lnTo>
                  <a:lnTo>
                    <a:pt x="7017" y="261124"/>
                  </a:lnTo>
                  <a:lnTo>
                    <a:pt x="5604" y="260060"/>
                  </a:lnTo>
                  <a:lnTo>
                    <a:pt x="4651" y="259171"/>
                  </a:lnTo>
                  <a:lnTo>
                    <a:pt x="3493" y="257870"/>
                  </a:lnTo>
                  <a:lnTo>
                    <a:pt x="2476" y="256457"/>
                  </a:lnTo>
                  <a:lnTo>
                    <a:pt x="2127" y="255885"/>
                  </a:lnTo>
                  <a:lnTo>
                    <a:pt x="1619" y="254933"/>
                  </a:lnTo>
                  <a:lnTo>
                    <a:pt x="921" y="253298"/>
                  </a:lnTo>
                  <a:lnTo>
                    <a:pt x="667" y="252520"/>
                  </a:lnTo>
                  <a:lnTo>
                    <a:pt x="254" y="250774"/>
                  </a:lnTo>
                  <a:lnTo>
                    <a:pt x="95" y="249805"/>
                  </a:lnTo>
                  <a:lnTo>
                    <a:pt x="32" y="249027"/>
                  </a:lnTo>
                  <a:lnTo>
                    <a:pt x="0" y="41573"/>
                  </a:lnTo>
                  <a:cubicBezTo>
                    <a:pt x="0" y="35901"/>
                    <a:pt x="3026" y="30661"/>
                    <a:pt x="7937" y="27825"/>
                  </a:cubicBezTo>
                  <a:cubicBezTo>
                    <a:pt x="48986" y="4127"/>
                    <a:pt x="98476" y="11"/>
                    <a:pt x="142875" y="16601"/>
                  </a:cubicBezTo>
                </a:path>
              </a:pathLst>
            </a:custGeom>
            <a:solidFill>
              <a:srgbClr val="E8A87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698230" y="1263968"/>
              <a:ext cx="124539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= 新员工手册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178165" y="1696402"/>
              <a:ext cx="4867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你是谁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178165" y="1934528"/>
              <a:ext cx="11001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你的边界在哪里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178165" y="2172652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你不能做什么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178165" y="2410778"/>
              <a:ext cx="11001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回答的风格要求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905750" y="2857500"/>
              <a:ext cx="3714750" cy="1905000"/>
            </a:xfrm>
            <a:prstGeom prst="roundRect">
              <a:avLst>
                <a:gd name="adj" fmla="val 8000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8216542" y="3121025"/>
              <a:ext cx="254716" cy="254000"/>
              <a:chOff x="8216542" y="3121025"/>
              <a:chExt cx="254716" cy="2540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8216542" y="3235325"/>
                <a:ext cx="38816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38816" h="25400">
                    <a:moveTo>
                      <a:pt x="25758" y="0"/>
                    </a:moveTo>
                    <a:cubicBezTo>
                      <a:pt x="32477" y="7"/>
                      <a:pt x="38028" y="5248"/>
                      <a:pt x="38422" y="11956"/>
                    </a:cubicBezTo>
                    <a:cubicBezTo>
                      <a:pt x="38816" y="18664"/>
                      <a:pt x="33916" y="24517"/>
                      <a:pt x="27244" y="25311"/>
                    </a:cubicBezTo>
                    <a:lnTo>
                      <a:pt x="25758" y="25400"/>
                    </a:lnTo>
                    <a:lnTo>
                      <a:pt x="13058" y="25400"/>
                    </a:lnTo>
                    <a:cubicBezTo>
                      <a:pt x="6338" y="25393"/>
                      <a:pt x="788" y="20152"/>
                      <a:pt x="394" y="13444"/>
                    </a:cubicBezTo>
                    <a:cubicBezTo>
                      <a:pt x="0" y="6736"/>
                      <a:pt x="4900" y="883"/>
                      <a:pt x="11572" y="89"/>
                    </a:cubicBezTo>
                    <a:lnTo>
                      <a:pt x="13058" y="0"/>
                    </a:lnTo>
                    <a:lnTo>
                      <a:pt x="2575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331200" y="3121025"/>
                <a:ext cx="25400" cy="38458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38458">
                    <a:moveTo>
                      <a:pt x="12700" y="0"/>
                    </a:moveTo>
                    <a:cubicBezTo>
                      <a:pt x="19139" y="1"/>
                      <a:pt x="24558" y="4820"/>
                      <a:pt x="25311" y="11214"/>
                    </a:cubicBezTo>
                    <a:lnTo>
                      <a:pt x="25400" y="12700"/>
                    </a:lnTo>
                    <a:lnTo>
                      <a:pt x="25400" y="25400"/>
                    </a:lnTo>
                    <a:cubicBezTo>
                      <a:pt x="25393" y="32119"/>
                      <a:pt x="20152" y="37670"/>
                      <a:pt x="13444" y="38064"/>
                    </a:cubicBezTo>
                    <a:cubicBezTo>
                      <a:pt x="6736" y="38458"/>
                      <a:pt x="883" y="33558"/>
                      <a:pt x="89" y="26886"/>
                    </a:cubicBezTo>
                    <a:lnTo>
                      <a:pt x="0" y="25400"/>
                    </a:lnTo>
                    <a:lnTo>
                      <a:pt x="0" y="12700"/>
                    </a:lnTo>
                    <a:cubicBezTo>
                      <a:pt x="0" y="5686"/>
                      <a:pt x="5686" y="0"/>
                      <a:pt x="12700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432442" y="3235325"/>
                <a:ext cx="38816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38816" h="25400">
                    <a:moveTo>
                      <a:pt x="25758" y="0"/>
                    </a:moveTo>
                    <a:cubicBezTo>
                      <a:pt x="32477" y="7"/>
                      <a:pt x="38028" y="5248"/>
                      <a:pt x="38422" y="11956"/>
                    </a:cubicBezTo>
                    <a:cubicBezTo>
                      <a:pt x="38816" y="18664"/>
                      <a:pt x="33916" y="24517"/>
                      <a:pt x="27244" y="25311"/>
                    </a:cubicBezTo>
                    <a:lnTo>
                      <a:pt x="25758" y="25400"/>
                    </a:lnTo>
                    <a:lnTo>
                      <a:pt x="13058" y="25400"/>
                    </a:lnTo>
                    <a:cubicBezTo>
                      <a:pt x="6338" y="25393"/>
                      <a:pt x="788" y="20152"/>
                      <a:pt x="394" y="13444"/>
                    </a:cubicBezTo>
                    <a:cubicBezTo>
                      <a:pt x="0" y="6736"/>
                      <a:pt x="4900" y="883"/>
                      <a:pt x="11572" y="89"/>
                    </a:cubicBezTo>
                    <a:lnTo>
                      <a:pt x="13058" y="0"/>
                    </a:lnTo>
                    <a:lnTo>
                      <a:pt x="2575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248683" y="3152790"/>
                <a:ext cx="36765" cy="36974"/>
              </a:xfrm>
              <a:custGeom>
                <a:avLst/>
                <a:gdLst/>
                <a:ahLst/>
                <a:cxnLst/>
                <a:rect l="l" t="t" r="r" b="b"/>
                <a:pathLst>
                  <a:path w="36765" h="36974">
                    <a:moveTo>
                      <a:pt x="4958" y="4976"/>
                    </a:moveTo>
                    <a:cubicBezTo>
                      <a:pt x="9482" y="452"/>
                      <a:pt x="16666" y="0"/>
                      <a:pt x="21722" y="3922"/>
                    </a:cubicBezTo>
                    <a:lnTo>
                      <a:pt x="22916" y="4976"/>
                    </a:lnTo>
                    <a:lnTo>
                      <a:pt x="31806" y="13866"/>
                    </a:lnTo>
                    <a:cubicBezTo>
                      <a:pt x="36533" y="18609"/>
                      <a:pt x="36765" y="26208"/>
                      <a:pt x="32336" y="31230"/>
                    </a:cubicBezTo>
                    <a:cubicBezTo>
                      <a:pt x="27907" y="36253"/>
                      <a:pt x="20339" y="36974"/>
                      <a:pt x="15042" y="32878"/>
                    </a:cubicBezTo>
                    <a:lnTo>
                      <a:pt x="13848" y="31824"/>
                    </a:lnTo>
                    <a:lnTo>
                      <a:pt x="4958" y="22934"/>
                    </a:lnTo>
                    <a:cubicBezTo>
                      <a:pt x="0" y="17974"/>
                      <a:pt x="0" y="9935"/>
                      <a:pt x="4958" y="4976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402161" y="3152807"/>
                <a:ext cx="37148" cy="36766"/>
              </a:xfrm>
              <a:custGeom>
                <a:avLst/>
                <a:gdLst/>
                <a:ahLst/>
                <a:cxnLst/>
                <a:rect l="l" t="t" r="r" b="b"/>
                <a:pathLst>
                  <a:path w="37148" h="36766">
                    <a:moveTo>
                      <a:pt x="14040" y="4959"/>
                    </a:moveTo>
                    <a:cubicBezTo>
                      <a:pt x="18783" y="232"/>
                      <a:pt x="26382" y="0"/>
                      <a:pt x="31405" y="4429"/>
                    </a:cubicBezTo>
                    <a:cubicBezTo>
                      <a:pt x="36427" y="8858"/>
                      <a:pt x="37148" y="16426"/>
                      <a:pt x="33052" y="21723"/>
                    </a:cubicBezTo>
                    <a:lnTo>
                      <a:pt x="31998" y="22917"/>
                    </a:lnTo>
                    <a:lnTo>
                      <a:pt x="23108" y="31807"/>
                    </a:lnTo>
                    <a:cubicBezTo>
                      <a:pt x="18365" y="36534"/>
                      <a:pt x="10766" y="36766"/>
                      <a:pt x="5744" y="32337"/>
                    </a:cubicBezTo>
                    <a:cubicBezTo>
                      <a:pt x="721" y="27908"/>
                      <a:pt x="0" y="20340"/>
                      <a:pt x="4096" y="15043"/>
                    </a:cubicBezTo>
                    <a:lnTo>
                      <a:pt x="5150" y="13849"/>
                    </a:lnTo>
                    <a:lnTo>
                      <a:pt x="14040" y="4959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305800" y="3324225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63500" y="0"/>
                    </a:moveTo>
                    <a:cubicBezTo>
                      <a:pt x="70514" y="0"/>
                      <a:pt x="76200" y="5686"/>
                      <a:pt x="76200" y="12700"/>
                    </a:cubicBezTo>
                    <a:cubicBezTo>
                      <a:pt x="76200" y="33742"/>
                      <a:pt x="59142" y="50800"/>
                      <a:pt x="38100" y="50800"/>
                    </a:cubicBezTo>
                    <a:cubicBezTo>
                      <a:pt x="17058" y="50800"/>
                      <a:pt x="0" y="33742"/>
                      <a:pt x="0" y="12700"/>
                    </a:cubicBezTo>
                    <a:cubicBezTo>
                      <a:pt x="1" y="6261"/>
                      <a:pt x="4820" y="842"/>
                      <a:pt x="11214" y="89"/>
                    </a:cubicBezTo>
                    <a:lnTo>
                      <a:pt x="12700" y="0"/>
                    </a:lnTo>
                    <a:lnTo>
                      <a:pt x="63500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261238" y="3171825"/>
                <a:ext cx="165323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165323" h="139700">
                    <a:moveTo>
                      <a:pt x="82662" y="0"/>
                    </a:moveTo>
                    <a:cubicBezTo>
                      <a:pt x="115460" y="0"/>
                      <a:pt x="144579" y="20988"/>
                      <a:pt x="154951" y="52103"/>
                    </a:cubicBezTo>
                    <a:cubicBezTo>
                      <a:pt x="165323" y="83219"/>
                      <a:pt x="154621" y="117481"/>
                      <a:pt x="128382" y="137160"/>
                    </a:cubicBezTo>
                    <a:cubicBezTo>
                      <a:pt x="126631" y="138475"/>
                      <a:pt x="124571" y="139315"/>
                      <a:pt x="122400" y="139598"/>
                    </a:cubicBezTo>
                    <a:lnTo>
                      <a:pt x="120762" y="139700"/>
                    </a:lnTo>
                    <a:lnTo>
                      <a:pt x="44562" y="139700"/>
                    </a:lnTo>
                    <a:cubicBezTo>
                      <a:pt x="41814" y="139700"/>
                      <a:pt x="39140" y="138809"/>
                      <a:pt x="36942" y="137160"/>
                    </a:cubicBezTo>
                    <a:cubicBezTo>
                      <a:pt x="10703" y="117481"/>
                      <a:pt x="0" y="83219"/>
                      <a:pt x="10372" y="52103"/>
                    </a:cubicBezTo>
                    <a:cubicBezTo>
                      <a:pt x="20744" y="20988"/>
                      <a:pt x="49863" y="0"/>
                      <a:pt x="82662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8604885" y="318516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技术真相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178165" y="3553778"/>
              <a:ext cx="23116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System Prompt 和 User Prompt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178165" y="3791902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没有本质区别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179118" y="4085749"/>
              <a:ext cx="23316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都是 Token，都进入同一个 Context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179118" y="4323874"/>
              <a:ext cx="240282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role: "system" 只是 API 层面的标记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179118" y="4542949"/>
              <a:ext cx="189018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告诉模型"这段话优先级更高"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71500" y="5048250"/>
            <a:ext cx="11049000" cy="666750"/>
            <a:chOff x="571500" y="5048250"/>
            <a:chExt cx="11049000" cy="666750"/>
          </a:xfrm>
        </p:grpSpPr>
        <p:sp>
          <p:nvSpPr>
            <p:cNvPr id="45" name="Rectangle 45"/>
            <p:cNvSpPr/>
            <p:nvPr/>
          </p:nvSpPr>
          <p:spPr>
            <a:xfrm>
              <a:off x="571500" y="5048250"/>
              <a:ext cx="11049000" cy="666750"/>
            </a:xfrm>
            <a:prstGeom prst="roundRect">
              <a:avLst>
                <a:gd name="adj" fmla="val 17143"/>
              </a:avLst>
            </a:prstGeom>
            <a:solidFill>
              <a:srgbClr val="8B6F47">
                <a:alpha val="6000"/>
              </a:srgbClr>
            </a:solidFill>
            <a:ln w="9525">
              <a:solidFill>
                <a:srgbClr val="8B6F47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465153" y="5302568"/>
              <a:ext cx="52616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System Prompt = 放在最前面的、优先级更高的 Prompt</a:t>
              </a: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1687842" y="6522720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21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5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44" grpId="0"/>
      <p:bldP spid="4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8B6F47"/>
              </a:gs>
              <a:gs pos="100000">
                <a:srgbClr val="6B5535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572500" y="3810000"/>
            <a:ext cx="3810000" cy="3810000"/>
          </a:xfrm>
          <a:prstGeom prst="ellipse">
            <a:avLst/>
          </a:prstGeom>
          <a:solidFill>
            <a:srgbClr val="FAF7F2">
              <a:alpha val="5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571500" y="190500"/>
            <a:ext cx="2286000" cy="2286000"/>
          </a:xfrm>
          <a:prstGeom prst="ellipse">
            <a:avLst/>
          </a:prstGeom>
          <a:solidFill>
            <a:srgbClr val="FAF7F2">
              <a:alpha val="4000"/>
            </a:srgbClr>
          </a:solidFill>
          <a:ln>
            <a:noFill/>
          </a:ln>
        </p:spPr>
      </p:sp>
      <p:grpSp>
        <p:nvGrpSpPr>
          <p:cNvPr id="19" name="Group 19"/>
          <p:cNvGrpSpPr/>
          <p:nvPr/>
        </p:nvGrpSpPr>
        <p:grpSpPr>
          <a:xfrm>
            <a:off x="2144392" y="1504950"/>
            <a:ext cx="7903216" cy="3095239"/>
            <a:chOff x="2144392" y="1504950"/>
            <a:chExt cx="7903216" cy="3095239"/>
          </a:xfrm>
        </p:grpSpPr>
        <p:sp>
          <p:nvSpPr>
            <p:cNvPr id="5" name="TextBox 5"/>
            <p:cNvSpPr txBox="1"/>
            <p:nvPr/>
          </p:nvSpPr>
          <p:spPr>
            <a:xfrm>
              <a:off x="5222605" y="1504950"/>
              <a:ext cx="1746790" cy="1828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0" b="1" dirty="0">
                  <a:solidFill>
                    <a:srgbClr val="FAF7F2">
                      <a:alphaMod val="15000"/>
                    </a:srgbClr>
                  </a:solidFill>
                  <a:latin typeface="Georgia"/>
                  <a:ea typeface="Microsoft YaHei"/>
                  <a:cs typeface="Georgia"/>
                </a:rPr>
                <a:t>05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144392" y="2849880"/>
              <a:ext cx="7903216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FAF7F2"/>
                  </a:solidFill>
                  <a:latin typeface="Georgia"/>
                  <a:ea typeface="Microsoft YaHei"/>
                  <a:cs typeface="Georgia"/>
                </a:rPr>
                <a:t>Embedding — 让文字变成"坐标"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4953000" y="3476625"/>
              <a:ext cx="2286000" cy="381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4187428" y="3838575"/>
              <a:ext cx="38171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AF7F2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Token 只是编号，Embedding 赋予语义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5837843" y="4315196"/>
              <a:ext cx="287694" cy="284993"/>
              <a:chOff x="5837843" y="4315196"/>
              <a:chExt cx="287694" cy="284993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5992144" y="4514850"/>
                <a:ext cx="120501" cy="85339"/>
              </a:xfrm>
              <a:custGeom>
                <a:avLst/>
                <a:gdLst/>
                <a:ahLst/>
                <a:cxnLst/>
                <a:rect l="l" t="t" r="r" b="b"/>
                <a:pathLst>
                  <a:path w="120501" h="85339">
                    <a:moveTo>
                      <a:pt x="120501" y="0"/>
                    </a:moveTo>
                    <a:cubicBezTo>
                      <a:pt x="99286" y="48606"/>
                      <a:pt x="52893" y="81462"/>
                      <a:pt x="0" y="85339"/>
                    </a:cubicBezTo>
                    <a:cubicBezTo>
                      <a:pt x="3659" y="84467"/>
                      <a:pt x="6826" y="82188"/>
                      <a:pt x="8815" y="78996"/>
                    </a:cubicBezTo>
                    <a:cubicBezTo>
                      <a:pt x="24002" y="54669"/>
                      <a:pt x="35012" y="27973"/>
                      <a:pt x="41391" y="14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5850755" y="4514850"/>
                <a:ext cx="120486" cy="85339"/>
              </a:xfrm>
              <a:custGeom>
                <a:avLst/>
                <a:gdLst/>
                <a:ahLst/>
                <a:cxnLst/>
                <a:rect l="l" t="t" r="r" b="b"/>
                <a:pathLst>
                  <a:path w="120486" h="85339">
                    <a:moveTo>
                      <a:pt x="79110" y="0"/>
                    </a:moveTo>
                    <a:cubicBezTo>
                      <a:pt x="85486" y="27969"/>
                      <a:pt x="96496" y="54674"/>
                      <a:pt x="111685" y="79010"/>
                    </a:cubicBezTo>
                    <a:cubicBezTo>
                      <a:pt x="113674" y="82194"/>
                      <a:pt x="116835" y="84468"/>
                      <a:pt x="120486" y="85339"/>
                    </a:cubicBezTo>
                    <a:cubicBezTo>
                      <a:pt x="67599" y="81457"/>
                      <a:pt x="21213" y="48602"/>
                      <a:pt x="0" y="0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5959269" y="4514850"/>
                <a:ext cx="44863" cy="55493"/>
              </a:xfrm>
              <a:custGeom>
                <a:avLst/>
                <a:gdLst/>
                <a:ahLst/>
                <a:cxnLst/>
                <a:rect l="l" t="t" r="r" b="b"/>
                <a:pathLst>
                  <a:path w="44863" h="55493">
                    <a:moveTo>
                      <a:pt x="44863" y="0"/>
                    </a:moveTo>
                    <a:cubicBezTo>
                      <a:pt x="39850" y="19401"/>
                      <a:pt x="32308" y="38058"/>
                      <a:pt x="22431" y="55493"/>
                    </a:cubicBezTo>
                    <a:cubicBezTo>
                      <a:pt x="12554" y="38058"/>
                      <a:pt x="5013" y="19401"/>
                      <a:pt x="0" y="0"/>
                    </a:cubicBezTo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5837843" y="4429125"/>
                <a:ext cx="87193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7193" h="57150">
                    <a:moveTo>
                      <a:pt x="87193" y="0"/>
                    </a:moveTo>
                    <a:cubicBezTo>
                      <a:pt x="85069" y="18991"/>
                      <a:pt x="85069" y="38159"/>
                      <a:pt x="87193" y="57150"/>
                    </a:cubicBezTo>
                    <a:lnTo>
                      <a:pt x="3868" y="57150"/>
                    </a:lnTo>
                    <a:cubicBezTo>
                      <a:pt x="10" y="38296"/>
                      <a:pt x="0" y="18858"/>
                      <a:pt x="3839" y="0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5951420" y="4429125"/>
                <a:ext cx="6056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60560" h="57150">
                    <a:moveTo>
                      <a:pt x="58169" y="0"/>
                    </a:moveTo>
                    <a:cubicBezTo>
                      <a:pt x="60560" y="18975"/>
                      <a:pt x="60560" y="38175"/>
                      <a:pt x="58169" y="57150"/>
                    </a:cubicBezTo>
                    <a:lnTo>
                      <a:pt x="2391" y="57150"/>
                    </a:lnTo>
                    <a:cubicBezTo>
                      <a:pt x="0" y="38175"/>
                      <a:pt x="0" y="18975"/>
                      <a:pt x="2391" y="0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6038364" y="4429125"/>
                <a:ext cx="87173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7173" h="57150">
                    <a:moveTo>
                      <a:pt x="83353" y="0"/>
                    </a:moveTo>
                    <a:cubicBezTo>
                      <a:pt x="87173" y="18859"/>
                      <a:pt x="87163" y="38294"/>
                      <a:pt x="83325" y="57150"/>
                    </a:cubicBezTo>
                    <a:lnTo>
                      <a:pt x="0" y="57150"/>
                    </a:lnTo>
                    <a:cubicBezTo>
                      <a:pt x="2129" y="38162"/>
                      <a:pt x="2129" y="19002"/>
                      <a:pt x="0" y="0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5850712" y="4315211"/>
                <a:ext cx="120515" cy="85339"/>
              </a:xfrm>
              <a:custGeom>
                <a:avLst/>
                <a:gdLst/>
                <a:ahLst/>
                <a:cxnLst/>
                <a:rect l="l" t="t" r="r" b="b"/>
                <a:pathLst>
                  <a:path w="120515" h="85339">
                    <a:moveTo>
                      <a:pt x="120515" y="0"/>
                    </a:moveTo>
                    <a:cubicBezTo>
                      <a:pt x="116867" y="879"/>
                      <a:pt x="113710" y="3157"/>
                      <a:pt x="111728" y="6344"/>
                    </a:cubicBezTo>
                    <a:cubicBezTo>
                      <a:pt x="96541" y="30675"/>
                      <a:pt x="85530" y="57375"/>
                      <a:pt x="79153" y="85339"/>
                    </a:cubicBezTo>
                    <a:lnTo>
                      <a:pt x="0" y="85339"/>
                    </a:lnTo>
                    <a:cubicBezTo>
                      <a:pt x="21027" y="37215"/>
                      <a:pt x="66739" y="4486"/>
                      <a:pt x="119072" y="86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5959269" y="4345057"/>
                <a:ext cx="44863" cy="55507"/>
              </a:xfrm>
              <a:custGeom>
                <a:avLst/>
                <a:gdLst/>
                <a:ahLst/>
                <a:cxnLst/>
                <a:rect l="l" t="t" r="r" b="b"/>
                <a:pathLst>
                  <a:path w="44863" h="55507">
                    <a:moveTo>
                      <a:pt x="22431" y="0"/>
                    </a:moveTo>
                    <a:cubicBezTo>
                      <a:pt x="32309" y="17439"/>
                      <a:pt x="39851" y="36101"/>
                      <a:pt x="44863" y="55507"/>
                    </a:cubicBezTo>
                    <a:lnTo>
                      <a:pt x="0" y="55507"/>
                    </a:lnTo>
                    <a:cubicBezTo>
                      <a:pt x="4858" y="36690"/>
                      <a:pt x="12144" y="18359"/>
                      <a:pt x="21860" y="972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5992173" y="4315196"/>
                <a:ext cx="120515" cy="85354"/>
              </a:xfrm>
              <a:custGeom>
                <a:avLst/>
                <a:gdLst/>
                <a:ahLst/>
                <a:cxnLst/>
                <a:rect l="l" t="t" r="r" b="b"/>
                <a:pathLst>
                  <a:path w="120515" h="85354">
                    <a:moveTo>
                      <a:pt x="0" y="0"/>
                    </a:moveTo>
                    <a:cubicBezTo>
                      <a:pt x="52890" y="3906"/>
                      <a:pt x="99276" y="36758"/>
                      <a:pt x="120515" y="85354"/>
                    </a:cubicBezTo>
                    <a:lnTo>
                      <a:pt x="41362" y="85354"/>
                    </a:lnTo>
                    <a:cubicBezTo>
                      <a:pt x="34986" y="57384"/>
                      <a:pt x="23976" y="30679"/>
                      <a:pt x="8787" y="6344"/>
                    </a:cubicBezTo>
                    <a:cubicBezTo>
                      <a:pt x="7068" y="3590"/>
                      <a:pt x="4463" y="1504"/>
                      <a:pt x="1400" y="429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</p:grpSp>
      </p:grpSp>
      <p:grpSp>
        <p:nvGrpSpPr>
          <p:cNvPr id="22" name="Group 22"/>
          <p:cNvGrpSpPr/>
          <p:nvPr/>
        </p:nvGrpSpPr>
        <p:grpSpPr>
          <a:xfrm>
            <a:off x="369570" y="6522720"/>
            <a:ext cx="11452859" cy="182880"/>
            <a:chOff x="369570" y="6522720"/>
            <a:chExt cx="11452859" cy="182880"/>
          </a:xfrm>
        </p:grpSpPr>
        <p:sp>
          <p:nvSpPr>
            <p:cNvPr id="20" name="TextBox 20"/>
            <p:cNvSpPr txBox="1"/>
            <p:nvPr/>
          </p:nvSpPr>
          <p:spPr>
            <a:xfrm>
              <a:off x="369570" y="6522720"/>
              <a:ext cx="14687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AI大家学 · 大模型技术篇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654980" y="6522720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2925" y="376238"/>
            <a:ext cx="11089958" cy="457200"/>
            <a:chOff x="542925" y="376238"/>
            <a:chExt cx="11089958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376238"/>
              <a:ext cx="4559963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Embedding — 语义空间可视化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326529" y="466249"/>
              <a:ext cx="13063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语义越近，距离越近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52500" y="952500"/>
            <a:ext cx="6191250" cy="4772025"/>
            <a:chOff x="952500" y="952500"/>
            <a:chExt cx="6191250" cy="4772025"/>
          </a:xfrm>
        </p:grpSpPr>
        <p:sp>
          <p:nvSpPr>
            <p:cNvPr id="7" name="Line 7"/>
            <p:cNvSpPr/>
            <p:nvPr/>
          </p:nvSpPr>
          <p:spPr>
            <a:xfrm>
              <a:off x="952500" y="952500"/>
              <a:ext cx="9525" cy="4762500"/>
            </a:xfrm>
            <a:custGeom>
              <a:avLst/>
              <a:gdLst/>
              <a:ahLst/>
              <a:cxnLst/>
              <a:rect l="l" t="t" r="r" b="b"/>
              <a:pathLst>
                <a:path w="9525" h="4762500">
                  <a:moveTo>
                    <a:pt x="0" y="476250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EDE5D5"/>
              </a:solidFill>
              <a:prstDash val="dash"/>
            </a:ln>
          </p:spPr>
        </p:sp>
        <p:sp>
          <p:nvSpPr>
            <p:cNvPr id="8" name="Line 8"/>
            <p:cNvSpPr/>
            <p:nvPr/>
          </p:nvSpPr>
          <p:spPr>
            <a:xfrm>
              <a:off x="952500" y="5715000"/>
              <a:ext cx="6191250" cy="9525"/>
            </a:xfrm>
            <a:custGeom>
              <a:avLst/>
              <a:gdLst/>
              <a:ahLst/>
              <a:cxnLst/>
              <a:rect l="l" t="t" r="r" b="b"/>
              <a:pathLst>
                <a:path w="6191250" h="9525">
                  <a:moveTo>
                    <a:pt x="0" y="0"/>
                  </a:moveTo>
                  <a:lnTo>
                    <a:pt x="6191250" y="0"/>
                  </a:lnTo>
                </a:path>
              </a:pathLst>
            </a:custGeom>
            <a:noFill/>
            <a:ln w="9525">
              <a:solidFill>
                <a:srgbClr val="EDE5D5"/>
              </a:solidFill>
              <a:prstDash val="dash"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1714500" y="1442085"/>
              <a:ext cx="2097786" cy="1320165"/>
              <a:chOff x="1714500" y="1442085"/>
              <a:chExt cx="2097786" cy="1320165"/>
            </a:xfrm>
          </p:grpSpPr>
          <p:sp>
            <p:nvSpPr>
              <p:cNvPr id="9" name="Ellipse 9"/>
              <p:cNvSpPr/>
              <p:nvPr/>
            </p:nvSpPr>
            <p:spPr>
              <a:xfrm>
                <a:off x="1714500" y="1524000"/>
                <a:ext cx="762000" cy="762000"/>
              </a:xfrm>
              <a:prstGeom prst="ellipse">
                <a:avLst/>
              </a:prstGeom>
              <a:solidFill>
                <a:srgbClr val="E8A87C">
                  <a:alpha val="8000"/>
                </a:srgbClr>
              </a:solidFill>
              <a:ln>
                <a:noFill/>
              </a:ln>
            </p:spPr>
          </p:sp>
          <p:sp>
            <p:nvSpPr>
              <p:cNvPr id="10" name="Ellipse 10"/>
              <p:cNvSpPr/>
              <p:nvPr/>
            </p:nvSpPr>
            <p:spPr>
              <a:xfrm>
                <a:off x="2019300" y="1828800"/>
                <a:ext cx="152400" cy="152400"/>
              </a:xfrm>
              <a:prstGeom prst="ellipse">
                <a:avLst/>
              </a:pr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2270760" y="1727835"/>
                <a:ext cx="39852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苹果</a:t>
                </a:r>
              </a:p>
            </p:txBody>
          </p:sp>
          <p:sp>
            <p:nvSpPr>
              <p:cNvPr id="12" name="Ellipse 12"/>
              <p:cNvSpPr/>
              <p:nvPr/>
            </p:nvSpPr>
            <p:spPr>
              <a:xfrm>
                <a:off x="2781300" y="1543050"/>
                <a:ext cx="152400" cy="152400"/>
              </a:xfrm>
              <a:prstGeom prst="ellipse">
                <a:avLst/>
              </a:pr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3032760" y="1442085"/>
                <a:ext cx="39852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香蕉</a:t>
                </a:r>
              </a:p>
            </p:txBody>
          </p:sp>
          <p:sp>
            <p:nvSpPr>
              <p:cNvPr id="14" name="Ellipse 14"/>
              <p:cNvSpPr/>
              <p:nvPr/>
            </p:nvSpPr>
            <p:spPr>
              <a:xfrm>
                <a:off x="3162300" y="2209800"/>
                <a:ext cx="152400" cy="152400"/>
              </a:xfrm>
              <a:prstGeom prst="ellipse">
                <a:avLst/>
              </a:pr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3413760" y="2108835"/>
                <a:ext cx="39852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橙子</a:t>
                </a:r>
              </a:p>
            </p:txBody>
          </p:sp>
          <p:sp>
            <p:nvSpPr>
              <p:cNvPr id="16" name="Ellipse 16"/>
              <p:cNvSpPr/>
              <p:nvPr/>
            </p:nvSpPr>
            <p:spPr>
              <a:xfrm>
                <a:off x="2286000" y="2571750"/>
                <a:ext cx="190500" cy="190500"/>
              </a:xfrm>
              <a:prstGeom prst="ellipse">
                <a:avLst/>
              </a:prstGeom>
              <a:solidFill>
                <a:srgbClr val="C4956A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2554605" y="2473642"/>
                <a:ext cx="44834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C4956A"/>
                    </a:solidFill>
                    <a:latin typeface="Arial"/>
                    <a:ea typeface="Microsoft YaHei"/>
                    <a:cs typeface="Arial"/>
                  </a:rPr>
                  <a:t>水果</a:t>
                </a:r>
              </a:p>
            </p:txBody>
          </p:sp>
          <p:sp>
            <p:nvSpPr>
              <p:cNvPr id="18" name="Line 18"/>
              <p:cNvSpPr/>
              <p:nvPr/>
            </p:nvSpPr>
            <p:spPr>
              <a:xfrm>
                <a:off x="2095500" y="1619250"/>
                <a:ext cx="76200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762000" h="285750">
                    <a:moveTo>
                      <a:pt x="0" y="285750"/>
                    </a:moveTo>
                    <a:lnTo>
                      <a:pt x="762000" y="0"/>
                    </a:lnTo>
                  </a:path>
                </a:pathLst>
              </a:custGeom>
              <a:noFill/>
              <a:ln w="4762">
                <a:solidFill>
                  <a:srgbClr val="E8A87C">
                    <a:alpha val="30000"/>
                  </a:srgbClr>
                </a:solidFill>
              </a:ln>
            </p:spPr>
          </p:sp>
          <p:sp>
            <p:nvSpPr>
              <p:cNvPr id="19" name="Line 19"/>
              <p:cNvSpPr/>
              <p:nvPr/>
            </p:nvSpPr>
            <p:spPr>
              <a:xfrm>
                <a:off x="2095500" y="1905000"/>
                <a:ext cx="11430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1143000" h="381000">
                    <a:moveTo>
                      <a:pt x="0" y="0"/>
                    </a:moveTo>
                    <a:lnTo>
                      <a:pt x="1143000" y="381000"/>
                    </a:lnTo>
                  </a:path>
                </a:pathLst>
              </a:custGeom>
              <a:noFill/>
              <a:ln w="4762">
                <a:solidFill>
                  <a:srgbClr val="E8A87C">
                    <a:alpha val="30000"/>
                  </a:srgbClr>
                </a:solidFill>
              </a:ln>
            </p:spPr>
          </p:sp>
          <p:sp>
            <p:nvSpPr>
              <p:cNvPr id="20" name="Line 20"/>
              <p:cNvSpPr/>
              <p:nvPr/>
            </p:nvSpPr>
            <p:spPr>
              <a:xfrm>
                <a:off x="2857500" y="1619250"/>
                <a:ext cx="381000" cy="66675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666750">
                    <a:moveTo>
                      <a:pt x="0" y="0"/>
                    </a:moveTo>
                    <a:lnTo>
                      <a:pt x="381000" y="666750"/>
                    </a:lnTo>
                  </a:path>
                </a:pathLst>
              </a:custGeom>
              <a:noFill/>
              <a:ln w="4762">
                <a:solidFill>
                  <a:srgbClr val="E8A87C">
                    <a:alpha val="30000"/>
                  </a:srgbClr>
                </a:solidFill>
              </a:ln>
            </p:spPr>
          </p:sp>
        </p:grpSp>
        <p:grpSp>
          <p:nvGrpSpPr>
            <p:cNvPr id="31" name="Group 31"/>
            <p:cNvGrpSpPr/>
            <p:nvPr/>
          </p:nvGrpSpPr>
          <p:grpSpPr>
            <a:xfrm>
              <a:off x="4905375" y="3918585"/>
              <a:ext cx="1383411" cy="1110615"/>
              <a:chOff x="4905375" y="3918585"/>
              <a:chExt cx="1383411" cy="1110615"/>
            </a:xfrm>
          </p:grpSpPr>
          <p:sp>
            <p:nvSpPr>
              <p:cNvPr id="22" name="Ellipse 22"/>
              <p:cNvSpPr/>
              <p:nvPr/>
            </p:nvSpPr>
            <p:spPr>
              <a:xfrm>
                <a:off x="4905375" y="3952875"/>
                <a:ext cx="666750" cy="666750"/>
              </a:xfrm>
              <a:prstGeom prst="ellipse">
                <a:avLst/>
              </a:prstGeom>
              <a:solidFill>
                <a:srgbClr val="8FBC8F">
                  <a:alpha val="8000"/>
                </a:srgbClr>
              </a:solidFill>
              <a:ln>
                <a:noFill/>
              </a:ln>
            </p:spPr>
          </p:sp>
          <p:sp>
            <p:nvSpPr>
              <p:cNvPr id="23" name="Ellipse 23"/>
              <p:cNvSpPr/>
              <p:nvPr/>
            </p:nvSpPr>
            <p:spPr>
              <a:xfrm>
                <a:off x="4972050" y="4019550"/>
                <a:ext cx="152400" cy="152400"/>
              </a:xfrm>
              <a:prstGeom prst="ellipse">
                <a:avLst/>
              </a:prstGeom>
              <a:solidFill>
                <a:srgbClr val="8FBC8F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5223510" y="3918585"/>
                <a:ext cx="39852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汽车</a:t>
                </a:r>
              </a:p>
            </p:txBody>
          </p:sp>
          <p:sp>
            <p:nvSpPr>
              <p:cNvPr id="25" name="Ellipse 25"/>
              <p:cNvSpPr/>
              <p:nvPr/>
            </p:nvSpPr>
            <p:spPr>
              <a:xfrm>
                <a:off x="5638800" y="4400550"/>
                <a:ext cx="152400" cy="152400"/>
              </a:xfrm>
              <a:prstGeom prst="ellipse">
                <a:avLst/>
              </a:prstGeom>
              <a:solidFill>
                <a:srgbClr val="8FBC8F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5890260" y="4299585"/>
                <a:ext cx="39852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卡车</a:t>
                </a:r>
              </a:p>
            </p:txBody>
          </p:sp>
          <p:sp>
            <p:nvSpPr>
              <p:cNvPr id="27" name="Ellipse 27"/>
              <p:cNvSpPr/>
              <p:nvPr/>
            </p:nvSpPr>
            <p:spPr>
              <a:xfrm>
                <a:off x="5257800" y="4876800"/>
                <a:ext cx="152400" cy="152400"/>
              </a:xfrm>
              <a:prstGeom prst="ellipse">
                <a:avLst/>
              </a:prstGeom>
              <a:solidFill>
                <a:srgbClr val="8FBC8F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5509260" y="4775835"/>
                <a:ext cx="39852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公交</a:t>
                </a:r>
              </a:p>
            </p:txBody>
          </p:sp>
          <p:sp>
            <p:nvSpPr>
              <p:cNvPr id="29" name="Line 29"/>
              <p:cNvSpPr/>
              <p:nvPr/>
            </p:nvSpPr>
            <p:spPr>
              <a:xfrm>
                <a:off x="5048250" y="4095750"/>
                <a:ext cx="66675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666750" h="381000">
                    <a:moveTo>
                      <a:pt x="0" y="0"/>
                    </a:moveTo>
                    <a:lnTo>
                      <a:pt x="666750" y="381000"/>
                    </a:lnTo>
                  </a:path>
                </a:pathLst>
              </a:custGeom>
              <a:noFill/>
              <a:ln w="4762">
                <a:solidFill>
                  <a:srgbClr val="8FBC8F">
                    <a:alpha val="30000"/>
                  </a:srgbClr>
                </a:solidFill>
              </a:ln>
            </p:spPr>
          </p:sp>
          <p:sp>
            <p:nvSpPr>
              <p:cNvPr id="30" name="Line 30"/>
              <p:cNvSpPr/>
              <p:nvPr/>
            </p:nvSpPr>
            <p:spPr>
              <a:xfrm>
                <a:off x="5334000" y="4476750"/>
                <a:ext cx="38100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476250">
                    <a:moveTo>
                      <a:pt x="381000" y="0"/>
                    </a:moveTo>
                    <a:lnTo>
                      <a:pt x="0" y="476250"/>
                    </a:lnTo>
                  </a:path>
                </a:pathLst>
              </a:custGeom>
              <a:noFill/>
              <a:ln w="4762">
                <a:solidFill>
                  <a:srgbClr val="8FBC8F">
                    <a:alpha val="30000"/>
                  </a:srgbClr>
                </a:solidFill>
              </a:ln>
            </p:spPr>
          </p:sp>
        </p:grpSp>
        <p:sp>
          <p:nvSpPr>
            <p:cNvPr id="32" name="Line 32"/>
            <p:cNvSpPr/>
            <p:nvPr/>
          </p:nvSpPr>
          <p:spPr>
            <a:xfrm>
              <a:off x="2095500" y="1905000"/>
              <a:ext cx="285750" cy="762000"/>
            </a:xfrm>
            <a:custGeom>
              <a:avLst/>
              <a:gdLst/>
              <a:ahLst/>
              <a:cxnLst/>
              <a:rect l="l" t="t" r="r" b="b"/>
              <a:pathLst>
                <a:path w="285750" h="762000">
                  <a:moveTo>
                    <a:pt x="0" y="0"/>
                  </a:moveTo>
                  <a:lnTo>
                    <a:pt x="285750" y="762000"/>
                  </a:lnTo>
                </a:path>
              </a:pathLst>
            </a:custGeom>
            <a:noFill/>
            <a:ln w="19050">
              <a:solidFill>
                <a:srgbClr val="8FBC8F"/>
              </a:solidFill>
              <a:prstDash val="dash"/>
            </a:ln>
          </p:spPr>
        </p:sp>
        <p:sp>
          <p:nvSpPr>
            <p:cNvPr id="33" name="Rectangle 33"/>
            <p:cNvSpPr/>
            <p:nvPr/>
          </p:nvSpPr>
          <p:spPr>
            <a:xfrm>
              <a:off x="1714500" y="2238375"/>
              <a:ext cx="523875" cy="228600"/>
            </a:xfrm>
            <a:prstGeom prst="roundRect">
              <a:avLst>
                <a:gd name="adj" fmla="val 50000"/>
              </a:avLst>
            </a:prstGeom>
            <a:solidFill>
              <a:srgbClr val="8FBC8F">
                <a:alpha val="20000"/>
              </a:srgbClr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832579" y="2303145"/>
              <a:ext cx="2781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8FBC8F"/>
                  </a:solidFill>
                  <a:latin typeface="Arial"/>
                  <a:ea typeface="Microsoft YaHei"/>
                  <a:cs typeface="Arial"/>
                </a:rPr>
                <a:t>近 ✓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2095500" y="1905000"/>
              <a:ext cx="2952750" cy="2190750"/>
            </a:xfrm>
            <a:custGeom>
              <a:avLst/>
              <a:gdLst/>
              <a:ahLst/>
              <a:cxnLst/>
              <a:rect l="l" t="t" r="r" b="b"/>
              <a:pathLst>
                <a:path w="2952750" h="2190750">
                  <a:moveTo>
                    <a:pt x="0" y="0"/>
                  </a:moveTo>
                  <a:lnTo>
                    <a:pt x="2952750" y="2190750"/>
                  </a:lnTo>
                </a:path>
              </a:pathLst>
            </a:custGeom>
            <a:noFill/>
            <a:ln w="19050">
              <a:solidFill>
                <a:srgbClr val="D4837F"/>
              </a:solidFill>
              <a:prstDash val="dash"/>
            </a:ln>
          </p:spPr>
        </p:sp>
        <p:sp>
          <p:nvSpPr>
            <p:cNvPr id="36" name="Rectangle 36"/>
            <p:cNvSpPr/>
            <p:nvPr/>
          </p:nvSpPr>
          <p:spPr>
            <a:xfrm>
              <a:off x="3238500" y="2857500"/>
              <a:ext cx="523875" cy="228600"/>
            </a:xfrm>
            <a:prstGeom prst="roundRect">
              <a:avLst>
                <a:gd name="adj" fmla="val 50000"/>
              </a:avLst>
            </a:prstGeom>
            <a:solidFill>
              <a:srgbClr val="D4837F">
                <a:alpha val="20000"/>
              </a:srgbClr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356579" y="2922270"/>
              <a:ext cx="2781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远 ✗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7524750" y="952500"/>
            <a:ext cx="4095750" cy="4953000"/>
            <a:chOff x="7524750" y="952500"/>
            <a:chExt cx="4095750" cy="4953000"/>
          </a:xfrm>
        </p:grpSpPr>
        <p:sp>
          <p:nvSpPr>
            <p:cNvPr id="39" name="Rectangle 39"/>
            <p:cNvSpPr/>
            <p:nvPr/>
          </p:nvSpPr>
          <p:spPr>
            <a:xfrm>
              <a:off x="7524750" y="952500"/>
              <a:ext cx="4095750" cy="4953000"/>
            </a:xfrm>
            <a:prstGeom prst="roundRect">
              <a:avLst>
                <a:gd name="adj" fmla="val 3721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7835027" y="1216355"/>
              <a:ext cx="255728" cy="253327"/>
              <a:chOff x="7835027" y="1216355"/>
              <a:chExt cx="255728" cy="253327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7972184" y="1393825"/>
                <a:ext cx="107112" cy="75857"/>
              </a:xfrm>
              <a:custGeom>
                <a:avLst/>
                <a:gdLst/>
                <a:ahLst/>
                <a:cxnLst/>
                <a:rect l="l" t="t" r="r" b="b"/>
                <a:pathLst>
                  <a:path w="107112" h="75857">
                    <a:moveTo>
                      <a:pt x="107112" y="0"/>
                    </a:moveTo>
                    <a:cubicBezTo>
                      <a:pt x="88254" y="43206"/>
                      <a:pt x="47016" y="72411"/>
                      <a:pt x="0" y="75857"/>
                    </a:cubicBezTo>
                    <a:cubicBezTo>
                      <a:pt x="3252" y="75082"/>
                      <a:pt x="6068" y="73056"/>
                      <a:pt x="7836" y="70218"/>
                    </a:cubicBezTo>
                    <a:cubicBezTo>
                      <a:pt x="21335" y="48595"/>
                      <a:pt x="31122" y="24865"/>
                      <a:pt x="36792" y="13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846504" y="1393825"/>
                <a:ext cx="107099" cy="75857"/>
              </a:xfrm>
              <a:custGeom>
                <a:avLst/>
                <a:gdLst/>
                <a:ahLst/>
                <a:cxnLst/>
                <a:rect l="l" t="t" r="r" b="b"/>
                <a:pathLst>
                  <a:path w="107099" h="75857">
                    <a:moveTo>
                      <a:pt x="70320" y="0"/>
                    </a:moveTo>
                    <a:cubicBezTo>
                      <a:pt x="75987" y="24861"/>
                      <a:pt x="85774" y="48599"/>
                      <a:pt x="99276" y="70231"/>
                    </a:cubicBezTo>
                    <a:cubicBezTo>
                      <a:pt x="101043" y="73061"/>
                      <a:pt x="103854" y="75082"/>
                      <a:pt x="107099" y="75857"/>
                    </a:cubicBezTo>
                    <a:cubicBezTo>
                      <a:pt x="60088" y="72406"/>
                      <a:pt x="18856" y="43202"/>
                      <a:pt x="0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7942961" y="1393825"/>
                <a:ext cx="39878" cy="49327"/>
              </a:xfrm>
              <a:custGeom>
                <a:avLst/>
                <a:gdLst/>
                <a:ahLst/>
                <a:cxnLst/>
                <a:rect l="l" t="t" r="r" b="b"/>
                <a:pathLst>
                  <a:path w="39878" h="49327">
                    <a:moveTo>
                      <a:pt x="39878" y="0"/>
                    </a:moveTo>
                    <a:cubicBezTo>
                      <a:pt x="35422" y="17245"/>
                      <a:pt x="28718" y="33829"/>
                      <a:pt x="19939" y="49327"/>
                    </a:cubicBezTo>
                    <a:cubicBezTo>
                      <a:pt x="11160" y="33829"/>
                      <a:pt x="4456" y="17245"/>
                      <a:pt x="0" y="0"/>
                    </a:cubicBezTo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7835027" y="1317625"/>
                <a:ext cx="77505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7505" h="50800">
                    <a:moveTo>
                      <a:pt x="77505" y="0"/>
                    </a:moveTo>
                    <a:cubicBezTo>
                      <a:pt x="75617" y="16881"/>
                      <a:pt x="75617" y="33919"/>
                      <a:pt x="77505" y="50800"/>
                    </a:cubicBezTo>
                    <a:lnTo>
                      <a:pt x="3438" y="50800"/>
                    </a:lnTo>
                    <a:cubicBezTo>
                      <a:pt x="9" y="34041"/>
                      <a:pt x="0" y="16762"/>
                      <a:pt x="3413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7935985" y="1317625"/>
                <a:ext cx="53831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3831" h="50800">
                    <a:moveTo>
                      <a:pt x="51706" y="0"/>
                    </a:moveTo>
                    <a:cubicBezTo>
                      <a:pt x="53831" y="16867"/>
                      <a:pt x="53831" y="33933"/>
                      <a:pt x="51706" y="50800"/>
                    </a:cubicBezTo>
                    <a:lnTo>
                      <a:pt x="2125" y="50800"/>
                    </a:lnTo>
                    <a:cubicBezTo>
                      <a:pt x="0" y="33933"/>
                      <a:pt x="0" y="16867"/>
                      <a:pt x="2125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013268" y="1317625"/>
                <a:ext cx="77487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7487" h="50800">
                    <a:moveTo>
                      <a:pt x="74092" y="0"/>
                    </a:moveTo>
                    <a:cubicBezTo>
                      <a:pt x="77487" y="16764"/>
                      <a:pt x="77479" y="34039"/>
                      <a:pt x="74066" y="50800"/>
                    </a:cubicBezTo>
                    <a:lnTo>
                      <a:pt x="0" y="50800"/>
                    </a:lnTo>
                    <a:cubicBezTo>
                      <a:pt x="1892" y="33922"/>
                      <a:pt x="1892" y="16891"/>
                      <a:pt x="0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7846466" y="1216368"/>
                <a:ext cx="107125" cy="75857"/>
              </a:xfrm>
              <a:custGeom>
                <a:avLst/>
                <a:gdLst/>
                <a:ahLst/>
                <a:cxnLst/>
                <a:rect l="l" t="t" r="r" b="b"/>
                <a:pathLst>
                  <a:path w="107125" h="75857">
                    <a:moveTo>
                      <a:pt x="107125" y="0"/>
                    </a:moveTo>
                    <a:cubicBezTo>
                      <a:pt x="103882" y="781"/>
                      <a:pt x="101076" y="2806"/>
                      <a:pt x="99314" y="5639"/>
                    </a:cubicBezTo>
                    <a:cubicBezTo>
                      <a:pt x="85814" y="27266"/>
                      <a:pt x="76027" y="51000"/>
                      <a:pt x="70358" y="75857"/>
                    </a:cubicBezTo>
                    <a:lnTo>
                      <a:pt x="0" y="75857"/>
                    </a:lnTo>
                    <a:cubicBezTo>
                      <a:pt x="18691" y="33080"/>
                      <a:pt x="59323" y="3987"/>
                      <a:pt x="105842" y="76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942961" y="1242898"/>
                <a:ext cx="39878" cy="49340"/>
              </a:xfrm>
              <a:custGeom>
                <a:avLst/>
                <a:gdLst/>
                <a:ahLst/>
                <a:cxnLst/>
                <a:rect l="l" t="t" r="r" b="b"/>
                <a:pathLst>
                  <a:path w="39878" h="49340">
                    <a:moveTo>
                      <a:pt x="19939" y="0"/>
                    </a:moveTo>
                    <a:cubicBezTo>
                      <a:pt x="28719" y="15501"/>
                      <a:pt x="35423" y="32090"/>
                      <a:pt x="39878" y="49340"/>
                    </a:cubicBezTo>
                    <a:lnTo>
                      <a:pt x="0" y="49340"/>
                    </a:lnTo>
                    <a:cubicBezTo>
                      <a:pt x="4318" y="32614"/>
                      <a:pt x="10795" y="16320"/>
                      <a:pt x="19431" y="864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7972209" y="1216355"/>
                <a:ext cx="107125" cy="75870"/>
              </a:xfrm>
              <a:custGeom>
                <a:avLst/>
                <a:gdLst/>
                <a:ahLst/>
                <a:cxnLst/>
                <a:rect l="l" t="t" r="r" b="b"/>
                <a:pathLst>
                  <a:path w="107125" h="75870">
                    <a:moveTo>
                      <a:pt x="0" y="0"/>
                    </a:moveTo>
                    <a:cubicBezTo>
                      <a:pt x="47013" y="3472"/>
                      <a:pt x="88245" y="32674"/>
                      <a:pt x="107125" y="75870"/>
                    </a:cubicBezTo>
                    <a:lnTo>
                      <a:pt x="36767" y="75870"/>
                    </a:lnTo>
                    <a:cubicBezTo>
                      <a:pt x="31099" y="51008"/>
                      <a:pt x="21312" y="27270"/>
                      <a:pt x="7810" y="5639"/>
                    </a:cubicBezTo>
                    <a:cubicBezTo>
                      <a:pt x="6283" y="3191"/>
                      <a:pt x="3967" y="1337"/>
                      <a:pt x="1245" y="381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8221980" y="1263968"/>
              <a:ext cx="152487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Embedding 原理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7810500" y="1571625"/>
              <a:ext cx="3429000" cy="9525"/>
            </a:xfrm>
            <a:custGeom>
              <a:avLst/>
              <a:gdLst/>
              <a:ahLst/>
              <a:cxnLst/>
              <a:rect l="l" t="t" r="r" b="b"/>
              <a:pathLst>
                <a:path w="3429000" h="9525">
                  <a:moveTo>
                    <a:pt x="0" y="0"/>
                  </a:moveTo>
                  <a:lnTo>
                    <a:pt x="3429000" y="0"/>
                  </a:lnTo>
                </a:path>
              </a:pathLst>
            </a:custGeom>
            <a:noFill/>
            <a:ln w="9525">
              <a:solidFill>
                <a:srgbClr val="EDE5D5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796212" y="1783556"/>
              <a:ext cx="15648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把每个 Token 映射成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796212" y="2021681"/>
              <a:ext cx="15073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高维空间里的坐标点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797165" y="2410778"/>
              <a:ext cx="24879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实际维度：1536维（这里简化为2D）</a:t>
              </a:r>
            </a:p>
          </p:txBody>
        </p:sp>
        <p:sp>
          <p:nvSpPr>
            <p:cNvPr id="55" name="Line 55"/>
            <p:cNvSpPr/>
            <p:nvPr/>
          </p:nvSpPr>
          <p:spPr>
            <a:xfrm>
              <a:off x="7810500" y="2714625"/>
              <a:ext cx="3429000" cy="9525"/>
            </a:xfrm>
            <a:custGeom>
              <a:avLst/>
              <a:gdLst/>
              <a:ahLst/>
              <a:cxnLst/>
              <a:rect l="l" t="t" r="r" b="b"/>
              <a:pathLst>
                <a:path w="3429000" h="9525">
                  <a:moveTo>
                    <a:pt x="0" y="0"/>
                  </a:moveTo>
                  <a:lnTo>
                    <a:pt x="3429000" y="0"/>
                  </a:lnTo>
                </a:path>
              </a:pathLst>
            </a:custGeom>
            <a:noFill/>
            <a:ln w="9525">
              <a:solidFill>
                <a:srgbClr val="EDE5D5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796212" y="2878931"/>
              <a:ext cx="1063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对比学习训练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797165" y="3172778"/>
              <a:ext cx="17365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 xml:space="preserve">语义相似的文本对 → </a:t>
              </a:r>
              <a:r>
                <a:rPr lang="zh-CN" sz="1050" b="1" dirty="0">
                  <a:solidFill>
                    <a:srgbClr val="8FBC8F"/>
                  </a:solidFill>
                  <a:latin typeface="Arial"/>
                  <a:ea typeface="Microsoft YaHei"/>
                  <a:cs typeface="Arial"/>
                </a:rPr>
                <a:t>拉近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797165" y="3410902"/>
              <a:ext cx="188990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 xml:space="preserve">语义不相似的文本对 → </a:t>
              </a:r>
              <a:r>
                <a:rPr lang="zh-CN" sz="1050" b="1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推远</a:t>
              </a:r>
            </a:p>
          </p:txBody>
        </p:sp>
        <p:sp>
          <p:nvSpPr>
            <p:cNvPr id="59" name="Line 59"/>
            <p:cNvSpPr/>
            <p:nvPr/>
          </p:nvSpPr>
          <p:spPr>
            <a:xfrm>
              <a:off x="7810500" y="3714750"/>
              <a:ext cx="3429000" cy="9525"/>
            </a:xfrm>
            <a:custGeom>
              <a:avLst/>
              <a:gdLst/>
              <a:ahLst/>
              <a:cxnLst/>
              <a:rect l="l" t="t" r="r" b="b"/>
              <a:pathLst>
                <a:path w="3429000" h="9525">
                  <a:moveTo>
                    <a:pt x="0" y="0"/>
                  </a:moveTo>
                  <a:lnTo>
                    <a:pt x="3429000" y="0"/>
                  </a:lnTo>
                </a:path>
              </a:pathLst>
            </a:custGeom>
            <a:noFill/>
            <a:ln w="9525">
              <a:solidFill>
                <a:srgbClr val="EDE5D5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796212" y="3879056"/>
              <a:ext cx="15812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外部应用：语义搜索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797165" y="4172902"/>
              <a:ext cx="22272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文档 → Embedding → 向量 → 存库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797165" y="4411028"/>
              <a:ext cx="22272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问题 → Embedding → 向量 → 搜索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797165" y="4649152"/>
              <a:ext cx="23269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靠</a:t>
              </a:r>
              <a:r>
                <a:rPr lang="zh-CN" sz="1050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向量距离</a:t>
              </a:r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找到语义最相关的文档</a:t>
              </a:r>
            </a:p>
          </p:txBody>
        </p:sp>
        <p:sp>
          <p:nvSpPr>
            <p:cNvPr id="64" name="Line 64"/>
            <p:cNvSpPr/>
            <p:nvPr/>
          </p:nvSpPr>
          <p:spPr>
            <a:xfrm>
              <a:off x="7810500" y="4953000"/>
              <a:ext cx="3429000" cy="9525"/>
            </a:xfrm>
            <a:custGeom>
              <a:avLst/>
              <a:gdLst/>
              <a:ahLst/>
              <a:cxnLst/>
              <a:rect l="l" t="t" r="r" b="b"/>
              <a:pathLst>
                <a:path w="3429000" h="9525">
                  <a:moveTo>
                    <a:pt x="0" y="0"/>
                  </a:moveTo>
                  <a:lnTo>
                    <a:pt x="3429000" y="0"/>
                  </a:lnTo>
                </a:path>
              </a:pathLst>
            </a:custGeom>
            <a:noFill/>
            <a:ln w="9525">
              <a:solidFill>
                <a:srgbClr val="EDE5D5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7810500" y="5143500"/>
              <a:ext cx="3619500" cy="523875"/>
            </a:xfrm>
            <a:prstGeom prst="roundRect">
              <a:avLst>
                <a:gd name="adj" fmla="val 14545"/>
              </a:avLst>
            </a:prstGeom>
            <a:solidFill>
              <a:srgbClr val="8B6F47">
                <a:alpha val="6000"/>
              </a:srgbClr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987665" y="5268278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记住这个概念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988618" y="5466874"/>
              <a:ext cx="236722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RAG 就是直接建立在 Embedding 之上</a:t>
              </a:r>
            </a:p>
          </p:txBody>
        </p:sp>
      </p:grpSp>
      <p:sp>
        <p:nvSpPr>
          <p:cNvPr id="69" name="TextBox 69"/>
          <p:cNvSpPr txBox="1"/>
          <p:nvPr/>
        </p:nvSpPr>
        <p:spPr>
          <a:xfrm>
            <a:off x="11654980" y="6522720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6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8B6F47"/>
              </a:gs>
              <a:gs pos="100000">
                <a:srgbClr val="6B5535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572500" y="3810000"/>
            <a:ext cx="3810000" cy="3810000"/>
          </a:xfrm>
          <a:prstGeom prst="ellipse">
            <a:avLst/>
          </a:prstGeom>
          <a:solidFill>
            <a:srgbClr val="FAF7F2">
              <a:alpha val="5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571500" y="190500"/>
            <a:ext cx="2286000" cy="2286000"/>
          </a:xfrm>
          <a:prstGeom prst="ellipse">
            <a:avLst/>
          </a:prstGeom>
          <a:solidFill>
            <a:srgbClr val="FAF7F2">
              <a:alpha val="4000"/>
            </a:srgbClr>
          </a:solidFill>
          <a:ln>
            <a:noFill/>
          </a:ln>
        </p:spPr>
      </p:sp>
      <p:grpSp>
        <p:nvGrpSpPr>
          <p:cNvPr id="11" name="Group 11"/>
          <p:cNvGrpSpPr/>
          <p:nvPr/>
        </p:nvGrpSpPr>
        <p:grpSpPr>
          <a:xfrm>
            <a:off x="3897211" y="1504950"/>
            <a:ext cx="4397578" cy="3334979"/>
            <a:chOff x="3897211" y="1504950"/>
            <a:chExt cx="4397578" cy="3334979"/>
          </a:xfrm>
        </p:grpSpPr>
        <p:sp>
          <p:nvSpPr>
            <p:cNvPr id="5" name="TextBox 5"/>
            <p:cNvSpPr txBox="1"/>
            <p:nvPr/>
          </p:nvSpPr>
          <p:spPr>
            <a:xfrm>
              <a:off x="5222605" y="1504950"/>
              <a:ext cx="1746790" cy="1828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0" b="1" dirty="0">
                  <a:solidFill>
                    <a:srgbClr val="FAF7F2">
                      <a:alphaMod val="15000"/>
                    </a:srgbClr>
                  </a:solidFill>
                  <a:latin typeface="Georgia"/>
                  <a:ea typeface="Microsoft YaHei"/>
                  <a:cs typeface="Georgia"/>
                </a:rPr>
                <a:t>06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3897211" y="2849880"/>
              <a:ext cx="4397578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FAF7F2"/>
                  </a:solidFill>
                  <a:latin typeface="Georgia"/>
                  <a:ea typeface="Microsoft YaHei"/>
                  <a:cs typeface="Georgia"/>
                </a:rPr>
                <a:t>RAG + 向量数据库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4953000" y="3476625"/>
              <a:ext cx="2286000" cy="381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151358" y="3838575"/>
              <a:ext cx="188928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AF7F2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让 AI 查资料再回答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878848" y="4220528"/>
              <a:ext cx="243430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AF7F2">
                      <a:alphaMod val="50000"/>
                    </a:srgbClr>
                  </a:solidFill>
                  <a:latin typeface="Consolas"/>
                  <a:ea typeface="Microsoft YaHei"/>
                  <a:cs typeface="Consolas"/>
                </a:rPr>
                <a:t>Retrieval-Augmented Generation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5827445" y="4539539"/>
              <a:ext cx="298359" cy="300390"/>
            </a:xfrm>
            <a:custGeom>
              <a:avLst/>
              <a:gdLst/>
              <a:ahLst/>
              <a:cxnLst/>
              <a:rect l="l" t="t" r="r" b="b"/>
              <a:pathLst>
                <a:path w="298359" h="300390">
                  <a:moveTo>
                    <a:pt x="182830" y="28728"/>
                  </a:moveTo>
                  <a:cubicBezTo>
                    <a:pt x="211435" y="45240"/>
                    <a:pt x="231498" y="73318"/>
                    <a:pt x="237852" y="105729"/>
                  </a:cubicBezTo>
                  <a:cubicBezTo>
                    <a:pt x="244206" y="138140"/>
                    <a:pt x="236230" y="171716"/>
                    <a:pt x="215977" y="197806"/>
                  </a:cubicBezTo>
                  <a:lnTo>
                    <a:pt x="292944" y="274773"/>
                  </a:lnTo>
                  <a:cubicBezTo>
                    <a:pt x="298359" y="280379"/>
                    <a:pt x="298281" y="289290"/>
                    <a:pt x="292770" y="294801"/>
                  </a:cubicBezTo>
                  <a:cubicBezTo>
                    <a:pt x="287259" y="300312"/>
                    <a:pt x="278348" y="300390"/>
                    <a:pt x="272742" y="294975"/>
                  </a:cubicBezTo>
                  <a:lnTo>
                    <a:pt x="195760" y="218008"/>
                  </a:lnTo>
                  <a:cubicBezTo>
                    <a:pt x="150383" y="253219"/>
                    <a:pt x="85923" y="249287"/>
                    <a:pt x="45162" y="208821"/>
                  </a:cubicBezTo>
                  <a:cubicBezTo>
                    <a:pt x="4401" y="168356"/>
                    <a:pt x="0" y="103926"/>
                    <a:pt x="34880" y="58294"/>
                  </a:cubicBezTo>
                  <a:cubicBezTo>
                    <a:pt x="69760" y="12661"/>
                    <a:pt x="133086" y="0"/>
                    <a:pt x="182830" y="28713"/>
                  </a:cubicBezTo>
                </a:path>
              </a:pathLst>
            </a:custGeom>
            <a:solidFill>
              <a:srgbClr val="E8A87C"/>
            </a:soli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369570" y="6522720"/>
            <a:ext cx="11452859" cy="182880"/>
            <a:chOff x="369570" y="6522720"/>
            <a:chExt cx="11452859" cy="182880"/>
          </a:xfrm>
        </p:grpSpPr>
        <p:sp>
          <p:nvSpPr>
            <p:cNvPr id="12" name="TextBox 12"/>
            <p:cNvSpPr txBox="1"/>
            <p:nvPr/>
          </p:nvSpPr>
          <p:spPr>
            <a:xfrm>
              <a:off x="369570" y="6522720"/>
              <a:ext cx="14687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AI大家学 · 大模型技术篇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654980" y="6522720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2925" y="376238"/>
            <a:ext cx="11089957" cy="457200"/>
            <a:chOff x="542925" y="376238"/>
            <a:chExt cx="11089957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376238"/>
              <a:ext cx="2110157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RAG 三步流程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753725" y="466249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检索增强生成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71500" y="1047750"/>
            <a:ext cx="3238500" cy="3810000"/>
            <a:chOff x="571500" y="1047750"/>
            <a:chExt cx="3238500" cy="3810000"/>
          </a:xfrm>
        </p:grpSpPr>
        <p:sp>
          <p:nvSpPr>
            <p:cNvPr id="7" name="Rectangle 7"/>
            <p:cNvSpPr/>
            <p:nvPr/>
          </p:nvSpPr>
          <p:spPr>
            <a:xfrm>
              <a:off x="571500" y="1047750"/>
              <a:ext cx="3238500" cy="3810000"/>
            </a:xfrm>
            <a:prstGeom prst="roundRect">
              <a:avLst>
                <a:gd name="adj" fmla="val 4706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047750"/>
              <a:ext cx="3238500" cy="57150"/>
            </a:xfrm>
            <a:prstGeom prst="roundRect">
              <a:avLst>
                <a:gd name="adj" fmla="val 50000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857250" y="1285875"/>
              <a:ext cx="476250" cy="476250"/>
            </a:xfrm>
            <a:prstGeom prst="roundRect">
              <a:avLst>
                <a:gd name="adj" fmla="val 50000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36465" y="1422082"/>
              <a:ext cx="11781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AF7F2"/>
                  </a:solidFill>
                  <a:latin typeface="Georgia"/>
                  <a:ea typeface="SimSun"/>
                  <a:cs typeface="Georgia"/>
                </a:rPr>
                <a:t>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57325" y="1409700"/>
              <a:ext cx="4981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建库</a:t>
              </a:r>
            </a:p>
          </p:txBody>
        </p:sp>
        <p:grpSp>
          <p:nvGrpSpPr>
            <p:cNvPr id="29" name="Group 29"/>
            <p:cNvGrpSpPr/>
            <p:nvPr/>
          </p:nvGrpSpPr>
          <p:grpSpPr>
            <a:xfrm>
              <a:off x="939165" y="1927225"/>
              <a:ext cx="2107978" cy="2444750"/>
              <a:chOff x="939165" y="1927225"/>
              <a:chExt cx="2107978" cy="2444750"/>
            </a:xfrm>
          </p:grpSpPr>
          <p:grpSp>
            <p:nvGrpSpPr>
              <p:cNvPr id="14" name="Group 14"/>
              <p:cNvGrpSpPr/>
              <p:nvPr/>
            </p:nvGrpSpPr>
            <p:grpSpPr>
              <a:xfrm>
                <a:off x="996949" y="1927225"/>
                <a:ext cx="177802" cy="222251"/>
                <a:chOff x="996949" y="1927225"/>
                <a:chExt cx="177802" cy="222251"/>
              </a:xfrm>
            </p:grpSpPr>
            <p:sp>
              <p:nvSpPr>
                <p:cNvPr id="12" name="Freeform 12"/>
                <p:cNvSpPr/>
                <p:nvPr/>
              </p:nvSpPr>
              <p:spPr>
                <a:xfrm>
                  <a:off x="996949" y="1927225"/>
                  <a:ext cx="177802" cy="2222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2" h="222251">
                      <a:moveTo>
                        <a:pt x="88901" y="0"/>
                      </a:moveTo>
                      <a:lnTo>
                        <a:pt x="90201" y="78"/>
                      </a:lnTo>
                      <a:cubicBezTo>
                        <a:pt x="95307" y="680"/>
                        <a:pt x="99334" y="4706"/>
                        <a:pt x="99936" y="9812"/>
                      </a:cubicBezTo>
                      <a:lnTo>
                        <a:pt x="100013" y="11112"/>
                      </a:lnTo>
                      <a:lnTo>
                        <a:pt x="100013" y="55562"/>
                      </a:lnTo>
                      <a:lnTo>
                        <a:pt x="100069" y="57229"/>
                      </a:lnTo>
                      <a:cubicBezTo>
                        <a:pt x="100891" y="68163"/>
                        <a:pt x="109563" y="76864"/>
                        <a:pt x="120494" y="77721"/>
                      </a:cubicBezTo>
                      <a:lnTo>
                        <a:pt x="122238" y="77787"/>
                      </a:lnTo>
                      <a:lnTo>
                        <a:pt x="166688" y="77787"/>
                      </a:lnTo>
                      <a:lnTo>
                        <a:pt x="167989" y="77865"/>
                      </a:lnTo>
                      <a:cubicBezTo>
                        <a:pt x="173095" y="78467"/>
                        <a:pt x="177121" y="82494"/>
                        <a:pt x="177723" y="87600"/>
                      </a:cubicBezTo>
                      <a:lnTo>
                        <a:pt x="177801" y="88900"/>
                      </a:lnTo>
                      <a:lnTo>
                        <a:pt x="177801" y="188912"/>
                      </a:lnTo>
                      <a:cubicBezTo>
                        <a:pt x="177802" y="206565"/>
                        <a:pt x="164042" y="221159"/>
                        <a:pt x="146419" y="222194"/>
                      </a:cubicBezTo>
                      <a:lnTo>
                        <a:pt x="144463" y="222250"/>
                      </a:lnTo>
                      <a:lnTo>
                        <a:pt x="33338" y="222250"/>
                      </a:lnTo>
                      <a:cubicBezTo>
                        <a:pt x="15686" y="222251"/>
                        <a:pt x="1092" y="208491"/>
                        <a:pt x="57" y="190868"/>
                      </a:cubicBezTo>
                      <a:lnTo>
                        <a:pt x="1" y="188913"/>
                      </a:lnTo>
                      <a:lnTo>
                        <a:pt x="1" y="33338"/>
                      </a:lnTo>
                      <a:cubicBezTo>
                        <a:pt x="0" y="15685"/>
                        <a:pt x="13760" y="1091"/>
                        <a:pt x="31383" y="56"/>
                      </a:cubicBezTo>
                      <a:lnTo>
                        <a:pt x="33338" y="0"/>
                      </a:lnTo>
                      <a:close/>
                      <a:moveTo>
                        <a:pt x="122238" y="155575"/>
                      </a:moveTo>
                      <a:lnTo>
                        <a:pt x="55563" y="155575"/>
                      </a:lnTo>
                      <a:cubicBezTo>
                        <a:pt x="49426" y="155575"/>
                        <a:pt x="44451" y="160550"/>
                        <a:pt x="44451" y="166688"/>
                      </a:cubicBezTo>
                      <a:cubicBezTo>
                        <a:pt x="44451" y="172825"/>
                        <a:pt x="49426" y="177800"/>
                        <a:pt x="55563" y="177800"/>
                      </a:cubicBezTo>
                      <a:lnTo>
                        <a:pt x="122238" y="177800"/>
                      </a:lnTo>
                      <a:cubicBezTo>
                        <a:pt x="128376" y="177800"/>
                        <a:pt x="133351" y="172825"/>
                        <a:pt x="133351" y="166688"/>
                      </a:cubicBezTo>
                      <a:cubicBezTo>
                        <a:pt x="133351" y="160550"/>
                        <a:pt x="128376" y="155575"/>
                        <a:pt x="122238" y="155575"/>
                      </a:cubicBezTo>
                      <a:moveTo>
                        <a:pt x="122238" y="111125"/>
                      </a:moveTo>
                      <a:lnTo>
                        <a:pt x="55563" y="111125"/>
                      </a:lnTo>
                      <a:cubicBezTo>
                        <a:pt x="49426" y="111125"/>
                        <a:pt x="44451" y="116100"/>
                        <a:pt x="44451" y="122237"/>
                      </a:cubicBezTo>
                      <a:cubicBezTo>
                        <a:pt x="44451" y="128375"/>
                        <a:pt x="49426" y="133350"/>
                        <a:pt x="55563" y="133350"/>
                      </a:cubicBezTo>
                      <a:lnTo>
                        <a:pt x="122238" y="133350"/>
                      </a:lnTo>
                      <a:cubicBezTo>
                        <a:pt x="128376" y="133350"/>
                        <a:pt x="133351" y="128375"/>
                        <a:pt x="133351" y="122237"/>
                      </a:cubicBezTo>
                      <a:cubicBezTo>
                        <a:pt x="133351" y="116100"/>
                        <a:pt x="128376" y="111125"/>
                        <a:pt x="122238" y="111125"/>
                      </a:cubicBezTo>
                      <a:moveTo>
                        <a:pt x="66676" y="66675"/>
                      </a:moveTo>
                      <a:lnTo>
                        <a:pt x="55563" y="66675"/>
                      </a:lnTo>
                      <a:cubicBezTo>
                        <a:pt x="49426" y="66675"/>
                        <a:pt x="44451" y="71650"/>
                        <a:pt x="44451" y="77787"/>
                      </a:cubicBezTo>
                      <a:cubicBezTo>
                        <a:pt x="44451" y="83925"/>
                        <a:pt x="49426" y="88900"/>
                        <a:pt x="55563" y="88900"/>
                      </a:cubicBezTo>
                      <a:lnTo>
                        <a:pt x="66676" y="88900"/>
                      </a:lnTo>
                      <a:cubicBezTo>
                        <a:pt x="72813" y="88900"/>
                        <a:pt x="77788" y="83925"/>
                        <a:pt x="77788" y="77787"/>
                      </a:cubicBezTo>
                      <a:cubicBezTo>
                        <a:pt x="77788" y="71650"/>
                        <a:pt x="72813" y="66675"/>
                        <a:pt x="66676" y="66675"/>
                      </a:cubicBezTo>
                    </a:path>
                  </a:pathLst>
                </a:custGeom>
                <a:solidFill>
                  <a:srgbClr val="8B6F47"/>
                </a:solidFill>
                <a:ln>
                  <a:noFill/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1119176" y="1938326"/>
                  <a:ext cx="44461" cy="444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61" h="44461">
                      <a:moveTo>
                        <a:pt x="44461" y="44461"/>
                      </a:moveTo>
                      <a:lnTo>
                        <a:pt x="11" y="4446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8B6F47"/>
                </a:solidFill>
                <a:ln>
                  <a:noFill/>
                </a:ln>
              </p:spPr>
            </p:sp>
          </p:grpSp>
          <p:sp>
            <p:nvSpPr>
              <p:cNvPr id="15" name="TextBox 15"/>
              <p:cNvSpPr txBox="1"/>
              <p:nvPr/>
            </p:nvSpPr>
            <p:spPr>
              <a:xfrm>
                <a:off x="1320165" y="1982152"/>
                <a:ext cx="6400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文档集合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2223135" y="1965960"/>
                <a:ext cx="12687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→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2463165" y="1982152"/>
                <a:ext cx="54806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✂️ 切片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175385" y="2394585"/>
                <a:ext cx="12687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↓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939165" y="2744152"/>
                <a:ext cx="14145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🔢 Embedding 向量化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175385" y="3108960"/>
                <a:ext cx="12687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↓</a:t>
                </a:r>
              </a:p>
            </p:txBody>
          </p:sp>
          <p:grpSp>
            <p:nvGrpSpPr>
              <p:cNvPr id="24" name="Group 24"/>
              <p:cNvGrpSpPr/>
              <p:nvPr/>
            </p:nvGrpSpPr>
            <p:grpSpPr>
              <a:xfrm>
                <a:off x="985837" y="3403600"/>
                <a:ext cx="200026" cy="222250"/>
                <a:chOff x="985837" y="3403600"/>
                <a:chExt cx="200026" cy="222250"/>
              </a:xfrm>
            </p:grpSpPr>
            <p:sp>
              <p:nvSpPr>
                <p:cNvPr id="21" name="Freeform 21"/>
                <p:cNvSpPr/>
                <p:nvPr/>
              </p:nvSpPr>
              <p:spPr>
                <a:xfrm>
                  <a:off x="985838" y="3556186"/>
                  <a:ext cx="200025" cy="696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69664">
                      <a:moveTo>
                        <a:pt x="0" y="0"/>
                      </a:moveTo>
                      <a:cubicBezTo>
                        <a:pt x="21869" y="16747"/>
                        <a:pt x="58163" y="25214"/>
                        <a:pt x="100012" y="25214"/>
                      </a:cubicBezTo>
                      <a:cubicBezTo>
                        <a:pt x="141796" y="25214"/>
                        <a:pt x="178078" y="16769"/>
                        <a:pt x="200025" y="189"/>
                      </a:cubicBezTo>
                      <a:lnTo>
                        <a:pt x="200025" y="25214"/>
                      </a:lnTo>
                      <a:cubicBezTo>
                        <a:pt x="200025" y="52162"/>
                        <a:pt x="156742" y="68953"/>
                        <a:pt x="103424" y="69642"/>
                      </a:cubicBezTo>
                      <a:lnTo>
                        <a:pt x="100012" y="69664"/>
                      </a:lnTo>
                      <a:cubicBezTo>
                        <a:pt x="45139" y="69664"/>
                        <a:pt x="0" y="52740"/>
                        <a:pt x="0" y="25214"/>
                      </a:cubicBezTo>
                      <a:close/>
                    </a:path>
                  </a:pathLst>
                </a:custGeom>
                <a:solidFill>
                  <a:srgbClr val="8B6F47"/>
                </a:solidFill>
                <a:ln>
                  <a:noFill/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985838" y="3489511"/>
                  <a:ext cx="200025" cy="696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69664">
                      <a:moveTo>
                        <a:pt x="0" y="0"/>
                      </a:moveTo>
                      <a:cubicBezTo>
                        <a:pt x="21869" y="16747"/>
                        <a:pt x="58163" y="25214"/>
                        <a:pt x="100012" y="25214"/>
                      </a:cubicBezTo>
                      <a:cubicBezTo>
                        <a:pt x="141796" y="25214"/>
                        <a:pt x="178078" y="16769"/>
                        <a:pt x="200025" y="189"/>
                      </a:cubicBezTo>
                      <a:lnTo>
                        <a:pt x="200025" y="25214"/>
                      </a:lnTo>
                      <a:cubicBezTo>
                        <a:pt x="200025" y="52740"/>
                        <a:pt x="154886" y="69664"/>
                        <a:pt x="100012" y="69664"/>
                      </a:cubicBezTo>
                      <a:cubicBezTo>
                        <a:pt x="46695" y="69664"/>
                        <a:pt x="2556" y="53684"/>
                        <a:pt x="233" y="27492"/>
                      </a:cubicBezTo>
                      <a:lnTo>
                        <a:pt x="56" y="26370"/>
                      </a:lnTo>
                      <a:lnTo>
                        <a:pt x="0" y="25214"/>
                      </a:lnTo>
                      <a:close/>
                    </a:path>
                  </a:pathLst>
                </a:custGeom>
                <a:solidFill>
                  <a:srgbClr val="8B6F47"/>
                </a:solidFill>
                <a:ln>
                  <a:noFill/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985837" y="3403600"/>
                  <a:ext cx="200026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6" h="88900">
                      <a:moveTo>
                        <a:pt x="100013" y="0"/>
                      </a:moveTo>
                      <a:cubicBezTo>
                        <a:pt x="111581" y="0"/>
                        <a:pt x="122727" y="756"/>
                        <a:pt x="133095" y="2200"/>
                      </a:cubicBezTo>
                      <a:lnTo>
                        <a:pt x="138307" y="2989"/>
                      </a:lnTo>
                      <a:cubicBezTo>
                        <a:pt x="144530" y="4026"/>
                        <a:pt x="150405" y="5315"/>
                        <a:pt x="155931" y="6856"/>
                      </a:cubicBezTo>
                      <a:lnTo>
                        <a:pt x="160821" y="8312"/>
                      </a:lnTo>
                      <a:lnTo>
                        <a:pt x="161654" y="8579"/>
                      </a:lnTo>
                      <a:cubicBezTo>
                        <a:pt x="164679" y="9573"/>
                        <a:pt x="167663" y="10685"/>
                        <a:pt x="170600" y="11913"/>
                      </a:cubicBezTo>
                      <a:lnTo>
                        <a:pt x="172811" y="12868"/>
                      </a:lnTo>
                      <a:cubicBezTo>
                        <a:pt x="176775" y="14661"/>
                        <a:pt x="180357" y="16624"/>
                        <a:pt x="183557" y="18758"/>
                      </a:cubicBezTo>
                      <a:cubicBezTo>
                        <a:pt x="184780" y="19573"/>
                        <a:pt x="185939" y="20406"/>
                        <a:pt x="187035" y="21258"/>
                      </a:cubicBezTo>
                      <a:cubicBezTo>
                        <a:pt x="189813" y="23413"/>
                        <a:pt x="192310" y="25907"/>
                        <a:pt x="194470" y="28681"/>
                      </a:cubicBezTo>
                      <a:lnTo>
                        <a:pt x="195481" y="30104"/>
                      </a:lnTo>
                      <a:cubicBezTo>
                        <a:pt x="195999" y="30882"/>
                        <a:pt x="196477" y="31663"/>
                        <a:pt x="196914" y="32449"/>
                      </a:cubicBezTo>
                      <a:lnTo>
                        <a:pt x="197692" y="33993"/>
                      </a:lnTo>
                      <a:cubicBezTo>
                        <a:pt x="198900" y="36586"/>
                        <a:pt x="199641" y="39290"/>
                        <a:pt x="199915" y="42105"/>
                      </a:cubicBezTo>
                      <a:lnTo>
                        <a:pt x="200026" y="44450"/>
                      </a:lnTo>
                      <a:cubicBezTo>
                        <a:pt x="200026" y="71976"/>
                        <a:pt x="154887" y="88900"/>
                        <a:pt x="100013" y="88900"/>
                      </a:cubicBezTo>
                      <a:cubicBezTo>
                        <a:pt x="46696" y="88900"/>
                        <a:pt x="2557" y="72920"/>
                        <a:pt x="234" y="46728"/>
                      </a:cubicBezTo>
                      <a:cubicBezTo>
                        <a:pt x="78" y="45979"/>
                        <a:pt x="0" y="45215"/>
                        <a:pt x="1" y="44450"/>
                      </a:cubicBezTo>
                      <a:lnTo>
                        <a:pt x="56" y="43294"/>
                      </a:lnTo>
                      <a:lnTo>
                        <a:pt x="234" y="42183"/>
                      </a:lnTo>
                      <a:cubicBezTo>
                        <a:pt x="2512" y="16558"/>
                        <a:pt x="44795" y="700"/>
                        <a:pt x="96546" y="22"/>
                      </a:cubicBezTo>
                      <a:close/>
                    </a:path>
                  </a:pathLst>
                </a:custGeom>
                <a:solidFill>
                  <a:srgbClr val="8B6F47"/>
                </a:solidFill>
                <a:ln>
                  <a:noFill/>
                </a:ln>
              </p:spPr>
            </p:sp>
          </p:grpSp>
          <p:sp>
            <p:nvSpPr>
              <p:cNvPr id="25" name="TextBox 25"/>
              <p:cNvSpPr txBox="1"/>
              <p:nvPr/>
            </p:nvSpPr>
            <p:spPr>
              <a:xfrm>
                <a:off x="1320165" y="3458528"/>
                <a:ext cx="83177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向量数据库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322070" y="3665220"/>
                <a:ext cx="172507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Pinecone / Milvus / Chroma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941070" y="3998595"/>
                <a:ext cx="146875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存的是向量，靠距离搜索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941070" y="4189095"/>
                <a:ext cx="120586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（不是关键词匹配）</a:t>
                </a:r>
              </a:p>
            </p:txBody>
          </p:sp>
        </p:grpSp>
      </p:grpSp>
      <p:sp>
        <p:nvSpPr>
          <p:cNvPr id="31" name="Line 31"/>
          <p:cNvSpPr/>
          <p:nvPr/>
        </p:nvSpPr>
        <p:spPr>
          <a:xfrm>
            <a:off x="3905250" y="2952750"/>
            <a:ext cx="285750" cy="1"/>
          </a:xfrm>
          <a:prstGeom prst="line">
            <a:avLst/>
          </a:prstGeom>
          <a:noFill/>
          <a:ln w="23812">
            <a:solidFill>
              <a:srgbClr val="8B6F47"/>
            </a:solidFill>
            <a:tailEnd type="triangle" w="lg" len="lg"/>
          </a:ln>
        </p:spPr>
      </p:sp>
      <p:grpSp>
        <p:nvGrpSpPr>
          <p:cNvPr id="48" name="Group 48"/>
          <p:cNvGrpSpPr/>
          <p:nvPr/>
        </p:nvGrpSpPr>
        <p:grpSpPr>
          <a:xfrm>
            <a:off x="4286250" y="1047750"/>
            <a:ext cx="3238500" cy="3810000"/>
            <a:chOff x="4286250" y="1047750"/>
            <a:chExt cx="3238500" cy="3810000"/>
          </a:xfrm>
        </p:grpSpPr>
        <p:sp>
          <p:nvSpPr>
            <p:cNvPr id="32" name="Rectangle 32"/>
            <p:cNvSpPr/>
            <p:nvPr/>
          </p:nvSpPr>
          <p:spPr>
            <a:xfrm>
              <a:off x="4286250" y="1047750"/>
              <a:ext cx="3238500" cy="3810000"/>
            </a:xfrm>
            <a:prstGeom prst="roundRect">
              <a:avLst>
                <a:gd name="adj" fmla="val 4706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4286250" y="1047750"/>
              <a:ext cx="3238500" cy="5715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4572000" y="1285875"/>
              <a:ext cx="476250" cy="47625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719586" y="1422082"/>
              <a:ext cx="18107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AF7F2"/>
                  </a:solidFill>
                  <a:latin typeface="Georgia"/>
                  <a:ea typeface="SimSun"/>
                  <a:cs typeface="Georgia"/>
                </a:rPr>
                <a:t>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172075" y="1409700"/>
              <a:ext cx="4981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检索</a:t>
              </a:r>
            </a:p>
          </p:txBody>
        </p:sp>
        <p:grpSp>
          <p:nvGrpSpPr>
            <p:cNvPr id="47" name="Group 47"/>
            <p:cNvGrpSpPr/>
            <p:nvPr/>
          </p:nvGrpSpPr>
          <p:grpSpPr>
            <a:xfrm>
              <a:off x="4653915" y="1886902"/>
              <a:ext cx="1851660" cy="2580323"/>
              <a:chOff x="4653915" y="1886902"/>
              <a:chExt cx="1851660" cy="2580323"/>
            </a:xfrm>
          </p:grpSpPr>
          <p:sp>
            <p:nvSpPr>
              <p:cNvPr id="37" name="TextBox 37"/>
              <p:cNvSpPr txBox="1"/>
              <p:nvPr/>
            </p:nvSpPr>
            <p:spPr>
              <a:xfrm>
                <a:off x="4653915" y="1886902"/>
                <a:ext cx="7704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❓ 用户问题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4985385" y="2204085"/>
                <a:ext cx="12687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↓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4653915" y="2553652"/>
                <a:ext cx="94678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🔢 问题 → 向量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4985385" y="2870835"/>
                <a:ext cx="12687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↓</a:t>
                </a:r>
              </a:p>
            </p:txBody>
          </p:sp>
          <p:sp>
            <p:nvSpPr>
              <p:cNvPr id="41" name="Freeform 41"/>
              <p:cNvSpPr/>
              <p:nvPr/>
            </p:nvSpPr>
            <p:spPr>
              <a:xfrm>
                <a:off x="4680624" y="3155044"/>
                <a:ext cx="232057" cy="233636"/>
              </a:xfrm>
              <a:custGeom>
                <a:avLst/>
                <a:gdLst/>
                <a:ahLst/>
                <a:cxnLst/>
                <a:rect l="l" t="t" r="r" b="b"/>
                <a:pathLst>
                  <a:path w="232057" h="233636">
                    <a:moveTo>
                      <a:pt x="142201" y="22344"/>
                    </a:moveTo>
                    <a:cubicBezTo>
                      <a:pt x="164449" y="35186"/>
                      <a:pt x="180054" y="57025"/>
                      <a:pt x="184996" y="82234"/>
                    </a:cubicBezTo>
                    <a:cubicBezTo>
                      <a:pt x="189938" y="107442"/>
                      <a:pt x="183734" y="133557"/>
                      <a:pt x="167982" y="153849"/>
                    </a:cubicBezTo>
                    <a:lnTo>
                      <a:pt x="227845" y="213712"/>
                    </a:lnTo>
                    <a:cubicBezTo>
                      <a:pt x="232057" y="218072"/>
                      <a:pt x="231996" y="225003"/>
                      <a:pt x="227710" y="229290"/>
                    </a:cubicBezTo>
                    <a:cubicBezTo>
                      <a:pt x="223424" y="233576"/>
                      <a:pt x="216493" y="233636"/>
                      <a:pt x="212132" y="229425"/>
                    </a:cubicBezTo>
                    <a:lnTo>
                      <a:pt x="152258" y="169562"/>
                    </a:lnTo>
                    <a:cubicBezTo>
                      <a:pt x="116964" y="196948"/>
                      <a:pt x="66829" y="193890"/>
                      <a:pt x="35126" y="162416"/>
                    </a:cubicBezTo>
                    <a:cubicBezTo>
                      <a:pt x="3423" y="130943"/>
                      <a:pt x="0" y="80831"/>
                      <a:pt x="27129" y="45339"/>
                    </a:cubicBezTo>
                    <a:cubicBezTo>
                      <a:pt x="54258" y="9847"/>
                      <a:pt x="103512" y="0"/>
                      <a:pt x="142201" y="22333"/>
                    </a:cubicBezTo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5034915" y="3220402"/>
                <a:ext cx="6400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语义搜索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5036820" y="3427095"/>
                <a:ext cx="146875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在向量数据库中找最近的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4985385" y="3680460"/>
                <a:ext cx="12687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↓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4653915" y="4030028"/>
                <a:ext cx="129872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📑 Top-K 相关文档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4655820" y="4284345"/>
                <a:ext cx="122558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取最相关的 K 段文档</a:t>
                </a:r>
              </a:p>
            </p:txBody>
          </p:sp>
        </p:grpSp>
      </p:grpSp>
      <p:sp>
        <p:nvSpPr>
          <p:cNvPr id="49" name="Line 49"/>
          <p:cNvSpPr/>
          <p:nvPr/>
        </p:nvSpPr>
        <p:spPr>
          <a:xfrm>
            <a:off x="7620000" y="2952750"/>
            <a:ext cx="285750" cy="1"/>
          </a:xfrm>
          <a:prstGeom prst="line">
            <a:avLst/>
          </a:prstGeom>
          <a:noFill/>
          <a:ln w="23812">
            <a:solidFill>
              <a:srgbClr val="8B6F47"/>
            </a:solidFill>
            <a:tailEnd type="triangle" w="lg" len="lg"/>
          </a:ln>
        </p:spPr>
      </p:sp>
      <p:grpSp>
        <p:nvGrpSpPr>
          <p:cNvPr id="74" name="Group 74"/>
          <p:cNvGrpSpPr/>
          <p:nvPr/>
        </p:nvGrpSpPr>
        <p:grpSpPr>
          <a:xfrm>
            <a:off x="8001000" y="1047750"/>
            <a:ext cx="3619500" cy="3810000"/>
            <a:chOff x="8001000" y="1047750"/>
            <a:chExt cx="3619500" cy="3810000"/>
          </a:xfrm>
        </p:grpSpPr>
        <p:sp>
          <p:nvSpPr>
            <p:cNvPr id="50" name="Rectangle 50"/>
            <p:cNvSpPr/>
            <p:nvPr/>
          </p:nvSpPr>
          <p:spPr>
            <a:xfrm>
              <a:off x="8001000" y="1047750"/>
              <a:ext cx="3619500" cy="3810000"/>
            </a:xfrm>
            <a:prstGeom prst="roundRect">
              <a:avLst>
                <a:gd name="adj" fmla="val 4211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8001000" y="1047750"/>
              <a:ext cx="3619500" cy="57150"/>
            </a:xfrm>
            <a:prstGeom prst="roundRect">
              <a:avLst>
                <a:gd name="adj" fmla="val 50000"/>
              </a:avLst>
            </a:prstGeom>
            <a:solidFill>
              <a:srgbClr val="8FBC8F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8286750" y="1285875"/>
              <a:ext cx="476250" cy="476250"/>
            </a:xfrm>
            <a:prstGeom prst="roundRect">
              <a:avLst>
                <a:gd name="adj" fmla="val 50000"/>
              </a:avLst>
            </a:prstGeom>
            <a:solidFill>
              <a:srgbClr val="8FBC8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434336" y="1422082"/>
              <a:ext cx="18107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AF7F2"/>
                  </a:solidFill>
                  <a:latin typeface="Georgia"/>
                  <a:ea typeface="SimSun"/>
                  <a:cs typeface="Georgia"/>
                </a:rPr>
                <a:t>3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886825" y="1409700"/>
              <a:ext cx="4981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生成</a:t>
              </a:r>
            </a:p>
          </p:txBody>
        </p:sp>
        <p:grpSp>
          <p:nvGrpSpPr>
            <p:cNvPr id="73" name="Group 73"/>
            <p:cNvGrpSpPr/>
            <p:nvPr/>
          </p:nvGrpSpPr>
          <p:grpSpPr>
            <a:xfrm>
              <a:off x="8286750" y="1886902"/>
              <a:ext cx="3048000" cy="2770823"/>
              <a:chOff x="8286750" y="1886902"/>
              <a:chExt cx="3048000" cy="2770823"/>
            </a:xfrm>
          </p:grpSpPr>
          <p:sp>
            <p:nvSpPr>
              <p:cNvPr id="55" name="TextBox 55"/>
              <p:cNvSpPr txBox="1"/>
              <p:nvPr/>
            </p:nvSpPr>
            <p:spPr>
              <a:xfrm>
                <a:off x="8368665" y="1886902"/>
                <a:ext cx="93145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📑 Top-K 文档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8368665" y="2096452"/>
                <a:ext cx="90077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+ ❓ 用户问题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8700135" y="2394585"/>
                <a:ext cx="12687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↓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8368665" y="2696528"/>
                <a:ext cx="154486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塞入 Context Window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8700135" y="2966085"/>
                <a:ext cx="12687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↓</a:t>
                </a:r>
              </a:p>
            </p:txBody>
          </p:sp>
          <p:grpSp>
            <p:nvGrpSpPr>
              <p:cNvPr id="67" name="Group 67"/>
              <p:cNvGrpSpPr/>
              <p:nvPr/>
            </p:nvGrpSpPr>
            <p:grpSpPr>
              <a:xfrm>
                <a:off x="8403912" y="3260725"/>
                <a:ext cx="222876" cy="222250"/>
                <a:chOff x="8403912" y="3260725"/>
                <a:chExt cx="222876" cy="222250"/>
              </a:xfrm>
            </p:grpSpPr>
            <p:sp>
              <p:nvSpPr>
                <p:cNvPr id="60" name="Freeform 60"/>
                <p:cNvSpPr/>
                <p:nvPr/>
              </p:nvSpPr>
              <p:spPr>
                <a:xfrm>
                  <a:off x="8403912" y="3360738"/>
                  <a:ext cx="33964" cy="2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964" h="22225">
                      <a:moveTo>
                        <a:pt x="22538" y="0"/>
                      </a:moveTo>
                      <a:cubicBezTo>
                        <a:pt x="28418" y="7"/>
                        <a:pt x="33275" y="4592"/>
                        <a:pt x="33619" y="10461"/>
                      </a:cubicBezTo>
                      <a:cubicBezTo>
                        <a:pt x="33964" y="16331"/>
                        <a:pt x="29677" y="21453"/>
                        <a:pt x="23838" y="22147"/>
                      </a:cubicBezTo>
                      <a:lnTo>
                        <a:pt x="22538" y="22225"/>
                      </a:lnTo>
                      <a:lnTo>
                        <a:pt x="11426" y="22225"/>
                      </a:lnTo>
                      <a:cubicBezTo>
                        <a:pt x="5546" y="22218"/>
                        <a:pt x="689" y="17633"/>
                        <a:pt x="345" y="11764"/>
                      </a:cubicBezTo>
                      <a:cubicBezTo>
                        <a:pt x="0" y="5894"/>
                        <a:pt x="4287" y="772"/>
                        <a:pt x="10125" y="78"/>
                      </a:cubicBezTo>
                      <a:lnTo>
                        <a:pt x="11426" y="0"/>
                      </a:lnTo>
                      <a:lnTo>
                        <a:pt x="22538" y="0"/>
                      </a:lnTo>
                      <a:close/>
                    </a:path>
                  </a:pathLst>
                </a:custGeom>
                <a:solidFill>
                  <a:srgbClr val="8B6F47"/>
                </a:solidFill>
                <a:ln>
                  <a:noFill/>
                </a:ln>
              </p:spPr>
            </p:sp>
            <p:sp>
              <p:nvSpPr>
                <p:cNvPr id="61" name="Freeform 61"/>
                <p:cNvSpPr/>
                <p:nvPr/>
              </p:nvSpPr>
              <p:spPr>
                <a:xfrm>
                  <a:off x="8504238" y="3260725"/>
                  <a:ext cx="22225" cy="336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" h="33651">
                      <a:moveTo>
                        <a:pt x="11112" y="0"/>
                      </a:moveTo>
                      <a:cubicBezTo>
                        <a:pt x="16746" y="1"/>
                        <a:pt x="21488" y="4217"/>
                        <a:pt x="22147" y="9812"/>
                      </a:cubicBezTo>
                      <a:lnTo>
                        <a:pt x="22225" y="11113"/>
                      </a:lnTo>
                      <a:lnTo>
                        <a:pt x="22225" y="22225"/>
                      </a:lnTo>
                      <a:cubicBezTo>
                        <a:pt x="22218" y="28105"/>
                        <a:pt x="17633" y="32962"/>
                        <a:pt x="11764" y="33306"/>
                      </a:cubicBezTo>
                      <a:cubicBezTo>
                        <a:pt x="5894" y="33651"/>
                        <a:pt x="772" y="29364"/>
                        <a:pt x="78" y="23525"/>
                      </a:cubicBezTo>
                      <a:lnTo>
                        <a:pt x="0" y="22225"/>
                      </a:lnTo>
                      <a:lnTo>
                        <a:pt x="0" y="11113"/>
                      </a:lnTo>
                      <a:cubicBezTo>
                        <a:pt x="0" y="4975"/>
                        <a:pt x="4975" y="0"/>
                        <a:pt x="11112" y="0"/>
                      </a:cubicBezTo>
                      <a:close/>
                    </a:path>
                  </a:pathLst>
                </a:custGeom>
                <a:solidFill>
                  <a:srgbClr val="8B6F47"/>
                </a:solidFill>
                <a:ln>
                  <a:noFill/>
                </a:ln>
              </p:spPr>
            </p:sp>
            <p:sp>
              <p:nvSpPr>
                <p:cNvPr id="62" name="Freeform 62"/>
                <p:cNvSpPr/>
                <p:nvPr/>
              </p:nvSpPr>
              <p:spPr>
                <a:xfrm>
                  <a:off x="8592824" y="3360738"/>
                  <a:ext cx="33964" cy="2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964" h="22225">
                      <a:moveTo>
                        <a:pt x="22538" y="0"/>
                      </a:moveTo>
                      <a:cubicBezTo>
                        <a:pt x="28418" y="7"/>
                        <a:pt x="33275" y="4592"/>
                        <a:pt x="33619" y="10461"/>
                      </a:cubicBezTo>
                      <a:cubicBezTo>
                        <a:pt x="33964" y="16331"/>
                        <a:pt x="29677" y="21453"/>
                        <a:pt x="23838" y="22147"/>
                      </a:cubicBezTo>
                      <a:lnTo>
                        <a:pt x="22538" y="22225"/>
                      </a:lnTo>
                      <a:lnTo>
                        <a:pt x="11426" y="22225"/>
                      </a:lnTo>
                      <a:cubicBezTo>
                        <a:pt x="5546" y="22218"/>
                        <a:pt x="689" y="17633"/>
                        <a:pt x="345" y="11764"/>
                      </a:cubicBezTo>
                      <a:cubicBezTo>
                        <a:pt x="0" y="5894"/>
                        <a:pt x="4287" y="772"/>
                        <a:pt x="10125" y="78"/>
                      </a:cubicBezTo>
                      <a:lnTo>
                        <a:pt x="11426" y="0"/>
                      </a:lnTo>
                      <a:lnTo>
                        <a:pt x="22538" y="0"/>
                      </a:lnTo>
                      <a:close/>
                    </a:path>
                  </a:pathLst>
                </a:custGeom>
                <a:solidFill>
                  <a:srgbClr val="8B6F47"/>
                </a:solidFill>
                <a:ln>
                  <a:noFill/>
                </a:ln>
              </p:spPr>
            </p:sp>
            <p:sp>
              <p:nvSpPr>
                <p:cNvPr id="63" name="Freeform 63"/>
                <p:cNvSpPr/>
                <p:nvPr/>
              </p:nvSpPr>
              <p:spPr>
                <a:xfrm>
                  <a:off x="8432035" y="3288520"/>
                  <a:ext cx="32169" cy="32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169" h="32352">
                      <a:moveTo>
                        <a:pt x="4338" y="4354"/>
                      </a:moveTo>
                      <a:cubicBezTo>
                        <a:pt x="8297" y="395"/>
                        <a:pt x="14583" y="0"/>
                        <a:pt x="19007" y="3432"/>
                      </a:cubicBezTo>
                      <a:lnTo>
                        <a:pt x="20051" y="4354"/>
                      </a:lnTo>
                      <a:lnTo>
                        <a:pt x="27830" y="12133"/>
                      </a:lnTo>
                      <a:cubicBezTo>
                        <a:pt x="31966" y="16283"/>
                        <a:pt x="32169" y="22932"/>
                        <a:pt x="28294" y="27327"/>
                      </a:cubicBezTo>
                      <a:cubicBezTo>
                        <a:pt x="24419" y="31721"/>
                        <a:pt x="17797" y="32352"/>
                        <a:pt x="13161" y="28768"/>
                      </a:cubicBezTo>
                      <a:lnTo>
                        <a:pt x="12117" y="27846"/>
                      </a:lnTo>
                      <a:lnTo>
                        <a:pt x="4338" y="20067"/>
                      </a:lnTo>
                      <a:cubicBezTo>
                        <a:pt x="0" y="15728"/>
                        <a:pt x="0" y="8693"/>
                        <a:pt x="4338" y="4354"/>
                      </a:cubicBezTo>
                      <a:close/>
                    </a:path>
                  </a:pathLst>
                </a:custGeom>
                <a:solidFill>
                  <a:srgbClr val="8B6F47"/>
                </a:solidFill>
                <a:ln>
                  <a:noFill/>
                </a:ln>
              </p:spPr>
            </p:sp>
            <p:sp>
              <p:nvSpPr>
                <p:cNvPr id="64" name="Freeform 64"/>
                <p:cNvSpPr/>
                <p:nvPr/>
              </p:nvSpPr>
              <p:spPr>
                <a:xfrm>
                  <a:off x="8566328" y="3288534"/>
                  <a:ext cx="32505" cy="321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505" h="32170">
                      <a:moveTo>
                        <a:pt x="12285" y="4339"/>
                      </a:moveTo>
                      <a:cubicBezTo>
                        <a:pt x="16436" y="203"/>
                        <a:pt x="23084" y="0"/>
                        <a:pt x="27479" y="3875"/>
                      </a:cubicBezTo>
                      <a:cubicBezTo>
                        <a:pt x="31874" y="7751"/>
                        <a:pt x="32505" y="14372"/>
                        <a:pt x="28921" y="19008"/>
                      </a:cubicBezTo>
                      <a:lnTo>
                        <a:pt x="27998" y="20052"/>
                      </a:lnTo>
                      <a:lnTo>
                        <a:pt x="20220" y="27831"/>
                      </a:lnTo>
                      <a:cubicBezTo>
                        <a:pt x="16069" y="31967"/>
                        <a:pt x="9421" y="32170"/>
                        <a:pt x="5026" y="28295"/>
                      </a:cubicBezTo>
                      <a:cubicBezTo>
                        <a:pt x="631" y="24420"/>
                        <a:pt x="0" y="17798"/>
                        <a:pt x="3584" y="13163"/>
                      </a:cubicBezTo>
                      <a:lnTo>
                        <a:pt x="4507" y="12118"/>
                      </a:lnTo>
                      <a:lnTo>
                        <a:pt x="12285" y="4339"/>
                      </a:lnTo>
                      <a:close/>
                    </a:path>
                  </a:pathLst>
                </a:custGeom>
                <a:solidFill>
                  <a:srgbClr val="8B6F47"/>
                </a:solidFill>
                <a:ln>
                  <a:noFill/>
                </a:ln>
              </p:spPr>
            </p:sp>
            <p:sp>
              <p:nvSpPr>
                <p:cNvPr id="65" name="Freeform 65"/>
                <p:cNvSpPr/>
                <p:nvPr/>
              </p:nvSpPr>
              <p:spPr>
                <a:xfrm>
                  <a:off x="8482012" y="3438525"/>
                  <a:ext cx="6667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44450">
                      <a:moveTo>
                        <a:pt x="55563" y="0"/>
                      </a:moveTo>
                      <a:cubicBezTo>
                        <a:pt x="61700" y="0"/>
                        <a:pt x="66675" y="4975"/>
                        <a:pt x="66675" y="11113"/>
                      </a:cubicBezTo>
                      <a:cubicBezTo>
                        <a:pt x="66675" y="29524"/>
                        <a:pt x="51749" y="44450"/>
                        <a:pt x="33338" y="44450"/>
                      </a:cubicBezTo>
                      <a:cubicBezTo>
                        <a:pt x="14926" y="44450"/>
                        <a:pt x="0" y="29524"/>
                        <a:pt x="0" y="11113"/>
                      </a:cubicBezTo>
                      <a:cubicBezTo>
                        <a:pt x="1" y="5479"/>
                        <a:pt x="4217" y="737"/>
                        <a:pt x="9812" y="78"/>
                      </a:cubicBezTo>
                      <a:lnTo>
                        <a:pt x="11112" y="0"/>
                      </a:lnTo>
                      <a:lnTo>
                        <a:pt x="55563" y="0"/>
                      </a:lnTo>
                      <a:close/>
                    </a:path>
                  </a:pathLst>
                </a:custGeom>
                <a:solidFill>
                  <a:srgbClr val="8B6F47"/>
                </a:solidFill>
                <a:ln>
                  <a:noFill/>
                </a:ln>
              </p:spPr>
            </p:sp>
            <p:sp>
              <p:nvSpPr>
                <p:cNvPr id="66" name="Freeform 66"/>
                <p:cNvSpPr/>
                <p:nvPr/>
              </p:nvSpPr>
              <p:spPr>
                <a:xfrm>
                  <a:off x="8443021" y="3305175"/>
                  <a:ext cx="144658" cy="1222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658" h="122237">
                      <a:moveTo>
                        <a:pt x="72329" y="0"/>
                      </a:moveTo>
                      <a:cubicBezTo>
                        <a:pt x="101028" y="0"/>
                        <a:pt x="126507" y="18364"/>
                        <a:pt x="135582" y="45591"/>
                      </a:cubicBezTo>
                      <a:cubicBezTo>
                        <a:pt x="144658" y="72817"/>
                        <a:pt x="135293" y="102796"/>
                        <a:pt x="112334" y="120015"/>
                      </a:cubicBezTo>
                      <a:cubicBezTo>
                        <a:pt x="110802" y="121165"/>
                        <a:pt x="108999" y="121900"/>
                        <a:pt x="107100" y="122149"/>
                      </a:cubicBezTo>
                      <a:lnTo>
                        <a:pt x="105666" y="122237"/>
                      </a:lnTo>
                      <a:lnTo>
                        <a:pt x="38991" y="122237"/>
                      </a:lnTo>
                      <a:cubicBezTo>
                        <a:pt x="36587" y="122237"/>
                        <a:pt x="34247" y="121458"/>
                        <a:pt x="32324" y="120015"/>
                      </a:cubicBezTo>
                      <a:cubicBezTo>
                        <a:pt x="9365" y="102796"/>
                        <a:pt x="0" y="72817"/>
                        <a:pt x="9075" y="45591"/>
                      </a:cubicBezTo>
                      <a:cubicBezTo>
                        <a:pt x="18151" y="18364"/>
                        <a:pt x="43630" y="0"/>
                        <a:pt x="72329" y="0"/>
                      </a:cubicBezTo>
                      <a:close/>
                    </a:path>
                  </a:pathLst>
                </a:custGeom>
                <a:solidFill>
                  <a:srgbClr val="8B6F47"/>
                </a:solidFill>
                <a:ln>
                  <a:noFill/>
                </a:ln>
              </p:spPr>
            </p:sp>
          </p:grpSp>
          <p:sp>
            <p:nvSpPr>
              <p:cNvPr id="68" name="TextBox 68"/>
              <p:cNvSpPr txBox="1"/>
              <p:nvPr/>
            </p:nvSpPr>
            <p:spPr>
              <a:xfrm>
                <a:off x="8749665" y="3315652"/>
                <a:ext cx="158319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LLM 基于参考资料回答</a:t>
                </a: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8700135" y="3632835"/>
                <a:ext cx="12687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↓</a:t>
                </a:r>
              </a:p>
            </p:txBody>
          </p:sp>
          <p:sp>
            <p:nvSpPr>
              <p:cNvPr id="70" name="Rectangle 70"/>
              <p:cNvSpPr/>
              <p:nvPr/>
            </p:nvSpPr>
            <p:spPr>
              <a:xfrm>
                <a:off x="8286750" y="3905250"/>
                <a:ext cx="3048000" cy="428625"/>
              </a:xfrm>
              <a:prstGeom prst="roundRect">
                <a:avLst>
                  <a:gd name="adj" fmla="val 17778"/>
                </a:avLst>
              </a:prstGeom>
              <a:solidFill>
                <a:srgbClr val="8FBC8F">
                  <a:alpha val="15000"/>
                </a:srgbClr>
              </a:solidFill>
              <a:ln w="9525">
                <a:solidFill>
                  <a:srgbClr val="8FBC8F"/>
                </a:solidFill>
              </a:ln>
            </p:spPr>
          </p:sp>
          <p:sp>
            <p:nvSpPr>
              <p:cNvPr id="71" name="TextBox 71"/>
              <p:cNvSpPr txBox="1"/>
              <p:nvPr/>
            </p:nvSpPr>
            <p:spPr>
              <a:xfrm>
                <a:off x="9073220" y="4061460"/>
                <a:ext cx="147506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5D4E37"/>
                    </a:solidFill>
                    <a:latin typeface="Arial"/>
                    <a:ea typeface="Microsoft YaHei"/>
                    <a:cs typeface="Arial"/>
                  </a:rPr>
                  <a:t>💬 有据可查的回答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8370570" y="4474845"/>
                <a:ext cx="173164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8B7D6B"/>
                    </a:solidFill>
                    <a:latin typeface="Arial"/>
                    <a:ea typeface="Microsoft YaHei"/>
                    <a:cs typeface="Arial"/>
                  </a:rPr>
                  <a:t>不是凭空编造，基于真实文档</a:t>
                </a:r>
              </a:p>
            </p:txBody>
          </p:sp>
        </p:grpSp>
      </p:grpSp>
      <p:grpSp>
        <p:nvGrpSpPr>
          <p:cNvPr id="78" name="Group 78"/>
          <p:cNvGrpSpPr/>
          <p:nvPr/>
        </p:nvGrpSpPr>
        <p:grpSpPr>
          <a:xfrm>
            <a:off x="571500" y="5143500"/>
            <a:ext cx="11049000" cy="666750"/>
            <a:chOff x="571500" y="5143500"/>
            <a:chExt cx="11049000" cy="666750"/>
          </a:xfrm>
        </p:grpSpPr>
        <p:sp>
          <p:nvSpPr>
            <p:cNvPr id="75" name="Rectangle 75"/>
            <p:cNvSpPr/>
            <p:nvPr/>
          </p:nvSpPr>
          <p:spPr>
            <a:xfrm>
              <a:off x="571500" y="5143500"/>
              <a:ext cx="11049000" cy="666750"/>
            </a:xfrm>
            <a:prstGeom prst="roundRect">
              <a:avLst>
                <a:gd name="adj" fmla="val 17143"/>
              </a:avLst>
            </a:prstGeom>
            <a:solidFill>
              <a:srgbClr val="8B6F47">
                <a:alpha val="6000"/>
              </a:srgbClr>
            </a:solidFill>
            <a:ln w="9525">
              <a:solidFill>
                <a:srgbClr val="8B6F47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4817543" y="5286375"/>
              <a:ext cx="25569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RAG = 搜索引擎 + 大模型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3774710" y="5582602"/>
              <a:ext cx="46425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搜索引擎负责找到相关资料，大模型负责把资料"翻译"成人话回答你</a:t>
              </a:r>
            </a:p>
          </p:txBody>
        </p:sp>
      </p:grpSp>
      <p:sp>
        <p:nvSpPr>
          <p:cNvPr id="79" name="TextBox 79"/>
          <p:cNvSpPr txBox="1"/>
          <p:nvPr/>
        </p:nvSpPr>
        <p:spPr>
          <a:xfrm>
            <a:off x="11654980" y="6522720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25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1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48" grpId="0"/>
      <p:bldP spid="74" grpId="0"/>
      <p:bldP spid="7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42925" y="376238"/>
            <a:ext cx="3128034" cy="457200"/>
            <a:chOff x="542925" y="376238"/>
            <a:chExt cx="3128034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376238"/>
              <a:ext cx="3128034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RAG vs Fine-tuning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</p:grpSp>
      <p:sp>
        <p:nvSpPr>
          <p:cNvPr id="6" name="Rectangle 6"/>
          <p:cNvSpPr/>
          <p:nvPr/>
        </p:nvSpPr>
        <p:spPr>
          <a:xfrm>
            <a:off x="5572125" y="2571750"/>
            <a:ext cx="1047750" cy="381000"/>
          </a:xfrm>
          <a:prstGeom prst="roundRect">
            <a:avLst>
              <a:gd name="adj" fmla="val 50000"/>
            </a:avLst>
          </a:prstGeom>
          <a:solidFill>
            <a:srgbClr val="8B6F47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950434" y="2667000"/>
            <a:ext cx="29113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AF7F2"/>
                </a:solidFill>
                <a:latin typeface="Georgia"/>
                <a:ea typeface="SimSun"/>
                <a:cs typeface="Georgia"/>
              </a:rPr>
              <a:t>VS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571500" y="1047750"/>
            <a:ext cx="4762500" cy="4000500"/>
            <a:chOff x="571500" y="1047750"/>
            <a:chExt cx="4762500" cy="4000500"/>
          </a:xfrm>
        </p:grpSpPr>
        <p:sp>
          <p:nvSpPr>
            <p:cNvPr id="8" name="Rectangle 8"/>
            <p:cNvSpPr/>
            <p:nvPr/>
          </p:nvSpPr>
          <p:spPr>
            <a:xfrm>
              <a:off x="571500" y="1047750"/>
              <a:ext cx="4762500" cy="4000500"/>
            </a:xfrm>
            <a:prstGeom prst="roundRect">
              <a:avLst>
                <a:gd name="adj" fmla="val 3810"/>
              </a:avLst>
            </a:prstGeom>
            <a:solidFill>
              <a:srgbClr val="FAF7F2"/>
            </a:solidFill>
            <a:ln w="19050">
              <a:solidFill>
                <a:srgbClr val="8FBC8F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71500" y="1047750"/>
              <a:ext cx="4762500" cy="57150"/>
            </a:xfrm>
            <a:prstGeom prst="roundRect">
              <a:avLst>
                <a:gd name="adj" fmla="val 50000"/>
              </a:avLst>
            </a:prstGeom>
            <a:solidFill>
              <a:srgbClr val="8FBC8F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885825" y="1334184"/>
              <a:ext cx="285750" cy="238078"/>
            </a:xfrm>
            <a:custGeom>
              <a:avLst/>
              <a:gdLst/>
              <a:ahLst/>
              <a:cxnLst/>
              <a:rect l="l" t="t" r="r" b="b"/>
              <a:pathLst>
                <a:path w="285750" h="238078">
                  <a:moveTo>
                    <a:pt x="278606" y="25043"/>
                  </a:moveTo>
                  <a:cubicBezTo>
                    <a:pt x="282508" y="27295"/>
                    <a:pt x="285118" y="31256"/>
                    <a:pt x="285650" y="35730"/>
                  </a:cubicBezTo>
                  <a:lnTo>
                    <a:pt x="285750" y="37416"/>
                  </a:lnTo>
                  <a:lnTo>
                    <a:pt x="285750" y="223153"/>
                  </a:lnTo>
                  <a:cubicBezTo>
                    <a:pt x="285750" y="228257"/>
                    <a:pt x="283027" y="232974"/>
                    <a:pt x="278606" y="235526"/>
                  </a:cubicBezTo>
                  <a:cubicBezTo>
                    <a:pt x="274186" y="238078"/>
                    <a:pt x="268739" y="238078"/>
                    <a:pt x="264319" y="235526"/>
                  </a:cubicBezTo>
                  <a:cubicBezTo>
                    <a:pt x="231447" y="216545"/>
                    <a:pt x="191296" y="215121"/>
                    <a:pt x="157162" y="231726"/>
                  </a:cubicBezTo>
                  <a:lnTo>
                    <a:pt x="157162" y="14927"/>
                  </a:lnTo>
                  <a:cubicBezTo>
                    <a:pt x="197124" y="0"/>
                    <a:pt x="241665" y="3710"/>
                    <a:pt x="278606" y="25043"/>
                  </a:cubicBezTo>
                  <a:moveTo>
                    <a:pt x="128588" y="14941"/>
                  </a:moveTo>
                  <a:lnTo>
                    <a:pt x="128602" y="231740"/>
                  </a:lnTo>
                  <a:cubicBezTo>
                    <a:pt x="95852" y="215797"/>
                    <a:pt x="57464" y="216418"/>
                    <a:pt x="25246" y="233411"/>
                  </a:cubicBezTo>
                  <a:lnTo>
                    <a:pt x="20574" y="235983"/>
                  </a:lnTo>
                  <a:lnTo>
                    <a:pt x="19102" y="236612"/>
                  </a:lnTo>
                  <a:lnTo>
                    <a:pt x="18402" y="236840"/>
                  </a:lnTo>
                  <a:lnTo>
                    <a:pt x="16831" y="237212"/>
                  </a:lnTo>
                  <a:lnTo>
                    <a:pt x="15959" y="237355"/>
                  </a:lnTo>
                  <a:lnTo>
                    <a:pt x="14288" y="237441"/>
                  </a:lnTo>
                  <a:lnTo>
                    <a:pt x="13687" y="237441"/>
                  </a:lnTo>
                  <a:lnTo>
                    <a:pt x="12116" y="237269"/>
                  </a:lnTo>
                  <a:lnTo>
                    <a:pt x="11016" y="237069"/>
                  </a:lnTo>
                  <a:lnTo>
                    <a:pt x="9473" y="236612"/>
                  </a:lnTo>
                  <a:lnTo>
                    <a:pt x="7672" y="235812"/>
                  </a:lnTo>
                  <a:lnTo>
                    <a:pt x="6315" y="235012"/>
                  </a:lnTo>
                  <a:lnTo>
                    <a:pt x="5043" y="234054"/>
                  </a:lnTo>
                  <a:lnTo>
                    <a:pt x="4186" y="233254"/>
                  </a:lnTo>
                  <a:lnTo>
                    <a:pt x="3143" y="232083"/>
                  </a:lnTo>
                  <a:lnTo>
                    <a:pt x="2229" y="230811"/>
                  </a:lnTo>
                  <a:lnTo>
                    <a:pt x="1915" y="230297"/>
                  </a:lnTo>
                  <a:lnTo>
                    <a:pt x="1457" y="229440"/>
                  </a:lnTo>
                  <a:lnTo>
                    <a:pt x="829" y="227968"/>
                  </a:lnTo>
                  <a:lnTo>
                    <a:pt x="600" y="227268"/>
                  </a:lnTo>
                  <a:lnTo>
                    <a:pt x="229" y="225696"/>
                  </a:lnTo>
                  <a:lnTo>
                    <a:pt x="86" y="224825"/>
                  </a:lnTo>
                  <a:lnTo>
                    <a:pt x="29" y="224125"/>
                  </a:lnTo>
                  <a:lnTo>
                    <a:pt x="0" y="37416"/>
                  </a:lnTo>
                  <a:cubicBezTo>
                    <a:pt x="0" y="32311"/>
                    <a:pt x="2723" y="27595"/>
                    <a:pt x="7144" y="25043"/>
                  </a:cubicBezTo>
                  <a:cubicBezTo>
                    <a:pt x="44087" y="3715"/>
                    <a:pt x="88628" y="10"/>
                    <a:pt x="128588" y="14941"/>
                  </a:cubicBezTo>
                </a:path>
              </a:pathLst>
            </a:custGeom>
            <a:solidFill>
              <a:srgbClr val="8FBC8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312545" y="1345882"/>
              <a:ext cx="45941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RAG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57250" y="1714500"/>
              <a:ext cx="4191000" cy="476250"/>
            </a:xfrm>
            <a:prstGeom prst="roundRect">
              <a:avLst>
                <a:gd name="adj" fmla="val 20000"/>
              </a:avLst>
            </a:prstGeom>
            <a:solidFill>
              <a:srgbClr val="8FBC8F">
                <a:alpha val="10000"/>
              </a:srgbClr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345581" y="1873568"/>
              <a:ext cx="1214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= 开卷考试 📖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2962" y="2402681"/>
              <a:ext cx="18359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给你参考资料，照着回答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857250" y="2714625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9525">
              <a:solidFill>
                <a:srgbClr val="EDE5D5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3915" y="2887028"/>
              <a:ext cx="18822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✅ 成本低（无需 GPU 训练）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43915" y="3172778"/>
              <a:ext cx="12304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✅ 可随时更新资料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43915" y="3458528"/>
              <a:ext cx="15371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✅ 有引用来源，可追溯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43915" y="3744278"/>
              <a:ext cx="15371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⚠ 回答速度受检索影响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43915" y="4030028"/>
              <a:ext cx="19972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⚠ 检索质量直接决定回答质量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57250" y="4429125"/>
              <a:ext cx="4191000" cy="333375"/>
            </a:xfrm>
            <a:prstGeom prst="roundRect">
              <a:avLst>
                <a:gd name="adj" fmla="val 22857"/>
              </a:avLst>
            </a:prstGeom>
            <a:solidFill>
              <a:srgbClr val="8FBC8F">
                <a:alpha val="8000"/>
              </a:srgbClr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822537" y="4542949"/>
              <a:ext cx="22604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2025-2026 企业 AI 落地最多的场景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858000" y="1047750"/>
            <a:ext cx="4762500" cy="4000500"/>
            <a:chOff x="6858000" y="1047750"/>
            <a:chExt cx="4762500" cy="4000500"/>
          </a:xfrm>
        </p:grpSpPr>
        <p:sp>
          <p:nvSpPr>
            <p:cNvPr id="24" name="Rectangle 24"/>
            <p:cNvSpPr/>
            <p:nvPr/>
          </p:nvSpPr>
          <p:spPr>
            <a:xfrm>
              <a:off x="6858000" y="1047750"/>
              <a:ext cx="4762500" cy="4000500"/>
            </a:xfrm>
            <a:prstGeom prst="roundRect">
              <a:avLst>
                <a:gd name="adj" fmla="val 3810"/>
              </a:avLst>
            </a:prstGeom>
            <a:solidFill>
              <a:srgbClr val="FAF7F2"/>
            </a:solidFill>
            <a:ln w="19050">
              <a:solidFill>
                <a:srgbClr val="E8A87C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858000" y="1047750"/>
              <a:ext cx="4762500" cy="5715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7171922" y="1314450"/>
              <a:ext cx="286556" cy="285750"/>
              <a:chOff x="7171922" y="1314450"/>
              <a:chExt cx="286556" cy="28575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171922" y="1443038"/>
                <a:ext cx="43668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43668" h="28575">
                    <a:moveTo>
                      <a:pt x="28978" y="0"/>
                    </a:moveTo>
                    <a:cubicBezTo>
                      <a:pt x="36537" y="8"/>
                      <a:pt x="42782" y="5904"/>
                      <a:pt x="43225" y="13450"/>
                    </a:cubicBezTo>
                    <a:cubicBezTo>
                      <a:pt x="43668" y="20997"/>
                      <a:pt x="38156" y="27582"/>
                      <a:pt x="30649" y="28475"/>
                    </a:cubicBezTo>
                    <a:lnTo>
                      <a:pt x="28978" y="28575"/>
                    </a:lnTo>
                    <a:lnTo>
                      <a:pt x="14690" y="28575"/>
                    </a:lnTo>
                    <a:cubicBezTo>
                      <a:pt x="7131" y="28567"/>
                      <a:pt x="886" y="22671"/>
                      <a:pt x="443" y="15125"/>
                    </a:cubicBezTo>
                    <a:cubicBezTo>
                      <a:pt x="0" y="7578"/>
                      <a:pt x="5512" y="993"/>
                      <a:pt x="13018" y="100"/>
                    </a:cubicBezTo>
                    <a:lnTo>
                      <a:pt x="14690" y="0"/>
                    </a:lnTo>
                    <a:lnTo>
                      <a:pt x="28978" y="0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7300912" y="1314450"/>
                <a:ext cx="28575" cy="4326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43265">
                    <a:moveTo>
                      <a:pt x="14288" y="0"/>
                    </a:moveTo>
                    <a:cubicBezTo>
                      <a:pt x="21531" y="1"/>
                      <a:pt x="27628" y="5422"/>
                      <a:pt x="28475" y="12616"/>
                    </a:cubicBezTo>
                    <a:lnTo>
                      <a:pt x="28575" y="14288"/>
                    </a:lnTo>
                    <a:lnTo>
                      <a:pt x="28575" y="28575"/>
                    </a:lnTo>
                    <a:cubicBezTo>
                      <a:pt x="28567" y="36134"/>
                      <a:pt x="22671" y="42379"/>
                      <a:pt x="15125" y="42822"/>
                    </a:cubicBezTo>
                    <a:cubicBezTo>
                      <a:pt x="7578" y="43265"/>
                      <a:pt x="993" y="37753"/>
                      <a:pt x="100" y="30247"/>
                    </a:cubicBezTo>
                    <a:lnTo>
                      <a:pt x="0" y="28575"/>
                    </a:lnTo>
                    <a:lnTo>
                      <a:pt x="0" y="14288"/>
                    </a:lnTo>
                    <a:cubicBezTo>
                      <a:pt x="0" y="6397"/>
                      <a:pt x="6397" y="0"/>
                      <a:pt x="14288" y="0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7414810" y="1443038"/>
                <a:ext cx="43668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43668" h="28575">
                    <a:moveTo>
                      <a:pt x="28978" y="0"/>
                    </a:moveTo>
                    <a:cubicBezTo>
                      <a:pt x="36537" y="8"/>
                      <a:pt x="42782" y="5904"/>
                      <a:pt x="43225" y="13450"/>
                    </a:cubicBezTo>
                    <a:cubicBezTo>
                      <a:pt x="43668" y="20997"/>
                      <a:pt x="38156" y="27582"/>
                      <a:pt x="30649" y="28475"/>
                    </a:cubicBezTo>
                    <a:lnTo>
                      <a:pt x="28978" y="28575"/>
                    </a:lnTo>
                    <a:lnTo>
                      <a:pt x="14690" y="28575"/>
                    </a:lnTo>
                    <a:cubicBezTo>
                      <a:pt x="7131" y="28567"/>
                      <a:pt x="886" y="22671"/>
                      <a:pt x="443" y="15125"/>
                    </a:cubicBezTo>
                    <a:cubicBezTo>
                      <a:pt x="0" y="7578"/>
                      <a:pt x="5512" y="993"/>
                      <a:pt x="13018" y="100"/>
                    </a:cubicBezTo>
                    <a:lnTo>
                      <a:pt x="14690" y="0"/>
                    </a:lnTo>
                    <a:lnTo>
                      <a:pt x="28978" y="0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7208081" y="1350186"/>
                <a:ext cx="41360" cy="41596"/>
              </a:xfrm>
              <a:custGeom>
                <a:avLst/>
                <a:gdLst/>
                <a:ahLst/>
                <a:cxnLst/>
                <a:rect l="l" t="t" r="r" b="b"/>
                <a:pathLst>
                  <a:path w="41360" h="41596">
                    <a:moveTo>
                      <a:pt x="5578" y="5598"/>
                    </a:moveTo>
                    <a:cubicBezTo>
                      <a:pt x="10668" y="508"/>
                      <a:pt x="18749" y="0"/>
                      <a:pt x="24437" y="4412"/>
                    </a:cubicBezTo>
                    <a:lnTo>
                      <a:pt x="25780" y="5598"/>
                    </a:lnTo>
                    <a:lnTo>
                      <a:pt x="35781" y="15599"/>
                    </a:lnTo>
                    <a:cubicBezTo>
                      <a:pt x="41099" y="20935"/>
                      <a:pt x="41360" y="29484"/>
                      <a:pt x="36378" y="35134"/>
                    </a:cubicBezTo>
                    <a:cubicBezTo>
                      <a:pt x="31395" y="40785"/>
                      <a:pt x="22882" y="41596"/>
                      <a:pt x="16922" y="36988"/>
                    </a:cubicBezTo>
                    <a:lnTo>
                      <a:pt x="15579" y="35802"/>
                    </a:lnTo>
                    <a:lnTo>
                      <a:pt x="5578" y="25800"/>
                    </a:lnTo>
                    <a:cubicBezTo>
                      <a:pt x="0" y="20221"/>
                      <a:pt x="0" y="11177"/>
                      <a:pt x="5578" y="5598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380743" y="1350205"/>
                <a:ext cx="41792" cy="41362"/>
              </a:xfrm>
              <a:custGeom>
                <a:avLst/>
                <a:gdLst/>
                <a:ahLst/>
                <a:cxnLst/>
                <a:rect l="l" t="t" r="r" b="b"/>
                <a:pathLst>
                  <a:path w="41792" h="41362">
                    <a:moveTo>
                      <a:pt x="15795" y="5579"/>
                    </a:moveTo>
                    <a:cubicBezTo>
                      <a:pt x="21131" y="261"/>
                      <a:pt x="29680" y="0"/>
                      <a:pt x="35330" y="4982"/>
                    </a:cubicBezTo>
                    <a:cubicBezTo>
                      <a:pt x="40981" y="9965"/>
                      <a:pt x="41792" y="18479"/>
                      <a:pt x="37184" y="24438"/>
                    </a:cubicBezTo>
                    <a:lnTo>
                      <a:pt x="35998" y="25782"/>
                    </a:lnTo>
                    <a:lnTo>
                      <a:pt x="25997" y="35783"/>
                    </a:lnTo>
                    <a:cubicBezTo>
                      <a:pt x="20661" y="41101"/>
                      <a:pt x="12112" y="41362"/>
                      <a:pt x="6462" y="36379"/>
                    </a:cubicBezTo>
                    <a:cubicBezTo>
                      <a:pt x="811" y="31397"/>
                      <a:pt x="0" y="22883"/>
                      <a:pt x="4608" y="16923"/>
                    </a:cubicBezTo>
                    <a:lnTo>
                      <a:pt x="5794" y="15580"/>
                    </a:lnTo>
                    <a:lnTo>
                      <a:pt x="15795" y="5579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272338" y="1543050"/>
                <a:ext cx="857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57150">
                    <a:moveTo>
                      <a:pt x="71438" y="0"/>
                    </a:moveTo>
                    <a:cubicBezTo>
                      <a:pt x="79328" y="0"/>
                      <a:pt x="85725" y="6397"/>
                      <a:pt x="85725" y="14288"/>
                    </a:cubicBezTo>
                    <a:cubicBezTo>
                      <a:pt x="85725" y="37960"/>
                      <a:pt x="66535" y="57150"/>
                      <a:pt x="42862" y="57150"/>
                    </a:cubicBezTo>
                    <a:cubicBezTo>
                      <a:pt x="19190" y="57150"/>
                      <a:pt x="0" y="37960"/>
                      <a:pt x="0" y="14288"/>
                    </a:cubicBezTo>
                    <a:cubicBezTo>
                      <a:pt x="1" y="7044"/>
                      <a:pt x="5422" y="947"/>
                      <a:pt x="12616" y="100"/>
                    </a:cubicBezTo>
                    <a:lnTo>
                      <a:pt x="14288" y="0"/>
                    </a:lnTo>
                    <a:lnTo>
                      <a:pt x="71438" y="0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7222206" y="1371600"/>
                <a:ext cx="185989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85989" h="157162">
                    <a:moveTo>
                      <a:pt x="92994" y="0"/>
                    </a:moveTo>
                    <a:cubicBezTo>
                      <a:pt x="129893" y="0"/>
                      <a:pt x="162652" y="23611"/>
                      <a:pt x="174320" y="58616"/>
                    </a:cubicBezTo>
                    <a:cubicBezTo>
                      <a:pt x="185989" y="93622"/>
                      <a:pt x="173948" y="132166"/>
                      <a:pt x="144429" y="154305"/>
                    </a:cubicBezTo>
                    <a:cubicBezTo>
                      <a:pt x="142460" y="155784"/>
                      <a:pt x="140142" y="156729"/>
                      <a:pt x="137700" y="157048"/>
                    </a:cubicBezTo>
                    <a:lnTo>
                      <a:pt x="135857" y="157162"/>
                    </a:lnTo>
                    <a:lnTo>
                      <a:pt x="50132" y="157162"/>
                    </a:lnTo>
                    <a:cubicBezTo>
                      <a:pt x="47040" y="157162"/>
                      <a:pt x="44032" y="156160"/>
                      <a:pt x="41559" y="154305"/>
                    </a:cubicBezTo>
                    <a:cubicBezTo>
                      <a:pt x="12040" y="132166"/>
                      <a:pt x="0" y="93622"/>
                      <a:pt x="11668" y="58616"/>
                    </a:cubicBezTo>
                    <a:cubicBezTo>
                      <a:pt x="23337" y="23611"/>
                      <a:pt x="56096" y="0"/>
                      <a:pt x="92994" y="0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7599045" y="1345882"/>
              <a:ext cx="14462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Fine-tuning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143750" y="1714500"/>
              <a:ext cx="4191000" cy="476250"/>
            </a:xfrm>
            <a:prstGeom prst="roundRect">
              <a:avLst>
                <a:gd name="adj" fmla="val 20000"/>
              </a:avLst>
            </a:prstGeom>
            <a:solidFill>
              <a:srgbClr val="E8A87C">
                <a:alpha val="10000"/>
              </a:srgbClr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32081" y="1873568"/>
              <a:ext cx="1214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= 上课学习 🎓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129462" y="2402681"/>
              <a:ext cx="250959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用数据继续训练，知识"烧进"权重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7143750" y="2714625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9525">
              <a:solidFill>
                <a:srgbClr val="EDE5D5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130415" y="2887028"/>
              <a:ext cx="12304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✅ 回答更快更自然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130415" y="3172778"/>
              <a:ext cx="18438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✅ 学会行业术语和表达风格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130415" y="3458528"/>
              <a:ext cx="18822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⚠ 成本高（需要 GPU 训练）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130415" y="3744278"/>
              <a:ext cx="15371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⚠ 更新知识得重新训练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130415" y="4030028"/>
              <a:ext cx="10771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⚠ 无法引用来源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7143750" y="4429125"/>
              <a:ext cx="4191000" cy="333375"/>
            </a:xfrm>
            <a:prstGeom prst="roundRect">
              <a:avLst>
                <a:gd name="adj" fmla="val 22857"/>
              </a:avLst>
            </a:prstGeom>
            <a:solidFill>
              <a:srgbClr val="E8A87C">
                <a:alpha val="8000"/>
              </a:srgbClr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301276" y="4542949"/>
              <a:ext cx="18759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适合学习领域术语和表达风格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71500" y="5286375"/>
            <a:ext cx="11049000" cy="619125"/>
            <a:chOff x="571500" y="5286375"/>
            <a:chExt cx="11049000" cy="619125"/>
          </a:xfrm>
        </p:grpSpPr>
        <p:sp>
          <p:nvSpPr>
            <p:cNvPr id="47" name="Rectangle 47"/>
            <p:cNvSpPr/>
            <p:nvPr/>
          </p:nvSpPr>
          <p:spPr>
            <a:xfrm>
              <a:off x="571500" y="5286375"/>
              <a:ext cx="11049000" cy="619125"/>
            </a:xfrm>
            <a:prstGeom prst="roundRect">
              <a:avLst>
                <a:gd name="adj" fmla="val 18462"/>
              </a:avLst>
            </a:prstGeom>
            <a:solidFill>
              <a:srgbClr val="E8A87C">
                <a:alpha val="10000"/>
              </a:srgbClr>
            </a:solidFill>
            <a:ln w="14288">
              <a:solidFill>
                <a:srgbClr val="E8A87C"/>
              </a:solidFill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879162" y="5451475"/>
              <a:ext cx="222876" cy="222250"/>
              <a:chOff x="879162" y="5451475"/>
              <a:chExt cx="222876" cy="22225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879162" y="5551488"/>
                <a:ext cx="33964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33964" h="22225">
                    <a:moveTo>
                      <a:pt x="22538" y="0"/>
                    </a:moveTo>
                    <a:cubicBezTo>
                      <a:pt x="28418" y="7"/>
                      <a:pt x="33275" y="4592"/>
                      <a:pt x="33619" y="10461"/>
                    </a:cubicBezTo>
                    <a:cubicBezTo>
                      <a:pt x="33964" y="16331"/>
                      <a:pt x="29677" y="21453"/>
                      <a:pt x="23838" y="22147"/>
                    </a:cubicBezTo>
                    <a:lnTo>
                      <a:pt x="22538" y="22225"/>
                    </a:lnTo>
                    <a:lnTo>
                      <a:pt x="11426" y="22225"/>
                    </a:lnTo>
                    <a:cubicBezTo>
                      <a:pt x="5546" y="22218"/>
                      <a:pt x="689" y="17633"/>
                      <a:pt x="345" y="11764"/>
                    </a:cubicBezTo>
                    <a:cubicBezTo>
                      <a:pt x="0" y="5894"/>
                      <a:pt x="4287" y="772"/>
                      <a:pt x="10125" y="78"/>
                    </a:cubicBezTo>
                    <a:lnTo>
                      <a:pt x="11426" y="0"/>
                    </a:lnTo>
                    <a:lnTo>
                      <a:pt x="22538" y="0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979488" y="5451475"/>
                <a:ext cx="22225" cy="33651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33651">
                    <a:moveTo>
                      <a:pt x="11113" y="0"/>
                    </a:moveTo>
                    <a:cubicBezTo>
                      <a:pt x="16746" y="1"/>
                      <a:pt x="21488" y="4217"/>
                      <a:pt x="22147" y="9812"/>
                    </a:cubicBezTo>
                    <a:lnTo>
                      <a:pt x="22225" y="11112"/>
                    </a:lnTo>
                    <a:lnTo>
                      <a:pt x="22225" y="22225"/>
                    </a:lnTo>
                    <a:cubicBezTo>
                      <a:pt x="22218" y="28105"/>
                      <a:pt x="17633" y="32962"/>
                      <a:pt x="11764" y="33306"/>
                    </a:cubicBezTo>
                    <a:cubicBezTo>
                      <a:pt x="5894" y="33651"/>
                      <a:pt x="772" y="29364"/>
                      <a:pt x="78" y="23525"/>
                    </a:cubicBezTo>
                    <a:lnTo>
                      <a:pt x="0" y="22225"/>
                    </a:lnTo>
                    <a:lnTo>
                      <a:pt x="0" y="11112"/>
                    </a:lnTo>
                    <a:cubicBezTo>
                      <a:pt x="0" y="4975"/>
                      <a:pt x="4975" y="0"/>
                      <a:pt x="11113" y="0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1068074" y="5551488"/>
                <a:ext cx="33964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33964" h="22225">
                    <a:moveTo>
                      <a:pt x="22538" y="0"/>
                    </a:moveTo>
                    <a:cubicBezTo>
                      <a:pt x="28418" y="7"/>
                      <a:pt x="33275" y="4592"/>
                      <a:pt x="33619" y="10461"/>
                    </a:cubicBezTo>
                    <a:cubicBezTo>
                      <a:pt x="33964" y="16331"/>
                      <a:pt x="29677" y="21453"/>
                      <a:pt x="23838" y="22147"/>
                    </a:cubicBezTo>
                    <a:lnTo>
                      <a:pt x="22538" y="22225"/>
                    </a:lnTo>
                    <a:lnTo>
                      <a:pt x="11426" y="22225"/>
                    </a:lnTo>
                    <a:cubicBezTo>
                      <a:pt x="5546" y="22218"/>
                      <a:pt x="689" y="17633"/>
                      <a:pt x="345" y="11764"/>
                    </a:cubicBezTo>
                    <a:cubicBezTo>
                      <a:pt x="0" y="5894"/>
                      <a:pt x="4287" y="772"/>
                      <a:pt x="10125" y="78"/>
                    </a:cubicBezTo>
                    <a:lnTo>
                      <a:pt x="11426" y="0"/>
                    </a:lnTo>
                    <a:lnTo>
                      <a:pt x="22538" y="0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907285" y="5479270"/>
                <a:ext cx="32169" cy="32352"/>
              </a:xfrm>
              <a:custGeom>
                <a:avLst/>
                <a:gdLst/>
                <a:ahLst/>
                <a:cxnLst/>
                <a:rect l="l" t="t" r="r" b="b"/>
                <a:pathLst>
                  <a:path w="32169" h="32352">
                    <a:moveTo>
                      <a:pt x="4338" y="4354"/>
                    </a:moveTo>
                    <a:cubicBezTo>
                      <a:pt x="8297" y="395"/>
                      <a:pt x="14583" y="0"/>
                      <a:pt x="19007" y="3432"/>
                    </a:cubicBezTo>
                    <a:lnTo>
                      <a:pt x="20051" y="4354"/>
                    </a:lnTo>
                    <a:lnTo>
                      <a:pt x="27830" y="12133"/>
                    </a:lnTo>
                    <a:cubicBezTo>
                      <a:pt x="31966" y="16283"/>
                      <a:pt x="32169" y="22932"/>
                      <a:pt x="28294" y="27327"/>
                    </a:cubicBezTo>
                    <a:cubicBezTo>
                      <a:pt x="24419" y="31721"/>
                      <a:pt x="17797" y="32352"/>
                      <a:pt x="13161" y="28768"/>
                    </a:cubicBezTo>
                    <a:lnTo>
                      <a:pt x="12117" y="27846"/>
                    </a:lnTo>
                    <a:lnTo>
                      <a:pt x="4338" y="20067"/>
                    </a:lnTo>
                    <a:cubicBezTo>
                      <a:pt x="0" y="15728"/>
                      <a:pt x="0" y="8693"/>
                      <a:pt x="4338" y="4354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1041578" y="5479284"/>
                <a:ext cx="32505" cy="32170"/>
              </a:xfrm>
              <a:custGeom>
                <a:avLst/>
                <a:gdLst/>
                <a:ahLst/>
                <a:cxnLst/>
                <a:rect l="l" t="t" r="r" b="b"/>
                <a:pathLst>
                  <a:path w="32505" h="32170">
                    <a:moveTo>
                      <a:pt x="12285" y="4339"/>
                    </a:moveTo>
                    <a:cubicBezTo>
                      <a:pt x="16436" y="203"/>
                      <a:pt x="23084" y="0"/>
                      <a:pt x="27479" y="3875"/>
                    </a:cubicBezTo>
                    <a:cubicBezTo>
                      <a:pt x="31874" y="7751"/>
                      <a:pt x="32505" y="14372"/>
                      <a:pt x="28921" y="19008"/>
                    </a:cubicBezTo>
                    <a:lnTo>
                      <a:pt x="27998" y="20052"/>
                    </a:lnTo>
                    <a:lnTo>
                      <a:pt x="20220" y="27831"/>
                    </a:lnTo>
                    <a:cubicBezTo>
                      <a:pt x="16069" y="31967"/>
                      <a:pt x="9421" y="32170"/>
                      <a:pt x="5026" y="28295"/>
                    </a:cubicBezTo>
                    <a:cubicBezTo>
                      <a:pt x="631" y="24420"/>
                      <a:pt x="0" y="17798"/>
                      <a:pt x="3584" y="13163"/>
                    </a:cubicBezTo>
                    <a:lnTo>
                      <a:pt x="4507" y="12118"/>
                    </a:lnTo>
                    <a:lnTo>
                      <a:pt x="12285" y="4339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957262" y="562927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55563" y="0"/>
                    </a:moveTo>
                    <a:cubicBezTo>
                      <a:pt x="61700" y="0"/>
                      <a:pt x="66675" y="4975"/>
                      <a:pt x="66675" y="11112"/>
                    </a:cubicBezTo>
                    <a:cubicBezTo>
                      <a:pt x="66675" y="29524"/>
                      <a:pt x="51749" y="44450"/>
                      <a:pt x="33338" y="44450"/>
                    </a:cubicBezTo>
                    <a:cubicBezTo>
                      <a:pt x="14926" y="44450"/>
                      <a:pt x="0" y="29524"/>
                      <a:pt x="0" y="11112"/>
                    </a:cubicBezTo>
                    <a:cubicBezTo>
                      <a:pt x="1" y="5479"/>
                      <a:pt x="4217" y="737"/>
                      <a:pt x="9812" y="78"/>
                    </a:cubicBezTo>
                    <a:lnTo>
                      <a:pt x="11113" y="0"/>
                    </a:lnTo>
                    <a:lnTo>
                      <a:pt x="55563" y="0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918271" y="5495925"/>
                <a:ext cx="144658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44658" h="122238">
                    <a:moveTo>
                      <a:pt x="72329" y="0"/>
                    </a:moveTo>
                    <a:cubicBezTo>
                      <a:pt x="101028" y="0"/>
                      <a:pt x="126507" y="18364"/>
                      <a:pt x="135582" y="45591"/>
                    </a:cubicBezTo>
                    <a:cubicBezTo>
                      <a:pt x="144658" y="72817"/>
                      <a:pt x="135293" y="102796"/>
                      <a:pt x="112334" y="120015"/>
                    </a:cubicBezTo>
                    <a:cubicBezTo>
                      <a:pt x="110802" y="121165"/>
                      <a:pt x="108999" y="121900"/>
                      <a:pt x="107100" y="122149"/>
                    </a:cubicBezTo>
                    <a:lnTo>
                      <a:pt x="105666" y="122238"/>
                    </a:lnTo>
                    <a:lnTo>
                      <a:pt x="38991" y="122238"/>
                    </a:lnTo>
                    <a:cubicBezTo>
                      <a:pt x="36587" y="122238"/>
                      <a:pt x="34247" y="121458"/>
                      <a:pt x="32324" y="120015"/>
                    </a:cubicBezTo>
                    <a:cubicBezTo>
                      <a:pt x="9365" y="102796"/>
                      <a:pt x="0" y="72817"/>
                      <a:pt x="9075" y="45591"/>
                    </a:cubicBezTo>
                    <a:cubicBezTo>
                      <a:pt x="18151" y="18364"/>
                      <a:pt x="43630" y="0"/>
                      <a:pt x="72329" y="0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1223010" y="5528310"/>
              <a:ext cx="187071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实际项目经常结合使用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3701415" y="5544502"/>
              <a:ext cx="35461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Fine-tuning 学会术语风格 + RAG 提供具体事实信息</a:t>
              </a:r>
            </a:p>
          </p:txBody>
        </p:sp>
      </p:grpSp>
      <p:sp>
        <p:nvSpPr>
          <p:cNvPr id="59" name="TextBox 59"/>
          <p:cNvSpPr txBox="1"/>
          <p:nvPr/>
        </p:nvSpPr>
        <p:spPr>
          <a:xfrm>
            <a:off x="11654980" y="6522720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26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46" grpId="0"/>
      <p:bldP spid="5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8B6F47"/>
              </a:gs>
              <a:gs pos="100000">
                <a:srgbClr val="6B5535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572500" y="3810000"/>
            <a:ext cx="3810000" cy="3810000"/>
          </a:xfrm>
          <a:prstGeom prst="ellipse">
            <a:avLst/>
          </a:prstGeom>
          <a:solidFill>
            <a:srgbClr val="FAF7F2">
              <a:alpha val="5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571500" y="190500"/>
            <a:ext cx="2286000" cy="2286000"/>
          </a:xfrm>
          <a:prstGeom prst="ellipse">
            <a:avLst/>
          </a:prstGeom>
          <a:solidFill>
            <a:srgbClr val="FAF7F2">
              <a:alpha val="4000"/>
            </a:srgbClr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3110513" y="1504950"/>
            <a:ext cx="5970975" cy="3081337"/>
            <a:chOff x="3110513" y="1504950"/>
            <a:chExt cx="5970975" cy="3081337"/>
          </a:xfrm>
        </p:grpSpPr>
        <p:sp>
          <p:nvSpPr>
            <p:cNvPr id="5" name="TextBox 5"/>
            <p:cNvSpPr txBox="1"/>
            <p:nvPr/>
          </p:nvSpPr>
          <p:spPr>
            <a:xfrm>
              <a:off x="5222605" y="1504950"/>
              <a:ext cx="1746790" cy="1828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0" b="1" dirty="0">
                  <a:solidFill>
                    <a:srgbClr val="FAF7F2">
                      <a:alphaMod val="15000"/>
                    </a:srgbClr>
                  </a:solidFill>
                  <a:latin typeface="Georgia"/>
                  <a:ea typeface="Microsoft YaHei"/>
                  <a:cs typeface="Georgia"/>
                </a:rPr>
                <a:t>07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3110513" y="2849880"/>
              <a:ext cx="5970975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FAF7F2"/>
                  </a:solidFill>
                  <a:latin typeface="Georgia"/>
                  <a:ea typeface="Microsoft YaHei"/>
                  <a:cs typeface="Georgia"/>
                </a:rPr>
                <a:t>Function Calling / Tool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4953000" y="3476625"/>
              <a:ext cx="2286000" cy="381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260896" y="3838575"/>
              <a:ext cx="167020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AF7F2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让 AI 学会用工具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5853112" y="4335518"/>
              <a:ext cx="250778" cy="250769"/>
            </a:xfrm>
            <a:custGeom>
              <a:avLst/>
              <a:gdLst/>
              <a:ahLst/>
              <a:cxnLst/>
              <a:rect l="l" t="t" r="r" b="b"/>
              <a:pathLst>
                <a:path w="250778" h="250769">
                  <a:moveTo>
                    <a:pt x="129802" y="43600"/>
                  </a:moveTo>
                  <a:lnTo>
                    <a:pt x="207169" y="120967"/>
                  </a:lnTo>
                  <a:lnTo>
                    <a:pt x="81539" y="246583"/>
                  </a:lnTo>
                  <a:cubicBezTo>
                    <a:pt x="78860" y="249262"/>
                    <a:pt x="75226" y="250768"/>
                    <a:pt x="71438" y="250769"/>
                  </a:cubicBezTo>
                  <a:lnTo>
                    <a:pt x="14288" y="250769"/>
                  </a:lnTo>
                  <a:cubicBezTo>
                    <a:pt x="6397" y="250769"/>
                    <a:pt x="0" y="244372"/>
                    <a:pt x="0" y="236482"/>
                  </a:cubicBezTo>
                  <a:lnTo>
                    <a:pt x="0" y="179332"/>
                  </a:lnTo>
                  <a:cubicBezTo>
                    <a:pt x="1" y="175543"/>
                    <a:pt x="1507" y="171909"/>
                    <a:pt x="4186" y="169230"/>
                  </a:cubicBezTo>
                  <a:close/>
                  <a:moveTo>
                    <a:pt x="207040" y="5053"/>
                  </a:moveTo>
                  <a:cubicBezTo>
                    <a:pt x="225918" y="10108"/>
                    <a:pt x="240663" y="24853"/>
                    <a:pt x="245721" y="43730"/>
                  </a:cubicBezTo>
                  <a:cubicBezTo>
                    <a:pt x="250778" y="62607"/>
                    <a:pt x="245379" y="82748"/>
                    <a:pt x="231558" y="96564"/>
                  </a:cubicBezTo>
                  <a:lnTo>
                    <a:pt x="227386" y="100750"/>
                  </a:lnTo>
                  <a:lnTo>
                    <a:pt x="150019" y="23384"/>
                  </a:lnTo>
                  <a:lnTo>
                    <a:pt x="154205" y="19212"/>
                  </a:lnTo>
                  <a:cubicBezTo>
                    <a:pt x="168025" y="5397"/>
                    <a:pt x="188164" y="0"/>
                    <a:pt x="207040" y="5053"/>
                  </a:cubicBezTo>
                </a:path>
              </a:pathLst>
            </a:custGeom>
            <a:solidFill>
              <a:srgbClr val="E8A87C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369570" y="6522720"/>
            <a:ext cx="11452859" cy="182880"/>
            <a:chOff x="369570" y="6522720"/>
            <a:chExt cx="11452859" cy="182880"/>
          </a:xfrm>
        </p:grpSpPr>
        <p:sp>
          <p:nvSpPr>
            <p:cNvPr id="11" name="TextBox 11"/>
            <p:cNvSpPr txBox="1"/>
            <p:nvPr/>
          </p:nvSpPr>
          <p:spPr>
            <a:xfrm>
              <a:off x="369570" y="6522720"/>
              <a:ext cx="14687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AI大家学 · 大模型技术篇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654980" y="6522720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2925" y="376238"/>
            <a:ext cx="11089957" cy="457200"/>
            <a:chOff x="542925" y="376238"/>
            <a:chExt cx="11089957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376238"/>
              <a:ext cx="4145911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Function Calling 工作流程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732365" y="466249"/>
              <a:ext cx="90051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AI 学会用工具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71500" y="1000125"/>
            <a:ext cx="11049000" cy="571500"/>
            <a:chOff x="571500" y="1000125"/>
            <a:chExt cx="11049000" cy="571500"/>
          </a:xfrm>
        </p:grpSpPr>
        <p:sp>
          <p:nvSpPr>
            <p:cNvPr id="7" name="Rectangle 7"/>
            <p:cNvSpPr/>
            <p:nvPr/>
          </p:nvSpPr>
          <p:spPr>
            <a:xfrm>
              <a:off x="571500" y="1000125"/>
              <a:ext cx="11049000" cy="571500"/>
            </a:xfrm>
            <a:prstGeom prst="roundRect">
              <a:avLst>
                <a:gd name="adj" fmla="val 20000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865188" y="1136650"/>
              <a:ext cx="155575" cy="222250"/>
              <a:chOff x="865188" y="1136650"/>
              <a:chExt cx="155575" cy="22225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887412" y="1136650"/>
                <a:ext cx="11112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11125">
                    <a:moveTo>
                      <a:pt x="55562" y="0"/>
                    </a:moveTo>
                    <a:cubicBezTo>
                      <a:pt x="86249" y="0"/>
                      <a:pt x="111125" y="24876"/>
                      <a:pt x="111125" y="55563"/>
                    </a:cubicBezTo>
                    <a:cubicBezTo>
                      <a:pt x="111125" y="86249"/>
                      <a:pt x="86249" y="111125"/>
                      <a:pt x="55562" y="111125"/>
                    </a:cubicBezTo>
                    <a:cubicBezTo>
                      <a:pt x="24876" y="111125"/>
                      <a:pt x="0" y="86249"/>
                      <a:pt x="0" y="55563"/>
                    </a:cubicBezTo>
                    <a:lnTo>
                      <a:pt x="56" y="53151"/>
                    </a:lnTo>
                    <a:cubicBezTo>
                      <a:pt x="1347" y="23432"/>
                      <a:pt x="25815" y="2"/>
                      <a:pt x="55562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865188" y="1270000"/>
                <a:ext cx="15557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88900">
                    <a:moveTo>
                      <a:pt x="100013" y="0"/>
                    </a:moveTo>
                    <a:cubicBezTo>
                      <a:pt x="130699" y="0"/>
                      <a:pt x="155575" y="24876"/>
                      <a:pt x="155575" y="55562"/>
                    </a:cubicBezTo>
                    <a:lnTo>
                      <a:pt x="155575" y="66675"/>
                    </a:lnTo>
                    <a:cubicBezTo>
                      <a:pt x="155575" y="78950"/>
                      <a:pt x="145625" y="88900"/>
                      <a:pt x="133350" y="88900"/>
                    </a:cubicBezTo>
                    <a:lnTo>
                      <a:pt x="22225" y="88900"/>
                    </a:lnTo>
                    <a:cubicBezTo>
                      <a:pt x="9950" y="88900"/>
                      <a:pt x="0" y="78950"/>
                      <a:pt x="0" y="66675"/>
                    </a:cubicBezTo>
                    <a:lnTo>
                      <a:pt x="0" y="55562"/>
                    </a:lnTo>
                    <a:cubicBezTo>
                      <a:pt x="0" y="24876"/>
                      <a:pt x="24876" y="0"/>
                      <a:pt x="55563" y="0"/>
                    </a:cubicBezTo>
                    <a:lnTo>
                      <a:pt x="100013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175385" y="1223010"/>
              <a:ext cx="9505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用户提问：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366010" y="1223010"/>
              <a:ext cx="197586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"北京今天天气怎么样？"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71500" y="1762125"/>
            <a:ext cx="3429000" cy="2667000"/>
            <a:chOff x="571500" y="1762125"/>
            <a:chExt cx="3429000" cy="2667000"/>
          </a:xfrm>
        </p:grpSpPr>
        <p:sp>
          <p:nvSpPr>
            <p:cNvPr id="14" name="Rectangle 14"/>
            <p:cNvSpPr/>
            <p:nvPr/>
          </p:nvSpPr>
          <p:spPr>
            <a:xfrm>
              <a:off x="571500" y="1762125"/>
              <a:ext cx="3429000" cy="2667000"/>
            </a:xfrm>
            <a:prstGeom prst="roundRect">
              <a:avLst>
                <a:gd name="adj" fmla="val 5714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71500" y="1762125"/>
              <a:ext cx="3429000" cy="57150"/>
            </a:xfrm>
            <a:prstGeom prst="roundRect">
              <a:avLst>
                <a:gd name="adj" fmla="val 50000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62000" y="2000250"/>
              <a:ext cx="381000" cy="381000"/>
            </a:xfrm>
            <a:prstGeom prst="roundRect">
              <a:avLst>
                <a:gd name="adj" fmla="val 50000"/>
              </a:avLst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4301" y="2121218"/>
              <a:ext cx="9639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AF7F2"/>
                  </a:solidFill>
                  <a:latin typeface="Georgia"/>
                  <a:ea typeface="SimSun"/>
                  <a:cs typeface="Georgia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268730" y="210216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模型识别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8665" y="2506028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模型知道自己不知道天气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48665" y="2744152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但看到可用的工具列表：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62000" y="3048000"/>
              <a:ext cx="3048000" cy="1047750"/>
            </a:xfrm>
            <a:prstGeom prst="roundRect">
              <a:avLst>
                <a:gd name="adj" fmla="val 7273"/>
              </a:avLst>
            </a:prstGeom>
            <a:solidFill>
              <a:srgbClr val="F0EBE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93445" y="3188970"/>
              <a:ext cx="56112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8B6F47"/>
                  </a:solidFill>
                  <a:latin typeface="Consolas"/>
                  <a:ea typeface="Microsoft YaHei"/>
                  <a:cs typeface="Consolas"/>
                </a:rPr>
                <a:t>tools: [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36320" y="3379470"/>
              <a:ext cx="17447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{ "name": "get_weather",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31570" y="3569970"/>
              <a:ext cx="157391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"desc": "获取城市天气",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31570" y="3760470"/>
              <a:ext cx="175793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8A87C"/>
                  </a:solidFill>
                  <a:latin typeface="Consolas"/>
                  <a:ea typeface="Microsoft YaHei"/>
                  <a:cs typeface="Consolas"/>
                </a:rPr>
                <a:t>"params": {"city": "str"}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93445" y="3950970"/>
              <a:ext cx="987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8B6F47"/>
                  </a:solidFill>
                  <a:latin typeface="Consolas"/>
                  <a:ea typeface="Microsoft YaHei"/>
                  <a:cs typeface="Consolas"/>
                </a:rPr>
                <a:t>}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4074795" y="3060382"/>
            <a:ext cx="17445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→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4381500" y="1762125"/>
            <a:ext cx="3429000" cy="2667000"/>
            <a:chOff x="4381500" y="1762125"/>
            <a:chExt cx="3429000" cy="2667000"/>
          </a:xfrm>
        </p:grpSpPr>
        <p:sp>
          <p:nvSpPr>
            <p:cNvPr id="29" name="Rectangle 29"/>
            <p:cNvSpPr/>
            <p:nvPr/>
          </p:nvSpPr>
          <p:spPr>
            <a:xfrm>
              <a:off x="4381500" y="1762125"/>
              <a:ext cx="3429000" cy="2667000"/>
            </a:xfrm>
            <a:prstGeom prst="roundRect">
              <a:avLst>
                <a:gd name="adj" fmla="val 5714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381500" y="1762125"/>
              <a:ext cx="3429000" cy="5715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4572000" y="2000250"/>
              <a:ext cx="381000" cy="3810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688423" y="2121218"/>
              <a:ext cx="14815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AF7F2"/>
                  </a:solidFill>
                  <a:latin typeface="Georgia"/>
                  <a:ea typeface="SimSun"/>
                  <a:cs typeface="Georgia"/>
                </a:rPr>
                <a:t>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078730" y="2102168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生成调用指令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558665" y="2506028"/>
              <a:ext cx="12534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模型不直接回答，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558665" y="2744152"/>
              <a:ext cx="15141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而是输出一段 JSON：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4572000" y="3048000"/>
              <a:ext cx="3048000" cy="1047750"/>
            </a:xfrm>
            <a:prstGeom prst="roundRect">
              <a:avLst>
                <a:gd name="adj" fmla="val 7273"/>
              </a:avLst>
            </a:prstGeom>
            <a:solidFill>
              <a:srgbClr val="F0EBE0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703445" y="3188970"/>
              <a:ext cx="79575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E8A87C"/>
                  </a:solidFill>
                  <a:latin typeface="Consolas"/>
                  <a:ea typeface="Microsoft YaHei"/>
                  <a:cs typeface="Consolas"/>
                </a:rPr>
                <a:t>tool_call: {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846320" y="3379470"/>
              <a:ext cx="186309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"function": "get_weather",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846320" y="3569970"/>
              <a:ext cx="102841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"arguments": {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941570" y="3760470"/>
              <a:ext cx="9429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"city": "北京"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846320" y="3950970"/>
              <a:ext cx="951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}</a:t>
              </a: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7884795" y="3060382"/>
            <a:ext cx="17445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→</a:t>
            </a:r>
          </a:p>
        </p:txBody>
      </p:sp>
      <p:grpSp>
        <p:nvGrpSpPr>
          <p:cNvPr id="58" name="Group 58"/>
          <p:cNvGrpSpPr/>
          <p:nvPr/>
        </p:nvGrpSpPr>
        <p:grpSpPr>
          <a:xfrm>
            <a:off x="8191500" y="1762125"/>
            <a:ext cx="3429000" cy="2671763"/>
            <a:chOff x="8191500" y="1762125"/>
            <a:chExt cx="3429000" cy="2671763"/>
          </a:xfrm>
        </p:grpSpPr>
        <p:sp>
          <p:nvSpPr>
            <p:cNvPr id="44" name="Rectangle 44"/>
            <p:cNvSpPr/>
            <p:nvPr/>
          </p:nvSpPr>
          <p:spPr>
            <a:xfrm>
              <a:off x="8191500" y="1762125"/>
              <a:ext cx="3429000" cy="2667000"/>
            </a:xfrm>
            <a:prstGeom prst="roundRect">
              <a:avLst>
                <a:gd name="adj" fmla="val 5714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8191500" y="1762125"/>
              <a:ext cx="3429000" cy="57150"/>
            </a:xfrm>
            <a:prstGeom prst="roundRect">
              <a:avLst>
                <a:gd name="adj" fmla="val 50000"/>
              </a:avLst>
            </a:prstGeom>
            <a:solidFill>
              <a:srgbClr val="8FBC8F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8382000" y="2000250"/>
              <a:ext cx="381000" cy="381000"/>
            </a:xfrm>
            <a:prstGeom prst="roundRect">
              <a:avLst>
                <a:gd name="adj" fmla="val 50000"/>
              </a:avLst>
            </a:prstGeom>
            <a:solidFill>
              <a:srgbClr val="8FBC8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498423" y="2121218"/>
              <a:ext cx="14815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AF7F2"/>
                  </a:solidFill>
                  <a:latin typeface="Georgia"/>
                  <a:ea typeface="SimSun"/>
                  <a:cs typeface="Georgia"/>
                </a:rPr>
                <a:t>3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888730" y="2102168"/>
              <a:ext cx="10694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执行并回答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368665" y="2506028"/>
              <a:ext cx="15141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你的代码调用真实 API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368665" y="2744152"/>
              <a:ext cx="12534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把结果喂回模型：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8382000" y="3048000"/>
              <a:ext cx="3048000" cy="1047750"/>
            </a:xfrm>
            <a:prstGeom prst="roundRect">
              <a:avLst>
                <a:gd name="adj" fmla="val 7273"/>
              </a:avLst>
            </a:prstGeom>
            <a:solidFill>
              <a:srgbClr val="F0EBE0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513445" y="3188970"/>
              <a:ext cx="9820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8FBC8F"/>
                  </a:solidFill>
                  <a:latin typeface="Consolas"/>
                  <a:ea typeface="Microsoft YaHei"/>
                  <a:cs typeface="Consolas"/>
                </a:rPr>
                <a:t>tool_result: {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656320" y="3379470"/>
              <a:ext cx="110070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"temp": "28°C",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656320" y="3569970"/>
              <a:ext cx="121243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"condition": "晴",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656320" y="3760470"/>
              <a:ext cx="117957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Consolas"/>
                  <a:ea typeface="Microsoft YaHei"/>
                  <a:cs typeface="Consolas"/>
                </a:rPr>
                <a:t>"humidity": "45%"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513445" y="3950970"/>
              <a:ext cx="987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8FBC8F"/>
                  </a:solidFill>
                  <a:latin typeface="Consolas"/>
                  <a:ea typeface="Microsoft YaHei"/>
                  <a:cs typeface="Consolas"/>
                </a:rPr>
                <a:t>}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368665" y="4220528"/>
              <a:ext cx="18669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模型基于真实数据生成回答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571500" y="4667250"/>
            <a:ext cx="11049000" cy="571500"/>
            <a:chOff x="571500" y="4667250"/>
            <a:chExt cx="11049000" cy="571500"/>
          </a:xfrm>
        </p:grpSpPr>
        <p:sp>
          <p:nvSpPr>
            <p:cNvPr id="59" name="Rectangle 59"/>
            <p:cNvSpPr/>
            <p:nvPr/>
          </p:nvSpPr>
          <p:spPr>
            <a:xfrm>
              <a:off x="571500" y="4667250"/>
              <a:ext cx="11049000" cy="571500"/>
            </a:xfrm>
            <a:prstGeom prst="roundRect">
              <a:avLst>
                <a:gd name="adj" fmla="val 20000"/>
              </a:avLst>
            </a:prstGeom>
            <a:solidFill>
              <a:srgbClr val="E8A87C">
                <a:alpha val="10000"/>
              </a:srgbClr>
            </a:solidFill>
            <a:ln w="14288">
              <a:solidFill>
                <a:srgbClr val="E8A87C"/>
              </a:solidFill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879162" y="4832350"/>
              <a:ext cx="222876" cy="222250"/>
              <a:chOff x="879162" y="4832350"/>
              <a:chExt cx="222876" cy="222250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879162" y="4932362"/>
                <a:ext cx="33964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33964" h="22225">
                    <a:moveTo>
                      <a:pt x="22538" y="0"/>
                    </a:moveTo>
                    <a:cubicBezTo>
                      <a:pt x="28418" y="7"/>
                      <a:pt x="33275" y="4592"/>
                      <a:pt x="33619" y="10461"/>
                    </a:cubicBezTo>
                    <a:cubicBezTo>
                      <a:pt x="33964" y="16331"/>
                      <a:pt x="29677" y="21453"/>
                      <a:pt x="23838" y="22147"/>
                    </a:cubicBezTo>
                    <a:lnTo>
                      <a:pt x="22538" y="22225"/>
                    </a:lnTo>
                    <a:lnTo>
                      <a:pt x="11426" y="22225"/>
                    </a:lnTo>
                    <a:cubicBezTo>
                      <a:pt x="5546" y="22218"/>
                      <a:pt x="689" y="17633"/>
                      <a:pt x="345" y="11764"/>
                    </a:cubicBezTo>
                    <a:cubicBezTo>
                      <a:pt x="0" y="5894"/>
                      <a:pt x="4287" y="772"/>
                      <a:pt x="10125" y="78"/>
                    </a:cubicBezTo>
                    <a:lnTo>
                      <a:pt x="11426" y="0"/>
                    </a:lnTo>
                    <a:lnTo>
                      <a:pt x="22538" y="0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979488" y="4832350"/>
                <a:ext cx="22225" cy="33651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33651">
                    <a:moveTo>
                      <a:pt x="11113" y="0"/>
                    </a:moveTo>
                    <a:cubicBezTo>
                      <a:pt x="16746" y="1"/>
                      <a:pt x="21488" y="4217"/>
                      <a:pt x="22147" y="9812"/>
                    </a:cubicBezTo>
                    <a:lnTo>
                      <a:pt x="22225" y="11113"/>
                    </a:lnTo>
                    <a:lnTo>
                      <a:pt x="22225" y="22225"/>
                    </a:lnTo>
                    <a:cubicBezTo>
                      <a:pt x="22218" y="28105"/>
                      <a:pt x="17633" y="32962"/>
                      <a:pt x="11764" y="33306"/>
                    </a:cubicBezTo>
                    <a:cubicBezTo>
                      <a:pt x="5894" y="33651"/>
                      <a:pt x="772" y="29364"/>
                      <a:pt x="78" y="23525"/>
                    </a:cubicBezTo>
                    <a:lnTo>
                      <a:pt x="0" y="22225"/>
                    </a:lnTo>
                    <a:lnTo>
                      <a:pt x="0" y="11113"/>
                    </a:lnTo>
                    <a:cubicBezTo>
                      <a:pt x="0" y="4975"/>
                      <a:pt x="4975" y="0"/>
                      <a:pt x="11113" y="0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1068074" y="4932362"/>
                <a:ext cx="33964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33964" h="22225">
                    <a:moveTo>
                      <a:pt x="22538" y="0"/>
                    </a:moveTo>
                    <a:cubicBezTo>
                      <a:pt x="28418" y="7"/>
                      <a:pt x="33275" y="4592"/>
                      <a:pt x="33619" y="10461"/>
                    </a:cubicBezTo>
                    <a:cubicBezTo>
                      <a:pt x="33964" y="16331"/>
                      <a:pt x="29677" y="21453"/>
                      <a:pt x="23838" y="22147"/>
                    </a:cubicBezTo>
                    <a:lnTo>
                      <a:pt x="22538" y="22225"/>
                    </a:lnTo>
                    <a:lnTo>
                      <a:pt x="11426" y="22225"/>
                    </a:lnTo>
                    <a:cubicBezTo>
                      <a:pt x="5546" y="22218"/>
                      <a:pt x="689" y="17633"/>
                      <a:pt x="345" y="11764"/>
                    </a:cubicBezTo>
                    <a:cubicBezTo>
                      <a:pt x="0" y="5894"/>
                      <a:pt x="4287" y="772"/>
                      <a:pt x="10125" y="78"/>
                    </a:cubicBezTo>
                    <a:lnTo>
                      <a:pt x="11426" y="0"/>
                    </a:lnTo>
                    <a:lnTo>
                      <a:pt x="22538" y="0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907285" y="4860145"/>
                <a:ext cx="32169" cy="32352"/>
              </a:xfrm>
              <a:custGeom>
                <a:avLst/>
                <a:gdLst/>
                <a:ahLst/>
                <a:cxnLst/>
                <a:rect l="l" t="t" r="r" b="b"/>
                <a:pathLst>
                  <a:path w="32169" h="32352">
                    <a:moveTo>
                      <a:pt x="4338" y="4354"/>
                    </a:moveTo>
                    <a:cubicBezTo>
                      <a:pt x="8297" y="395"/>
                      <a:pt x="14583" y="0"/>
                      <a:pt x="19007" y="3432"/>
                    </a:cubicBezTo>
                    <a:lnTo>
                      <a:pt x="20051" y="4354"/>
                    </a:lnTo>
                    <a:lnTo>
                      <a:pt x="27830" y="12133"/>
                    </a:lnTo>
                    <a:cubicBezTo>
                      <a:pt x="31966" y="16283"/>
                      <a:pt x="32169" y="22932"/>
                      <a:pt x="28294" y="27327"/>
                    </a:cubicBezTo>
                    <a:cubicBezTo>
                      <a:pt x="24419" y="31721"/>
                      <a:pt x="17797" y="32352"/>
                      <a:pt x="13161" y="28768"/>
                    </a:cubicBezTo>
                    <a:lnTo>
                      <a:pt x="12117" y="27846"/>
                    </a:lnTo>
                    <a:lnTo>
                      <a:pt x="4338" y="20067"/>
                    </a:lnTo>
                    <a:cubicBezTo>
                      <a:pt x="0" y="15728"/>
                      <a:pt x="0" y="8693"/>
                      <a:pt x="4338" y="4354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1041578" y="4860159"/>
                <a:ext cx="32505" cy="32170"/>
              </a:xfrm>
              <a:custGeom>
                <a:avLst/>
                <a:gdLst/>
                <a:ahLst/>
                <a:cxnLst/>
                <a:rect l="l" t="t" r="r" b="b"/>
                <a:pathLst>
                  <a:path w="32505" h="32170">
                    <a:moveTo>
                      <a:pt x="12285" y="4339"/>
                    </a:moveTo>
                    <a:cubicBezTo>
                      <a:pt x="16436" y="203"/>
                      <a:pt x="23084" y="0"/>
                      <a:pt x="27479" y="3875"/>
                    </a:cubicBezTo>
                    <a:cubicBezTo>
                      <a:pt x="31874" y="7751"/>
                      <a:pt x="32505" y="14372"/>
                      <a:pt x="28921" y="19008"/>
                    </a:cubicBezTo>
                    <a:lnTo>
                      <a:pt x="27998" y="20052"/>
                    </a:lnTo>
                    <a:lnTo>
                      <a:pt x="20220" y="27831"/>
                    </a:lnTo>
                    <a:cubicBezTo>
                      <a:pt x="16069" y="31967"/>
                      <a:pt x="9421" y="32170"/>
                      <a:pt x="5026" y="28295"/>
                    </a:cubicBezTo>
                    <a:cubicBezTo>
                      <a:pt x="631" y="24420"/>
                      <a:pt x="0" y="17798"/>
                      <a:pt x="3584" y="13163"/>
                    </a:cubicBezTo>
                    <a:lnTo>
                      <a:pt x="4507" y="12118"/>
                    </a:lnTo>
                    <a:lnTo>
                      <a:pt x="12285" y="4339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957262" y="501015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55563" y="0"/>
                    </a:moveTo>
                    <a:cubicBezTo>
                      <a:pt x="61700" y="0"/>
                      <a:pt x="66675" y="4975"/>
                      <a:pt x="66675" y="11112"/>
                    </a:cubicBezTo>
                    <a:cubicBezTo>
                      <a:pt x="66675" y="29524"/>
                      <a:pt x="51749" y="44450"/>
                      <a:pt x="33338" y="44450"/>
                    </a:cubicBezTo>
                    <a:cubicBezTo>
                      <a:pt x="14926" y="44450"/>
                      <a:pt x="0" y="29524"/>
                      <a:pt x="0" y="11112"/>
                    </a:cubicBezTo>
                    <a:cubicBezTo>
                      <a:pt x="1" y="5479"/>
                      <a:pt x="4217" y="737"/>
                      <a:pt x="9812" y="78"/>
                    </a:cubicBezTo>
                    <a:lnTo>
                      <a:pt x="11113" y="0"/>
                    </a:lnTo>
                    <a:lnTo>
                      <a:pt x="55563" y="0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918271" y="4876800"/>
                <a:ext cx="144658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44658" h="122238">
                    <a:moveTo>
                      <a:pt x="72329" y="0"/>
                    </a:moveTo>
                    <a:cubicBezTo>
                      <a:pt x="101028" y="0"/>
                      <a:pt x="126507" y="18364"/>
                      <a:pt x="135582" y="45591"/>
                    </a:cubicBezTo>
                    <a:cubicBezTo>
                      <a:pt x="144658" y="72817"/>
                      <a:pt x="135293" y="102796"/>
                      <a:pt x="112334" y="120015"/>
                    </a:cubicBezTo>
                    <a:cubicBezTo>
                      <a:pt x="110802" y="121165"/>
                      <a:pt x="108999" y="121900"/>
                      <a:pt x="107100" y="122149"/>
                    </a:cubicBezTo>
                    <a:lnTo>
                      <a:pt x="105666" y="122238"/>
                    </a:lnTo>
                    <a:lnTo>
                      <a:pt x="38991" y="122238"/>
                    </a:lnTo>
                    <a:cubicBezTo>
                      <a:pt x="36587" y="122238"/>
                      <a:pt x="34247" y="121458"/>
                      <a:pt x="32324" y="120015"/>
                    </a:cubicBezTo>
                    <a:cubicBezTo>
                      <a:pt x="9365" y="102796"/>
                      <a:pt x="0" y="72817"/>
                      <a:pt x="9075" y="45591"/>
                    </a:cubicBezTo>
                    <a:cubicBezTo>
                      <a:pt x="18151" y="18364"/>
                      <a:pt x="43630" y="0"/>
                      <a:pt x="72329" y="0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1223010" y="4842510"/>
              <a:ext cx="168668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模型自己不会查天气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3414712" y="4850606"/>
              <a:ext cx="497419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它只是学会了"在合适的时候调用工具"，然后把结果整合成自然语言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571500" y="5429250"/>
            <a:ext cx="11049000" cy="523875"/>
            <a:chOff x="571500" y="5429250"/>
            <a:chExt cx="11049000" cy="523875"/>
          </a:xfrm>
        </p:grpSpPr>
        <p:sp>
          <p:nvSpPr>
            <p:cNvPr id="71" name="Rectangle 71"/>
            <p:cNvSpPr/>
            <p:nvPr/>
          </p:nvSpPr>
          <p:spPr>
            <a:xfrm>
              <a:off x="571500" y="5429250"/>
              <a:ext cx="11049000" cy="523875"/>
            </a:xfrm>
            <a:prstGeom prst="roundRect">
              <a:avLst>
                <a:gd name="adj" fmla="val 21818"/>
              </a:avLst>
            </a:prstGeom>
            <a:solidFill>
              <a:srgbClr val="8B6F47">
                <a:alpha val="6000"/>
              </a:srgbClr>
            </a:solidFill>
            <a:ln w="9525">
              <a:solidFill>
                <a:srgbClr val="8B6F47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2294487" y="5614035"/>
              <a:ext cx="76030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Function Calling = 模型输出 JSON 指令 → 外部代码执行 → 结果返回模型 → 模型生成最终回答</a:t>
              </a:r>
            </a:p>
          </p:txBody>
        </p:sp>
      </p:grpSp>
      <p:sp>
        <p:nvSpPr>
          <p:cNvPr id="74" name="TextBox 74"/>
          <p:cNvSpPr txBox="1"/>
          <p:nvPr/>
        </p:nvSpPr>
        <p:spPr>
          <a:xfrm>
            <a:off x="11654980" y="6522720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28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7" grpId="0"/>
      <p:bldP spid="42" grpId="0"/>
      <p:bldP spid="58" grpId="0"/>
      <p:bldP spid="70" grpId="0"/>
      <p:bldP spid="7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2925" y="376238"/>
            <a:ext cx="11089958" cy="457200"/>
            <a:chOff x="542925" y="376238"/>
            <a:chExt cx="11089958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376238"/>
              <a:ext cx="2403443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SFT — 监督微调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312289" y="466249"/>
              <a:ext cx="132059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知识"烧进"模型权重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71500" y="1000125"/>
            <a:ext cx="5334000" cy="3619500"/>
            <a:chOff x="571500" y="1000125"/>
            <a:chExt cx="5334000" cy="3619500"/>
          </a:xfrm>
        </p:grpSpPr>
        <p:sp>
          <p:nvSpPr>
            <p:cNvPr id="7" name="Rectangle 7"/>
            <p:cNvSpPr/>
            <p:nvPr/>
          </p:nvSpPr>
          <p:spPr>
            <a:xfrm>
              <a:off x="571500" y="1000125"/>
              <a:ext cx="5334000" cy="3619500"/>
            </a:xfrm>
            <a:prstGeom prst="roundRect">
              <a:avLst>
                <a:gd name="adj" fmla="val 4211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000125"/>
              <a:ext cx="5334000" cy="5715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854074" y="1241425"/>
              <a:ext cx="177802" cy="222251"/>
              <a:chOff x="854074" y="1241425"/>
              <a:chExt cx="177802" cy="22225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854074" y="1241425"/>
                <a:ext cx="177802" cy="222251"/>
              </a:xfrm>
              <a:custGeom>
                <a:avLst/>
                <a:gdLst/>
                <a:ahLst/>
                <a:cxnLst/>
                <a:rect l="l" t="t" r="r" b="b"/>
                <a:pathLst>
                  <a:path w="177802" h="222251">
                    <a:moveTo>
                      <a:pt x="88901" y="0"/>
                    </a:moveTo>
                    <a:lnTo>
                      <a:pt x="90201" y="78"/>
                    </a:lnTo>
                    <a:cubicBezTo>
                      <a:pt x="95307" y="680"/>
                      <a:pt x="99334" y="4706"/>
                      <a:pt x="99936" y="9812"/>
                    </a:cubicBezTo>
                    <a:lnTo>
                      <a:pt x="100013" y="11112"/>
                    </a:lnTo>
                    <a:lnTo>
                      <a:pt x="100013" y="55562"/>
                    </a:lnTo>
                    <a:lnTo>
                      <a:pt x="100069" y="57229"/>
                    </a:lnTo>
                    <a:cubicBezTo>
                      <a:pt x="100891" y="68163"/>
                      <a:pt x="109563" y="76864"/>
                      <a:pt x="120494" y="77721"/>
                    </a:cubicBezTo>
                    <a:lnTo>
                      <a:pt x="122238" y="77787"/>
                    </a:lnTo>
                    <a:lnTo>
                      <a:pt x="166688" y="77787"/>
                    </a:lnTo>
                    <a:lnTo>
                      <a:pt x="167989" y="77865"/>
                    </a:lnTo>
                    <a:cubicBezTo>
                      <a:pt x="173095" y="78467"/>
                      <a:pt x="177121" y="82494"/>
                      <a:pt x="177723" y="87600"/>
                    </a:cubicBezTo>
                    <a:lnTo>
                      <a:pt x="177801" y="88900"/>
                    </a:lnTo>
                    <a:lnTo>
                      <a:pt x="177801" y="188912"/>
                    </a:lnTo>
                    <a:cubicBezTo>
                      <a:pt x="177802" y="206565"/>
                      <a:pt x="164042" y="221159"/>
                      <a:pt x="146419" y="222194"/>
                    </a:cubicBezTo>
                    <a:lnTo>
                      <a:pt x="144463" y="222250"/>
                    </a:lnTo>
                    <a:lnTo>
                      <a:pt x="33338" y="222250"/>
                    </a:lnTo>
                    <a:cubicBezTo>
                      <a:pt x="15686" y="222251"/>
                      <a:pt x="1092" y="208491"/>
                      <a:pt x="57" y="190868"/>
                    </a:cubicBezTo>
                    <a:lnTo>
                      <a:pt x="1" y="188913"/>
                    </a:lnTo>
                    <a:lnTo>
                      <a:pt x="1" y="33338"/>
                    </a:lnTo>
                    <a:cubicBezTo>
                      <a:pt x="0" y="15685"/>
                      <a:pt x="13760" y="1091"/>
                      <a:pt x="31383" y="56"/>
                    </a:cubicBezTo>
                    <a:lnTo>
                      <a:pt x="33338" y="0"/>
                    </a:lnTo>
                    <a:close/>
                    <a:moveTo>
                      <a:pt x="122238" y="155575"/>
                    </a:moveTo>
                    <a:lnTo>
                      <a:pt x="55563" y="155575"/>
                    </a:lnTo>
                    <a:cubicBezTo>
                      <a:pt x="49426" y="155575"/>
                      <a:pt x="44451" y="160550"/>
                      <a:pt x="44451" y="166688"/>
                    </a:cubicBezTo>
                    <a:cubicBezTo>
                      <a:pt x="44451" y="172825"/>
                      <a:pt x="49426" y="177800"/>
                      <a:pt x="55563" y="177800"/>
                    </a:cubicBezTo>
                    <a:lnTo>
                      <a:pt x="122238" y="177800"/>
                    </a:lnTo>
                    <a:cubicBezTo>
                      <a:pt x="128376" y="177800"/>
                      <a:pt x="133351" y="172825"/>
                      <a:pt x="133351" y="166688"/>
                    </a:cubicBezTo>
                    <a:cubicBezTo>
                      <a:pt x="133351" y="160550"/>
                      <a:pt x="128376" y="155575"/>
                      <a:pt x="122238" y="155575"/>
                    </a:cubicBezTo>
                    <a:moveTo>
                      <a:pt x="122238" y="111125"/>
                    </a:moveTo>
                    <a:lnTo>
                      <a:pt x="55563" y="111125"/>
                    </a:lnTo>
                    <a:cubicBezTo>
                      <a:pt x="49426" y="111125"/>
                      <a:pt x="44451" y="116100"/>
                      <a:pt x="44451" y="122237"/>
                    </a:cubicBezTo>
                    <a:cubicBezTo>
                      <a:pt x="44451" y="128375"/>
                      <a:pt x="49426" y="133350"/>
                      <a:pt x="55563" y="133350"/>
                    </a:cubicBezTo>
                    <a:lnTo>
                      <a:pt x="122238" y="133350"/>
                    </a:lnTo>
                    <a:cubicBezTo>
                      <a:pt x="128376" y="133350"/>
                      <a:pt x="133351" y="128375"/>
                      <a:pt x="133351" y="122237"/>
                    </a:cubicBezTo>
                    <a:cubicBezTo>
                      <a:pt x="133351" y="116100"/>
                      <a:pt x="128376" y="111125"/>
                      <a:pt x="122238" y="111125"/>
                    </a:cubicBezTo>
                    <a:moveTo>
                      <a:pt x="66676" y="66675"/>
                    </a:moveTo>
                    <a:lnTo>
                      <a:pt x="55563" y="66675"/>
                    </a:lnTo>
                    <a:cubicBezTo>
                      <a:pt x="49426" y="66675"/>
                      <a:pt x="44451" y="71650"/>
                      <a:pt x="44451" y="77787"/>
                    </a:cubicBezTo>
                    <a:cubicBezTo>
                      <a:pt x="44451" y="83925"/>
                      <a:pt x="49426" y="88900"/>
                      <a:pt x="55563" y="88900"/>
                    </a:cubicBezTo>
                    <a:lnTo>
                      <a:pt x="66676" y="88900"/>
                    </a:lnTo>
                    <a:cubicBezTo>
                      <a:pt x="72813" y="88900"/>
                      <a:pt x="77788" y="83925"/>
                      <a:pt x="77788" y="77787"/>
                    </a:cubicBezTo>
                    <a:cubicBezTo>
                      <a:pt x="77788" y="71650"/>
                      <a:pt x="72813" y="66675"/>
                      <a:pt x="66676" y="66675"/>
                    </a:cubicBezTo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976301" y="1252526"/>
                <a:ext cx="44461" cy="44461"/>
              </a:xfrm>
              <a:custGeom>
                <a:avLst/>
                <a:gdLst/>
                <a:ahLst/>
                <a:cxnLst/>
                <a:rect l="l" t="t" r="r" b="b"/>
                <a:pathLst>
                  <a:path w="44461" h="44461">
                    <a:moveTo>
                      <a:pt x="44461" y="44461"/>
                    </a:moveTo>
                    <a:lnTo>
                      <a:pt x="11" y="4446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173480" y="1263968"/>
              <a:ext cx="369864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训练数据示例（Question-Answer 对）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09625" y="1619250"/>
              <a:ext cx="4857750" cy="571500"/>
            </a:xfrm>
            <a:prstGeom prst="roundRect">
              <a:avLst>
                <a:gd name="adj" fmla="val 13333"/>
              </a:avLst>
            </a:prstGeom>
            <a:solidFill>
              <a:srgbClr val="F0EBE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0118" y="1752124"/>
              <a:ext cx="115363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Q: 什么是 RAG？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0118" y="1971199"/>
              <a:ext cx="322161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A: RAG 是检索增强生成，让 AI 先查资料再回答...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09625" y="2333625"/>
              <a:ext cx="4857750" cy="571500"/>
            </a:xfrm>
            <a:prstGeom prst="roundRect">
              <a:avLst>
                <a:gd name="adj" fmla="val 13333"/>
              </a:avLst>
            </a:prstGeom>
            <a:solidFill>
              <a:srgbClr val="F0EBE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40118" y="2466499"/>
              <a:ext cx="252172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Q: Fine-tuning 和 RAG 有什么区别？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0118" y="2685574"/>
              <a:ext cx="313617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A: Fine-tuning 像上课学习，RAG 像开卷考试...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809625" y="3048000"/>
              <a:ext cx="4857750" cy="571500"/>
            </a:xfrm>
            <a:prstGeom prst="roundRect">
              <a:avLst>
                <a:gd name="adj" fmla="val 13333"/>
              </a:avLst>
            </a:prstGeom>
            <a:solidFill>
              <a:srgbClr val="F0EBE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40118" y="3180874"/>
              <a:ext cx="218531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Q: 什么场景适合 Fine-tuning？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0118" y="3399949"/>
              <a:ext cx="34494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A: 需要学习行业术语、表达风格或特定任务能力时...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013680" y="3839528"/>
              <a:ext cx="244963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i="1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... 数千到数万条高质量 QA 对 ...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09625" y="4095750"/>
              <a:ext cx="4857750" cy="285750"/>
            </a:xfrm>
            <a:prstGeom prst="roundRect">
              <a:avLst>
                <a:gd name="adj" fmla="val 20000"/>
              </a:avLst>
            </a:prstGeom>
            <a:solidFill>
              <a:srgbClr val="E8A87C">
                <a:alpha val="10000"/>
              </a:srgbClr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542070" y="4190524"/>
              <a:ext cx="139286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数据质量 &gt; 数据数量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286500" y="1000125"/>
            <a:ext cx="5334000" cy="3619500"/>
            <a:chOff x="6286500" y="1000125"/>
            <a:chExt cx="5334000" cy="3619500"/>
          </a:xfrm>
        </p:grpSpPr>
        <p:sp>
          <p:nvSpPr>
            <p:cNvPr id="26" name="Rectangle 26"/>
            <p:cNvSpPr/>
            <p:nvPr/>
          </p:nvSpPr>
          <p:spPr>
            <a:xfrm>
              <a:off x="6286500" y="1000125"/>
              <a:ext cx="5334000" cy="3619500"/>
            </a:xfrm>
            <a:prstGeom prst="roundRect">
              <a:avLst>
                <a:gd name="adj" fmla="val 4211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286500" y="1000125"/>
              <a:ext cx="5334000" cy="57150"/>
            </a:xfrm>
            <a:prstGeom prst="roundRect">
              <a:avLst>
                <a:gd name="adj" fmla="val 50000"/>
              </a:avLst>
            </a:prstGeom>
            <a:solidFill>
              <a:srgbClr val="8B6F47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6546537" y="1241425"/>
              <a:ext cx="222876" cy="222250"/>
              <a:chOff x="6546537" y="1241425"/>
              <a:chExt cx="222876" cy="22225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6546537" y="1341438"/>
                <a:ext cx="33964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33964" h="22225">
                    <a:moveTo>
                      <a:pt x="22538" y="0"/>
                    </a:moveTo>
                    <a:cubicBezTo>
                      <a:pt x="28418" y="7"/>
                      <a:pt x="33275" y="4592"/>
                      <a:pt x="33619" y="10461"/>
                    </a:cubicBezTo>
                    <a:cubicBezTo>
                      <a:pt x="33964" y="16331"/>
                      <a:pt x="29677" y="21453"/>
                      <a:pt x="23838" y="22147"/>
                    </a:cubicBezTo>
                    <a:lnTo>
                      <a:pt x="22538" y="22225"/>
                    </a:lnTo>
                    <a:lnTo>
                      <a:pt x="11426" y="22225"/>
                    </a:lnTo>
                    <a:cubicBezTo>
                      <a:pt x="5546" y="22218"/>
                      <a:pt x="689" y="17633"/>
                      <a:pt x="345" y="11764"/>
                    </a:cubicBezTo>
                    <a:cubicBezTo>
                      <a:pt x="0" y="5894"/>
                      <a:pt x="4287" y="772"/>
                      <a:pt x="10125" y="78"/>
                    </a:cubicBezTo>
                    <a:lnTo>
                      <a:pt x="11426" y="0"/>
                    </a:lnTo>
                    <a:lnTo>
                      <a:pt x="2253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6646862" y="1241425"/>
                <a:ext cx="22225" cy="33651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33651">
                    <a:moveTo>
                      <a:pt x="11112" y="0"/>
                    </a:moveTo>
                    <a:cubicBezTo>
                      <a:pt x="16746" y="1"/>
                      <a:pt x="21488" y="4217"/>
                      <a:pt x="22147" y="9812"/>
                    </a:cubicBezTo>
                    <a:lnTo>
                      <a:pt x="22225" y="11112"/>
                    </a:lnTo>
                    <a:lnTo>
                      <a:pt x="22225" y="22225"/>
                    </a:lnTo>
                    <a:cubicBezTo>
                      <a:pt x="22218" y="28105"/>
                      <a:pt x="17633" y="32962"/>
                      <a:pt x="11764" y="33306"/>
                    </a:cubicBezTo>
                    <a:cubicBezTo>
                      <a:pt x="5894" y="33651"/>
                      <a:pt x="772" y="29364"/>
                      <a:pt x="78" y="23525"/>
                    </a:cubicBezTo>
                    <a:lnTo>
                      <a:pt x="0" y="22225"/>
                    </a:lnTo>
                    <a:lnTo>
                      <a:pt x="0" y="11112"/>
                    </a:lnTo>
                    <a:cubicBezTo>
                      <a:pt x="0" y="4975"/>
                      <a:pt x="4975" y="0"/>
                      <a:pt x="11112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735449" y="1341438"/>
                <a:ext cx="33964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33964" h="22225">
                    <a:moveTo>
                      <a:pt x="22538" y="0"/>
                    </a:moveTo>
                    <a:cubicBezTo>
                      <a:pt x="28418" y="7"/>
                      <a:pt x="33275" y="4592"/>
                      <a:pt x="33619" y="10461"/>
                    </a:cubicBezTo>
                    <a:cubicBezTo>
                      <a:pt x="33964" y="16331"/>
                      <a:pt x="29677" y="21453"/>
                      <a:pt x="23838" y="22147"/>
                    </a:cubicBezTo>
                    <a:lnTo>
                      <a:pt x="22538" y="22225"/>
                    </a:lnTo>
                    <a:lnTo>
                      <a:pt x="11426" y="22225"/>
                    </a:lnTo>
                    <a:cubicBezTo>
                      <a:pt x="5546" y="22218"/>
                      <a:pt x="689" y="17633"/>
                      <a:pt x="345" y="11764"/>
                    </a:cubicBezTo>
                    <a:cubicBezTo>
                      <a:pt x="0" y="5894"/>
                      <a:pt x="4287" y="772"/>
                      <a:pt x="10125" y="78"/>
                    </a:cubicBezTo>
                    <a:lnTo>
                      <a:pt x="11426" y="0"/>
                    </a:lnTo>
                    <a:lnTo>
                      <a:pt x="2253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574660" y="1269220"/>
                <a:ext cx="32169" cy="32352"/>
              </a:xfrm>
              <a:custGeom>
                <a:avLst/>
                <a:gdLst/>
                <a:ahLst/>
                <a:cxnLst/>
                <a:rect l="l" t="t" r="r" b="b"/>
                <a:pathLst>
                  <a:path w="32169" h="32352">
                    <a:moveTo>
                      <a:pt x="4338" y="4354"/>
                    </a:moveTo>
                    <a:cubicBezTo>
                      <a:pt x="8297" y="395"/>
                      <a:pt x="14583" y="0"/>
                      <a:pt x="19007" y="3432"/>
                    </a:cubicBezTo>
                    <a:lnTo>
                      <a:pt x="20051" y="4354"/>
                    </a:lnTo>
                    <a:lnTo>
                      <a:pt x="27830" y="12133"/>
                    </a:lnTo>
                    <a:cubicBezTo>
                      <a:pt x="31966" y="16283"/>
                      <a:pt x="32169" y="22932"/>
                      <a:pt x="28294" y="27327"/>
                    </a:cubicBezTo>
                    <a:cubicBezTo>
                      <a:pt x="24419" y="31721"/>
                      <a:pt x="17797" y="32352"/>
                      <a:pt x="13161" y="28768"/>
                    </a:cubicBezTo>
                    <a:lnTo>
                      <a:pt x="12117" y="27846"/>
                    </a:lnTo>
                    <a:lnTo>
                      <a:pt x="4338" y="20067"/>
                    </a:lnTo>
                    <a:cubicBezTo>
                      <a:pt x="0" y="15728"/>
                      <a:pt x="0" y="8693"/>
                      <a:pt x="4338" y="4354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708953" y="1269234"/>
                <a:ext cx="32505" cy="32170"/>
              </a:xfrm>
              <a:custGeom>
                <a:avLst/>
                <a:gdLst/>
                <a:ahLst/>
                <a:cxnLst/>
                <a:rect l="l" t="t" r="r" b="b"/>
                <a:pathLst>
                  <a:path w="32505" h="32170">
                    <a:moveTo>
                      <a:pt x="12285" y="4339"/>
                    </a:moveTo>
                    <a:cubicBezTo>
                      <a:pt x="16436" y="203"/>
                      <a:pt x="23084" y="0"/>
                      <a:pt x="27479" y="3875"/>
                    </a:cubicBezTo>
                    <a:cubicBezTo>
                      <a:pt x="31874" y="7751"/>
                      <a:pt x="32505" y="14372"/>
                      <a:pt x="28921" y="19008"/>
                    </a:cubicBezTo>
                    <a:lnTo>
                      <a:pt x="27998" y="20052"/>
                    </a:lnTo>
                    <a:lnTo>
                      <a:pt x="20220" y="27831"/>
                    </a:lnTo>
                    <a:cubicBezTo>
                      <a:pt x="16069" y="31967"/>
                      <a:pt x="9421" y="32170"/>
                      <a:pt x="5026" y="28295"/>
                    </a:cubicBezTo>
                    <a:cubicBezTo>
                      <a:pt x="631" y="24420"/>
                      <a:pt x="0" y="17798"/>
                      <a:pt x="3584" y="13163"/>
                    </a:cubicBezTo>
                    <a:lnTo>
                      <a:pt x="4507" y="12118"/>
                    </a:lnTo>
                    <a:lnTo>
                      <a:pt x="12285" y="4339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6624638" y="141922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55563" y="0"/>
                    </a:moveTo>
                    <a:cubicBezTo>
                      <a:pt x="61700" y="0"/>
                      <a:pt x="66675" y="4975"/>
                      <a:pt x="66675" y="11112"/>
                    </a:cubicBezTo>
                    <a:cubicBezTo>
                      <a:pt x="66675" y="29524"/>
                      <a:pt x="51749" y="44450"/>
                      <a:pt x="33338" y="44450"/>
                    </a:cubicBezTo>
                    <a:cubicBezTo>
                      <a:pt x="14926" y="44450"/>
                      <a:pt x="0" y="29524"/>
                      <a:pt x="0" y="11112"/>
                    </a:cubicBezTo>
                    <a:cubicBezTo>
                      <a:pt x="1" y="5479"/>
                      <a:pt x="4217" y="737"/>
                      <a:pt x="9812" y="78"/>
                    </a:cubicBezTo>
                    <a:lnTo>
                      <a:pt x="11112" y="0"/>
                    </a:lnTo>
                    <a:lnTo>
                      <a:pt x="55563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585646" y="1285875"/>
                <a:ext cx="144658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44658" h="122238">
                    <a:moveTo>
                      <a:pt x="72329" y="0"/>
                    </a:moveTo>
                    <a:cubicBezTo>
                      <a:pt x="101028" y="0"/>
                      <a:pt x="126507" y="18364"/>
                      <a:pt x="135582" y="45591"/>
                    </a:cubicBezTo>
                    <a:cubicBezTo>
                      <a:pt x="144658" y="72817"/>
                      <a:pt x="135293" y="102796"/>
                      <a:pt x="112334" y="120015"/>
                    </a:cubicBezTo>
                    <a:cubicBezTo>
                      <a:pt x="110802" y="121165"/>
                      <a:pt x="108999" y="121900"/>
                      <a:pt x="107100" y="122149"/>
                    </a:cubicBezTo>
                    <a:lnTo>
                      <a:pt x="105666" y="122238"/>
                    </a:lnTo>
                    <a:lnTo>
                      <a:pt x="38991" y="122238"/>
                    </a:lnTo>
                    <a:cubicBezTo>
                      <a:pt x="36587" y="122238"/>
                      <a:pt x="34247" y="121458"/>
                      <a:pt x="32324" y="120015"/>
                    </a:cubicBezTo>
                    <a:cubicBezTo>
                      <a:pt x="9365" y="102796"/>
                      <a:pt x="0" y="72817"/>
                      <a:pt x="9075" y="45591"/>
                    </a:cubicBezTo>
                    <a:cubicBezTo>
                      <a:pt x="18151" y="18364"/>
                      <a:pt x="43630" y="0"/>
                      <a:pt x="72329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6888480" y="126396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微调过程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510338" y="1640681"/>
              <a:ext cx="15812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训练前（基础模型）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524625" y="1885950"/>
              <a:ext cx="4857750" cy="428625"/>
            </a:xfrm>
            <a:prstGeom prst="roundRect">
              <a:avLst>
                <a:gd name="adj" fmla="val 17778"/>
              </a:avLst>
            </a:prstGeom>
            <a:solidFill>
              <a:srgbClr val="D4837F">
                <a:alpha val="8000"/>
              </a:srgbClr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655118" y="1942624"/>
              <a:ext cx="192578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问："项目里 SRE 负责什么？"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55118" y="2142649"/>
              <a:ext cx="18759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答：可能胡编或给出通用回答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408670" y="2362200"/>
              <a:ext cx="108966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↓ SFT 训练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510338" y="2736056"/>
              <a:ext cx="15812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训练后（领域专家）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524625" y="2981325"/>
              <a:ext cx="4857750" cy="428625"/>
            </a:xfrm>
            <a:prstGeom prst="roundRect">
              <a:avLst>
                <a:gd name="adj" fmla="val 17778"/>
              </a:avLst>
            </a:prstGeom>
            <a:solidFill>
              <a:srgbClr val="8FBC8F">
                <a:alpha val="8000"/>
              </a:srgbClr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655118" y="3037999"/>
              <a:ext cx="192578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问："项目里 SRE 负责什么？"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655118" y="3238024"/>
              <a:ext cx="288698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FBC8F"/>
                  </a:solidFill>
                  <a:latin typeface="Arial"/>
                  <a:ea typeface="Microsoft YaHei"/>
                  <a:cs typeface="Arial"/>
                </a:rPr>
                <a:t>答：用行业术语精确回答（知识"烧进"权重）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6524625" y="3619500"/>
              <a:ext cx="4857750" cy="9525"/>
            </a:xfrm>
            <a:custGeom>
              <a:avLst/>
              <a:gdLst/>
              <a:ahLst/>
              <a:cxnLst/>
              <a:rect l="l" t="t" r="r" b="b"/>
              <a:pathLst>
                <a:path w="4857750" h="9525">
                  <a:moveTo>
                    <a:pt x="0" y="0"/>
                  </a:moveTo>
                  <a:lnTo>
                    <a:pt x="4857750" y="0"/>
                  </a:lnTo>
                </a:path>
              </a:pathLst>
            </a:custGeom>
            <a:noFill/>
            <a:ln w="9525">
              <a:solidFill>
                <a:srgbClr val="EDE5D5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11290" y="3791902"/>
              <a:ext cx="151610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成本：需要 GPU 训练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511290" y="4030028"/>
              <a:ext cx="1429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更新知识 → 重新训练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511290" y="4268152"/>
              <a:ext cx="24803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无法引用来源（知识融合在权重中）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71500" y="4857750"/>
            <a:ext cx="11049000" cy="642938"/>
            <a:chOff x="571500" y="4857750"/>
            <a:chExt cx="11049000" cy="642938"/>
          </a:xfrm>
        </p:grpSpPr>
        <p:sp>
          <p:nvSpPr>
            <p:cNvPr id="51" name="Rectangle 51"/>
            <p:cNvSpPr/>
            <p:nvPr/>
          </p:nvSpPr>
          <p:spPr>
            <a:xfrm>
              <a:off x="571500" y="4857750"/>
              <a:ext cx="11049000" cy="619125"/>
            </a:xfrm>
            <a:prstGeom prst="roundRect">
              <a:avLst>
                <a:gd name="adj" fmla="val 18462"/>
              </a:avLst>
            </a:prstGeom>
            <a:solidFill>
              <a:srgbClr val="8B6F47">
                <a:alpha val="6000"/>
              </a:srgbClr>
            </a:solidFill>
            <a:ln w="9525">
              <a:solidFill>
                <a:srgbClr val="8B6F47"/>
              </a:solidFill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879162" y="5022850"/>
              <a:ext cx="222876" cy="222250"/>
              <a:chOff x="879162" y="5022850"/>
              <a:chExt cx="222876" cy="22225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879162" y="5122862"/>
                <a:ext cx="33964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33964" h="22225">
                    <a:moveTo>
                      <a:pt x="22538" y="0"/>
                    </a:moveTo>
                    <a:cubicBezTo>
                      <a:pt x="28418" y="7"/>
                      <a:pt x="33275" y="4592"/>
                      <a:pt x="33619" y="10461"/>
                    </a:cubicBezTo>
                    <a:cubicBezTo>
                      <a:pt x="33964" y="16331"/>
                      <a:pt x="29677" y="21453"/>
                      <a:pt x="23838" y="22147"/>
                    </a:cubicBezTo>
                    <a:lnTo>
                      <a:pt x="22538" y="22225"/>
                    </a:lnTo>
                    <a:lnTo>
                      <a:pt x="11426" y="22225"/>
                    </a:lnTo>
                    <a:cubicBezTo>
                      <a:pt x="5546" y="22218"/>
                      <a:pt x="689" y="17633"/>
                      <a:pt x="345" y="11764"/>
                    </a:cubicBezTo>
                    <a:cubicBezTo>
                      <a:pt x="0" y="5894"/>
                      <a:pt x="4287" y="772"/>
                      <a:pt x="10125" y="78"/>
                    </a:cubicBezTo>
                    <a:lnTo>
                      <a:pt x="11426" y="0"/>
                    </a:lnTo>
                    <a:lnTo>
                      <a:pt x="2253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979488" y="5022850"/>
                <a:ext cx="22225" cy="33651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33651">
                    <a:moveTo>
                      <a:pt x="11113" y="0"/>
                    </a:moveTo>
                    <a:cubicBezTo>
                      <a:pt x="16746" y="1"/>
                      <a:pt x="21488" y="4217"/>
                      <a:pt x="22147" y="9812"/>
                    </a:cubicBezTo>
                    <a:lnTo>
                      <a:pt x="22225" y="11112"/>
                    </a:lnTo>
                    <a:lnTo>
                      <a:pt x="22225" y="22225"/>
                    </a:lnTo>
                    <a:cubicBezTo>
                      <a:pt x="22218" y="28105"/>
                      <a:pt x="17633" y="32962"/>
                      <a:pt x="11764" y="33306"/>
                    </a:cubicBezTo>
                    <a:cubicBezTo>
                      <a:pt x="5894" y="33651"/>
                      <a:pt x="772" y="29364"/>
                      <a:pt x="78" y="23525"/>
                    </a:cubicBezTo>
                    <a:lnTo>
                      <a:pt x="0" y="22225"/>
                    </a:lnTo>
                    <a:lnTo>
                      <a:pt x="0" y="11112"/>
                    </a:lnTo>
                    <a:cubicBezTo>
                      <a:pt x="0" y="4975"/>
                      <a:pt x="4975" y="0"/>
                      <a:pt x="11113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1068074" y="5122862"/>
                <a:ext cx="33964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33964" h="22225">
                    <a:moveTo>
                      <a:pt x="22538" y="0"/>
                    </a:moveTo>
                    <a:cubicBezTo>
                      <a:pt x="28418" y="7"/>
                      <a:pt x="33275" y="4592"/>
                      <a:pt x="33619" y="10461"/>
                    </a:cubicBezTo>
                    <a:cubicBezTo>
                      <a:pt x="33964" y="16331"/>
                      <a:pt x="29677" y="21453"/>
                      <a:pt x="23838" y="22147"/>
                    </a:cubicBezTo>
                    <a:lnTo>
                      <a:pt x="22538" y="22225"/>
                    </a:lnTo>
                    <a:lnTo>
                      <a:pt x="11426" y="22225"/>
                    </a:lnTo>
                    <a:cubicBezTo>
                      <a:pt x="5546" y="22218"/>
                      <a:pt x="689" y="17633"/>
                      <a:pt x="345" y="11764"/>
                    </a:cubicBezTo>
                    <a:cubicBezTo>
                      <a:pt x="0" y="5894"/>
                      <a:pt x="4287" y="772"/>
                      <a:pt x="10125" y="78"/>
                    </a:cubicBezTo>
                    <a:lnTo>
                      <a:pt x="11426" y="0"/>
                    </a:lnTo>
                    <a:lnTo>
                      <a:pt x="2253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907285" y="5050645"/>
                <a:ext cx="32169" cy="32352"/>
              </a:xfrm>
              <a:custGeom>
                <a:avLst/>
                <a:gdLst/>
                <a:ahLst/>
                <a:cxnLst/>
                <a:rect l="l" t="t" r="r" b="b"/>
                <a:pathLst>
                  <a:path w="32169" h="32352">
                    <a:moveTo>
                      <a:pt x="4338" y="4354"/>
                    </a:moveTo>
                    <a:cubicBezTo>
                      <a:pt x="8297" y="395"/>
                      <a:pt x="14583" y="0"/>
                      <a:pt x="19007" y="3432"/>
                    </a:cubicBezTo>
                    <a:lnTo>
                      <a:pt x="20051" y="4354"/>
                    </a:lnTo>
                    <a:lnTo>
                      <a:pt x="27830" y="12133"/>
                    </a:lnTo>
                    <a:cubicBezTo>
                      <a:pt x="31966" y="16283"/>
                      <a:pt x="32169" y="22932"/>
                      <a:pt x="28294" y="27327"/>
                    </a:cubicBezTo>
                    <a:cubicBezTo>
                      <a:pt x="24419" y="31721"/>
                      <a:pt x="17797" y="32352"/>
                      <a:pt x="13161" y="28768"/>
                    </a:cubicBezTo>
                    <a:lnTo>
                      <a:pt x="12117" y="27846"/>
                    </a:lnTo>
                    <a:lnTo>
                      <a:pt x="4338" y="20067"/>
                    </a:lnTo>
                    <a:cubicBezTo>
                      <a:pt x="0" y="15728"/>
                      <a:pt x="0" y="8693"/>
                      <a:pt x="4338" y="4354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1041578" y="5050659"/>
                <a:ext cx="32505" cy="32170"/>
              </a:xfrm>
              <a:custGeom>
                <a:avLst/>
                <a:gdLst/>
                <a:ahLst/>
                <a:cxnLst/>
                <a:rect l="l" t="t" r="r" b="b"/>
                <a:pathLst>
                  <a:path w="32505" h="32170">
                    <a:moveTo>
                      <a:pt x="12285" y="4339"/>
                    </a:moveTo>
                    <a:cubicBezTo>
                      <a:pt x="16436" y="203"/>
                      <a:pt x="23084" y="0"/>
                      <a:pt x="27479" y="3875"/>
                    </a:cubicBezTo>
                    <a:cubicBezTo>
                      <a:pt x="31874" y="7751"/>
                      <a:pt x="32505" y="14372"/>
                      <a:pt x="28921" y="19008"/>
                    </a:cubicBezTo>
                    <a:lnTo>
                      <a:pt x="27998" y="20052"/>
                    </a:lnTo>
                    <a:lnTo>
                      <a:pt x="20220" y="27831"/>
                    </a:lnTo>
                    <a:cubicBezTo>
                      <a:pt x="16069" y="31967"/>
                      <a:pt x="9421" y="32170"/>
                      <a:pt x="5026" y="28295"/>
                    </a:cubicBezTo>
                    <a:cubicBezTo>
                      <a:pt x="631" y="24420"/>
                      <a:pt x="0" y="17798"/>
                      <a:pt x="3584" y="13163"/>
                    </a:cubicBezTo>
                    <a:lnTo>
                      <a:pt x="4507" y="12118"/>
                    </a:lnTo>
                    <a:lnTo>
                      <a:pt x="12285" y="4339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957262" y="520065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55563" y="0"/>
                    </a:moveTo>
                    <a:cubicBezTo>
                      <a:pt x="61700" y="0"/>
                      <a:pt x="66675" y="4975"/>
                      <a:pt x="66675" y="11112"/>
                    </a:cubicBezTo>
                    <a:cubicBezTo>
                      <a:pt x="66675" y="29524"/>
                      <a:pt x="51749" y="44450"/>
                      <a:pt x="33338" y="44450"/>
                    </a:cubicBezTo>
                    <a:cubicBezTo>
                      <a:pt x="14926" y="44450"/>
                      <a:pt x="0" y="29524"/>
                      <a:pt x="0" y="11112"/>
                    </a:cubicBezTo>
                    <a:cubicBezTo>
                      <a:pt x="1" y="5479"/>
                      <a:pt x="4217" y="737"/>
                      <a:pt x="9812" y="78"/>
                    </a:cubicBezTo>
                    <a:lnTo>
                      <a:pt x="11113" y="0"/>
                    </a:lnTo>
                    <a:lnTo>
                      <a:pt x="55563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918271" y="5067300"/>
                <a:ext cx="144658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44658" h="122238">
                    <a:moveTo>
                      <a:pt x="72329" y="0"/>
                    </a:moveTo>
                    <a:cubicBezTo>
                      <a:pt x="101028" y="0"/>
                      <a:pt x="126507" y="18364"/>
                      <a:pt x="135582" y="45591"/>
                    </a:cubicBezTo>
                    <a:cubicBezTo>
                      <a:pt x="144658" y="72817"/>
                      <a:pt x="135293" y="102796"/>
                      <a:pt x="112334" y="120015"/>
                    </a:cubicBezTo>
                    <a:cubicBezTo>
                      <a:pt x="110802" y="121165"/>
                      <a:pt x="108999" y="121900"/>
                      <a:pt x="107100" y="122149"/>
                    </a:cubicBezTo>
                    <a:lnTo>
                      <a:pt x="105666" y="122238"/>
                    </a:lnTo>
                    <a:lnTo>
                      <a:pt x="38991" y="122238"/>
                    </a:lnTo>
                    <a:cubicBezTo>
                      <a:pt x="36587" y="122238"/>
                      <a:pt x="34247" y="121458"/>
                      <a:pt x="32324" y="120015"/>
                    </a:cubicBezTo>
                    <a:cubicBezTo>
                      <a:pt x="9365" y="102796"/>
                      <a:pt x="0" y="72817"/>
                      <a:pt x="9075" y="45591"/>
                    </a:cubicBezTo>
                    <a:cubicBezTo>
                      <a:pt x="18151" y="18364"/>
                      <a:pt x="43630" y="0"/>
                      <a:pt x="72329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1223010" y="5061585"/>
              <a:ext cx="24319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实际项目经常 SFT + RAG 结合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224915" y="5287328"/>
              <a:ext cx="54246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SFT 学会行业术语和表达风格 + RAG 提供实时准确的事实信息 = 既懂行又不编造</a:t>
              </a:r>
            </a:p>
          </p:txBody>
        </p:sp>
      </p:grpSp>
      <p:sp>
        <p:nvSpPr>
          <p:cNvPr id="63" name="TextBox 63"/>
          <p:cNvSpPr txBox="1"/>
          <p:nvPr/>
        </p:nvSpPr>
        <p:spPr>
          <a:xfrm>
            <a:off x="11654980" y="6522720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29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50" grpId="0"/>
      <p:bldP spid="6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8B6F47"/>
              </a:gs>
              <a:gs pos="100000">
                <a:srgbClr val="6B5535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572500" y="3810000"/>
            <a:ext cx="3810000" cy="3810000"/>
          </a:xfrm>
          <a:prstGeom prst="ellipse">
            <a:avLst/>
          </a:prstGeom>
          <a:solidFill>
            <a:srgbClr val="FAF7F2">
              <a:alpha val="5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571500" y="190500"/>
            <a:ext cx="2286000" cy="2286000"/>
          </a:xfrm>
          <a:prstGeom prst="ellipse">
            <a:avLst/>
          </a:prstGeom>
          <a:solidFill>
            <a:srgbClr val="FAF7F2">
              <a:alpha val="4000"/>
            </a:srgbClr>
          </a:solidFill>
          <a:ln>
            <a:noFill/>
          </a:ln>
        </p:spPr>
      </p:sp>
      <p:grpSp>
        <p:nvGrpSpPr>
          <p:cNvPr id="13" name="Group 13"/>
          <p:cNvGrpSpPr/>
          <p:nvPr/>
        </p:nvGrpSpPr>
        <p:grpSpPr>
          <a:xfrm>
            <a:off x="3565970" y="1504950"/>
            <a:ext cx="5060061" cy="3089646"/>
            <a:chOff x="3565970" y="1504950"/>
            <a:chExt cx="5060061" cy="3089646"/>
          </a:xfrm>
        </p:grpSpPr>
        <p:sp>
          <p:nvSpPr>
            <p:cNvPr id="5" name="TextBox 5"/>
            <p:cNvSpPr txBox="1"/>
            <p:nvPr/>
          </p:nvSpPr>
          <p:spPr>
            <a:xfrm>
              <a:off x="5222605" y="1504950"/>
              <a:ext cx="1746790" cy="1828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0" b="1" dirty="0">
                  <a:solidFill>
                    <a:srgbClr val="FAF7F2">
                      <a:alphaMod val="15000"/>
                    </a:srgbClr>
                  </a:solidFill>
                  <a:latin typeface="Georgia"/>
                  <a:ea typeface="Microsoft YaHei"/>
                  <a:cs typeface="Georgia"/>
                </a:rPr>
                <a:t>08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3565970" y="2849880"/>
              <a:ext cx="5060061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FAF7F2"/>
                  </a:solidFill>
                  <a:latin typeface="Georgia"/>
                  <a:ea typeface="Microsoft YaHei"/>
                  <a:cs typeface="Georgia"/>
                </a:rPr>
                <a:t>MCP — 万能接口标准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4953000" y="3476625"/>
              <a:ext cx="2286000" cy="381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4839176" y="3838575"/>
              <a:ext cx="251364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AF7F2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Model Context Protocol</a:t>
              </a:r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5853108" y="4329092"/>
              <a:ext cx="265537" cy="265504"/>
              <a:chOff x="5853108" y="4329092"/>
              <a:chExt cx="265537" cy="265504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5923533" y="4399159"/>
                <a:ext cx="116709" cy="116709"/>
              </a:xfrm>
              <a:custGeom>
                <a:avLst/>
                <a:gdLst/>
                <a:ahLst/>
                <a:cxnLst/>
                <a:rect l="l" t="t" r="r" b="b"/>
                <a:pathLst>
                  <a:path w="116709" h="116709">
                    <a:moveTo>
                      <a:pt x="111131" y="5578"/>
                    </a:moveTo>
                    <a:cubicBezTo>
                      <a:pt x="116709" y="11157"/>
                      <a:pt x="116709" y="20201"/>
                      <a:pt x="111131" y="25780"/>
                    </a:cubicBezTo>
                    <a:lnTo>
                      <a:pt x="25406" y="111505"/>
                    </a:lnTo>
                    <a:cubicBezTo>
                      <a:pt x="21819" y="115219"/>
                      <a:pt x="16507" y="116709"/>
                      <a:pt x="11512" y="115401"/>
                    </a:cubicBezTo>
                    <a:cubicBezTo>
                      <a:pt x="6516" y="114094"/>
                      <a:pt x="2615" y="110193"/>
                      <a:pt x="1308" y="105197"/>
                    </a:cubicBezTo>
                    <a:cubicBezTo>
                      <a:pt x="0" y="100202"/>
                      <a:pt x="1490" y="94890"/>
                      <a:pt x="5204" y="91303"/>
                    </a:cubicBezTo>
                    <a:lnTo>
                      <a:pt x="90929" y="5578"/>
                    </a:lnTo>
                    <a:cubicBezTo>
                      <a:pt x="96508" y="0"/>
                      <a:pt x="105552" y="0"/>
                      <a:pt x="111131" y="5578"/>
                    </a:cubicBezTo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5952235" y="4329092"/>
                <a:ext cx="166410" cy="158858"/>
              </a:xfrm>
              <a:custGeom>
                <a:avLst/>
                <a:gdLst/>
                <a:ahLst/>
                <a:cxnLst/>
                <a:rect l="l" t="t" r="r" b="b"/>
                <a:pathLst>
                  <a:path w="166410" h="158858">
                    <a:moveTo>
                      <a:pt x="132935" y="25123"/>
                    </a:moveTo>
                    <a:cubicBezTo>
                      <a:pt x="166410" y="58613"/>
                      <a:pt x="166396" y="112891"/>
                      <a:pt x="132192" y="147053"/>
                    </a:cubicBezTo>
                    <a:lnTo>
                      <a:pt x="124562" y="153682"/>
                    </a:lnTo>
                    <a:cubicBezTo>
                      <a:pt x="118605" y="158858"/>
                      <a:pt x="109579" y="158225"/>
                      <a:pt x="104403" y="152268"/>
                    </a:cubicBezTo>
                    <a:cubicBezTo>
                      <a:pt x="99226" y="146310"/>
                      <a:pt x="99860" y="137284"/>
                      <a:pt x="105817" y="132108"/>
                    </a:cubicBezTo>
                    <a:lnTo>
                      <a:pt x="112718" y="126164"/>
                    </a:lnTo>
                    <a:cubicBezTo>
                      <a:pt x="123436" y="115447"/>
                      <a:pt x="129458" y="100910"/>
                      <a:pt x="129458" y="85752"/>
                    </a:cubicBezTo>
                    <a:cubicBezTo>
                      <a:pt x="129458" y="70595"/>
                      <a:pt x="123436" y="56058"/>
                      <a:pt x="112718" y="45340"/>
                    </a:cubicBezTo>
                    <a:cubicBezTo>
                      <a:pt x="90401" y="23009"/>
                      <a:pt x="54211" y="23009"/>
                      <a:pt x="32608" y="44569"/>
                    </a:cubicBezTo>
                    <a:lnTo>
                      <a:pt x="25993" y="52227"/>
                    </a:lnTo>
                    <a:cubicBezTo>
                      <a:pt x="22655" y="56091"/>
                      <a:pt x="17508" y="57880"/>
                      <a:pt x="12493" y="56921"/>
                    </a:cubicBezTo>
                    <a:cubicBezTo>
                      <a:pt x="7477" y="55962"/>
                      <a:pt x="3354" y="52400"/>
                      <a:pt x="1677" y="47577"/>
                    </a:cubicBezTo>
                    <a:cubicBezTo>
                      <a:pt x="0" y="42754"/>
                      <a:pt x="1023" y="37403"/>
                      <a:pt x="4362" y="33539"/>
                    </a:cubicBezTo>
                    <a:lnTo>
                      <a:pt x="11691" y="25109"/>
                    </a:lnTo>
                    <a:cubicBezTo>
                      <a:pt x="27770" y="9031"/>
                      <a:pt x="49578" y="0"/>
                      <a:pt x="72316" y="3"/>
                    </a:cubicBezTo>
                    <a:cubicBezTo>
                      <a:pt x="95054" y="5"/>
                      <a:pt x="116860" y="9042"/>
                      <a:pt x="132935" y="25123"/>
                    </a:cubicBezTo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5853108" y="4427491"/>
                <a:ext cx="158029" cy="167105"/>
              </a:xfrm>
              <a:custGeom>
                <a:avLst/>
                <a:gdLst/>
                <a:ahLst/>
                <a:cxnLst/>
                <a:rect l="l" t="t" r="r" b="b"/>
                <a:pathLst>
                  <a:path w="158029" h="167105">
                    <a:moveTo>
                      <a:pt x="53583" y="6464"/>
                    </a:moveTo>
                    <a:cubicBezTo>
                      <a:pt x="58800" y="12379"/>
                      <a:pt x="58237" y="21402"/>
                      <a:pt x="52326" y="26623"/>
                    </a:cubicBezTo>
                    <a:lnTo>
                      <a:pt x="45425" y="32696"/>
                    </a:lnTo>
                    <a:cubicBezTo>
                      <a:pt x="34636" y="43352"/>
                      <a:pt x="28563" y="57886"/>
                      <a:pt x="28563" y="73051"/>
                    </a:cubicBezTo>
                    <a:cubicBezTo>
                      <a:pt x="28563" y="88215"/>
                      <a:pt x="34636" y="102749"/>
                      <a:pt x="45425" y="113406"/>
                    </a:cubicBezTo>
                    <a:cubicBezTo>
                      <a:pt x="67835" y="135580"/>
                      <a:pt x="103845" y="135821"/>
                      <a:pt x="126549" y="113949"/>
                    </a:cubicBezTo>
                    <a:lnTo>
                      <a:pt x="131407" y="107405"/>
                    </a:lnTo>
                    <a:cubicBezTo>
                      <a:pt x="134454" y="103306"/>
                      <a:pt x="139457" y="101144"/>
                      <a:pt x="144530" y="101734"/>
                    </a:cubicBezTo>
                    <a:cubicBezTo>
                      <a:pt x="149604" y="102324"/>
                      <a:pt x="153977" y="105575"/>
                      <a:pt x="156003" y="110264"/>
                    </a:cubicBezTo>
                    <a:cubicBezTo>
                      <a:pt x="158029" y="114952"/>
                      <a:pt x="157400" y="120365"/>
                      <a:pt x="154353" y="124464"/>
                    </a:cubicBezTo>
                    <a:lnTo>
                      <a:pt x="148681" y="132094"/>
                    </a:lnTo>
                    <a:lnTo>
                      <a:pt x="147252" y="133722"/>
                    </a:lnTo>
                    <a:cubicBezTo>
                      <a:pt x="113469" y="167105"/>
                      <a:pt x="59119" y="167105"/>
                      <a:pt x="25337" y="133722"/>
                    </a:cubicBezTo>
                    <a:cubicBezTo>
                      <a:pt x="9123" y="117694"/>
                      <a:pt x="0" y="95842"/>
                      <a:pt x="5" y="73043"/>
                    </a:cubicBezTo>
                    <a:cubicBezTo>
                      <a:pt x="5" y="50255"/>
                      <a:pt x="9120" y="28409"/>
                      <a:pt x="25922" y="11836"/>
                    </a:cubicBezTo>
                    <a:lnTo>
                      <a:pt x="33409" y="5221"/>
                    </a:lnTo>
                    <a:cubicBezTo>
                      <a:pt x="39320" y="0"/>
                      <a:pt x="48344" y="556"/>
                      <a:pt x="53569" y="6464"/>
                    </a:cubicBezTo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</p:grpSp>
      </p:grpSp>
      <p:grpSp>
        <p:nvGrpSpPr>
          <p:cNvPr id="16" name="Group 16"/>
          <p:cNvGrpSpPr/>
          <p:nvPr/>
        </p:nvGrpSpPr>
        <p:grpSpPr>
          <a:xfrm>
            <a:off x="369570" y="6522720"/>
            <a:ext cx="11452859" cy="182880"/>
            <a:chOff x="369570" y="6522720"/>
            <a:chExt cx="11452859" cy="182880"/>
          </a:xfrm>
        </p:grpSpPr>
        <p:sp>
          <p:nvSpPr>
            <p:cNvPr id="14" name="TextBox 14"/>
            <p:cNvSpPr txBox="1"/>
            <p:nvPr/>
          </p:nvSpPr>
          <p:spPr>
            <a:xfrm>
              <a:off x="369570" y="6522720"/>
              <a:ext cx="14687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AI大家学 · 大模型技术篇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654980" y="6522720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2925" y="376238"/>
            <a:ext cx="11089957" cy="457200"/>
            <a:chOff x="542925" y="376238"/>
            <a:chExt cx="11089957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376238"/>
              <a:ext cx="2765739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MCP — N×M → N+M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753725" y="466249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万能接口标准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71500" y="1000125"/>
            <a:ext cx="5334000" cy="3143250"/>
            <a:chOff x="571500" y="1000125"/>
            <a:chExt cx="5334000" cy="3143250"/>
          </a:xfrm>
        </p:grpSpPr>
        <p:sp>
          <p:nvSpPr>
            <p:cNvPr id="7" name="Rectangle 7"/>
            <p:cNvSpPr/>
            <p:nvPr/>
          </p:nvSpPr>
          <p:spPr>
            <a:xfrm>
              <a:off x="571500" y="1000125"/>
              <a:ext cx="5334000" cy="3143250"/>
            </a:xfrm>
            <a:prstGeom prst="roundRect">
              <a:avLst>
                <a:gd name="adj" fmla="val 4848"/>
              </a:avLst>
            </a:prstGeom>
            <a:solidFill>
              <a:srgbClr val="FAF7F2"/>
            </a:solidFill>
            <a:ln w="14288">
              <a:solidFill>
                <a:srgbClr val="D4837F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000125"/>
              <a:ext cx="5334000" cy="57150"/>
            </a:xfrm>
            <a:prstGeom prst="roundRect">
              <a:avLst>
                <a:gd name="adj" fmla="val 50000"/>
              </a:avLst>
            </a:prstGeom>
            <a:solidFill>
              <a:srgbClr val="D4837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034802" y="1171575"/>
              <a:ext cx="240739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没有 MCP：N×M 个对接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952500" y="1571625"/>
              <a:ext cx="952500" cy="333375"/>
            </a:xfrm>
            <a:prstGeom prst="roundRect">
              <a:avLst>
                <a:gd name="adj" fmla="val 17143"/>
              </a:avLst>
            </a:prstGeom>
            <a:solidFill>
              <a:srgbClr val="8B6F47">
                <a:alpha val="15000"/>
              </a:srgbClr>
            </a:solidFill>
            <a:ln w="9525">
              <a:solidFill>
                <a:srgbClr val="8B6F47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52560" y="1693545"/>
              <a:ext cx="7523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Claude Code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190750" y="1571625"/>
              <a:ext cx="952500" cy="333375"/>
            </a:xfrm>
            <a:prstGeom prst="roundRect">
              <a:avLst>
                <a:gd name="adj" fmla="val 17143"/>
              </a:avLst>
            </a:prstGeom>
            <a:solidFill>
              <a:srgbClr val="8B6F47">
                <a:alpha val="15000"/>
              </a:srgbClr>
            </a:solidFill>
            <a:ln w="9525">
              <a:solidFill>
                <a:srgbClr val="8B6F47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402538" y="1693545"/>
              <a:ext cx="528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ChatGPT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429000" y="1571625"/>
              <a:ext cx="952500" cy="333375"/>
            </a:xfrm>
            <a:prstGeom prst="roundRect">
              <a:avLst>
                <a:gd name="adj" fmla="val 17143"/>
              </a:avLst>
            </a:prstGeom>
            <a:solidFill>
              <a:srgbClr val="8B6F47">
                <a:alpha val="15000"/>
              </a:srgbClr>
            </a:solidFill>
            <a:ln w="9525">
              <a:solidFill>
                <a:srgbClr val="8B6F47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676936" y="1693545"/>
              <a:ext cx="45662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Cursor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667250" y="1571625"/>
              <a:ext cx="952500" cy="333375"/>
            </a:xfrm>
            <a:prstGeom prst="roundRect">
              <a:avLst>
                <a:gd name="adj" fmla="val 17143"/>
              </a:avLst>
            </a:prstGeom>
            <a:solidFill>
              <a:srgbClr val="8B6F47">
                <a:alpha val="15000"/>
              </a:srgbClr>
            </a:solidFill>
            <a:ln w="9525">
              <a:solidFill>
                <a:srgbClr val="8B6F47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892183" y="1693545"/>
              <a:ext cx="50263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自建App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1238250" y="1905000"/>
              <a:ext cx="190500" cy="1143000"/>
            </a:xfrm>
            <a:custGeom>
              <a:avLst/>
              <a:gdLst/>
              <a:ahLst/>
              <a:cxnLst/>
              <a:rect l="l" t="t" r="r" b="b"/>
              <a:pathLst>
                <a:path w="190500" h="1143000">
                  <a:moveTo>
                    <a:pt x="190500" y="0"/>
                  </a:moveTo>
                  <a:lnTo>
                    <a:pt x="0" y="114300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1428750" y="1905000"/>
              <a:ext cx="952500" cy="1143000"/>
            </a:xfrm>
            <a:custGeom>
              <a:avLst/>
              <a:gdLst/>
              <a:ahLst/>
              <a:cxnLst/>
              <a:rect l="l" t="t" r="r" b="b"/>
              <a:pathLst>
                <a:path w="952500" h="1143000">
                  <a:moveTo>
                    <a:pt x="0" y="0"/>
                  </a:moveTo>
                  <a:lnTo>
                    <a:pt x="952500" y="114300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1428750" y="1905000"/>
              <a:ext cx="2095500" cy="1143000"/>
            </a:xfrm>
            <a:custGeom>
              <a:avLst/>
              <a:gdLst/>
              <a:ahLst/>
              <a:cxnLst/>
              <a:rect l="l" t="t" r="r" b="b"/>
              <a:pathLst>
                <a:path w="2095500" h="1143000">
                  <a:moveTo>
                    <a:pt x="0" y="0"/>
                  </a:moveTo>
                  <a:lnTo>
                    <a:pt x="2095500" y="114300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1428750" y="1905000"/>
              <a:ext cx="3238500" cy="1143000"/>
            </a:xfrm>
            <a:custGeom>
              <a:avLst/>
              <a:gdLst/>
              <a:ahLst/>
              <a:cxnLst/>
              <a:rect l="l" t="t" r="r" b="b"/>
              <a:pathLst>
                <a:path w="3238500" h="1143000">
                  <a:moveTo>
                    <a:pt x="0" y="0"/>
                  </a:moveTo>
                  <a:lnTo>
                    <a:pt x="3238500" y="114300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1238250" y="1905000"/>
              <a:ext cx="1428750" cy="1143000"/>
            </a:xfrm>
            <a:custGeom>
              <a:avLst/>
              <a:gdLst/>
              <a:ahLst/>
              <a:cxnLst/>
              <a:rect l="l" t="t" r="r" b="b"/>
              <a:pathLst>
                <a:path w="1428750" h="1143000">
                  <a:moveTo>
                    <a:pt x="1428750" y="0"/>
                  </a:moveTo>
                  <a:lnTo>
                    <a:pt x="0" y="114300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2381250" y="1905000"/>
              <a:ext cx="285750" cy="1143000"/>
            </a:xfrm>
            <a:custGeom>
              <a:avLst/>
              <a:gdLst/>
              <a:ahLst/>
              <a:cxnLst/>
              <a:rect l="l" t="t" r="r" b="b"/>
              <a:pathLst>
                <a:path w="285750" h="1143000">
                  <a:moveTo>
                    <a:pt x="285750" y="0"/>
                  </a:moveTo>
                  <a:lnTo>
                    <a:pt x="0" y="114300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2667000" y="1905000"/>
              <a:ext cx="857250" cy="1143000"/>
            </a:xfrm>
            <a:custGeom>
              <a:avLst/>
              <a:gdLst/>
              <a:ahLst/>
              <a:cxnLst/>
              <a:rect l="l" t="t" r="r" b="b"/>
              <a:pathLst>
                <a:path w="857250" h="1143000">
                  <a:moveTo>
                    <a:pt x="0" y="0"/>
                  </a:moveTo>
                  <a:lnTo>
                    <a:pt x="857250" y="114300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2667000" y="1905000"/>
              <a:ext cx="2000250" cy="1143000"/>
            </a:xfrm>
            <a:custGeom>
              <a:avLst/>
              <a:gdLst/>
              <a:ahLst/>
              <a:cxnLst/>
              <a:rect l="l" t="t" r="r" b="b"/>
              <a:pathLst>
                <a:path w="2000250" h="1143000">
                  <a:moveTo>
                    <a:pt x="0" y="0"/>
                  </a:moveTo>
                  <a:lnTo>
                    <a:pt x="2000250" y="114300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1238250" y="1905000"/>
              <a:ext cx="2667000" cy="1143000"/>
            </a:xfrm>
            <a:custGeom>
              <a:avLst/>
              <a:gdLst/>
              <a:ahLst/>
              <a:cxnLst/>
              <a:rect l="l" t="t" r="r" b="b"/>
              <a:pathLst>
                <a:path w="2667000" h="1143000">
                  <a:moveTo>
                    <a:pt x="2667000" y="0"/>
                  </a:moveTo>
                  <a:lnTo>
                    <a:pt x="0" y="114300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2381250" y="1905000"/>
              <a:ext cx="1524000" cy="1143000"/>
            </a:xfrm>
            <a:custGeom>
              <a:avLst/>
              <a:gdLst/>
              <a:ahLst/>
              <a:cxnLst/>
              <a:rect l="l" t="t" r="r" b="b"/>
              <a:pathLst>
                <a:path w="1524000" h="1143000">
                  <a:moveTo>
                    <a:pt x="1524000" y="0"/>
                  </a:moveTo>
                  <a:lnTo>
                    <a:pt x="0" y="114300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3524250" y="1905000"/>
              <a:ext cx="381000" cy="1143000"/>
            </a:xfrm>
            <a:custGeom>
              <a:avLst/>
              <a:gdLst/>
              <a:ahLst/>
              <a:cxnLst/>
              <a:rect l="l" t="t" r="r" b="b"/>
              <a:pathLst>
                <a:path w="381000" h="1143000">
                  <a:moveTo>
                    <a:pt x="381000" y="0"/>
                  </a:moveTo>
                  <a:lnTo>
                    <a:pt x="0" y="114300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3905250" y="1905000"/>
              <a:ext cx="762000" cy="1143000"/>
            </a:xfrm>
            <a:custGeom>
              <a:avLst/>
              <a:gdLst/>
              <a:ahLst/>
              <a:cxnLst/>
              <a:rect l="l" t="t" r="r" b="b"/>
              <a:pathLst>
                <a:path w="762000" h="1143000">
                  <a:moveTo>
                    <a:pt x="0" y="0"/>
                  </a:moveTo>
                  <a:lnTo>
                    <a:pt x="762000" y="114300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1238250" y="1905000"/>
              <a:ext cx="3905250" cy="1143000"/>
            </a:xfrm>
            <a:custGeom>
              <a:avLst/>
              <a:gdLst/>
              <a:ahLst/>
              <a:cxnLst/>
              <a:rect l="l" t="t" r="r" b="b"/>
              <a:pathLst>
                <a:path w="3905250" h="1143000">
                  <a:moveTo>
                    <a:pt x="3905250" y="0"/>
                  </a:moveTo>
                  <a:lnTo>
                    <a:pt x="0" y="114300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2381250" y="1905000"/>
              <a:ext cx="2762250" cy="1143000"/>
            </a:xfrm>
            <a:custGeom>
              <a:avLst/>
              <a:gdLst/>
              <a:ahLst/>
              <a:cxnLst/>
              <a:rect l="l" t="t" r="r" b="b"/>
              <a:pathLst>
                <a:path w="2762250" h="1143000">
                  <a:moveTo>
                    <a:pt x="2762250" y="0"/>
                  </a:moveTo>
                  <a:lnTo>
                    <a:pt x="0" y="114300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3524250" y="1905000"/>
              <a:ext cx="1619250" cy="1143000"/>
            </a:xfrm>
            <a:custGeom>
              <a:avLst/>
              <a:gdLst/>
              <a:ahLst/>
              <a:cxnLst/>
              <a:rect l="l" t="t" r="r" b="b"/>
              <a:pathLst>
                <a:path w="1619250" h="1143000">
                  <a:moveTo>
                    <a:pt x="1619250" y="0"/>
                  </a:moveTo>
                  <a:lnTo>
                    <a:pt x="0" y="114300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4667250" y="1905000"/>
              <a:ext cx="476250" cy="1143000"/>
            </a:xfrm>
            <a:custGeom>
              <a:avLst/>
              <a:gdLst/>
              <a:ahLst/>
              <a:cxnLst/>
              <a:rect l="l" t="t" r="r" b="b"/>
              <a:pathLst>
                <a:path w="476250" h="1143000">
                  <a:moveTo>
                    <a:pt x="476250" y="0"/>
                  </a:moveTo>
                  <a:lnTo>
                    <a:pt x="0" y="114300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762000" y="3048000"/>
              <a:ext cx="952500" cy="333375"/>
            </a:xfrm>
            <a:prstGeom prst="roundRect">
              <a:avLst>
                <a:gd name="adj" fmla="val 17143"/>
              </a:avLst>
            </a:prstGeom>
            <a:solidFill>
              <a:srgbClr val="E8A87C">
                <a:alpha val="15000"/>
              </a:srgbClr>
            </a:solidFill>
            <a:ln w="9525">
              <a:solidFill>
                <a:srgbClr val="E8A87C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026366" y="3169920"/>
              <a:ext cx="42376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GitHub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1905000" y="3048000"/>
              <a:ext cx="952500" cy="333375"/>
            </a:xfrm>
            <a:prstGeom prst="roundRect">
              <a:avLst>
                <a:gd name="adj" fmla="val 17143"/>
              </a:avLst>
            </a:prstGeom>
            <a:solidFill>
              <a:srgbClr val="E8A87C">
                <a:alpha val="15000"/>
              </a:srgbClr>
            </a:solidFill>
            <a:ln w="9525">
              <a:solidFill>
                <a:srgbClr val="E8A87C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2205514" y="3169920"/>
              <a:ext cx="35147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Slack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3048000" y="3048000"/>
              <a:ext cx="952500" cy="333375"/>
            </a:xfrm>
            <a:prstGeom prst="roundRect">
              <a:avLst>
                <a:gd name="adj" fmla="val 17143"/>
              </a:avLst>
            </a:prstGeom>
            <a:solidFill>
              <a:srgbClr val="E8A87C">
                <a:alpha val="15000"/>
              </a:srgbClr>
            </a:solidFill>
            <a:ln w="9525">
              <a:solidFill>
                <a:srgbClr val="E8A87C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3315652" y="3169920"/>
              <a:ext cx="4171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数据库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4191000" y="3048000"/>
              <a:ext cx="952500" cy="333375"/>
            </a:xfrm>
            <a:prstGeom prst="roundRect">
              <a:avLst>
                <a:gd name="adj" fmla="val 17143"/>
              </a:avLst>
            </a:prstGeom>
            <a:solidFill>
              <a:srgbClr val="E8A87C">
                <a:alpha val="15000"/>
              </a:srgbClr>
            </a:solidFill>
            <a:ln w="9525">
              <a:solidFill>
                <a:srgbClr val="E8A87C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524375" y="3169920"/>
              <a:ext cx="2857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日历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996128" y="3583305"/>
              <a:ext cx="248474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D4837F"/>
                  </a:solidFill>
                  <a:latin typeface="Georgia"/>
                  <a:ea typeface="SimSun"/>
                  <a:cs typeface="Georgia"/>
                </a:rPr>
                <a:t>4 × 4 = 16 个对接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218646" y="3895249"/>
              <a:ext cx="203970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每加一个工具或 AI，对接量翻倍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6286500" y="1000125"/>
            <a:ext cx="5334000" cy="3236119"/>
            <a:chOff x="6286500" y="1000125"/>
            <a:chExt cx="5334000" cy="3236119"/>
          </a:xfrm>
        </p:grpSpPr>
        <p:sp>
          <p:nvSpPr>
            <p:cNvPr id="45" name="Rectangle 45"/>
            <p:cNvSpPr/>
            <p:nvPr/>
          </p:nvSpPr>
          <p:spPr>
            <a:xfrm>
              <a:off x="6286500" y="1000125"/>
              <a:ext cx="5334000" cy="3143250"/>
            </a:xfrm>
            <a:prstGeom prst="roundRect">
              <a:avLst>
                <a:gd name="adj" fmla="val 4848"/>
              </a:avLst>
            </a:prstGeom>
            <a:solidFill>
              <a:srgbClr val="FAF7F2"/>
            </a:solidFill>
            <a:ln w="14288">
              <a:solidFill>
                <a:srgbClr val="8FBC8F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286500" y="1000125"/>
              <a:ext cx="5334000" cy="57150"/>
            </a:xfrm>
            <a:prstGeom prst="roundRect">
              <a:avLst>
                <a:gd name="adj" fmla="val 50000"/>
              </a:avLst>
            </a:prstGeom>
            <a:solidFill>
              <a:srgbClr val="8FBC8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749802" y="1171575"/>
              <a:ext cx="240739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8FBC8F"/>
                  </a:solidFill>
                  <a:latin typeface="Arial"/>
                  <a:ea typeface="Microsoft YaHei"/>
                  <a:cs typeface="Arial"/>
                </a:rPr>
                <a:t>有了 MCP：N+M 个对接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667500" y="1571625"/>
              <a:ext cx="952500" cy="333375"/>
            </a:xfrm>
            <a:prstGeom prst="roundRect">
              <a:avLst>
                <a:gd name="adj" fmla="val 17143"/>
              </a:avLst>
            </a:prstGeom>
            <a:solidFill>
              <a:srgbClr val="8B6F47">
                <a:alpha val="15000"/>
              </a:srgbClr>
            </a:solidFill>
            <a:ln w="9525">
              <a:solidFill>
                <a:srgbClr val="8B6F47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767560" y="1693545"/>
              <a:ext cx="7523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Claude Code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7905750" y="1571625"/>
              <a:ext cx="952500" cy="333375"/>
            </a:xfrm>
            <a:prstGeom prst="roundRect">
              <a:avLst>
                <a:gd name="adj" fmla="val 17143"/>
              </a:avLst>
            </a:prstGeom>
            <a:solidFill>
              <a:srgbClr val="8B6F47">
                <a:alpha val="15000"/>
              </a:srgbClr>
            </a:solidFill>
            <a:ln w="9525">
              <a:solidFill>
                <a:srgbClr val="8B6F47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117538" y="1693545"/>
              <a:ext cx="528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ChatGPT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9144000" y="1571625"/>
              <a:ext cx="952500" cy="333375"/>
            </a:xfrm>
            <a:prstGeom prst="roundRect">
              <a:avLst>
                <a:gd name="adj" fmla="val 17143"/>
              </a:avLst>
            </a:prstGeom>
            <a:solidFill>
              <a:srgbClr val="8B6F47">
                <a:alpha val="15000"/>
              </a:srgbClr>
            </a:solidFill>
            <a:ln w="9525">
              <a:solidFill>
                <a:srgbClr val="8B6F47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391936" y="1693545"/>
              <a:ext cx="45662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Cursor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10382250" y="1571625"/>
              <a:ext cx="952500" cy="333375"/>
            </a:xfrm>
            <a:prstGeom prst="roundRect">
              <a:avLst>
                <a:gd name="adj" fmla="val 17143"/>
              </a:avLst>
            </a:prstGeom>
            <a:solidFill>
              <a:srgbClr val="8B6F47">
                <a:alpha val="15000"/>
              </a:srgbClr>
            </a:solidFill>
            <a:ln w="9525">
              <a:solidFill>
                <a:srgbClr val="8B6F47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0607183" y="1693545"/>
              <a:ext cx="50263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自建App</a:t>
              </a:r>
            </a:p>
          </p:txBody>
        </p:sp>
        <p:sp>
          <p:nvSpPr>
            <p:cNvPr id="56" name="Line 56"/>
            <p:cNvSpPr/>
            <p:nvPr/>
          </p:nvSpPr>
          <p:spPr>
            <a:xfrm>
              <a:off x="7143750" y="1905000"/>
              <a:ext cx="9525" cy="523875"/>
            </a:xfrm>
            <a:custGeom>
              <a:avLst/>
              <a:gdLst/>
              <a:ahLst/>
              <a:cxnLst/>
              <a:rect l="l" t="t" r="r" b="b"/>
              <a:pathLst>
                <a:path w="9525" h="523875">
                  <a:moveTo>
                    <a:pt x="0" y="0"/>
                  </a:moveTo>
                  <a:lnTo>
                    <a:pt x="0" y="523875"/>
                  </a:lnTo>
                </a:path>
              </a:pathLst>
            </a:custGeom>
            <a:noFill/>
            <a:ln w="14288">
              <a:solidFill>
                <a:srgbClr val="8FBC8F"/>
              </a:solidFill>
            </a:ln>
          </p:spPr>
        </p:sp>
        <p:sp>
          <p:nvSpPr>
            <p:cNvPr id="57" name="Line 57"/>
            <p:cNvSpPr/>
            <p:nvPr/>
          </p:nvSpPr>
          <p:spPr>
            <a:xfrm>
              <a:off x="8382000" y="1905000"/>
              <a:ext cx="9525" cy="523875"/>
            </a:xfrm>
            <a:custGeom>
              <a:avLst/>
              <a:gdLst/>
              <a:ahLst/>
              <a:cxnLst/>
              <a:rect l="l" t="t" r="r" b="b"/>
              <a:pathLst>
                <a:path w="9525" h="523875">
                  <a:moveTo>
                    <a:pt x="0" y="0"/>
                  </a:moveTo>
                  <a:lnTo>
                    <a:pt x="0" y="523875"/>
                  </a:lnTo>
                </a:path>
              </a:pathLst>
            </a:custGeom>
            <a:noFill/>
            <a:ln w="14288">
              <a:solidFill>
                <a:srgbClr val="8FBC8F"/>
              </a:solidFill>
            </a:ln>
          </p:spPr>
        </p:sp>
        <p:sp>
          <p:nvSpPr>
            <p:cNvPr id="58" name="Line 58"/>
            <p:cNvSpPr/>
            <p:nvPr/>
          </p:nvSpPr>
          <p:spPr>
            <a:xfrm>
              <a:off x="9620250" y="1905000"/>
              <a:ext cx="9525" cy="523875"/>
            </a:xfrm>
            <a:custGeom>
              <a:avLst/>
              <a:gdLst/>
              <a:ahLst/>
              <a:cxnLst/>
              <a:rect l="l" t="t" r="r" b="b"/>
              <a:pathLst>
                <a:path w="9525" h="523875">
                  <a:moveTo>
                    <a:pt x="0" y="0"/>
                  </a:moveTo>
                  <a:lnTo>
                    <a:pt x="0" y="523875"/>
                  </a:lnTo>
                </a:path>
              </a:pathLst>
            </a:custGeom>
            <a:noFill/>
            <a:ln w="14288">
              <a:solidFill>
                <a:srgbClr val="8FBC8F"/>
              </a:solidFill>
            </a:ln>
          </p:spPr>
        </p:sp>
        <p:sp>
          <p:nvSpPr>
            <p:cNvPr id="59" name="Line 59"/>
            <p:cNvSpPr/>
            <p:nvPr/>
          </p:nvSpPr>
          <p:spPr>
            <a:xfrm>
              <a:off x="10858500" y="1905000"/>
              <a:ext cx="9525" cy="523875"/>
            </a:xfrm>
            <a:custGeom>
              <a:avLst/>
              <a:gdLst/>
              <a:ahLst/>
              <a:cxnLst/>
              <a:rect l="l" t="t" r="r" b="b"/>
              <a:pathLst>
                <a:path w="9525" h="523875">
                  <a:moveTo>
                    <a:pt x="0" y="0"/>
                  </a:moveTo>
                  <a:lnTo>
                    <a:pt x="0" y="523875"/>
                  </a:lnTo>
                </a:path>
              </a:pathLst>
            </a:custGeom>
            <a:noFill/>
            <a:ln w="14288">
              <a:solidFill>
                <a:srgbClr val="8FBC8F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6667500" y="2428875"/>
              <a:ext cx="4572000" cy="381000"/>
            </a:xfrm>
            <a:prstGeom prst="roundRect">
              <a:avLst>
                <a:gd name="adj" fmla="val 20000"/>
              </a:avLst>
            </a:prstGeom>
            <a:solidFill>
              <a:srgbClr val="8B6F47"/>
            </a:solidFill>
            <a:ln w="19050">
              <a:solidFill>
                <a:srgbClr val="8B6F47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372389" y="2546985"/>
              <a:ext cx="116222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MCP 统一协议</a:t>
              </a:r>
            </a:p>
          </p:txBody>
        </p:sp>
        <p:sp>
          <p:nvSpPr>
            <p:cNvPr id="62" name="Line 62"/>
            <p:cNvSpPr/>
            <p:nvPr/>
          </p:nvSpPr>
          <p:spPr>
            <a:xfrm>
              <a:off x="7143750" y="2809875"/>
              <a:ext cx="9525" cy="428625"/>
            </a:xfrm>
            <a:custGeom>
              <a:avLst/>
              <a:gdLst/>
              <a:ahLst/>
              <a:cxnLst/>
              <a:rect l="l" t="t" r="r" b="b"/>
              <a:pathLst>
                <a:path w="9525" h="428625">
                  <a:moveTo>
                    <a:pt x="0" y="0"/>
                  </a:moveTo>
                  <a:lnTo>
                    <a:pt x="0" y="428625"/>
                  </a:lnTo>
                </a:path>
              </a:pathLst>
            </a:custGeom>
            <a:noFill/>
            <a:ln w="14288">
              <a:solidFill>
                <a:srgbClr val="8FBC8F"/>
              </a:solidFill>
            </a:ln>
          </p:spPr>
        </p:sp>
        <p:sp>
          <p:nvSpPr>
            <p:cNvPr id="63" name="Line 63"/>
            <p:cNvSpPr/>
            <p:nvPr/>
          </p:nvSpPr>
          <p:spPr>
            <a:xfrm>
              <a:off x="8286750" y="2809875"/>
              <a:ext cx="9525" cy="428625"/>
            </a:xfrm>
            <a:custGeom>
              <a:avLst/>
              <a:gdLst/>
              <a:ahLst/>
              <a:cxnLst/>
              <a:rect l="l" t="t" r="r" b="b"/>
              <a:pathLst>
                <a:path w="9525" h="428625">
                  <a:moveTo>
                    <a:pt x="0" y="0"/>
                  </a:moveTo>
                  <a:lnTo>
                    <a:pt x="0" y="428625"/>
                  </a:lnTo>
                </a:path>
              </a:pathLst>
            </a:custGeom>
            <a:noFill/>
            <a:ln w="14288">
              <a:solidFill>
                <a:srgbClr val="8FBC8F"/>
              </a:solidFill>
            </a:ln>
          </p:spPr>
        </p:sp>
        <p:sp>
          <p:nvSpPr>
            <p:cNvPr id="64" name="Line 64"/>
            <p:cNvSpPr/>
            <p:nvPr/>
          </p:nvSpPr>
          <p:spPr>
            <a:xfrm>
              <a:off x="9429750" y="2809875"/>
              <a:ext cx="9525" cy="428625"/>
            </a:xfrm>
            <a:custGeom>
              <a:avLst/>
              <a:gdLst/>
              <a:ahLst/>
              <a:cxnLst/>
              <a:rect l="l" t="t" r="r" b="b"/>
              <a:pathLst>
                <a:path w="9525" h="428625">
                  <a:moveTo>
                    <a:pt x="0" y="0"/>
                  </a:moveTo>
                  <a:lnTo>
                    <a:pt x="0" y="428625"/>
                  </a:lnTo>
                </a:path>
              </a:pathLst>
            </a:custGeom>
            <a:noFill/>
            <a:ln w="14288">
              <a:solidFill>
                <a:srgbClr val="8FBC8F"/>
              </a:solidFill>
            </a:ln>
          </p:spPr>
        </p:sp>
        <p:sp>
          <p:nvSpPr>
            <p:cNvPr id="65" name="Line 65"/>
            <p:cNvSpPr/>
            <p:nvPr/>
          </p:nvSpPr>
          <p:spPr>
            <a:xfrm>
              <a:off x="10572750" y="2809875"/>
              <a:ext cx="9525" cy="428625"/>
            </a:xfrm>
            <a:custGeom>
              <a:avLst/>
              <a:gdLst/>
              <a:ahLst/>
              <a:cxnLst/>
              <a:rect l="l" t="t" r="r" b="b"/>
              <a:pathLst>
                <a:path w="9525" h="428625">
                  <a:moveTo>
                    <a:pt x="0" y="0"/>
                  </a:moveTo>
                  <a:lnTo>
                    <a:pt x="0" y="428625"/>
                  </a:lnTo>
                </a:path>
              </a:pathLst>
            </a:custGeom>
            <a:noFill/>
            <a:ln w="14288">
              <a:solidFill>
                <a:srgbClr val="8FBC8F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6667500" y="3238500"/>
              <a:ext cx="952500" cy="333375"/>
            </a:xfrm>
            <a:prstGeom prst="roundRect">
              <a:avLst>
                <a:gd name="adj" fmla="val 17143"/>
              </a:avLst>
            </a:prstGeom>
            <a:solidFill>
              <a:srgbClr val="E8A87C">
                <a:alpha val="15000"/>
              </a:srgbClr>
            </a:solidFill>
            <a:ln w="9525">
              <a:solidFill>
                <a:srgbClr val="E8A87C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931866" y="3360420"/>
              <a:ext cx="42376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GitHub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7810500" y="3238500"/>
              <a:ext cx="952500" cy="333375"/>
            </a:xfrm>
            <a:prstGeom prst="roundRect">
              <a:avLst>
                <a:gd name="adj" fmla="val 17143"/>
              </a:avLst>
            </a:prstGeom>
            <a:solidFill>
              <a:srgbClr val="E8A87C">
                <a:alpha val="15000"/>
              </a:srgbClr>
            </a:solidFill>
            <a:ln w="9525">
              <a:solidFill>
                <a:srgbClr val="E8A87C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8111014" y="3360420"/>
              <a:ext cx="35147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Slack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8953500" y="3238500"/>
              <a:ext cx="952500" cy="333375"/>
            </a:xfrm>
            <a:prstGeom prst="roundRect">
              <a:avLst>
                <a:gd name="adj" fmla="val 17143"/>
              </a:avLst>
            </a:prstGeom>
            <a:solidFill>
              <a:srgbClr val="E8A87C">
                <a:alpha val="15000"/>
              </a:srgbClr>
            </a:solidFill>
            <a:ln w="9525">
              <a:solidFill>
                <a:srgbClr val="E8A87C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9221152" y="3360420"/>
              <a:ext cx="4171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数据库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10096500" y="3238500"/>
              <a:ext cx="952500" cy="333375"/>
            </a:xfrm>
            <a:prstGeom prst="roundRect">
              <a:avLst>
                <a:gd name="adj" fmla="val 17143"/>
              </a:avLst>
            </a:prstGeom>
            <a:solidFill>
              <a:srgbClr val="E8A87C">
                <a:alpha val="15000"/>
              </a:srgbClr>
            </a:solidFill>
            <a:ln w="9525">
              <a:solidFill>
                <a:srgbClr val="E8A87C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10429875" y="3360420"/>
              <a:ext cx="2857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日历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759434" y="3726180"/>
              <a:ext cx="238813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8FBC8F"/>
                  </a:solidFill>
                  <a:latin typeface="Georgia"/>
                  <a:ea typeface="SimSun"/>
                  <a:cs typeface="Georgia"/>
                </a:rPr>
                <a:t>4 + 4 = 8 个对接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862447" y="4038124"/>
              <a:ext cx="218210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每加一个工具或 AI，只需对接一次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571500" y="4381500"/>
            <a:ext cx="11049000" cy="623888"/>
            <a:chOff x="571500" y="4381500"/>
            <a:chExt cx="11049000" cy="623888"/>
          </a:xfrm>
        </p:grpSpPr>
        <p:sp>
          <p:nvSpPr>
            <p:cNvPr id="77" name="Rectangle 77"/>
            <p:cNvSpPr/>
            <p:nvPr/>
          </p:nvSpPr>
          <p:spPr>
            <a:xfrm>
              <a:off x="571500" y="4381500"/>
              <a:ext cx="11049000" cy="619125"/>
            </a:xfrm>
            <a:prstGeom prst="roundRect">
              <a:avLst>
                <a:gd name="adj" fmla="val 18462"/>
              </a:avLst>
            </a:prstGeom>
            <a:solidFill>
              <a:srgbClr val="8B6F47">
                <a:alpha val="6000"/>
              </a:srgbClr>
            </a:solidFill>
            <a:ln w="9525">
              <a:solidFill>
                <a:srgbClr val="8B6F47"/>
              </a:solidFill>
            </a:ln>
          </p:spPr>
        </p:sp>
        <p:grpSp>
          <p:nvGrpSpPr>
            <p:cNvPr id="85" name="Group 85"/>
            <p:cNvGrpSpPr/>
            <p:nvPr/>
          </p:nvGrpSpPr>
          <p:grpSpPr>
            <a:xfrm>
              <a:off x="879162" y="4546600"/>
              <a:ext cx="222876" cy="222250"/>
              <a:chOff x="879162" y="4546600"/>
              <a:chExt cx="222876" cy="222250"/>
            </a:xfrm>
          </p:grpSpPr>
          <p:sp>
            <p:nvSpPr>
              <p:cNvPr id="78" name="Freeform 78"/>
              <p:cNvSpPr/>
              <p:nvPr/>
            </p:nvSpPr>
            <p:spPr>
              <a:xfrm>
                <a:off x="879162" y="4646612"/>
                <a:ext cx="33964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33964" h="22225">
                    <a:moveTo>
                      <a:pt x="22538" y="0"/>
                    </a:moveTo>
                    <a:cubicBezTo>
                      <a:pt x="28418" y="7"/>
                      <a:pt x="33275" y="4592"/>
                      <a:pt x="33619" y="10461"/>
                    </a:cubicBezTo>
                    <a:cubicBezTo>
                      <a:pt x="33964" y="16331"/>
                      <a:pt x="29677" y="21453"/>
                      <a:pt x="23838" y="22147"/>
                    </a:cubicBezTo>
                    <a:lnTo>
                      <a:pt x="22538" y="22225"/>
                    </a:lnTo>
                    <a:lnTo>
                      <a:pt x="11426" y="22225"/>
                    </a:lnTo>
                    <a:cubicBezTo>
                      <a:pt x="5546" y="22218"/>
                      <a:pt x="689" y="17633"/>
                      <a:pt x="345" y="11764"/>
                    </a:cubicBezTo>
                    <a:cubicBezTo>
                      <a:pt x="0" y="5894"/>
                      <a:pt x="4287" y="772"/>
                      <a:pt x="10125" y="78"/>
                    </a:cubicBezTo>
                    <a:lnTo>
                      <a:pt x="11426" y="0"/>
                    </a:lnTo>
                    <a:lnTo>
                      <a:pt x="2253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979488" y="4546600"/>
                <a:ext cx="22225" cy="33651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33651">
                    <a:moveTo>
                      <a:pt x="11113" y="0"/>
                    </a:moveTo>
                    <a:cubicBezTo>
                      <a:pt x="16746" y="1"/>
                      <a:pt x="21488" y="4217"/>
                      <a:pt x="22147" y="9812"/>
                    </a:cubicBezTo>
                    <a:lnTo>
                      <a:pt x="22225" y="11113"/>
                    </a:lnTo>
                    <a:lnTo>
                      <a:pt x="22225" y="22225"/>
                    </a:lnTo>
                    <a:cubicBezTo>
                      <a:pt x="22218" y="28105"/>
                      <a:pt x="17633" y="32962"/>
                      <a:pt x="11764" y="33306"/>
                    </a:cubicBezTo>
                    <a:cubicBezTo>
                      <a:pt x="5894" y="33651"/>
                      <a:pt x="772" y="29364"/>
                      <a:pt x="78" y="23525"/>
                    </a:cubicBezTo>
                    <a:lnTo>
                      <a:pt x="0" y="22225"/>
                    </a:lnTo>
                    <a:lnTo>
                      <a:pt x="0" y="11113"/>
                    </a:lnTo>
                    <a:cubicBezTo>
                      <a:pt x="0" y="4975"/>
                      <a:pt x="4975" y="0"/>
                      <a:pt x="11113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1068074" y="4646612"/>
                <a:ext cx="33964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33964" h="22225">
                    <a:moveTo>
                      <a:pt x="22538" y="0"/>
                    </a:moveTo>
                    <a:cubicBezTo>
                      <a:pt x="28418" y="7"/>
                      <a:pt x="33275" y="4592"/>
                      <a:pt x="33619" y="10461"/>
                    </a:cubicBezTo>
                    <a:cubicBezTo>
                      <a:pt x="33964" y="16331"/>
                      <a:pt x="29677" y="21453"/>
                      <a:pt x="23838" y="22147"/>
                    </a:cubicBezTo>
                    <a:lnTo>
                      <a:pt x="22538" y="22225"/>
                    </a:lnTo>
                    <a:lnTo>
                      <a:pt x="11426" y="22225"/>
                    </a:lnTo>
                    <a:cubicBezTo>
                      <a:pt x="5546" y="22218"/>
                      <a:pt x="689" y="17633"/>
                      <a:pt x="345" y="11764"/>
                    </a:cubicBezTo>
                    <a:cubicBezTo>
                      <a:pt x="0" y="5894"/>
                      <a:pt x="4287" y="772"/>
                      <a:pt x="10125" y="78"/>
                    </a:cubicBezTo>
                    <a:lnTo>
                      <a:pt x="11426" y="0"/>
                    </a:lnTo>
                    <a:lnTo>
                      <a:pt x="2253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907285" y="4574395"/>
                <a:ext cx="32169" cy="32352"/>
              </a:xfrm>
              <a:custGeom>
                <a:avLst/>
                <a:gdLst/>
                <a:ahLst/>
                <a:cxnLst/>
                <a:rect l="l" t="t" r="r" b="b"/>
                <a:pathLst>
                  <a:path w="32169" h="32352">
                    <a:moveTo>
                      <a:pt x="4338" y="4354"/>
                    </a:moveTo>
                    <a:cubicBezTo>
                      <a:pt x="8297" y="395"/>
                      <a:pt x="14583" y="0"/>
                      <a:pt x="19007" y="3432"/>
                    </a:cubicBezTo>
                    <a:lnTo>
                      <a:pt x="20051" y="4354"/>
                    </a:lnTo>
                    <a:lnTo>
                      <a:pt x="27830" y="12133"/>
                    </a:lnTo>
                    <a:cubicBezTo>
                      <a:pt x="31966" y="16283"/>
                      <a:pt x="32169" y="22932"/>
                      <a:pt x="28294" y="27327"/>
                    </a:cubicBezTo>
                    <a:cubicBezTo>
                      <a:pt x="24419" y="31721"/>
                      <a:pt x="17797" y="32352"/>
                      <a:pt x="13161" y="28768"/>
                    </a:cubicBezTo>
                    <a:lnTo>
                      <a:pt x="12117" y="27846"/>
                    </a:lnTo>
                    <a:lnTo>
                      <a:pt x="4338" y="20067"/>
                    </a:lnTo>
                    <a:cubicBezTo>
                      <a:pt x="0" y="15728"/>
                      <a:pt x="0" y="8693"/>
                      <a:pt x="4338" y="4354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1041578" y="4574409"/>
                <a:ext cx="32505" cy="32170"/>
              </a:xfrm>
              <a:custGeom>
                <a:avLst/>
                <a:gdLst/>
                <a:ahLst/>
                <a:cxnLst/>
                <a:rect l="l" t="t" r="r" b="b"/>
                <a:pathLst>
                  <a:path w="32505" h="32170">
                    <a:moveTo>
                      <a:pt x="12285" y="4339"/>
                    </a:moveTo>
                    <a:cubicBezTo>
                      <a:pt x="16436" y="203"/>
                      <a:pt x="23084" y="0"/>
                      <a:pt x="27479" y="3875"/>
                    </a:cubicBezTo>
                    <a:cubicBezTo>
                      <a:pt x="31874" y="7751"/>
                      <a:pt x="32505" y="14372"/>
                      <a:pt x="28921" y="19008"/>
                    </a:cubicBezTo>
                    <a:lnTo>
                      <a:pt x="27998" y="20052"/>
                    </a:lnTo>
                    <a:lnTo>
                      <a:pt x="20220" y="27831"/>
                    </a:lnTo>
                    <a:cubicBezTo>
                      <a:pt x="16069" y="31967"/>
                      <a:pt x="9421" y="32170"/>
                      <a:pt x="5026" y="28295"/>
                    </a:cubicBezTo>
                    <a:cubicBezTo>
                      <a:pt x="631" y="24420"/>
                      <a:pt x="0" y="17798"/>
                      <a:pt x="3584" y="13163"/>
                    </a:cubicBezTo>
                    <a:lnTo>
                      <a:pt x="4507" y="12118"/>
                    </a:lnTo>
                    <a:lnTo>
                      <a:pt x="12285" y="4339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957262" y="472440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55563" y="0"/>
                    </a:moveTo>
                    <a:cubicBezTo>
                      <a:pt x="61700" y="0"/>
                      <a:pt x="66675" y="4975"/>
                      <a:pt x="66675" y="11113"/>
                    </a:cubicBezTo>
                    <a:cubicBezTo>
                      <a:pt x="66675" y="29524"/>
                      <a:pt x="51749" y="44450"/>
                      <a:pt x="33338" y="44450"/>
                    </a:cubicBezTo>
                    <a:cubicBezTo>
                      <a:pt x="14926" y="44450"/>
                      <a:pt x="0" y="29524"/>
                      <a:pt x="0" y="11113"/>
                    </a:cubicBezTo>
                    <a:cubicBezTo>
                      <a:pt x="1" y="5479"/>
                      <a:pt x="4217" y="737"/>
                      <a:pt x="9812" y="78"/>
                    </a:cubicBezTo>
                    <a:lnTo>
                      <a:pt x="11113" y="0"/>
                    </a:lnTo>
                    <a:lnTo>
                      <a:pt x="55563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918271" y="4591050"/>
                <a:ext cx="144658" cy="122237"/>
              </a:xfrm>
              <a:custGeom>
                <a:avLst/>
                <a:gdLst/>
                <a:ahLst/>
                <a:cxnLst/>
                <a:rect l="l" t="t" r="r" b="b"/>
                <a:pathLst>
                  <a:path w="144658" h="122237">
                    <a:moveTo>
                      <a:pt x="72329" y="0"/>
                    </a:moveTo>
                    <a:cubicBezTo>
                      <a:pt x="101028" y="0"/>
                      <a:pt x="126507" y="18364"/>
                      <a:pt x="135582" y="45591"/>
                    </a:cubicBezTo>
                    <a:cubicBezTo>
                      <a:pt x="144658" y="72817"/>
                      <a:pt x="135293" y="102796"/>
                      <a:pt x="112334" y="120015"/>
                    </a:cubicBezTo>
                    <a:cubicBezTo>
                      <a:pt x="110802" y="121165"/>
                      <a:pt x="108999" y="121900"/>
                      <a:pt x="107100" y="122149"/>
                    </a:cubicBezTo>
                    <a:lnTo>
                      <a:pt x="105666" y="122237"/>
                    </a:lnTo>
                    <a:lnTo>
                      <a:pt x="38991" y="122237"/>
                    </a:lnTo>
                    <a:cubicBezTo>
                      <a:pt x="36587" y="122237"/>
                      <a:pt x="34247" y="121458"/>
                      <a:pt x="32324" y="120015"/>
                    </a:cubicBezTo>
                    <a:cubicBezTo>
                      <a:pt x="9365" y="102796"/>
                      <a:pt x="0" y="72817"/>
                      <a:pt x="9075" y="45591"/>
                    </a:cubicBezTo>
                    <a:cubicBezTo>
                      <a:pt x="18151" y="18364"/>
                      <a:pt x="43630" y="0"/>
                      <a:pt x="72329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86" name="TextBox 86"/>
            <p:cNvSpPr txBox="1"/>
            <p:nvPr/>
          </p:nvSpPr>
          <p:spPr>
            <a:xfrm>
              <a:off x="1223010" y="4585335"/>
              <a:ext cx="118062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类比 USB 标准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2653665" y="4601528"/>
              <a:ext cx="400616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以前每个设备一根专用线，USB 之后所有设备共用一个接口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224915" y="4792028"/>
              <a:ext cx="18139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MCP = AI 工具世界的 USB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571500" y="5191125"/>
            <a:ext cx="11049000" cy="523875"/>
            <a:chOff x="571500" y="5191125"/>
            <a:chExt cx="11049000" cy="523875"/>
          </a:xfrm>
        </p:grpSpPr>
        <p:sp>
          <p:nvSpPr>
            <p:cNvPr id="90" name="Rectangle 90"/>
            <p:cNvSpPr/>
            <p:nvPr/>
          </p:nvSpPr>
          <p:spPr>
            <a:xfrm>
              <a:off x="571500" y="5191125"/>
              <a:ext cx="11049000" cy="523875"/>
            </a:xfrm>
            <a:prstGeom prst="roundRect">
              <a:avLst>
                <a:gd name="adj" fmla="val 21818"/>
              </a:avLst>
            </a:prstGeom>
            <a:solidFill>
              <a:srgbClr val="E8A87C">
                <a:alpha val="10000"/>
              </a:srgbClr>
            </a:solidFill>
            <a:ln w="14288">
              <a:solidFill>
                <a:srgbClr val="E8A87C"/>
              </a:solidFill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2745343" y="5375910"/>
              <a:ext cx="670131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2025年 Anthropic 发布，现在已成为行业事实标准 — 几乎所有 AI 工具都支持 MCP</a:t>
              </a:r>
            </a:p>
          </p:txBody>
        </p:sp>
      </p:grpSp>
      <p:sp>
        <p:nvSpPr>
          <p:cNvPr id="93" name="TextBox 93"/>
          <p:cNvSpPr txBox="1"/>
          <p:nvPr/>
        </p:nvSpPr>
        <p:spPr>
          <a:xfrm>
            <a:off x="11687842" y="6522720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31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4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5" dur="4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9" dur="4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76" grpId="0"/>
      <p:bldP spid="89" grpId="0"/>
      <p:bldP spid="9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8B6F47"/>
              </a:gs>
              <a:gs pos="100000">
                <a:srgbClr val="6B5535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572500" y="3810000"/>
            <a:ext cx="3810000" cy="3810000"/>
          </a:xfrm>
          <a:prstGeom prst="ellipse">
            <a:avLst/>
          </a:prstGeom>
          <a:solidFill>
            <a:srgbClr val="FAF7F2">
              <a:alpha val="5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571500" y="190500"/>
            <a:ext cx="2286000" cy="2286000"/>
          </a:xfrm>
          <a:prstGeom prst="ellipse">
            <a:avLst/>
          </a:prstGeom>
          <a:solidFill>
            <a:srgbClr val="FAF7F2">
              <a:alpha val="4000"/>
            </a:srgbClr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4145642" y="1504950"/>
            <a:ext cx="3900716" cy="3105540"/>
            <a:chOff x="4145642" y="1504950"/>
            <a:chExt cx="3900716" cy="3105540"/>
          </a:xfrm>
        </p:grpSpPr>
        <p:sp>
          <p:nvSpPr>
            <p:cNvPr id="5" name="TextBox 5"/>
            <p:cNvSpPr txBox="1"/>
            <p:nvPr/>
          </p:nvSpPr>
          <p:spPr>
            <a:xfrm>
              <a:off x="5222605" y="1504950"/>
              <a:ext cx="1746790" cy="1828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0" b="1" dirty="0">
                  <a:solidFill>
                    <a:srgbClr val="FAF7F2">
                      <a:alphaMod val="15000"/>
                    </a:srgbClr>
                  </a:solidFill>
                  <a:latin typeface="Georgia"/>
                  <a:ea typeface="Microsoft YaHei"/>
                  <a:cs typeface="Georgia"/>
                </a:rPr>
                <a:t>09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145642" y="2849880"/>
              <a:ext cx="3900716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FAF7F2"/>
                  </a:solidFill>
                  <a:latin typeface="Georgia"/>
                  <a:ea typeface="Microsoft YaHei"/>
                  <a:cs typeface="Georgia"/>
                </a:rPr>
                <a:t>Agent — 智能体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4953000" y="3476625"/>
              <a:ext cx="2286000" cy="381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4636532" y="3838575"/>
              <a:ext cx="291893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AF7F2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会思考、会行动、会学习的 AI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5828909" y="4304909"/>
              <a:ext cx="305581" cy="305581"/>
            </a:xfrm>
            <a:custGeom>
              <a:avLst/>
              <a:gdLst/>
              <a:ahLst/>
              <a:cxnLst/>
              <a:rect l="l" t="t" r="r" b="b"/>
              <a:pathLst>
                <a:path w="305581" h="305581">
                  <a:moveTo>
                    <a:pt x="190610" y="39648"/>
                  </a:moveTo>
                  <a:cubicBezTo>
                    <a:pt x="191387" y="42857"/>
                    <a:pt x="193650" y="45502"/>
                    <a:pt x="196699" y="46767"/>
                  </a:cubicBezTo>
                  <a:cubicBezTo>
                    <a:pt x="199749" y="48032"/>
                    <a:pt x="203220" y="47765"/>
                    <a:pt x="206040" y="46049"/>
                  </a:cubicBezTo>
                  <a:cubicBezTo>
                    <a:pt x="240887" y="24832"/>
                    <a:pt x="280764" y="64694"/>
                    <a:pt x="259547" y="99541"/>
                  </a:cubicBezTo>
                  <a:cubicBezTo>
                    <a:pt x="257830" y="102360"/>
                    <a:pt x="257562" y="105828"/>
                    <a:pt x="258824" y="108877"/>
                  </a:cubicBezTo>
                  <a:cubicBezTo>
                    <a:pt x="260086" y="111926"/>
                    <a:pt x="262727" y="114190"/>
                    <a:pt x="265933" y="114972"/>
                  </a:cubicBezTo>
                  <a:cubicBezTo>
                    <a:pt x="305581" y="124587"/>
                    <a:pt x="305581" y="180980"/>
                    <a:pt x="265933" y="190610"/>
                  </a:cubicBezTo>
                  <a:cubicBezTo>
                    <a:pt x="262724" y="191387"/>
                    <a:pt x="260079" y="193650"/>
                    <a:pt x="258814" y="196699"/>
                  </a:cubicBezTo>
                  <a:cubicBezTo>
                    <a:pt x="257549" y="199749"/>
                    <a:pt x="257816" y="203220"/>
                    <a:pt x="259532" y="206040"/>
                  </a:cubicBezTo>
                  <a:cubicBezTo>
                    <a:pt x="280749" y="240887"/>
                    <a:pt x="240887" y="280764"/>
                    <a:pt x="206040" y="259547"/>
                  </a:cubicBezTo>
                  <a:cubicBezTo>
                    <a:pt x="203221" y="257830"/>
                    <a:pt x="199753" y="257562"/>
                    <a:pt x="196704" y="258824"/>
                  </a:cubicBezTo>
                  <a:cubicBezTo>
                    <a:pt x="193655" y="260086"/>
                    <a:pt x="191391" y="262727"/>
                    <a:pt x="190610" y="265933"/>
                  </a:cubicBezTo>
                  <a:cubicBezTo>
                    <a:pt x="180994" y="305581"/>
                    <a:pt x="124601" y="305581"/>
                    <a:pt x="114972" y="265933"/>
                  </a:cubicBezTo>
                  <a:cubicBezTo>
                    <a:pt x="114194" y="262724"/>
                    <a:pt x="111931" y="260079"/>
                    <a:pt x="108882" y="258814"/>
                  </a:cubicBezTo>
                  <a:cubicBezTo>
                    <a:pt x="105832" y="257549"/>
                    <a:pt x="102362" y="257816"/>
                    <a:pt x="99541" y="259532"/>
                  </a:cubicBezTo>
                  <a:cubicBezTo>
                    <a:pt x="64694" y="280749"/>
                    <a:pt x="24817" y="240887"/>
                    <a:pt x="46034" y="206040"/>
                  </a:cubicBezTo>
                  <a:cubicBezTo>
                    <a:pt x="47751" y="203221"/>
                    <a:pt x="48019" y="199753"/>
                    <a:pt x="46757" y="196704"/>
                  </a:cubicBezTo>
                  <a:cubicBezTo>
                    <a:pt x="45495" y="193655"/>
                    <a:pt x="42854" y="191391"/>
                    <a:pt x="39648" y="190610"/>
                  </a:cubicBezTo>
                  <a:cubicBezTo>
                    <a:pt x="0" y="180994"/>
                    <a:pt x="0" y="124601"/>
                    <a:pt x="39648" y="114972"/>
                  </a:cubicBezTo>
                  <a:cubicBezTo>
                    <a:pt x="42857" y="114194"/>
                    <a:pt x="45502" y="111931"/>
                    <a:pt x="46767" y="108882"/>
                  </a:cubicBezTo>
                  <a:cubicBezTo>
                    <a:pt x="48032" y="105832"/>
                    <a:pt x="47765" y="102362"/>
                    <a:pt x="46049" y="99541"/>
                  </a:cubicBezTo>
                  <a:cubicBezTo>
                    <a:pt x="24832" y="64694"/>
                    <a:pt x="64694" y="24817"/>
                    <a:pt x="99541" y="46034"/>
                  </a:cubicBezTo>
                  <a:cubicBezTo>
                    <a:pt x="102357" y="47764"/>
                    <a:pt x="105831" y="48040"/>
                    <a:pt x="108885" y="46776"/>
                  </a:cubicBezTo>
                  <a:cubicBezTo>
                    <a:pt x="111938" y="45512"/>
                    <a:pt x="114202" y="42862"/>
                    <a:pt x="114972" y="39648"/>
                  </a:cubicBezTo>
                  <a:cubicBezTo>
                    <a:pt x="124587" y="0"/>
                    <a:pt x="180980" y="0"/>
                    <a:pt x="190610" y="39648"/>
                  </a:cubicBezTo>
                  <a:close/>
                  <a:moveTo>
                    <a:pt x="152791" y="109928"/>
                  </a:moveTo>
                  <a:cubicBezTo>
                    <a:pt x="129118" y="109928"/>
                    <a:pt x="109928" y="129118"/>
                    <a:pt x="109928" y="152791"/>
                  </a:cubicBezTo>
                  <a:cubicBezTo>
                    <a:pt x="109928" y="176463"/>
                    <a:pt x="129118" y="195653"/>
                    <a:pt x="152791" y="195653"/>
                  </a:cubicBezTo>
                  <a:cubicBezTo>
                    <a:pt x="176463" y="195653"/>
                    <a:pt x="195653" y="176463"/>
                    <a:pt x="195653" y="152791"/>
                  </a:cubicBezTo>
                  <a:cubicBezTo>
                    <a:pt x="195653" y="129118"/>
                    <a:pt x="176463" y="109928"/>
                    <a:pt x="152791" y="109928"/>
                  </a:cubicBezTo>
                </a:path>
              </a:pathLst>
            </a:custGeom>
            <a:solidFill>
              <a:srgbClr val="E8A87C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369570" y="6522720"/>
            <a:ext cx="11452859" cy="182880"/>
            <a:chOff x="369570" y="6522720"/>
            <a:chExt cx="11452859" cy="182880"/>
          </a:xfrm>
        </p:grpSpPr>
        <p:sp>
          <p:nvSpPr>
            <p:cNvPr id="11" name="TextBox 11"/>
            <p:cNvSpPr txBox="1"/>
            <p:nvPr/>
          </p:nvSpPr>
          <p:spPr>
            <a:xfrm>
              <a:off x="369570" y="6522720"/>
              <a:ext cx="14687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AI大家学 · 大模型技术篇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654980" y="6522720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2925" y="376238"/>
            <a:ext cx="11089957" cy="457200"/>
            <a:chOff x="542925" y="376238"/>
            <a:chExt cx="11089957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376238"/>
              <a:ext cx="4974015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ReAct 循环 — Agent 的核心逻辑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479256" y="466249"/>
              <a:ext cx="215362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Think → Act → Observe → Repeat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524000" y="1238250"/>
            <a:ext cx="9525000" cy="2395538"/>
            <a:chOff x="1524000" y="1238250"/>
            <a:chExt cx="9525000" cy="2395538"/>
          </a:xfrm>
        </p:grpSpPr>
        <p:sp>
          <p:nvSpPr>
            <p:cNvPr id="7" name="Rectangle 7"/>
            <p:cNvSpPr/>
            <p:nvPr/>
          </p:nvSpPr>
          <p:spPr>
            <a:xfrm>
              <a:off x="1524000" y="1238250"/>
              <a:ext cx="2667000" cy="1333500"/>
            </a:xfrm>
            <a:prstGeom prst="roundRect">
              <a:avLst>
                <a:gd name="adj" fmla="val 11429"/>
              </a:avLst>
            </a:prstGeom>
            <a:solidFill>
              <a:srgbClr val="FAF7F2"/>
            </a:solidFill>
            <a:ln w="19050">
              <a:solidFill>
                <a:srgbClr val="8B6F47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1524000" y="1238250"/>
              <a:ext cx="2667000" cy="57150"/>
            </a:xfrm>
            <a:prstGeom prst="roundRect">
              <a:avLst>
                <a:gd name="adj" fmla="val 50000"/>
              </a:avLst>
            </a:prstGeom>
            <a:solidFill>
              <a:srgbClr val="8B6F47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1834792" y="1501775"/>
              <a:ext cx="254716" cy="254000"/>
              <a:chOff x="1834792" y="1501775"/>
              <a:chExt cx="254716" cy="2540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834792" y="1616075"/>
                <a:ext cx="38816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38816" h="25400">
                    <a:moveTo>
                      <a:pt x="25758" y="0"/>
                    </a:moveTo>
                    <a:cubicBezTo>
                      <a:pt x="32477" y="7"/>
                      <a:pt x="38028" y="5248"/>
                      <a:pt x="38422" y="11956"/>
                    </a:cubicBezTo>
                    <a:cubicBezTo>
                      <a:pt x="38816" y="18664"/>
                      <a:pt x="33916" y="24517"/>
                      <a:pt x="27244" y="25311"/>
                    </a:cubicBezTo>
                    <a:lnTo>
                      <a:pt x="25758" y="25400"/>
                    </a:lnTo>
                    <a:lnTo>
                      <a:pt x="13058" y="25400"/>
                    </a:lnTo>
                    <a:cubicBezTo>
                      <a:pt x="6338" y="25393"/>
                      <a:pt x="788" y="20152"/>
                      <a:pt x="394" y="13444"/>
                    </a:cubicBezTo>
                    <a:cubicBezTo>
                      <a:pt x="0" y="6736"/>
                      <a:pt x="4900" y="883"/>
                      <a:pt x="11572" y="89"/>
                    </a:cubicBezTo>
                    <a:lnTo>
                      <a:pt x="13058" y="0"/>
                    </a:lnTo>
                    <a:lnTo>
                      <a:pt x="2575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949450" y="1501775"/>
                <a:ext cx="25400" cy="38458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38458">
                    <a:moveTo>
                      <a:pt x="12700" y="0"/>
                    </a:moveTo>
                    <a:cubicBezTo>
                      <a:pt x="19139" y="1"/>
                      <a:pt x="24558" y="4820"/>
                      <a:pt x="25311" y="11214"/>
                    </a:cubicBezTo>
                    <a:lnTo>
                      <a:pt x="25400" y="12700"/>
                    </a:lnTo>
                    <a:lnTo>
                      <a:pt x="25400" y="25400"/>
                    </a:lnTo>
                    <a:cubicBezTo>
                      <a:pt x="25393" y="32119"/>
                      <a:pt x="20152" y="37670"/>
                      <a:pt x="13444" y="38064"/>
                    </a:cubicBezTo>
                    <a:cubicBezTo>
                      <a:pt x="6736" y="38458"/>
                      <a:pt x="883" y="33558"/>
                      <a:pt x="89" y="26886"/>
                    </a:cubicBezTo>
                    <a:lnTo>
                      <a:pt x="0" y="25400"/>
                    </a:lnTo>
                    <a:lnTo>
                      <a:pt x="0" y="12700"/>
                    </a:lnTo>
                    <a:cubicBezTo>
                      <a:pt x="0" y="5686"/>
                      <a:pt x="5686" y="0"/>
                      <a:pt x="12700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2050692" y="1616075"/>
                <a:ext cx="38816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38816" h="25400">
                    <a:moveTo>
                      <a:pt x="25758" y="0"/>
                    </a:moveTo>
                    <a:cubicBezTo>
                      <a:pt x="32477" y="7"/>
                      <a:pt x="38028" y="5248"/>
                      <a:pt x="38422" y="11956"/>
                    </a:cubicBezTo>
                    <a:cubicBezTo>
                      <a:pt x="38816" y="18664"/>
                      <a:pt x="33916" y="24517"/>
                      <a:pt x="27244" y="25311"/>
                    </a:cubicBezTo>
                    <a:lnTo>
                      <a:pt x="25758" y="25400"/>
                    </a:lnTo>
                    <a:lnTo>
                      <a:pt x="13058" y="25400"/>
                    </a:lnTo>
                    <a:cubicBezTo>
                      <a:pt x="6338" y="25393"/>
                      <a:pt x="788" y="20152"/>
                      <a:pt x="394" y="13444"/>
                    </a:cubicBezTo>
                    <a:cubicBezTo>
                      <a:pt x="0" y="6736"/>
                      <a:pt x="4900" y="883"/>
                      <a:pt x="11572" y="89"/>
                    </a:cubicBezTo>
                    <a:lnTo>
                      <a:pt x="13058" y="0"/>
                    </a:lnTo>
                    <a:lnTo>
                      <a:pt x="2575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866933" y="1533540"/>
                <a:ext cx="36765" cy="36974"/>
              </a:xfrm>
              <a:custGeom>
                <a:avLst/>
                <a:gdLst/>
                <a:ahLst/>
                <a:cxnLst/>
                <a:rect l="l" t="t" r="r" b="b"/>
                <a:pathLst>
                  <a:path w="36765" h="36974">
                    <a:moveTo>
                      <a:pt x="4958" y="4976"/>
                    </a:moveTo>
                    <a:cubicBezTo>
                      <a:pt x="9482" y="452"/>
                      <a:pt x="16666" y="0"/>
                      <a:pt x="21722" y="3922"/>
                    </a:cubicBezTo>
                    <a:lnTo>
                      <a:pt x="22916" y="4976"/>
                    </a:lnTo>
                    <a:lnTo>
                      <a:pt x="31806" y="13866"/>
                    </a:lnTo>
                    <a:cubicBezTo>
                      <a:pt x="36533" y="18609"/>
                      <a:pt x="36765" y="26208"/>
                      <a:pt x="32336" y="31230"/>
                    </a:cubicBezTo>
                    <a:cubicBezTo>
                      <a:pt x="27907" y="36253"/>
                      <a:pt x="20339" y="36974"/>
                      <a:pt x="15042" y="32878"/>
                    </a:cubicBezTo>
                    <a:lnTo>
                      <a:pt x="13848" y="31824"/>
                    </a:lnTo>
                    <a:lnTo>
                      <a:pt x="4958" y="22934"/>
                    </a:lnTo>
                    <a:cubicBezTo>
                      <a:pt x="0" y="17974"/>
                      <a:pt x="0" y="9935"/>
                      <a:pt x="4958" y="4976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2020411" y="1533557"/>
                <a:ext cx="37148" cy="36766"/>
              </a:xfrm>
              <a:custGeom>
                <a:avLst/>
                <a:gdLst/>
                <a:ahLst/>
                <a:cxnLst/>
                <a:rect l="l" t="t" r="r" b="b"/>
                <a:pathLst>
                  <a:path w="37148" h="36766">
                    <a:moveTo>
                      <a:pt x="14040" y="4959"/>
                    </a:moveTo>
                    <a:cubicBezTo>
                      <a:pt x="18783" y="232"/>
                      <a:pt x="26382" y="0"/>
                      <a:pt x="31405" y="4429"/>
                    </a:cubicBezTo>
                    <a:cubicBezTo>
                      <a:pt x="36427" y="8858"/>
                      <a:pt x="37148" y="16426"/>
                      <a:pt x="33052" y="21723"/>
                    </a:cubicBezTo>
                    <a:lnTo>
                      <a:pt x="31998" y="22917"/>
                    </a:lnTo>
                    <a:lnTo>
                      <a:pt x="23108" y="31807"/>
                    </a:lnTo>
                    <a:cubicBezTo>
                      <a:pt x="18365" y="36534"/>
                      <a:pt x="10766" y="36766"/>
                      <a:pt x="5744" y="32337"/>
                    </a:cubicBezTo>
                    <a:cubicBezTo>
                      <a:pt x="721" y="27908"/>
                      <a:pt x="0" y="20340"/>
                      <a:pt x="4096" y="15043"/>
                    </a:cubicBezTo>
                    <a:lnTo>
                      <a:pt x="5150" y="13849"/>
                    </a:lnTo>
                    <a:lnTo>
                      <a:pt x="14040" y="4959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924050" y="1704975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63500" y="0"/>
                    </a:moveTo>
                    <a:cubicBezTo>
                      <a:pt x="70514" y="0"/>
                      <a:pt x="76200" y="5686"/>
                      <a:pt x="76200" y="12700"/>
                    </a:cubicBezTo>
                    <a:cubicBezTo>
                      <a:pt x="76200" y="33742"/>
                      <a:pt x="59142" y="50800"/>
                      <a:pt x="38100" y="50800"/>
                    </a:cubicBezTo>
                    <a:cubicBezTo>
                      <a:pt x="17058" y="50800"/>
                      <a:pt x="0" y="33742"/>
                      <a:pt x="0" y="12700"/>
                    </a:cubicBezTo>
                    <a:cubicBezTo>
                      <a:pt x="1" y="6261"/>
                      <a:pt x="4820" y="842"/>
                      <a:pt x="11214" y="89"/>
                    </a:cubicBezTo>
                    <a:lnTo>
                      <a:pt x="12700" y="0"/>
                    </a:lnTo>
                    <a:lnTo>
                      <a:pt x="63500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879488" y="1552575"/>
                <a:ext cx="165323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165323" h="139700">
                    <a:moveTo>
                      <a:pt x="82662" y="0"/>
                    </a:moveTo>
                    <a:cubicBezTo>
                      <a:pt x="115460" y="0"/>
                      <a:pt x="144579" y="20988"/>
                      <a:pt x="154951" y="52103"/>
                    </a:cubicBezTo>
                    <a:cubicBezTo>
                      <a:pt x="165323" y="83219"/>
                      <a:pt x="154621" y="117481"/>
                      <a:pt x="128382" y="137160"/>
                    </a:cubicBezTo>
                    <a:cubicBezTo>
                      <a:pt x="126631" y="138475"/>
                      <a:pt x="124571" y="139315"/>
                      <a:pt x="122400" y="139598"/>
                    </a:cubicBezTo>
                    <a:lnTo>
                      <a:pt x="120762" y="139700"/>
                    </a:lnTo>
                    <a:lnTo>
                      <a:pt x="44562" y="139700"/>
                    </a:lnTo>
                    <a:cubicBezTo>
                      <a:pt x="41814" y="139700"/>
                      <a:pt x="39140" y="138809"/>
                      <a:pt x="36942" y="137160"/>
                    </a:cubicBezTo>
                    <a:cubicBezTo>
                      <a:pt x="10703" y="117481"/>
                      <a:pt x="0" y="83219"/>
                      <a:pt x="10372" y="52103"/>
                    </a:cubicBezTo>
                    <a:cubicBezTo>
                      <a:pt x="20744" y="20988"/>
                      <a:pt x="49863" y="0"/>
                      <a:pt x="82662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2219325" y="1533525"/>
              <a:ext cx="114223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Think 思考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796415" y="1886902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分析当前状态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796415" y="2125028"/>
              <a:ext cx="12534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决定下一步做什么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98320" y="2360295"/>
              <a:ext cx="192881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i="1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"用户要查天气，我需要调用API"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4191000" y="1905000"/>
              <a:ext cx="571500" cy="1"/>
            </a:xfrm>
            <a:prstGeom prst="line">
              <a:avLst/>
            </a:prstGeom>
            <a:noFill/>
            <a:ln w="23812">
              <a:solidFill>
                <a:srgbClr val="8B6F47"/>
              </a:solidFill>
              <a:tailEnd type="triangle" w="lg" len="lg"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953000" y="1238250"/>
              <a:ext cx="2667000" cy="1333500"/>
            </a:xfrm>
            <a:prstGeom prst="roundRect">
              <a:avLst>
                <a:gd name="adj" fmla="val 11429"/>
              </a:avLst>
            </a:prstGeom>
            <a:solidFill>
              <a:srgbClr val="FAF7F2"/>
            </a:solidFill>
            <a:ln w="19050">
              <a:solidFill>
                <a:srgbClr val="E8A87C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0" y="1238250"/>
              <a:ext cx="2667000" cy="5715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5276850" y="1520169"/>
              <a:ext cx="222914" cy="222906"/>
            </a:xfrm>
            <a:custGeom>
              <a:avLst/>
              <a:gdLst/>
              <a:ahLst/>
              <a:cxnLst/>
              <a:rect l="l" t="t" r="r" b="b"/>
              <a:pathLst>
                <a:path w="222914" h="222906">
                  <a:moveTo>
                    <a:pt x="115380" y="38756"/>
                  </a:moveTo>
                  <a:lnTo>
                    <a:pt x="184150" y="107526"/>
                  </a:lnTo>
                  <a:lnTo>
                    <a:pt x="72479" y="219185"/>
                  </a:lnTo>
                  <a:cubicBezTo>
                    <a:pt x="70098" y="221567"/>
                    <a:pt x="66868" y="222905"/>
                    <a:pt x="63500" y="222906"/>
                  </a:cubicBezTo>
                  <a:lnTo>
                    <a:pt x="12700" y="222906"/>
                  </a:lnTo>
                  <a:cubicBezTo>
                    <a:pt x="5686" y="222906"/>
                    <a:pt x="0" y="217220"/>
                    <a:pt x="0" y="210206"/>
                  </a:cubicBezTo>
                  <a:lnTo>
                    <a:pt x="0" y="159406"/>
                  </a:lnTo>
                  <a:cubicBezTo>
                    <a:pt x="1" y="156038"/>
                    <a:pt x="1339" y="152808"/>
                    <a:pt x="3721" y="150427"/>
                  </a:cubicBezTo>
                  <a:close/>
                  <a:moveTo>
                    <a:pt x="184036" y="4491"/>
                  </a:moveTo>
                  <a:cubicBezTo>
                    <a:pt x="200816" y="8985"/>
                    <a:pt x="213923" y="22091"/>
                    <a:pt x="218418" y="38871"/>
                  </a:cubicBezTo>
                  <a:cubicBezTo>
                    <a:pt x="222914" y="55650"/>
                    <a:pt x="218115" y="73554"/>
                    <a:pt x="205829" y="85835"/>
                  </a:cubicBezTo>
                  <a:lnTo>
                    <a:pt x="202121" y="89556"/>
                  </a:lnTo>
                  <a:lnTo>
                    <a:pt x="133350" y="20785"/>
                  </a:lnTo>
                  <a:lnTo>
                    <a:pt x="137071" y="17077"/>
                  </a:lnTo>
                  <a:cubicBezTo>
                    <a:pt x="149356" y="4797"/>
                    <a:pt x="167257" y="0"/>
                    <a:pt x="184036" y="4491"/>
                  </a:cubicBezTo>
                </a:path>
              </a:pathLst>
            </a:custGeom>
            <a:solidFill>
              <a:srgbClr val="E8A87C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648325" y="1533525"/>
              <a:ext cx="9467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Act 行动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225415" y="1886902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执行工具调用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225415" y="2125028"/>
              <a:ext cx="182089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搜索、读写文件、API 请求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227320" y="2360295"/>
              <a:ext cx="184337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i="1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"调用 get_weather('北京')"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7620000" y="1905000"/>
              <a:ext cx="571500" cy="1"/>
            </a:xfrm>
            <a:prstGeom prst="line">
              <a:avLst/>
            </a:prstGeom>
            <a:noFill/>
            <a:ln w="23812">
              <a:solidFill>
                <a:srgbClr val="8B6F47"/>
              </a:solidFill>
              <a:tailEnd type="triangle" w="lg" len="lg"/>
            </a:ln>
          </p:spPr>
        </p:sp>
        <p:sp>
          <p:nvSpPr>
            <p:cNvPr id="30" name="Rectangle 30"/>
            <p:cNvSpPr/>
            <p:nvPr/>
          </p:nvSpPr>
          <p:spPr>
            <a:xfrm>
              <a:off x="8382000" y="1238250"/>
              <a:ext cx="2667000" cy="1333500"/>
            </a:xfrm>
            <a:prstGeom prst="roundRect">
              <a:avLst>
                <a:gd name="adj" fmla="val 11429"/>
              </a:avLst>
            </a:prstGeom>
            <a:solidFill>
              <a:srgbClr val="FAF7F2"/>
            </a:solidFill>
            <a:ln w="19050">
              <a:solidFill>
                <a:srgbClr val="8FBC8F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8382000" y="1238250"/>
              <a:ext cx="2667000" cy="57150"/>
            </a:xfrm>
            <a:prstGeom prst="roundRect">
              <a:avLst>
                <a:gd name="adj" fmla="val 50000"/>
              </a:avLst>
            </a:prstGeom>
            <a:solidFill>
              <a:srgbClr val="8FBC8F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8679897" y="1527175"/>
              <a:ext cx="279941" cy="203200"/>
            </a:xfrm>
            <a:custGeom>
              <a:avLst/>
              <a:gdLst/>
              <a:ahLst/>
              <a:cxnLst/>
              <a:rect l="l" t="t" r="r" b="b"/>
              <a:pathLst>
                <a:path w="279941" h="203200">
                  <a:moveTo>
                    <a:pt x="140253" y="0"/>
                  </a:moveTo>
                  <a:cubicBezTo>
                    <a:pt x="194736" y="0"/>
                    <a:pt x="240113" y="30848"/>
                    <a:pt x="275699" y="90856"/>
                  </a:cubicBezTo>
                  <a:lnTo>
                    <a:pt x="278493" y="95669"/>
                  </a:lnTo>
                  <a:lnTo>
                    <a:pt x="279064" y="96939"/>
                  </a:lnTo>
                  <a:lnTo>
                    <a:pt x="279445" y="97993"/>
                  </a:lnTo>
                  <a:lnTo>
                    <a:pt x="279623" y="98692"/>
                  </a:lnTo>
                  <a:lnTo>
                    <a:pt x="279801" y="99733"/>
                  </a:lnTo>
                  <a:lnTo>
                    <a:pt x="279941" y="101003"/>
                  </a:lnTo>
                  <a:lnTo>
                    <a:pt x="279941" y="102400"/>
                  </a:lnTo>
                  <a:lnTo>
                    <a:pt x="279763" y="103810"/>
                  </a:lnTo>
                  <a:cubicBezTo>
                    <a:pt x="279679" y="104281"/>
                    <a:pt x="279569" y="104748"/>
                    <a:pt x="279433" y="105207"/>
                  </a:cubicBezTo>
                  <a:lnTo>
                    <a:pt x="278937" y="106578"/>
                  </a:lnTo>
                  <a:lnTo>
                    <a:pt x="278480" y="107531"/>
                  </a:lnTo>
                  <a:lnTo>
                    <a:pt x="278277" y="107912"/>
                  </a:lnTo>
                  <a:cubicBezTo>
                    <a:pt x="243174" y="169329"/>
                    <a:pt x="198267" y="201638"/>
                    <a:pt x="144228" y="203149"/>
                  </a:cubicBezTo>
                  <a:lnTo>
                    <a:pt x="140253" y="203200"/>
                  </a:lnTo>
                  <a:cubicBezTo>
                    <a:pt x="84424" y="203200"/>
                    <a:pt x="38183" y="170828"/>
                    <a:pt x="2230" y="107899"/>
                  </a:cubicBezTo>
                  <a:cubicBezTo>
                    <a:pt x="0" y="103996"/>
                    <a:pt x="0" y="99204"/>
                    <a:pt x="2230" y="95301"/>
                  </a:cubicBezTo>
                  <a:cubicBezTo>
                    <a:pt x="38183" y="32372"/>
                    <a:pt x="84424" y="0"/>
                    <a:pt x="140253" y="0"/>
                  </a:cubicBezTo>
                  <a:close/>
                  <a:moveTo>
                    <a:pt x="140253" y="63500"/>
                  </a:moveTo>
                  <a:cubicBezTo>
                    <a:pt x="119211" y="63500"/>
                    <a:pt x="102153" y="80558"/>
                    <a:pt x="102153" y="101600"/>
                  </a:cubicBezTo>
                  <a:cubicBezTo>
                    <a:pt x="102153" y="122642"/>
                    <a:pt x="119211" y="139700"/>
                    <a:pt x="140253" y="139700"/>
                  </a:cubicBezTo>
                  <a:cubicBezTo>
                    <a:pt x="161295" y="139700"/>
                    <a:pt x="178353" y="122642"/>
                    <a:pt x="178353" y="101600"/>
                  </a:cubicBezTo>
                  <a:cubicBezTo>
                    <a:pt x="178353" y="80558"/>
                    <a:pt x="161295" y="63500"/>
                    <a:pt x="140253" y="63500"/>
                  </a:cubicBezTo>
                </a:path>
              </a:pathLst>
            </a:custGeom>
            <a:solidFill>
              <a:srgbClr val="8FBC8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077325" y="1533525"/>
              <a:ext cx="149878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Observe 观察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654415" y="1886902"/>
              <a:ext cx="1406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查看工具返回的结果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654415" y="2125028"/>
              <a:ext cx="7934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理解新信息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656320" y="2360295"/>
              <a:ext cx="12058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i="1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"返回: 28°C, 晴天"</a:t>
              </a:r>
            </a:p>
          </p:txBody>
        </p:sp>
        <p:sp>
          <p:nvSpPr>
            <p:cNvPr id="37" name="Freeform 37"/>
            <p:cNvSpPr/>
            <p:nvPr/>
          </p:nvSpPr>
          <p:spPr>
            <a:xfrm>
              <a:off x="2857500" y="2571750"/>
              <a:ext cx="6858000" cy="952500"/>
            </a:xfrm>
            <a:custGeom>
              <a:avLst/>
              <a:gdLst/>
              <a:ahLst/>
              <a:cxnLst/>
              <a:rect l="l" t="t" r="r" b="b"/>
              <a:pathLst>
                <a:path w="6858000" h="952500">
                  <a:moveTo>
                    <a:pt x="6858000" y="0"/>
                  </a:moveTo>
                  <a:lnTo>
                    <a:pt x="6858000" y="666750"/>
                  </a:lnTo>
                  <a:cubicBezTo>
                    <a:pt x="6858000" y="857250"/>
                    <a:pt x="6762750" y="952500"/>
                    <a:pt x="6572250" y="952500"/>
                  </a:cubicBezTo>
                  <a:lnTo>
                    <a:pt x="285750" y="952500"/>
                  </a:lnTo>
                  <a:cubicBezTo>
                    <a:pt x="95250" y="952500"/>
                    <a:pt x="0" y="857250"/>
                    <a:pt x="0" y="666750"/>
                  </a:cubicBezTo>
                  <a:lnTo>
                    <a:pt x="0" y="95250"/>
                  </a:lnTo>
                </a:path>
              </a:pathLst>
            </a:custGeom>
            <a:noFill/>
            <a:ln w="23812">
              <a:solidFill>
                <a:srgbClr val="C4956A"/>
              </a:solidFill>
              <a:prstDash val="lgDash"/>
              <a:tailEnd type="triangle" w="lg" len="lg"/>
            </a:ln>
          </p:spPr>
        </p:sp>
        <p:sp>
          <p:nvSpPr>
            <p:cNvPr id="38" name="Rectangle 38"/>
            <p:cNvSpPr/>
            <p:nvPr/>
          </p:nvSpPr>
          <p:spPr>
            <a:xfrm>
              <a:off x="5143500" y="3333750"/>
              <a:ext cx="1714500" cy="285750"/>
            </a:xfrm>
            <a:prstGeom prst="roundRect">
              <a:avLst>
                <a:gd name="adj" fmla="val 26667"/>
              </a:avLst>
            </a:prstGeom>
            <a:solidFill>
              <a:srgbClr val="C4956A">
                <a:alpha val="15000"/>
              </a:srgbClr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274901" y="3420428"/>
              <a:ext cx="14516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4956A"/>
                  </a:solidFill>
                  <a:latin typeface="Arial"/>
                  <a:ea typeface="Microsoft YaHei"/>
                  <a:cs typeface="Arial"/>
                </a:rPr>
                <a:t>🔄 循环直到任务完成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71500" y="3857625"/>
            <a:ext cx="11049000" cy="1905000"/>
            <a:chOff x="571500" y="3857625"/>
            <a:chExt cx="11049000" cy="1905000"/>
          </a:xfrm>
        </p:grpSpPr>
        <p:sp>
          <p:nvSpPr>
            <p:cNvPr id="41" name="Rectangle 41"/>
            <p:cNvSpPr/>
            <p:nvPr/>
          </p:nvSpPr>
          <p:spPr>
            <a:xfrm>
              <a:off x="571500" y="3857625"/>
              <a:ext cx="11049000" cy="1905000"/>
            </a:xfrm>
            <a:prstGeom prst="roundRect">
              <a:avLst>
                <a:gd name="adj" fmla="val 8000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42010" y="4013835"/>
              <a:ext cx="223875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实际例子：帮你写一份周报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44868" y="4323874"/>
              <a:ext cx="4957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循环 1: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559242" y="4323874"/>
              <a:ext cx="593431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Think: 需要知道本周做了什么 → Act: 读取日历和 Git 提交记录 → Observe: 获取到 12 条记录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44868" y="4609624"/>
              <a:ext cx="53312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循环 2: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559242" y="4609624"/>
              <a:ext cx="51796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Think: 需要分类整理 → Act: 按项目归类，生成大纲 → Observe: 大纲有 5 个部分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44868" y="4895374"/>
              <a:ext cx="53312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8FBC8F"/>
                  </a:solidFill>
                  <a:latin typeface="Arial"/>
                  <a:ea typeface="Microsoft YaHei"/>
                  <a:cs typeface="Arial"/>
                </a:rPr>
                <a:t>循环 3: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559242" y="4895374"/>
              <a:ext cx="460288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Think: 需要写成文档 → Act: 生成周报 Markdown → Observe: 文档完成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44868" y="5181124"/>
              <a:ext cx="53312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C4956A"/>
                  </a:solidFill>
                  <a:latin typeface="Arial"/>
                  <a:ea typeface="Microsoft YaHei"/>
                  <a:cs typeface="Arial"/>
                </a:rPr>
                <a:t>循环 4: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559242" y="5181124"/>
              <a:ext cx="47310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 xml:space="preserve">Think: 需要发给老板 → Act: 发送邮件 → Observe: 发送成功 → </a:t>
              </a:r>
              <a:r>
                <a:rPr lang="zh-CN" sz="975" b="1" dirty="0">
                  <a:solidFill>
                    <a:srgbClr val="8FBC8F"/>
                  </a:solidFill>
                  <a:latin typeface="Arial"/>
                  <a:ea typeface="Microsoft YaHei"/>
                  <a:cs typeface="Arial"/>
                </a:rPr>
                <a:t>任务完成 ✓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857250" y="5476875"/>
              <a:ext cx="10477500" cy="190500"/>
            </a:xfrm>
            <a:prstGeom prst="roundRect">
              <a:avLst>
                <a:gd name="adj" fmla="val 20000"/>
              </a:avLst>
            </a:prstGeom>
            <a:solidFill>
              <a:srgbClr val="8B6F47">
                <a:alpha val="4000"/>
              </a:srgbClr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4037314" y="5522595"/>
              <a:ext cx="411737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每个循环都是一次 Think → Act → Observe，直到 Agent 判断任务完成</a:t>
              </a:r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11654980" y="6522720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33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5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8B6F47"/>
              </a:gs>
              <a:gs pos="100000">
                <a:srgbClr val="6B5535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572500" y="3810000"/>
            <a:ext cx="3810000" cy="3810000"/>
          </a:xfrm>
          <a:prstGeom prst="ellipse">
            <a:avLst/>
          </a:prstGeom>
          <a:solidFill>
            <a:srgbClr val="FAF7F2">
              <a:alpha val="5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571500" y="190500"/>
            <a:ext cx="2286000" cy="2286000"/>
          </a:xfrm>
          <a:prstGeom prst="ellipse">
            <a:avLst/>
          </a:prstGeom>
          <a:solidFill>
            <a:srgbClr val="FAF7F2">
              <a:alpha val="4000"/>
            </a:srgbClr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3234728" y="1504950"/>
            <a:ext cx="5722544" cy="3095630"/>
            <a:chOff x="3234728" y="1504950"/>
            <a:chExt cx="5722544" cy="3095630"/>
          </a:xfrm>
        </p:grpSpPr>
        <p:sp>
          <p:nvSpPr>
            <p:cNvPr id="5" name="TextBox 5"/>
            <p:cNvSpPr txBox="1"/>
            <p:nvPr/>
          </p:nvSpPr>
          <p:spPr>
            <a:xfrm>
              <a:off x="5395127" y="1504950"/>
              <a:ext cx="1401747" cy="1828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0" b="1" dirty="0">
                  <a:solidFill>
                    <a:srgbClr val="FAF7F2">
                      <a:alphaMod val="15000"/>
                    </a:srgbClr>
                  </a:solidFill>
                  <a:latin typeface="Georgia"/>
                  <a:ea typeface="Microsoft YaHei"/>
                  <a:cs typeface="Georgia"/>
                </a:rPr>
                <a:t>10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3234728" y="2849880"/>
              <a:ext cx="5722544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FAF7F2"/>
                  </a:solidFill>
                  <a:latin typeface="Georgia"/>
                  <a:ea typeface="Microsoft YaHei"/>
                  <a:cs typeface="Georgia"/>
                </a:rPr>
                <a:t>Agent Skill — 技能系统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4953000" y="3476625"/>
              <a:ext cx="2286000" cy="381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4724162" y="3838575"/>
              <a:ext cx="274367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AF7F2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让 Agent 按需加载专业能力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5838820" y="4314824"/>
              <a:ext cx="286458" cy="285756"/>
            </a:xfrm>
            <a:custGeom>
              <a:avLst/>
              <a:gdLst/>
              <a:ahLst/>
              <a:cxnLst/>
              <a:rect l="l" t="t" r="r" b="b"/>
              <a:pathLst>
                <a:path w="286458" h="285756">
                  <a:moveTo>
                    <a:pt x="114305" y="1"/>
                  </a:moveTo>
                  <a:cubicBezTo>
                    <a:pt x="137001" y="0"/>
                    <a:pt x="155764" y="17692"/>
                    <a:pt x="157096" y="40349"/>
                  </a:cubicBezTo>
                  <a:lnTo>
                    <a:pt x="157167" y="42864"/>
                  </a:lnTo>
                  <a:lnTo>
                    <a:pt x="157167" y="57151"/>
                  </a:lnTo>
                  <a:lnTo>
                    <a:pt x="200030" y="57151"/>
                  </a:lnTo>
                  <a:cubicBezTo>
                    <a:pt x="214983" y="57147"/>
                    <a:pt x="227412" y="68672"/>
                    <a:pt x="228533" y="83583"/>
                  </a:cubicBezTo>
                  <a:lnTo>
                    <a:pt x="228605" y="85726"/>
                  </a:lnTo>
                  <a:lnTo>
                    <a:pt x="228605" y="128589"/>
                  </a:lnTo>
                  <a:lnTo>
                    <a:pt x="242892" y="128589"/>
                  </a:lnTo>
                  <a:cubicBezTo>
                    <a:pt x="266091" y="128566"/>
                    <a:pt x="285097" y="147005"/>
                    <a:pt x="285778" y="170193"/>
                  </a:cubicBezTo>
                  <a:cubicBezTo>
                    <a:pt x="286458" y="193382"/>
                    <a:pt x="268567" y="212904"/>
                    <a:pt x="245407" y="214242"/>
                  </a:cubicBezTo>
                  <a:lnTo>
                    <a:pt x="242892" y="214314"/>
                  </a:lnTo>
                  <a:lnTo>
                    <a:pt x="228605" y="214314"/>
                  </a:lnTo>
                  <a:lnTo>
                    <a:pt x="228605" y="257176"/>
                  </a:lnTo>
                  <a:cubicBezTo>
                    <a:pt x="228609" y="272130"/>
                    <a:pt x="217084" y="284558"/>
                    <a:pt x="202173" y="285680"/>
                  </a:cubicBezTo>
                  <a:lnTo>
                    <a:pt x="200030" y="285751"/>
                  </a:lnTo>
                  <a:lnTo>
                    <a:pt x="157167" y="285751"/>
                  </a:lnTo>
                  <a:cubicBezTo>
                    <a:pt x="142214" y="285756"/>
                    <a:pt x="129785" y="274231"/>
                    <a:pt x="128664" y="259319"/>
                  </a:cubicBezTo>
                  <a:lnTo>
                    <a:pt x="128592" y="257176"/>
                  </a:lnTo>
                  <a:lnTo>
                    <a:pt x="128592" y="242889"/>
                  </a:lnTo>
                  <a:cubicBezTo>
                    <a:pt x="128584" y="235329"/>
                    <a:pt x="122688" y="229085"/>
                    <a:pt x="115142" y="228642"/>
                  </a:cubicBezTo>
                  <a:cubicBezTo>
                    <a:pt x="107596" y="228199"/>
                    <a:pt x="101010" y="233711"/>
                    <a:pt x="100117" y="241217"/>
                  </a:cubicBezTo>
                  <a:lnTo>
                    <a:pt x="100017" y="242889"/>
                  </a:lnTo>
                  <a:lnTo>
                    <a:pt x="100017" y="257176"/>
                  </a:lnTo>
                  <a:cubicBezTo>
                    <a:pt x="100022" y="272130"/>
                    <a:pt x="88497" y="284558"/>
                    <a:pt x="73585" y="285680"/>
                  </a:cubicBezTo>
                  <a:lnTo>
                    <a:pt x="71442" y="285751"/>
                  </a:lnTo>
                  <a:lnTo>
                    <a:pt x="28580" y="285751"/>
                  </a:lnTo>
                  <a:cubicBezTo>
                    <a:pt x="13626" y="285756"/>
                    <a:pt x="1198" y="274231"/>
                    <a:pt x="76" y="259319"/>
                  </a:cubicBezTo>
                  <a:lnTo>
                    <a:pt x="5" y="257176"/>
                  </a:lnTo>
                  <a:lnTo>
                    <a:pt x="5" y="214314"/>
                  </a:lnTo>
                  <a:cubicBezTo>
                    <a:pt x="0" y="199360"/>
                    <a:pt x="11525" y="186932"/>
                    <a:pt x="26437" y="185810"/>
                  </a:cubicBezTo>
                  <a:lnTo>
                    <a:pt x="28580" y="185739"/>
                  </a:lnTo>
                  <a:lnTo>
                    <a:pt x="42867" y="185739"/>
                  </a:lnTo>
                  <a:cubicBezTo>
                    <a:pt x="50427" y="185730"/>
                    <a:pt x="56671" y="179835"/>
                    <a:pt x="57114" y="172289"/>
                  </a:cubicBezTo>
                  <a:cubicBezTo>
                    <a:pt x="57557" y="164742"/>
                    <a:pt x="52045" y="158157"/>
                    <a:pt x="44539" y="157264"/>
                  </a:cubicBezTo>
                  <a:lnTo>
                    <a:pt x="42867" y="157164"/>
                  </a:lnTo>
                  <a:lnTo>
                    <a:pt x="28580" y="157164"/>
                  </a:lnTo>
                  <a:cubicBezTo>
                    <a:pt x="13626" y="157168"/>
                    <a:pt x="1198" y="145643"/>
                    <a:pt x="76" y="130732"/>
                  </a:cubicBezTo>
                  <a:lnTo>
                    <a:pt x="5" y="128589"/>
                  </a:lnTo>
                  <a:lnTo>
                    <a:pt x="5" y="85726"/>
                  </a:lnTo>
                  <a:cubicBezTo>
                    <a:pt x="0" y="70773"/>
                    <a:pt x="11525" y="58344"/>
                    <a:pt x="26437" y="57223"/>
                  </a:cubicBezTo>
                  <a:lnTo>
                    <a:pt x="28580" y="57151"/>
                  </a:lnTo>
                  <a:lnTo>
                    <a:pt x="71442" y="57151"/>
                  </a:lnTo>
                  <a:lnTo>
                    <a:pt x="71442" y="42864"/>
                  </a:lnTo>
                  <a:cubicBezTo>
                    <a:pt x="71442" y="19191"/>
                    <a:pt x="90632" y="1"/>
                    <a:pt x="114305" y="1"/>
                  </a:cubicBezTo>
                  <a:close/>
                </a:path>
              </a:pathLst>
            </a:custGeom>
            <a:solidFill>
              <a:srgbClr val="E8A87C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369570" y="6522720"/>
            <a:ext cx="11452859" cy="182880"/>
            <a:chOff x="369570" y="6522720"/>
            <a:chExt cx="11452859" cy="182880"/>
          </a:xfrm>
        </p:grpSpPr>
        <p:sp>
          <p:nvSpPr>
            <p:cNvPr id="11" name="TextBox 11"/>
            <p:cNvSpPr txBox="1"/>
            <p:nvPr/>
          </p:nvSpPr>
          <p:spPr>
            <a:xfrm>
              <a:off x="369570" y="6522720"/>
              <a:ext cx="14687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AI大家学 · 大模型技术篇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654980" y="6522720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42925" y="376238"/>
            <a:ext cx="3214295" cy="457200"/>
            <a:chOff x="542925" y="376238"/>
            <a:chExt cx="3214295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376238"/>
              <a:ext cx="3214295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Skill = 岗位培训手册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1143000" y="1333500"/>
            <a:ext cx="3810000" cy="2381250"/>
            <a:chOff x="1143000" y="1333500"/>
            <a:chExt cx="3810000" cy="2381250"/>
          </a:xfrm>
        </p:grpSpPr>
        <p:sp>
          <p:nvSpPr>
            <p:cNvPr id="6" name="Rectangle 6"/>
            <p:cNvSpPr/>
            <p:nvPr/>
          </p:nvSpPr>
          <p:spPr>
            <a:xfrm>
              <a:off x="1143000" y="1333500"/>
              <a:ext cx="3810000" cy="2381250"/>
            </a:xfrm>
            <a:prstGeom prst="roundRect">
              <a:avLst>
                <a:gd name="adj" fmla="val 6400"/>
              </a:avLst>
            </a:prstGeom>
            <a:solidFill>
              <a:srgbClr val="FAF7F2"/>
            </a:solidFill>
            <a:ln w="19050">
              <a:solidFill>
                <a:srgbClr val="8B6F47"/>
              </a:solidFill>
            </a:ln>
          </p:spPr>
        </p:sp>
        <p:grpSp>
          <p:nvGrpSpPr>
            <p:cNvPr id="9" name="Group 9"/>
            <p:cNvGrpSpPr/>
            <p:nvPr/>
          </p:nvGrpSpPr>
          <p:grpSpPr>
            <a:xfrm>
              <a:off x="1603375" y="1651000"/>
              <a:ext cx="222250" cy="317500"/>
              <a:chOff x="1603375" y="1651000"/>
              <a:chExt cx="222250" cy="3175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635125" y="1651000"/>
                <a:ext cx="158750" cy="158750"/>
              </a:xfrm>
              <a:custGeom>
                <a:avLst/>
                <a:gdLst/>
                <a:ahLst/>
                <a:cxnLst/>
                <a:rect l="l" t="t" r="r" b="b"/>
                <a:pathLst>
                  <a:path w="158750" h="158750">
                    <a:moveTo>
                      <a:pt x="79375" y="0"/>
                    </a:moveTo>
                    <a:cubicBezTo>
                      <a:pt x="123213" y="0"/>
                      <a:pt x="158750" y="35537"/>
                      <a:pt x="158750" y="79375"/>
                    </a:cubicBezTo>
                    <a:cubicBezTo>
                      <a:pt x="158750" y="123213"/>
                      <a:pt x="123213" y="158750"/>
                      <a:pt x="79375" y="158750"/>
                    </a:cubicBezTo>
                    <a:cubicBezTo>
                      <a:pt x="35537" y="158750"/>
                      <a:pt x="0" y="123213"/>
                      <a:pt x="0" y="79375"/>
                    </a:cubicBezTo>
                    <a:lnTo>
                      <a:pt x="79" y="75930"/>
                    </a:lnTo>
                    <a:cubicBezTo>
                      <a:pt x="1924" y="33474"/>
                      <a:pt x="36879" y="2"/>
                      <a:pt x="79375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603375" y="1841500"/>
                <a:ext cx="22225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127000">
                    <a:moveTo>
                      <a:pt x="142875" y="0"/>
                    </a:moveTo>
                    <a:cubicBezTo>
                      <a:pt x="186713" y="0"/>
                      <a:pt x="222250" y="35537"/>
                      <a:pt x="222250" y="79375"/>
                    </a:cubicBezTo>
                    <a:lnTo>
                      <a:pt x="222250" y="95250"/>
                    </a:lnTo>
                    <a:cubicBezTo>
                      <a:pt x="222250" y="112785"/>
                      <a:pt x="208035" y="127000"/>
                      <a:pt x="190500" y="127000"/>
                    </a:cubicBezTo>
                    <a:lnTo>
                      <a:pt x="31750" y="127000"/>
                    </a:lnTo>
                    <a:cubicBezTo>
                      <a:pt x="14215" y="127000"/>
                      <a:pt x="0" y="112785"/>
                      <a:pt x="0" y="95250"/>
                    </a:cubicBezTo>
                    <a:lnTo>
                      <a:pt x="0" y="79375"/>
                    </a:lnTo>
                    <a:cubicBezTo>
                      <a:pt x="0" y="35537"/>
                      <a:pt x="35537" y="0"/>
                      <a:pt x="79375" y="0"/>
                    </a:cubicBezTo>
                    <a:lnTo>
                      <a:pt x="142875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2028825" y="1714500"/>
              <a:ext cx="208535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Agent = 全能型员工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09712" y="2116931"/>
              <a:ext cx="23288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基础能力：读写文件、调用工具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09712" y="2355056"/>
              <a:ext cx="23288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通用逻辑：分析问题、规划步骤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10665" y="2648902"/>
              <a:ext cx="241896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但不知道怎么生成一份专业 PPT...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10665" y="2887028"/>
              <a:ext cx="26489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也不知道 ppt-master 的 7 步流程...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510665" y="3220402"/>
              <a:ext cx="19052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i="1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需要一个 "岗位培训手册" 📋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5069205" y="2345055"/>
            <a:ext cx="22202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E8A87C"/>
                </a:solidFill>
                <a:latin typeface="Arial"/>
                <a:ea typeface="Microsoft YaHei"/>
                <a:cs typeface="Arial"/>
              </a:rPr>
              <a:t>+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5429250" y="1333500"/>
            <a:ext cx="5619750" cy="2381250"/>
            <a:chOff x="5429250" y="1333500"/>
            <a:chExt cx="5619750" cy="2381250"/>
          </a:xfrm>
        </p:grpSpPr>
        <p:sp>
          <p:nvSpPr>
            <p:cNvPr id="18" name="Rectangle 18"/>
            <p:cNvSpPr/>
            <p:nvPr/>
          </p:nvSpPr>
          <p:spPr>
            <a:xfrm>
              <a:off x="5429250" y="1333500"/>
              <a:ext cx="5619750" cy="2381250"/>
            </a:xfrm>
            <a:prstGeom prst="roundRect">
              <a:avLst>
                <a:gd name="adj" fmla="val 6400"/>
              </a:avLst>
            </a:prstGeom>
            <a:solidFill>
              <a:srgbClr val="FAF7F2"/>
            </a:solidFill>
            <a:ln w="19050">
              <a:solidFill>
                <a:srgbClr val="E8A87C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5842000" y="1672927"/>
              <a:ext cx="317500" cy="264531"/>
            </a:xfrm>
            <a:custGeom>
              <a:avLst/>
              <a:gdLst/>
              <a:ahLst/>
              <a:cxnLst/>
              <a:rect l="l" t="t" r="r" b="b"/>
              <a:pathLst>
                <a:path w="317500" h="264531">
                  <a:moveTo>
                    <a:pt x="309562" y="27825"/>
                  </a:moveTo>
                  <a:cubicBezTo>
                    <a:pt x="313898" y="30328"/>
                    <a:pt x="316798" y="34729"/>
                    <a:pt x="317389" y="39700"/>
                  </a:cubicBezTo>
                  <a:lnTo>
                    <a:pt x="317500" y="41573"/>
                  </a:lnTo>
                  <a:lnTo>
                    <a:pt x="317500" y="247948"/>
                  </a:lnTo>
                  <a:cubicBezTo>
                    <a:pt x="317500" y="253619"/>
                    <a:pt x="314474" y="258860"/>
                    <a:pt x="309562" y="261696"/>
                  </a:cubicBezTo>
                  <a:cubicBezTo>
                    <a:pt x="304651" y="264531"/>
                    <a:pt x="298599" y="264531"/>
                    <a:pt x="293688" y="261696"/>
                  </a:cubicBezTo>
                  <a:cubicBezTo>
                    <a:pt x="257163" y="240605"/>
                    <a:pt x="212552" y="239023"/>
                    <a:pt x="174625" y="257473"/>
                  </a:cubicBezTo>
                  <a:lnTo>
                    <a:pt x="174625" y="16586"/>
                  </a:lnTo>
                  <a:cubicBezTo>
                    <a:pt x="219027" y="0"/>
                    <a:pt x="268517" y="4122"/>
                    <a:pt x="309562" y="27825"/>
                  </a:cubicBezTo>
                  <a:moveTo>
                    <a:pt x="142875" y="16601"/>
                  </a:moveTo>
                  <a:lnTo>
                    <a:pt x="142891" y="257489"/>
                  </a:lnTo>
                  <a:cubicBezTo>
                    <a:pt x="106502" y="239774"/>
                    <a:pt x="63848" y="240464"/>
                    <a:pt x="28051" y="259346"/>
                  </a:cubicBezTo>
                  <a:lnTo>
                    <a:pt x="22860" y="262204"/>
                  </a:lnTo>
                  <a:lnTo>
                    <a:pt x="21225" y="262902"/>
                  </a:lnTo>
                  <a:lnTo>
                    <a:pt x="20447" y="263156"/>
                  </a:lnTo>
                  <a:lnTo>
                    <a:pt x="18701" y="263569"/>
                  </a:lnTo>
                  <a:lnTo>
                    <a:pt x="17732" y="263728"/>
                  </a:lnTo>
                  <a:lnTo>
                    <a:pt x="15875" y="263823"/>
                  </a:lnTo>
                  <a:lnTo>
                    <a:pt x="15208" y="263823"/>
                  </a:lnTo>
                  <a:lnTo>
                    <a:pt x="13462" y="263632"/>
                  </a:lnTo>
                  <a:lnTo>
                    <a:pt x="12240" y="263410"/>
                  </a:lnTo>
                  <a:lnTo>
                    <a:pt x="10525" y="262902"/>
                  </a:lnTo>
                  <a:lnTo>
                    <a:pt x="8525" y="262013"/>
                  </a:lnTo>
                  <a:lnTo>
                    <a:pt x="7017" y="261124"/>
                  </a:lnTo>
                  <a:lnTo>
                    <a:pt x="5604" y="260060"/>
                  </a:lnTo>
                  <a:lnTo>
                    <a:pt x="4651" y="259171"/>
                  </a:lnTo>
                  <a:lnTo>
                    <a:pt x="3493" y="257870"/>
                  </a:lnTo>
                  <a:lnTo>
                    <a:pt x="2476" y="256457"/>
                  </a:lnTo>
                  <a:lnTo>
                    <a:pt x="2127" y="255885"/>
                  </a:lnTo>
                  <a:lnTo>
                    <a:pt x="1619" y="254933"/>
                  </a:lnTo>
                  <a:lnTo>
                    <a:pt x="921" y="253298"/>
                  </a:lnTo>
                  <a:lnTo>
                    <a:pt x="667" y="252520"/>
                  </a:lnTo>
                  <a:lnTo>
                    <a:pt x="254" y="250774"/>
                  </a:lnTo>
                  <a:lnTo>
                    <a:pt x="95" y="249805"/>
                  </a:lnTo>
                  <a:lnTo>
                    <a:pt x="32" y="249027"/>
                  </a:lnTo>
                  <a:lnTo>
                    <a:pt x="0" y="41573"/>
                  </a:lnTo>
                  <a:cubicBezTo>
                    <a:pt x="0" y="35901"/>
                    <a:pt x="3026" y="30661"/>
                    <a:pt x="7937" y="27825"/>
                  </a:cubicBezTo>
                  <a:cubicBezTo>
                    <a:pt x="48986" y="4127"/>
                    <a:pt x="98476" y="11"/>
                    <a:pt x="142875" y="16601"/>
                  </a:cubicBezTo>
                </a:path>
              </a:pathLst>
            </a:custGeom>
            <a:solidFill>
              <a:srgbClr val="E8A87C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15075" y="1714500"/>
              <a:ext cx="214286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Skill = 岗位培训手册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795962" y="2116931"/>
              <a:ext cx="223027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一个 Markdown 文件，包含：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796915" y="2410778"/>
              <a:ext cx="22809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📋 详细的工作流程（7 步做什么）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796915" y="2648902"/>
              <a:ext cx="19972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📏 规范和约束（哪些不能做）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796915" y="2887028"/>
              <a:ext cx="15371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🔧 脚本和工具调用方式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796915" y="3125152"/>
              <a:ext cx="12304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📝 模板和参考文档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796915" y="3410902"/>
              <a:ext cx="20279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Agent 读完就知道该怎么干活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143000" y="4000500"/>
            <a:ext cx="9906000" cy="857250"/>
            <a:chOff x="1143000" y="4000500"/>
            <a:chExt cx="9906000" cy="857250"/>
          </a:xfrm>
        </p:grpSpPr>
        <p:sp>
          <p:nvSpPr>
            <p:cNvPr id="28" name="Rectangle 28"/>
            <p:cNvSpPr/>
            <p:nvPr/>
          </p:nvSpPr>
          <p:spPr>
            <a:xfrm>
              <a:off x="1143000" y="4000500"/>
              <a:ext cx="9906000" cy="857250"/>
            </a:xfrm>
            <a:prstGeom prst="roundRect">
              <a:avLst>
                <a:gd name="adj" fmla="val 17778"/>
              </a:avLst>
            </a:prstGeom>
            <a:solidFill>
              <a:srgbClr val="8FBC8F">
                <a:alpha val="10000"/>
              </a:srgbClr>
            </a:solidFill>
            <a:ln w="14288">
              <a:solidFill>
                <a:srgbClr val="8FBC8F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1478458" y="4265963"/>
              <a:ext cx="218229" cy="154874"/>
            </a:xfrm>
            <a:custGeom>
              <a:avLst/>
              <a:gdLst/>
              <a:ahLst/>
              <a:cxnLst/>
              <a:rect l="l" t="t" r="r" b="b"/>
              <a:pathLst>
                <a:path w="218229" h="154874">
                  <a:moveTo>
                    <a:pt x="213271" y="4958"/>
                  </a:moveTo>
                  <a:cubicBezTo>
                    <a:pt x="218229" y="9917"/>
                    <a:pt x="218229" y="17956"/>
                    <a:pt x="213271" y="22916"/>
                  </a:cubicBezTo>
                  <a:lnTo>
                    <a:pt x="86271" y="149916"/>
                  </a:lnTo>
                  <a:cubicBezTo>
                    <a:pt x="81311" y="154874"/>
                    <a:pt x="73272" y="154874"/>
                    <a:pt x="68313" y="149916"/>
                  </a:cubicBezTo>
                  <a:lnTo>
                    <a:pt x="4813" y="86416"/>
                  </a:lnTo>
                  <a:cubicBezTo>
                    <a:pt x="0" y="81432"/>
                    <a:pt x="69" y="73511"/>
                    <a:pt x="4968" y="68613"/>
                  </a:cubicBezTo>
                  <a:cubicBezTo>
                    <a:pt x="9866" y="63714"/>
                    <a:pt x="17788" y="63645"/>
                    <a:pt x="22771" y="68458"/>
                  </a:cubicBezTo>
                  <a:lnTo>
                    <a:pt x="77292" y="122979"/>
                  </a:lnTo>
                  <a:lnTo>
                    <a:pt x="195313" y="4958"/>
                  </a:lnTo>
                  <a:cubicBezTo>
                    <a:pt x="200272" y="0"/>
                    <a:pt x="208311" y="0"/>
                    <a:pt x="213271" y="4958"/>
                  </a:cubicBezTo>
                </a:path>
              </a:pathLst>
            </a:custGeom>
            <a:solidFill>
              <a:srgbClr val="8FBC8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840230" y="4216718"/>
              <a:ext cx="370899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Agent + Skill = 一个会做 PPT 的 AI 助手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844040" y="4553902"/>
              <a:ext cx="56853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你现在用的 ppt-master 就是一个 Skill！它教会 Claude 怎么一步步生成 42 页 PPT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143000" y="5095875"/>
            <a:ext cx="9906000" cy="542925"/>
            <a:chOff x="1143000" y="5095875"/>
            <a:chExt cx="9906000" cy="542925"/>
          </a:xfrm>
        </p:grpSpPr>
        <p:sp>
          <p:nvSpPr>
            <p:cNvPr id="33" name="Rectangle 33"/>
            <p:cNvSpPr/>
            <p:nvPr/>
          </p:nvSpPr>
          <p:spPr>
            <a:xfrm>
              <a:off x="1143000" y="5095875"/>
              <a:ext cx="3143250" cy="523875"/>
            </a:xfrm>
            <a:prstGeom prst="roundRect">
              <a:avLst>
                <a:gd name="adj" fmla="val 18182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1400174" y="5224958"/>
              <a:ext cx="200567" cy="201349"/>
            </a:xfrm>
            <a:custGeom>
              <a:avLst/>
              <a:gdLst/>
              <a:ahLst/>
              <a:cxnLst/>
              <a:rect l="l" t="t" r="r" b="b"/>
              <a:pathLst>
                <a:path w="200567" h="201349">
                  <a:moveTo>
                    <a:pt x="142876" y="17030"/>
                  </a:moveTo>
                  <a:cubicBezTo>
                    <a:pt x="182908" y="40142"/>
                    <a:pt x="200567" y="88661"/>
                    <a:pt x="184757" y="132097"/>
                  </a:cubicBezTo>
                  <a:cubicBezTo>
                    <a:pt x="168947" y="175534"/>
                    <a:pt x="124232" y="201349"/>
                    <a:pt x="78710" y="193322"/>
                  </a:cubicBezTo>
                  <a:cubicBezTo>
                    <a:pt x="33187" y="185294"/>
                    <a:pt x="0" y="145741"/>
                    <a:pt x="1" y="99517"/>
                  </a:cubicBezTo>
                  <a:lnTo>
                    <a:pt x="49" y="96431"/>
                  </a:lnTo>
                  <a:cubicBezTo>
                    <a:pt x="1134" y="62969"/>
                    <a:pt x="19707" y="32534"/>
                    <a:pt x="48968" y="16267"/>
                  </a:cubicBezTo>
                  <a:cubicBezTo>
                    <a:pt x="78230" y="0"/>
                    <a:pt x="113883" y="290"/>
                    <a:pt x="142876" y="17030"/>
                  </a:cubicBezTo>
                  <a:moveTo>
                    <a:pt x="82935" y="73732"/>
                  </a:moveTo>
                  <a:cubicBezTo>
                    <a:pt x="79216" y="70014"/>
                    <a:pt x="73187" y="70014"/>
                    <a:pt x="69467" y="73732"/>
                  </a:cubicBezTo>
                  <a:lnTo>
                    <a:pt x="50417" y="92782"/>
                  </a:lnTo>
                  <a:cubicBezTo>
                    <a:pt x="46699" y="96502"/>
                    <a:pt x="46699" y="102531"/>
                    <a:pt x="50417" y="106251"/>
                  </a:cubicBezTo>
                  <a:lnTo>
                    <a:pt x="69467" y="125301"/>
                  </a:lnTo>
                  <a:cubicBezTo>
                    <a:pt x="73187" y="129019"/>
                    <a:pt x="79216" y="129019"/>
                    <a:pt x="82935" y="125301"/>
                  </a:cubicBezTo>
                  <a:lnTo>
                    <a:pt x="83726" y="124405"/>
                  </a:lnTo>
                  <a:cubicBezTo>
                    <a:pt x="86667" y="120614"/>
                    <a:pt x="86328" y="115226"/>
                    <a:pt x="82935" y="111832"/>
                  </a:cubicBezTo>
                  <a:lnTo>
                    <a:pt x="70629" y="99517"/>
                  </a:lnTo>
                  <a:lnTo>
                    <a:pt x="82935" y="87201"/>
                  </a:lnTo>
                  <a:cubicBezTo>
                    <a:pt x="86654" y="83481"/>
                    <a:pt x="86654" y="77452"/>
                    <a:pt x="82935" y="73732"/>
                  </a:cubicBezTo>
                  <a:moveTo>
                    <a:pt x="121035" y="73732"/>
                  </a:moveTo>
                  <a:cubicBezTo>
                    <a:pt x="117316" y="70014"/>
                    <a:pt x="111287" y="70014"/>
                    <a:pt x="107567" y="73732"/>
                  </a:cubicBezTo>
                  <a:lnTo>
                    <a:pt x="106776" y="74628"/>
                  </a:lnTo>
                  <a:cubicBezTo>
                    <a:pt x="103835" y="78420"/>
                    <a:pt x="104174" y="83807"/>
                    <a:pt x="107567" y="87201"/>
                  </a:cubicBezTo>
                  <a:lnTo>
                    <a:pt x="119873" y="99517"/>
                  </a:lnTo>
                  <a:lnTo>
                    <a:pt x="107567" y="111832"/>
                  </a:lnTo>
                  <a:cubicBezTo>
                    <a:pt x="103957" y="115570"/>
                    <a:pt x="104009" y="121511"/>
                    <a:pt x="107683" y="125185"/>
                  </a:cubicBezTo>
                  <a:cubicBezTo>
                    <a:pt x="111357" y="128859"/>
                    <a:pt x="117298" y="128911"/>
                    <a:pt x="121035" y="125301"/>
                  </a:cubicBezTo>
                  <a:lnTo>
                    <a:pt x="140085" y="106251"/>
                  </a:lnTo>
                  <a:cubicBezTo>
                    <a:pt x="143804" y="102531"/>
                    <a:pt x="143804" y="96502"/>
                    <a:pt x="140085" y="92782"/>
                  </a:cubicBezTo>
                  <a:close/>
                </a:path>
              </a:pathLst>
            </a:custGeom>
            <a:solidFill>
              <a:srgbClr val="8B6F47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701165" y="5249228"/>
              <a:ext cx="10410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代码审查 Skill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703070" y="5455920"/>
              <a:ext cx="164620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教 Agent 怎么按规范审代码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4524375" y="5095875"/>
              <a:ext cx="3143250" cy="523875"/>
            </a:xfrm>
            <a:prstGeom prst="roundRect">
              <a:avLst>
                <a:gd name="adj" fmla="val 18182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4777875" y="5230089"/>
              <a:ext cx="192270" cy="192231"/>
              <a:chOff x="4777875" y="5230089"/>
              <a:chExt cx="192270" cy="192231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4777875" y="5230089"/>
                <a:ext cx="192270" cy="192231"/>
              </a:xfrm>
              <a:custGeom>
                <a:avLst/>
                <a:gdLst/>
                <a:ahLst/>
                <a:cxnLst/>
                <a:rect l="l" t="t" r="r" b="b"/>
                <a:pathLst>
                  <a:path w="192270" h="192231">
                    <a:moveTo>
                      <a:pt x="78760" y="1107"/>
                    </a:moveTo>
                    <a:cubicBezTo>
                      <a:pt x="88157" y="0"/>
                      <a:pt x="96821" y="6318"/>
                      <a:pt x="98639" y="15605"/>
                    </a:cubicBezTo>
                    <a:lnTo>
                      <a:pt x="98877" y="17195"/>
                    </a:lnTo>
                    <a:lnTo>
                      <a:pt x="98925" y="18186"/>
                    </a:lnTo>
                    <a:lnTo>
                      <a:pt x="98925" y="84861"/>
                    </a:lnTo>
                    <a:cubicBezTo>
                      <a:pt x="98925" y="89690"/>
                      <a:pt x="102539" y="93754"/>
                      <a:pt x="107335" y="94319"/>
                    </a:cubicBezTo>
                    <a:lnTo>
                      <a:pt x="108450" y="94386"/>
                    </a:lnTo>
                    <a:lnTo>
                      <a:pt x="173220" y="94386"/>
                    </a:lnTo>
                    <a:cubicBezTo>
                      <a:pt x="183741" y="94386"/>
                      <a:pt x="192270" y="102915"/>
                      <a:pt x="192270" y="113436"/>
                    </a:cubicBezTo>
                    <a:cubicBezTo>
                      <a:pt x="192269" y="114160"/>
                      <a:pt x="192186" y="114883"/>
                      <a:pt x="192022" y="115588"/>
                    </a:cubicBezTo>
                    <a:cubicBezTo>
                      <a:pt x="181476" y="161090"/>
                      <a:pt x="139493" y="192231"/>
                      <a:pt x="92889" y="189121"/>
                    </a:cubicBezTo>
                    <a:cubicBezTo>
                      <a:pt x="46286" y="186011"/>
                      <a:pt x="8813" y="149567"/>
                      <a:pt x="4406" y="103068"/>
                    </a:cubicBezTo>
                    <a:cubicBezTo>
                      <a:pt x="0" y="56569"/>
                      <a:pt x="29960" y="13735"/>
                      <a:pt x="75150" y="1927"/>
                    </a:cubicBezTo>
                    <a:lnTo>
                      <a:pt x="77722" y="1288"/>
                    </a:lnTo>
                    <a:lnTo>
                      <a:pt x="78770" y="1098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4895850" y="5233501"/>
                <a:ext cx="71920" cy="71924"/>
              </a:xfrm>
              <a:custGeom>
                <a:avLst/>
                <a:gdLst/>
                <a:ahLst/>
                <a:cxnLst/>
                <a:rect l="l" t="t" r="r" b="b"/>
                <a:pathLst>
                  <a:path w="71920" h="71924">
                    <a:moveTo>
                      <a:pt x="0" y="10012"/>
                    </a:moveTo>
                    <a:lnTo>
                      <a:pt x="0" y="62399"/>
                    </a:lnTo>
                    <a:cubicBezTo>
                      <a:pt x="0" y="67660"/>
                      <a:pt x="4265" y="71924"/>
                      <a:pt x="9525" y="71924"/>
                    </a:cubicBezTo>
                    <a:lnTo>
                      <a:pt x="61913" y="71924"/>
                    </a:lnTo>
                    <a:cubicBezTo>
                      <a:pt x="65002" y="71923"/>
                      <a:pt x="67899" y="70424"/>
                      <a:pt x="69684" y="67903"/>
                    </a:cubicBezTo>
                    <a:cubicBezTo>
                      <a:pt x="71469" y="65381"/>
                      <a:pt x="71920" y="62151"/>
                      <a:pt x="70895" y="59237"/>
                    </a:cubicBezTo>
                    <a:cubicBezTo>
                      <a:pt x="61313" y="32021"/>
                      <a:pt x="39911" y="10616"/>
                      <a:pt x="12697" y="1030"/>
                    </a:cubicBezTo>
                    <a:cubicBezTo>
                      <a:pt x="9782" y="0"/>
                      <a:pt x="6548" y="449"/>
                      <a:pt x="4024" y="2235"/>
                    </a:cubicBezTo>
                    <a:cubicBezTo>
                      <a:pt x="1500" y="4020"/>
                      <a:pt x="0" y="6920"/>
                      <a:pt x="0" y="10012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5082540" y="5249228"/>
              <a:ext cx="10410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数据分析 Skill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084445" y="5455920"/>
              <a:ext cx="177765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教 Agent 怎么清洗和分析数据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7905750" y="5095875"/>
              <a:ext cx="3143250" cy="523875"/>
            </a:xfrm>
            <a:prstGeom prst="roundRect">
              <a:avLst>
                <a:gd name="adj" fmla="val 18182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8181975" y="5216547"/>
              <a:ext cx="152400" cy="203178"/>
            </a:xfrm>
            <a:custGeom>
              <a:avLst/>
              <a:gdLst/>
              <a:ahLst/>
              <a:cxnLst/>
              <a:rect l="l" t="t" r="r" b="b"/>
              <a:pathLst>
                <a:path w="152400" h="203178">
                  <a:moveTo>
                    <a:pt x="57150" y="12678"/>
                  </a:moveTo>
                  <a:cubicBezTo>
                    <a:pt x="57150" y="4296"/>
                    <a:pt x="67208" y="0"/>
                    <a:pt x="73266" y="5801"/>
                  </a:cubicBezTo>
                  <a:cubicBezTo>
                    <a:pt x="91916" y="23670"/>
                    <a:pt x="102756" y="62903"/>
                    <a:pt x="89935" y="92669"/>
                  </a:cubicBezTo>
                  <a:lnTo>
                    <a:pt x="89173" y="94326"/>
                  </a:lnTo>
                  <a:lnTo>
                    <a:pt x="89287" y="94355"/>
                  </a:lnTo>
                  <a:cubicBezTo>
                    <a:pt x="95240" y="95621"/>
                    <a:pt x="100746" y="90259"/>
                    <a:pt x="111223" y="73657"/>
                  </a:cubicBezTo>
                  <a:lnTo>
                    <a:pt x="112557" y="71523"/>
                  </a:lnTo>
                  <a:cubicBezTo>
                    <a:pt x="114123" y="69002"/>
                    <a:pt x="116776" y="67355"/>
                    <a:pt x="119731" y="67069"/>
                  </a:cubicBezTo>
                  <a:cubicBezTo>
                    <a:pt x="122686" y="66783"/>
                    <a:pt x="125605" y="67891"/>
                    <a:pt x="127625" y="70066"/>
                  </a:cubicBezTo>
                  <a:cubicBezTo>
                    <a:pt x="140332" y="83734"/>
                    <a:pt x="152400" y="111757"/>
                    <a:pt x="152400" y="129788"/>
                  </a:cubicBezTo>
                  <a:cubicBezTo>
                    <a:pt x="152400" y="170412"/>
                    <a:pt x="118196" y="203178"/>
                    <a:pt x="76200" y="203178"/>
                  </a:cubicBezTo>
                  <a:cubicBezTo>
                    <a:pt x="34204" y="203178"/>
                    <a:pt x="0" y="170412"/>
                    <a:pt x="0" y="129778"/>
                  </a:cubicBezTo>
                  <a:cubicBezTo>
                    <a:pt x="0" y="108328"/>
                    <a:pt x="9735" y="84858"/>
                    <a:pt x="25070" y="69761"/>
                  </a:cubicBezTo>
                  <a:lnTo>
                    <a:pt x="30832" y="64151"/>
                  </a:lnTo>
                  <a:cubicBezTo>
                    <a:pt x="33128" y="61903"/>
                    <a:pt x="34966" y="60055"/>
                    <a:pt x="36719" y="58207"/>
                  </a:cubicBezTo>
                  <a:cubicBezTo>
                    <a:pt x="50340" y="43805"/>
                    <a:pt x="57150" y="30356"/>
                    <a:pt x="57150" y="12678"/>
                  </a:cubicBezTo>
                </a:path>
              </a:pathLst>
            </a:custGeom>
            <a:solidFill>
              <a:srgbClr val="C4956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63915" y="5249228"/>
              <a:ext cx="10410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部署发布 Skill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465820" y="5455920"/>
              <a:ext cx="177765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教 Agent 怎么打包和发布应用</a:t>
              </a: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1654980" y="6522720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35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7" grpId="0"/>
      <p:bldP spid="32" grpId="0"/>
      <p:bldP spid="4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8B6F47"/>
              </a:gs>
              <a:gs pos="100000">
                <a:srgbClr val="6B5535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572500" y="3810000"/>
            <a:ext cx="3810000" cy="3810000"/>
          </a:xfrm>
          <a:prstGeom prst="ellipse">
            <a:avLst/>
          </a:prstGeom>
          <a:solidFill>
            <a:srgbClr val="FAF7F2">
              <a:alpha val="5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571500" y="190500"/>
            <a:ext cx="2286000" cy="2286000"/>
          </a:xfrm>
          <a:prstGeom prst="ellipse">
            <a:avLst/>
          </a:prstGeom>
          <a:solidFill>
            <a:srgbClr val="FAF7F2">
              <a:alpha val="4000"/>
            </a:srgbClr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3372745" y="1504950"/>
            <a:ext cx="5446509" cy="3105540"/>
            <a:chOff x="3372745" y="1504950"/>
            <a:chExt cx="5446509" cy="3105540"/>
          </a:xfrm>
        </p:grpSpPr>
        <p:sp>
          <p:nvSpPr>
            <p:cNvPr id="5" name="TextBox 5"/>
            <p:cNvSpPr txBox="1"/>
            <p:nvPr/>
          </p:nvSpPr>
          <p:spPr>
            <a:xfrm>
              <a:off x="5567648" y="1504950"/>
              <a:ext cx="1056704" cy="1828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0" b="1" dirty="0">
                  <a:solidFill>
                    <a:srgbClr val="FAF7F2">
                      <a:alphaMod val="15000"/>
                    </a:srgbClr>
                  </a:solidFill>
                  <a:latin typeface="Georgia"/>
                  <a:ea typeface="Microsoft YaHei"/>
                  <a:cs typeface="Georgia"/>
                </a:rPr>
                <a:t>11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3372745" y="2849880"/>
              <a:ext cx="5446509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FAF7F2"/>
                  </a:solidFill>
                  <a:latin typeface="Georgia"/>
                  <a:ea typeface="Microsoft YaHei"/>
                  <a:cs typeface="Georgia"/>
                </a:rPr>
                <a:t>Harness Engineering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4953000" y="3476625"/>
              <a:ext cx="2286000" cy="381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151358" y="3838575"/>
              <a:ext cx="188928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AF7F2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驾驭 AI 的系统工程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5828909" y="4304909"/>
              <a:ext cx="305581" cy="305581"/>
            </a:xfrm>
            <a:custGeom>
              <a:avLst/>
              <a:gdLst/>
              <a:ahLst/>
              <a:cxnLst/>
              <a:rect l="l" t="t" r="r" b="b"/>
              <a:pathLst>
                <a:path w="305581" h="305581">
                  <a:moveTo>
                    <a:pt x="190610" y="39648"/>
                  </a:moveTo>
                  <a:cubicBezTo>
                    <a:pt x="191387" y="42857"/>
                    <a:pt x="193650" y="45502"/>
                    <a:pt x="196699" y="46767"/>
                  </a:cubicBezTo>
                  <a:cubicBezTo>
                    <a:pt x="199749" y="48032"/>
                    <a:pt x="203220" y="47765"/>
                    <a:pt x="206040" y="46049"/>
                  </a:cubicBezTo>
                  <a:cubicBezTo>
                    <a:pt x="240887" y="24832"/>
                    <a:pt x="280764" y="64694"/>
                    <a:pt x="259547" y="99541"/>
                  </a:cubicBezTo>
                  <a:cubicBezTo>
                    <a:pt x="257830" y="102360"/>
                    <a:pt x="257562" y="105828"/>
                    <a:pt x="258824" y="108877"/>
                  </a:cubicBezTo>
                  <a:cubicBezTo>
                    <a:pt x="260086" y="111926"/>
                    <a:pt x="262727" y="114190"/>
                    <a:pt x="265933" y="114972"/>
                  </a:cubicBezTo>
                  <a:cubicBezTo>
                    <a:pt x="305581" y="124587"/>
                    <a:pt x="305581" y="180980"/>
                    <a:pt x="265933" y="190610"/>
                  </a:cubicBezTo>
                  <a:cubicBezTo>
                    <a:pt x="262724" y="191387"/>
                    <a:pt x="260079" y="193650"/>
                    <a:pt x="258814" y="196699"/>
                  </a:cubicBezTo>
                  <a:cubicBezTo>
                    <a:pt x="257549" y="199749"/>
                    <a:pt x="257816" y="203220"/>
                    <a:pt x="259532" y="206040"/>
                  </a:cubicBezTo>
                  <a:cubicBezTo>
                    <a:pt x="280749" y="240887"/>
                    <a:pt x="240887" y="280764"/>
                    <a:pt x="206040" y="259547"/>
                  </a:cubicBezTo>
                  <a:cubicBezTo>
                    <a:pt x="203221" y="257830"/>
                    <a:pt x="199753" y="257562"/>
                    <a:pt x="196704" y="258824"/>
                  </a:cubicBezTo>
                  <a:cubicBezTo>
                    <a:pt x="193655" y="260086"/>
                    <a:pt x="191391" y="262727"/>
                    <a:pt x="190610" y="265933"/>
                  </a:cubicBezTo>
                  <a:cubicBezTo>
                    <a:pt x="180994" y="305581"/>
                    <a:pt x="124601" y="305581"/>
                    <a:pt x="114972" y="265933"/>
                  </a:cubicBezTo>
                  <a:cubicBezTo>
                    <a:pt x="114194" y="262724"/>
                    <a:pt x="111931" y="260079"/>
                    <a:pt x="108882" y="258814"/>
                  </a:cubicBezTo>
                  <a:cubicBezTo>
                    <a:pt x="105832" y="257549"/>
                    <a:pt x="102362" y="257816"/>
                    <a:pt x="99541" y="259532"/>
                  </a:cubicBezTo>
                  <a:cubicBezTo>
                    <a:pt x="64694" y="280749"/>
                    <a:pt x="24817" y="240887"/>
                    <a:pt x="46034" y="206040"/>
                  </a:cubicBezTo>
                  <a:cubicBezTo>
                    <a:pt x="47751" y="203221"/>
                    <a:pt x="48019" y="199753"/>
                    <a:pt x="46757" y="196704"/>
                  </a:cubicBezTo>
                  <a:cubicBezTo>
                    <a:pt x="45495" y="193655"/>
                    <a:pt x="42854" y="191391"/>
                    <a:pt x="39648" y="190610"/>
                  </a:cubicBezTo>
                  <a:cubicBezTo>
                    <a:pt x="0" y="180994"/>
                    <a:pt x="0" y="124601"/>
                    <a:pt x="39648" y="114972"/>
                  </a:cubicBezTo>
                  <a:cubicBezTo>
                    <a:pt x="42857" y="114194"/>
                    <a:pt x="45502" y="111931"/>
                    <a:pt x="46767" y="108882"/>
                  </a:cubicBezTo>
                  <a:cubicBezTo>
                    <a:pt x="48032" y="105832"/>
                    <a:pt x="47765" y="102362"/>
                    <a:pt x="46049" y="99541"/>
                  </a:cubicBezTo>
                  <a:cubicBezTo>
                    <a:pt x="24832" y="64694"/>
                    <a:pt x="64694" y="24817"/>
                    <a:pt x="99541" y="46034"/>
                  </a:cubicBezTo>
                  <a:cubicBezTo>
                    <a:pt x="102357" y="47764"/>
                    <a:pt x="105831" y="48040"/>
                    <a:pt x="108885" y="46776"/>
                  </a:cubicBezTo>
                  <a:cubicBezTo>
                    <a:pt x="111938" y="45512"/>
                    <a:pt x="114202" y="42862"/>
                    <a:pt x="114972" y="39648"/>
                  </a:cubicBezTo>
                  <a:cubicBezTo>
                    <a:pt x="124587" y="0"/>
                    <a:pt x="180980" y="0"/>
                    <a:pt x="190610" y="39648"/>
                  </a:cubicBezTo>
                  <a:close/>
                  <a:moveTo>
                    <a:pt x="152791" y="109928"/>
                  </a:moveTo>
                  <a:cubicBezTo>
                    <a:pt x="129118" y="109928"/>
                    <a:pt x="109928" y="129118"/>
                    <a:pt x="109928" y="152791"/>
                  </a:cubicBezTo>
                  <a:cubicBezTo>
                    <a:pt x="109928" y="176463"/>
                    <a:pt x="129118" y="195653"/>
                    <a:pt x="152791" y="195653"/>
                  </a:cubicBezTo>
                  <a:cubicBezTo>
                    <a:pt x="176463" y="195653"/>
                    <a:pt x="195653" y="176463"/>
                    <a:pt x="195653" y="152791"/>
                  </a:cubicBezTo>
                  <a:cubicBezTo>
                    <a:pt x="195653" y="129118"/>
                    <a:pt x="176463" y="109928"/>
                    <a:pt x="152791" y="109928"/>
                  </a:cubicBezTo>
                </a:path>
              </a:pathLst>
            </a:custGeom>
            <a:solidFill>
              <a:srgbClr val="E8A87C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369570" y="6522720"/>
            <a:ext cx="11452859" cy="182880"/>
            <a:chOff x="369570" y="6522720"/>
            <a:chExt cx="11452859" cy="182880"/>
          </a:xfrm>
        </p:grpSpPr>
        <p:sp>
          <p:nvSpPr>
            <p:cNvPr id="11" name="TextBox 11"/>
            <p:cNvSpPr txBox="1"/>
            <p:nvPr/>
          </p:nvSpPr>
          <p:spPr>
            <a:xfrm>
              <a:off x="369570" y="6522720"/>
              <a:ext cx="14687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AI大家学 · 大模型技术篇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654980" y="6522720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2925" y="376238"/>
            <a:ext cx="11089957" cy="457200"/>
            <a:chOff x="542925" y="376238"/>
            <a:chExt cx="11089957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376238"/>
              <a:ext cx="2869251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Harness 六大部件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404848" y="466249"/>
              <a:ext cx="12280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驾驭 AI 的系统工程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524500" y="2857500"/>
            <a:ext cx="1143000" cy="1143000"/>
            <a:chOff x="5524500" y="2857500"/>
            <a:chExt cx="1143000" cy="1143000"/>
          </a:xfrm>
        </p:grpSpPr>
        <p:sp>
          <p:nvSpPr>
            <p:cNvPr id="7" name="Ellipse 7"/>
            <p:cNvSpPr/>
            <p:nvPr/>
          </p:nvSpPr>
          <p:spPr>
            <a:xfrm>
              <a:off x="5524500" y="2857500"/>
              <a:ext cx="1143000" cy="1143000"/>
            </a:xfrm>
            <a:prstGeom prst="ellipse">
              <a:avLst/>
            </a:prstGeom>
            <a:solidFill>
              <a:srgbClr val="8B6F47"/>
            </a:solidFill>
            <a:ln w="19050">
              <a:solidFill>
                <a:srgbClr val="8B6F47"/>
              </a:solidFill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5920883" y="3225800"/>
              <a:ext cx="350234" cy="349250"/>
              <a:chOff x="5920883" y="3225800"/>
              <a:chExt cx="350234" cy="34925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5920883" y="3382962"/>
                <a:ext cx="5337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3372" h="34925">
                    <a:moveTo>
                      <a:pt x="35417" y="0"/>
                    </a:moveTo>
                    <a:cubicBezTo>
                      <a:pt x="44656" y="10"/>
                      <a:pt x="52289" y="7216"/>
                      <a:pt x="52830" y="16439"/>
                    </a:cubicBezTo>
                    <a:cubicBezTo>
                      <a:pt x="53372" y="25663"/>
                      <a:pt x="46635" y="33712"/>
                      <a:pt x="37460" y="34803"/>
                    </a:cubicBezTo>
                    <a:lnTo>
                      <a:pt x="35417" y="34925"/>
                    </a:lnTo>
                    <a:lnTo>
                      <a:pt x="17955" y="34925"/>
                    </a:lnTo>
                    <a:cubicBezTo>
                      <a:pt x="8715" y="34915"/>
                      <a:pt x="1083" y="27709"/>
                      <a:pt x="541" y="18486"/>
                    </a:cubicBezTo>
                    <a:cubicBezTo>
                      <a:pt x="0" y="9262"/>
                      <a:pt x="6737" y="1213"/>
                      <a:pt x="15911" y="122"/>
                    </a:cubicBezTo>
                    <a:lnTo>
                      <a:pt x="17955" y="0"/>
                    </a:lnTo>
                    <a:lnTo>
                      <a:pt x="35417" y="0"/>
                    </a:lnTo>
                    <a:close/>
                  </a:path>
                </a:pathLst>
              </a:custGeom>
              <a:solidFill>
                <a:srgbClr val="FAF7F2"/>
              </a:solidFill>
              <a:ln>
                <a:noFill/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6078538" y="3225800"/>
                <a:ext cx="34925" cy="52880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52880">
                    <a:moveTo>
                      <a:pt x="17463" y="0"/>
                    </a:moveTo>
                    <a:cubicBezTo>
                      <a:pt x="26316" y="1"/>
                      <a:pt x="33767" y="6627"/>
                      <a:pt x="34803" y="15419"/>
                    </a:cubicBezTo>
                    <a:lnTo>
                      <a:pt x="34925" y="17462"/>
                    </a:lnTo>
                    <a:lnTo>
                      <a:pt x="34925" y="34925"/>
                    </a:lnTo>
                    <a:cubicBezTo>
                      <a:pt x="34915" y="44164"/>
                      <a:pt x="27709" y="51797"/>
                      <a:pt x="18486" y="52338"/>
                    </a:cubicBezTo>
                    <a:cubicBezTo>
                      <a:pt x="9262" y="52880"/>
                      <a:pt x="1213" y="46143"/>
                      <a:pt x="122" y="36968"/>
                    </a:cubicBezTo>
                    <a:lnTo>
                      <a:pt x="0" y="34925"/>
                    </a:lnTo>
                    <a:lnTo>
                      <a:pt x="0" y="17462"/>
                    </a:lnTo>
                    <a:cubicBezTo>
                      <a:pt x="0" y="7818"/>
                      <a:pt x="7818" y="0"/>
                      <a:pt x="17463" y="0"/>
                    </a:cubicBezTo>
                    <a:close/>
                  </a:path>
                </a:pathLst>
              </a:custGeom>
              <a:solidFill>
                <a:srgbClr val="FAF7F2"/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6217745" y="3382962"/>
                <a:ext cx="5337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3372" h="34925">
                    <a:moveTo>
                      <a:pt x="35417" y="0"/>
                    </a:moveTo>
                    <a:cubicBezTo>
                      <a:pt x="44656" y="10"/>
                      <a:pt x="52289" y="7216"/>
                      <a:pt x="52830" y="16439"/>
                    </a:cubicBezTo>
                    <a:cubicBezTo>
                      <a:pt x="53372" y="25663"/>
                      <a:pt x="46635" y="33712"/>
                      <a:pt x="37460" y="34803"/>
                    </a:cubicBezTo>
                    <a:lnTo>
                      <a:pt x="35417" y="34925"/>
                    </a:lnTo>
                    <a:lnTo>
                      <a:pt x="17955" y="34925"/>
                    </a:lnTo>
                    <a:cubicBezTo>
                      <a:pt x="8715" y="34915"/>
                      <a:pt x="1083" y="27709"/>
                      <a:pt x="541" y="18486"/>
                    </a:cubicBezTo>
                    <a:cubicBezTo>
                      <a:pt x="0" y="9262"/>
                      <a:pt x="6737" y="1213"/>
                      <a:pt x="15911" y="122"/>
                    </a:cubicBezTo>
                    <a:lnTo>
                      <a:pt x="17955" y="0"/>
                    </a:lnTo>
                    <a:lnTo>
                      <a:pt x="35417" y="0"/>
                    </a:lnTo>
                    <a:close/>
                  </a:path>
                </a:pathLst>
              </a:custGeom>
              <a:solidFill>
                <a:srgbClr val="FAF7F2"/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5965077" y="3269477"/>
                <a:ext cx="50552" cy="50839"/>
              </a:xfrm>
              <a:custGeom>
                <a:avLst/>
                <a:gdLst/>
                <a:ahLst/>
                <a:cxnLst/>
                <a:rect l="l" t="t" r="r" b="b"/>
                <a:pathLst>
                  <a:path w="50552" h="50839">
                    <a:moveTo>
                      <a:pt x="6817" y="6842"/>
                    </a:moveTo>
                    <a:cubicBezTo>
                      <a:pt x="13038" y="621"/>
                      <a:pt x="22916" y="0"/>
                      <a:pt x="29868" y="5392"/>
                    </a:cubicBezTo>
                    <a:lnTo>
                      <a:pt x="31509" y="6842"/>
                    </a:lnTo>
                    <a:lnTo>
                      <a:pt x="43733" y="19066"/>
                    </a:lnTo>
                    <a:cubicBezTo>
                      <a:pt x="50232" y="25587"/>
                      <a:pt x="50552" y="36035"/>
                      <a:pt x="44462" y="42942"/>
                    </a:cubicBezTo>
                    <a:cubicBezTo>
                      <a:pt x="38372" y="49848"/>
                      <a:pt x="27966" y="50839"/>
                      <a:pt x="20682" y="45207"/>
                    </a:cubicBezTo>
                    <a:lnTo>
                      <a:pt x="19041" y="43758"/>
                    </a:lnTo>
                    <a:lnTo>
                      <a:pt x="6817" y="31534"/>
                    </a:lnTo>
                    <a:cubicBezTo>
                      <a:pt x="0" y="24715"/>
                      <a:pt x="0" y="13661"/>
                      <a:pt x="6817" y="6842"/>
                    </a:cubicBezTo>
                    <a:close/>
                  </a:path>
                </a:pathLst>
              </a:custGeom>
              <a:solidFill>
                <a:srgbClr val="FAF7F2"/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6176109" y="3269500"/>
                <a:ext cx="51079" cy="50553"/>
              </a:xfrm>
              <a:custGeom>
                <a:avLst/>
                <a:gdLst/>
                <a:ahLst/>
                <a:cxnLst/>
                <a:rect l="l" t="t" r="r" b="b"/>
                <a:pathLst>
                  <a:path w="51079" h="50553">
                    <a:moveTo>
                      <a:pt x="19305" y="6819"/>
                    </a:moveTo>
                    <a:cubicBezTo>
                      <a:pt x="25827" y="319"/>
                      <a:pt x="36275" y="0"/>
                      <a:pt x="43182" y="6090"/>
                    </a:cubicBezTo>
                    <a:cubicBezTo>
                      <a:pt x="50088" y="12179"/>
                      <a:pt x="51079" y="22585"/>
                      <a:pt x="45447" y="29869"/>
                    </a:cubicBezTo>
                    <a:lnTo>
                      <a:pt x="43997" y="31511"/>
                    </a:lnTo>
                    <a:lnTo>
                      <a:pt x="31774" y="43734"/>
                    </a:lnTo>
                    <a:cubicBezTo>
                      <a:pt x="25252" y="50234"/>
                      <a:pt x="14804" y="50553"/>
                      <a:pt x="7898" y="44464"/>
                    </a:cubicBezTo>
                    <a:cubicBezTo>
                      <a:pt x="991" y="38374"/>
                      <a:pt x="0" y="27968"/>
                      <a:pt x="5632" y="20684"/>
                    </a:cubicBezTo>
                    <a:lnTo>
                      <a:pt x="7082" y="19043"/>
                    </a:lnTo>
                    <a:lnTo>
                      <a:pt x="19305" y="6819"/>
                    </a:lnTo>
                    <a:close/>
                  </a:path>
                </a:pathLst>
              </a:custGeom>
              <a:solidFill>
                <a:srgbClr val="FAF7F2"/>
              </a:solidFill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6043612" y="3505200"/>
                <a:ext cx="104775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69850">
                    <a:moveTo>
                      <a:pt x="87312" y="0"/>
                    </a:moveTo>
                    <a:cubicBezTo>
                      <a:pt x="96957" y="0"/>
                      <a:pt x="104775" y="7818"/>
                      <a:pt x="104775" y="17462"/>
                    </a:cubicBezTo>
                    <a:cubicBezTo>
                      <a:pt x="104775" y="46395"/>
                      <a:pt x="81320" y="69850"/>
                      <a:pt x="52388" y="69850"/>
                    </a:cubicBezTo>
                    <a:cubicBezTo>
                      <a:pt x="23455" y="69850"/>
                      <a:pt x="0" y="46395"/>
                      <a:pt x="0" y="17462"/>
                    </a:cubicBezTo>
                    <a:cubicBezTo>
                      <a:pt x="1" y="8609"/>
                      <a:pt x="6627" y="1158"/>
                      <a:pt x="15419" y="122"/>
                    </a:cubicBezTo>
                    <a:lnTo>
                      <a:pt x="17463" y="0"/>
                    </a:lnTo>
                    <a:lnTo>
                      <a:pt x="87312" y="0"/>
                    </a:lnTo>
                    <a:close/>
                  </a:path>
                </a:pathLst>
              </a:custGeom>
              <a:solidFill>
                <a:srgbClr val="FAF7F2"/>
              </a:soli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5982340" y="3295650"/>
                <a:ext cx="227319" cy="192088"/>
              </a:xfrm>
              <a:custGeom>
                <a:avLst/>
                <a:gdLst/>
                <a:ahLst/>
                <a:cxnLst/>
                <a:rect l="l" t="t" r="r" b="b"/>
                <a:pathLst>
                  <a:path w="227319" h="192088">
                    <a:moveTo>
                      <a:pt x="113660" y="0"/>
                    </a:moveTo>
                    <a:cubicBezTo>
                      <a:pt x="158758" y="0"/>
                      <a:pt x="198797" y="28858"/>
                      <a:pt x="213058" y="71642"/>
                    </a:cubicBezTo>
                    <a:cubicBezTo>
                      <a:pt x="227319" y="114426"/>
                      <a:pt x="212603" y="161536"/>
                      <a:pt x="176525" y="188595"/>
                    </a:cubicBezTo>
                    <a:cubicBezTo>
                      <a:pt x="174118" y="190403"/>
                      <a:pt x="171285" y="191558"/>
                      <a:pt x="168300" y="191948"/>
                    </a:cubicBezTo>
                    <a:lnTo>
                      <a:pt x="166047" y="192088"/>
                    </a:lnTo>
                    <a:lnTo>
                      <a:pt x="61272" y="192088"/>
                    </a:lnTo>
                    <a:cubicBezTo>
                      <a:pt x="57494" y="192088"/>
                      <a:pt x="53817" y="190862"/>
                      <a:pt x="50795" y="188595"/>
                    </a:cubicBezTo>
                    <a:cubicBezTo>
                      <a:pt x="14716" y="161536"/>
                      <a:pt x="0" y="114426"/>
                      <a:pt x="14261" y="71642"/>
                    </a:cubicBezTo>
                    <a:cubicBezTo>
                      <a:pt x="28523" y="28858"/>
                      <a:pt x="68561" y="0"/>
                      <a:pt x="113660" y="0"/>
                    </a:cubicBezTo>
                    <a:close/>
                  </a:path>
                </a:pathLst>
              </a:custGeom>
              <a:solidFill>
                <a:srgbClr val="FAF7F2"/>
              </a:solidFill>
              <a:ln>
                <a:noFill/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5933721" y="3649028"/>
              <a:ext cx="3245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LLM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2500" y="1047750"/>
            <a:ext cx="4572000" cy="1905000"/>
            <a:chOff x="952500" y="1047750"/>
            <a:chExt cx="4572000" cy="1905000"/>
          </a:xfrm>
        </p:grpSpPr>
        <p:sp>
          <p:nvSpPr>
            <p:cNvPr id="18" name="Rectangle 18"/>
            <p:cNvSpPr/>
            <p:nvPr/>
          </p:nvSpPr>
          <p:spPr>
            <a:xfrm>
              <a:off x="952500" y="1047750"/>
              <a:ext cx="2476500" cy="1047750"/>
            </a:xfrm>
            <a:prstGeom prst="roundRect">
              <a:avLst>
                <a:gd name="adj" fmla="val 10909"/>
              </a:avLst>
            </a:prstGeom>
            <a:solidFill>
              <a:srgbClr val="FAF7F2"/>
            </a:solidFill>
            <a:ln w="14288">
              <a:solidFill>
                <a:srgbClr val="8B6F47"/>
              </a:solidFill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1187449" y="1212850"/>
              <a:ext cx="177802" cy="222251"/>
              <a:chOff x="1187449" y="1212850"/>
              <a:chExt cx="177802" cy="222251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1187449" y="1212850"/>
                <a:ext cx="177802" cy="222251"/>
              </a:xfrm>
              <a:custGeom>
                <a:avLst/>
                <a:gdLst/>
                <a:ahLst/>
                <a:cxnLst/>
                <a:rect l="l" t="t" r="r" b="b"/>
                <a:pathLst>
                  <a:path w="177802" h="222251">
                    <a:moveTo>
                      <a:pt x="88901" y="0"/>
                    </a:moveTo>
                    <a:lnTo>
                      <a:pt x="90201" y="78"/>
                    </a:lnTo>
                    <a:cubicBezTo>
                      <a:pt x="95307" y="680"/>
                      <a:pt x="99334" y="4706"/>
                      <a:pt x="99936" y="9812"/>
                    </a:cubicBezTo>
                    <a:lnTo>
                      <a:pt x="100013" y="11113"/>
                    </a:lnTo>
                    <a:lnTo>
                      <a:pt x="100013" y="55562"/>
                    </a:lnTo>
                    <a:lnTo>
                      <a:pt x="100069" y="57229"/>
                    </a:lnTo>
                    <a:cubicBezTo>
                      <a:pt x="100891" y="68163"/>
                      <a:pt x="109563" y="76864"/>
                      <a:pt x="120494" y="77721"/>
                    </a:cubicBezTo>
                    <a:lnTo>
                      <a:pt x="122238" y="77788"/>
                    </a:lnTo>
                    <a:lnTo>
                      <a:pt x="166688" y="77788"/>
                    </a:lnTo>
                    <a:lnTo>
                      <a:pt x="167989" y="77865"/>
                    </a:lnTo>
                    <a:cubicBezTo>
                      <a:pt x="173095" y="78467"/>
                      <a:pt x="177121" y="82494"/>
                      <a:pt x="177723" y="87600"/>
                    </a:cubicBezTo>
                    <a:lnTo>
                      <a:pt x="177801" y="88900"/>
                    </a:lnTo>
                    <a:lnTo>
                      <a:pt x="177801" y="188912"/>
                    </a:lnTo>
                    <a:cubicBezTo>
                      <a:pt x="177802" y="206565"/>
                      <a:pt x="164042" y="221159"/>
                      <a:pt x="146419" y="222194"/>
                    </a:cubicBezTo>
                    <a:lnTo>
                      <a:pt x="144463" y="222250"/>
                    </a:lnTo>
                    <a:lnTo>
                      <a:pt x="33338" y="222250"/>
                    </a:lnTo>
                    <a:cubicBezTo>
                      <a:pt x="15686" y="222251"/>
                      <a:pt x="1092" y="208491"/>
                      <a:pt x="57" y="190868"/>
                    </a:cubicBezTo>
                    <a:lnTo>
                      <a:pt x="1" y="188913"/>
                    </a:lnTo>
                    <a:lnTo>
                      <a:pt x="1" y="33338"/>
                    </a:lnTo>
                    <a:cubicBezTo>
                      <a:pt x="0" y="15685"/>
                      <a:pt x="13760" y="1091"/>
                      <a:pt x="31383" y="56"/>
                    </a:cubicBezTo>
                    <a:lnTo>
                      <a:pt x="33338" y="0"/>
                    </a:lnTo>
                    <a:close/>
                    <a:moveTo>
                      <a:pt x="122238" y="155575"/>
                    </a:moveTo>
                    <a:lnTo>
                      <a:pt x="55563" y="155575"/>
                    </a:lnTo>
                    <a:cubicBezTo>
                      <a:pt x="49426" y="155575"/>
                      <a:pt x="44451" y="160550"/>
                      <a:pt x="44451" y="166688"/>
                    </a:cubicBezTo>
                    <a:cubicBezTo>
                      <a:pt x="44451" y="172825"/>
                      <a:pt x="49426" y="177800"/>
                      <a:pt x="55563" y="177800"/>
                    </a:cubicBezTo>
                    <a:lnTo>
                      <a:pt x="122238" y="177800"/>
                    </a:lnTo>
                    <a:cubicBezTo>
                      <a:pt x="128376" y="177800"/>
                      <a:pt x="133351" y="172825"/>
                      <a:pt x="133351" y="166688"/>
                    </a:cubicBezTo>
                    <a:cubicBezTo>
                      <a:pt x="133351" y="160550"/>
                      <a:pt x="128376" y="155575"/>
                      <a:pt x="122238" y="155575"/>
                    </a:cubicBezTo>
                    <a:moveTo>
                      <a:pt x="122238" y="111125"/>
                    </a:moveTo>
                    <a:lnTo>
                      <a:pt x="55563" y="111125"/>
                    </a:lnTo>
                    <a:cubicBezTo>
                      <a:pt x="49426" y="111125"/>
                      <a:pt x="44451" y="116100"/>
                      <a:pt x="44451" y="122237"/>
                    </a:cubicBezTo>
                    <a:cubicBezTo>
                      <a:pt x="44451" y="128375"/>
                      <a:pt x="49426" y="133350"/>
                      <a:pt x="55563" y="133350"/>
                    </a:cubicBezTo>
                    <a:lnTo>
                      <a:pt x="122238" y="133350"/>
                    </a:lnTo>
                    <a:cubicBezTo>
                      <a:pt x="128376" y="133350"/>
                      <a:pt x="133351" y="128375"/>
                      <a:pt x="133351" y="122237"/>
                    </a:cubicBezTo>
                    <a:cubicBezTo>
                      <a:pt x="133351" y="116100"/>
                      <a:pt x="128376" y="111125"/>
                      <a:pt x="122238" y="111125"/>
                    </a:cubicBezTo>
                    <a:moveTo>
                      <a:pt x="66676" y="66675"/>
                    </a:moveTo>
                    <a:lnTo>
                      <a:pt x="55563" y="66675"/>
                    </a:lnTo>
                    <a:cubicBezTo>
                      <a:pt x="49426" y="66675"/>
                      <a:pt x="44451" y="71650"/>
                      <a:pt x="44451" y="77788"/>
                    </a:cubicBezTo>
                    <a:cubicBezTo>
                      <a:pt x="44451" y="83925"/>
                      <a:pt x="49426" y="88900"/>
                      <a:pt x="55563" y="88900"/>
                    </a:cubicBezTo>
                    <a:lnTo>
                      <a:pt x="66676" y="88900"/>
                    </a:lnTo>
                    <a:cubicBezTo>
                      <a:pt x="72813" y="88900"/>
                      <a:pt x="77788" y="83925"/>
                      <a:pt x="77788" y="77788"/>
                    </a:cubicBezTo>
                    <a:cubicBezTo>
                      <a:pt x="77788" y="71650"/>
                      <a:pt x="72813" y="66675"/>
                      <a:pt x="66676" y="66675"/>
                    </a:cubicBezTo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1309676" y="1223951"/>
                <a:ext cx="44461" cy="44461"/>
              </a:xfrm>
              <a:custGeom>
                <a:avLst/>
                <a:gdLst/>
                <a:ahLst/>
                <a:cxnLst/>
                <a:rect l="l" t="t" r="r" b="b"/>
                <a:pathLst>
                  <a:path w="44461" h="44461">
                    <a:moveTo>
                      <a:pt x="44461" y="44461"/>
                    </a:moveTo>
                    <a:lnTo>
                      <a:pt x="11" y="4446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489710" y="1261110"/>
              <a:ext cx="153026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① System Prompt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30618" y="1533049"/>
              <a:ext cx="17335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人设、行为规则、输出格式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31570" y="1760220"/>
              <a:ext cx="167906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i="1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"你是一个专业的AI助手..."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3429000" y="1571625"/>
              <a:ext cx="2095500" cy="1381125"/>
            </a:xfrm>
            <a:custGeom>
              <a:avLst/>
              <a:gdLst/>
              <a:ahLst/>
              <a:cxnLst/>
              <a:rect l="l" t="t" r="r" b="b"/>
              <a:pathLst>
                <a:path w="2095500" h="1381125">
                  <a:moveTo>
                    <a:pt x="0" y="0"/>
                  </a:moveTo>
                  <a:lnTo>
                    <a:pt x="2095500" y="1381125"/>
                  </a:lnTo>
                </a:path>
              </a:pathLst>
            </a:custGeom>
            <a:noFill/>
            <a:ln w="9525">
              <a:solidFill>
                <a:srgbClr val="8B6F47">
                  <a:alpha val="40000"/>
                </a:srgbClr>
              </a:solidFill>
              <a:custDash>
                <a:ds d="400000" sp="300000"/>
              </a:custDash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6667500" y="1047750"/>
            <a:ext cx="4572000" cy="1905000"/>
            <a:chOff x="6667500" y="1047750"/>
            <a:chExt cx="4572000" cy="1905000"/>
          </a:xfrm>
        </p:grpSpPr>
        <p:sp>
          <p:nvSpPr>
            <p:cNvPr id="27" name="Rectangle 27"/>
            <p:cNvSpPr/>
            <p:nvPr/>
          </p:nvSpPr>
          <p:spPr>
            <a:xfrm>
              <a:off x="8763000" y="1047750"/>
              <a:ext cx="2476500" cy="1047750"/>
            </a:xfrm>
            <a:prstGeom prst="roundRect">
              <a:avLst>
                <a:gd name="adj" fmla="val 10909"/>
              </a:avLst>
            </a:prstGeom>
            <a:solidFill>
              <a:srgbClr val="FAF7F2"/>
            </a:solidFill>
            <a:ln w="14288">
              <a:solidFill>
                <a:srgbClr val="E8A87C"/>
              </a:solidFill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8986837" y="1212850"/>
              <a:ext cx="200026" cy="222250"/>
              <a:chOff x="8986837" y="1212850"/>
              <a:chExt cx="200026" cy="22225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8986838" y="1365436"/>
                <a:ext cx="200025" cy="69664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69664">
                    <a:moveTo>
                      <a:pt x="0" y="0"/>
                    </a:moveTo>
                    <a:cubicBezTo>
                      <a:pt x="21869" y="16747"/>
                      <a:pt x="58163" y="25214"/>
                      <a:pt x="100012" y="25214"/>
                    </a:cubicBezTo>
                    <a:cubicBezTo>
                      <a:pt x="141795" y="25214"/>
                      <a:pt x="178078" y="16769"/>
                      <a:pt x="200025" y="189"/>
                    </a:cubicBezTo>
                    <a:lnTo>
                      <a:pt x="200025" y="25214"/>
                    </a:lnTo>
                    <a:cubicBezTo>
                      <a:pt x="200025" y="52162"/>
                      <a:pt x="156742" y="68953"/>
                      <a:pt x="103424" y="69642"/>
                    </a:cubicBezTo>
                    <a:lnTo>
                      <a:pt x="100012" y="69664"/>
                    </a:lnTo>
                    <a:cubicBezTo>
                      <a:pt x="45139" y="69664"/>
                      <a:pt x="0" y="52740"/>
                      <a:pt x="0" y="25214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986838" y="1298761"/>
                <a:ext cx="200025" cy="69664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69664">
                    <a:moveTo>
                      <a:pt x="0" y="0"/>
                    </a:moveTo>
                    <a:cubicBezTo>
                      <a:pt x="21869" y="16747"/>
                      <a:pt x="58163" y="25214"/>
                      <a:pt x="100012" y="25214"/>
                    </a:cubicBezTo>
                    <a:cubicBezTo>
                      <a:pt x="141795" y="25214"/>
                      <a:pt x="178078" y="16769"/>
                      <a:pt x="200025" y="189"/>
                    </a:cubicBezTo>
                    <a:lnTo>
                      <a:pt x="200025" y="25214"/>
                    </a:lnTo>
                    <a:cubicBezTo>
                      <a:pt x="200025" y="52740"/>
                      <a:pt x="154886" y="69664"/>
                      <a:pt x="100012" y="69664"/>
                    </a:cubicBezTo>
                    <a:cubicBezTo>
                      <a:pt x="46695" y="69664"/>
                      <a:pt x="2556" y="53684"/>
                      <a:pt x="233" y="27492"/>
                    </a:cubicBezTo>
                    <a:lnTo>
                      <a:pt x="56" y="26370"/>
                    </a:lnTo>
                    <a:lnTo>
                      <a:pt x="0" y="25214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986837" y="1212850"/>
                <a:ext cx="200026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88900">
                    <a:moveTo>
                      <a:pt x="100013" y="0"/>
                    </a:moveTo>
                    <a:cubicBezTo>
                      <a:pt x="111581" y="0"/>
                      <a:pt x="122727" y="756"/>
                      <a:pt x="133095" y="2200"/>
                    </a:cubicBezTo>
                    <a:lnTo>
                      <a:pt x="138307" y="2989"/>
                    </a:lnTo>
                    <a:cubicBezTo>
                      <a:pt x="144530" y="4026"/>
                      <a:pt x="150405" y="5315"/>
                      <a:pt x="155931" y="6856"/>
                    </a:cubicBezTo>
                    <a:lnTo>
                      <a:pt x="160821" y="8312"/>
                    </a:lnTo>
                    <a:lnTo>
                      <a:pt x="161654" y="8579"/>
                    </a:lnTo>
                    <a:cubicBezTo>
                      <a:pt x="164679" y="9573"/>
                      <a:pt x="167663" y="10685"/>
                      <a:pt x="170600" y="11913"/>
                    </a:cubicBezTo>
                    <a:lnTo>
                      <a:pt x="172811" y="12868"/>
                    </a:lnTo>
                    <a:cubicBezTo>
                      <a:pt x="176775" y="14661"/>
                      <a:pt x="180357" y="16624"/>
                      <a:pt x="183557" y="18758"/>
                    </a:cubicBezTo>
                    <a:cubicBezTo>
                      <a:pt x="184780" y="19573"/>
                      <a:pt x="185939" y="20406"/>
                      <a:pt x="187035" y="21258"/>
                    </a:cubicBezTo>
                    <a:cubicBezTo>
                      <a:pt x="189813" y="23413"/>
                      <a:pt x="192310" y="25907"/>
                      <a:pt x="194470" y="28681"/>
                    </a:cubicBezTo>
                    <a:lnTo>
                      <a:pt x="195481" y="30104"/>
                    </a:lnTo>
                    <a:cubicBezTo>
                      <a:pt x="195999" y="30882"/>
                      <a:pt x="196477" y="31663"/>
                      <a:pt x="196914" y="32449"/>
                    </a:cubicBezTo>
                    <a:lnTo>
                      <a:pt x="197692" y="33993"/>
                    </a:lnTo>
                    <a:cubicBezTo>
                      <a:pt x="198900" y="36586"/>
                      <a:pt x="199641" y="39290"/>
                      <a:pt x="199915" y="42105"/>
                    </a:cubicBezTo>
                    <a:lnTo>
                      <a:pt x="200026" y="44450"/>
                    </a:lnTo>
                    <a:cubicBezTo>
                      <a:pt x="200026" y="71976"/>
                      <a:pt x="154887" y="88900"/>
                      <a:pt x="100013" y="88900"/>
                    </a:cubicBezTo>
                    <a:cubicBezTo>
                      <a:pt x="46696" y="88900"/>
                      <a:pt x="2557" y="72920"/>
                      <a:pt x="234" y="46728"/>
                    </a:cubicBezTo>
                    <a:cubicBezTo>
                      <a:pt x="78" y="45979"/>
                      <a:pt x="0" y="45215"/>
                      <a:pt x="1" y="44450"/>
                    </a:cubicBezTo>
                    <a:lnTo>
                      <a:pt x="56" y="43294"/>
                    </a:lnTo>
                    <a:lnTo>
                      <a:pt x="234" y="42183"/>
                    </a:lnTo>
                    <a:cubicBezTo>
                      <a:pt x="2512" y="16558"/>
                      <a:pt x="44795" y="700"/>
                      <a:pt x="96546" y="22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9300210" y="1261110"/>
              <a:ext cx="129103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② Memory 记忆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941118" y="1533049"/>
              <a:ext cx="14487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跨会话记忆、用户偏好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942070" y="1760220"/>
              <a:ext cx="16133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i="1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"这个用户喜欢用中文回答"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6667500" y="1571625"/>
              <a:ext cx="2095500" cy="1381125"/>
            </a:xfrm>
            <a:custGeom>
              <a:avLst/>
              <a:gdLst/>
              <a:ahLst/>
              <a:cxnLst/>
              <a:rect l="l" t="t" r="r" b="b"/>
              <a:pathLst>
                <a:path w="2095500" h="1381125">
                  <a:moveTo>
                    <a:pt x="2095500" y="0"/>
                  </a:moveTo>
                  <a:lnTo>
                    <a:pt x="0" y="1381125"/>
                  </a:lnTo>
                </a:path>
              </a:pathLst>
            </a:custGeom>
            <a:noFill/>
            <a:ln w="9525">
              <a:solidFill>
                <a:srgbClr val="E8A87C">
                  <a:alpha val="40000"/>
                </a:srgbClr>
              </a:solidFill>
              <a:custDash>
                <a:ds d="400000" sp="300000"/>
              </a:custDash>
            </a:ln>
          </p:spPr>
        </p:sp>
      </p:grpSp>
      <p:grpSp>
        <p:nvGrpSpPr>
          <p:cNvPr id="43" name="Group 43"/>
          <p:cNvGrpSpPr/>
          <p:nvPr/>
        </p:nvGrpSpPr>
        <p:grpSpPr>
          <a:xfrm>
            <a:off x="571500" y="2905125"/>
            <a:ext cx="4953000" cy="1047750"/>
            <a:chOff x="571500" y="2905125"/>
            <a:chExt cx="4953000" cy="1047750"/>
          </a:xfrm>
        </p:grpSpPr>
        <p:sp>
          <p:nvSpPr>
            <p:cNvPr id="37" name="Rectangle 37"/>
            <p:cNvSpPr/>
            <p:nvPr/>
          </p:nvSpPr>
          <p:spPr>
            <a:xfrm>
              <a:off x="571500" y="2905125"/>
              <a:ext cx="2476500" cy="1047750"/>
            </a:xfrm>
            <a:prstGeom prst="roundRect">
              <a:avLst>
                <a:gd name="adj" fmla="val 10909"/>
              </a:avLst>
            </a:prstGeom>
            <a:solidFill>
              <a:srgbClr val="FAF7F2"/>
            </a:solidFill>
            <a:ln w="14288">
              <a:solidFill>
                <a:srgbClr val="8FBC8F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795338" y="3086320"/>
              <a:ext cx="195050" cy="195043"/>
            </a:xfrm>
            <a:custGeom>
              <a:avLst/>
              <a:gdLst/>
              <a:ahLst/>
              <a:cxnLst/>
              <a:rect l="l" t="t" r="r" b="b"/>
              <a:pathLst>
                <a:path w="195050" h="195043">
                  <a:moveTo>
                    <a:pt x="100957" y="33911"/>
                  </a:moveTo>
                  <a:lnTo>
                    <a:pt x="161131" y="94086"/>
                  </a:lnTo>
                  <a:lnTo>
                    <a:pt x="63419" y="191787"/>
                  </a:lnTo>
                  <a:cubicBezTo>
                    <a:pt x="61336" y="193871"/>
                    <a:pt x="58509" y="195042"/>
                    <a:pt x="55562" y="195043"/>
                  </a:cubicBezTo>
                  <a:lnTo>
                    <a:pt x="11113" y="195043"/>
                  </a:lnTo>
                  <a:cubicBezTo>
                    <a:pt x="4975" y="195043"/>
                    <a:pt x="0" y="190067"/>
                    <a:pt x="0" y="183930"/>
                  </a:cubicBezTo>
                  <a:lnTo>
                    <a:pt x="0" y="139480"/>
                  </a:lnTo>
                  <a:cubicBezTo>
                    <a:pt x="1" y="136533"/>
                    <a:pt x="1172" y="133707"/>
                    <a:pt x="3256" y="131624"/>
                  </a:cubicBezTo>
                  <a:close/>
                  <a:moveTo>
                    <a:pt x="161031" y="3930"/>
                  </a:moveTo>
                  <a:cubicBezTo>
                    <a:pt x="175714" y="7862"/>
                    <a:pt x="187183" y="19330"/>
                    <a:pt x="191116" y="34012"/>
                  </a:cubicBezTo>
                  <a:cubicBezTo>
                    <a:pt x="195050" y="48694"/>
                    <a:pt x="190850" y="64359"/>
                    <a:pt x="180100" y="75105"/>
                  </a:cubicBezTo>
                  <a:lnTo>
                    <a:pt x="176855" y="78361"/>
                  </a:lnTo>
                  <a:lnTo>
                    <a:pt x="116681" y="18187"/>
                  </a:lnTo>
                  <a:lnTo>
                    <a:pt x="119937" y="14942"/>
                  </a:lnTo>
                  <a:cubicBezTo>
                    <a:pt x="130686" y="4197"/>
                    <a:pt x="146350" y="0"/>
                    <a:pt x="161031" y="3930"/>
                  </a:cubicBezTo>
                </a:path>
              </a:pathLst>
            </a:custGeom>
            <a:solidFill>
              <a:srgbClr val="8FBC8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108710" y="3118485"/>
              <a:ext cx="107021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③ Tools 工具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49618" y="3390424"/>
              <a:ext cx="171931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Bash、文件读写、API 调用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50570" y="3617595"/>
              <a:ext cx="140960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i="1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Function Calling + MCP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3048000" y="3429000"/>
              <a:ext cx="2476500" cy="9525"/>
            </a:xfrm>
            <a:custGeom>
              <a:avLst/>
              <a:gdLst/>
              <a:ahLst/>
              <a:cxnLst/>
              <a:rect l="l" t="t" r="r" b="b"/>
              <a:pathLst>
                <a:path w="2476500" h="9525">
                  <a:moveTo>
                    <a:pt x="0" y="0"/>
                  </a:moveTo>
                  <a:lnTo>
                    <a:pt x="2476500" y="0"/>
                  </a:lnTo>
                </a:path>
              </a:pathLst>
            </a:custGeom>
            <a:noFill/>
            <a:ln w="9525">
              <a:solidFill>
                <a:srgbClr val="8FBC8F">
                  <a:alpha val="40000"/>
                </a:srgbClr>
              </a:solidFill>
              <a:custDash>
                <a:ds d="400000" sp="300000"/>
              </a:custDash>
            </a:ln>
          </p:spPr>
        </p:sp>
      </p:grpSp>
      <p:grpSp>
        <p:nvGrpSpPr>
          <p:cNvPr id="50" name="Group 50"/>
          <p:cNvGrpSpPr/>
          <p:nvPr/>
        </p:nvGrpSpPr>
        <p:grpSpPr>
          <a:xfrm>
            <a:off x="6667500" y="2905125"/>
            <a:ext cx="4953000" cy="1047750"/>
            <a:chOff x="6667500" y="2905125"/>
            <a:chExt cx="4953000" cy="1047750"/>
          </a:xfrm>
        </p:grpSpPr>
        <p:sp>
          <p:nvSpPr>
            <p:cNvPr id="44" name="Rectangle 44"/>
            <p:cNvSpPr/>
            <p:nvPr/>
          </p:nvSpPr>
          <p:spPr>
            <a:xfrm>
              <a:off x="9144000" y="2905125"/>
              <a:ext cx="2476500" cy="1047750"/>
            </a:xfrm>
            <a:prstGeom prst="roundRect">
              <a:avLst>
                <a:gd name="adj" fmla="val 10909"/>
              </a:avLst>
            </a:prstGeom>
            <a:solidFill>
              <a:srgbClr val="FAF7F2"/>
            </a:solidFill>
            <a:ln w="14288">
              <a:solidFill>
                <a:srgbClr val="C4956A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9356721" y="3070224"/>
              <a:ext cx="222801" cy="222255"/>
            </a:xfrm>
            <a:custGeom>
              <a:avLst/>
              <a:gdLst/>
              <a:ahLst/>
              <a:cxnLst/>
              <a:rect l="l" t="t" r="r" b="b"/>
              <a:pathLst>
                <a:path w="222801" h="222255">
                  <a:moveTo>
                    <a:pt x="88904" y="1"/>
                  </a:moveTo>
                  <a:cubicBezTo>
                    <a:pt x="106557" y="0"/>
                    <a:pt x="121150" y="13760"/>
                    <a:pt x="122186" y="31383"/>
                  </a:cubicBezTo>
                  <a:lnTo>
                    <a:pt x="122241" y="33338"/>
                  </a:lnTo>
                  <a:lnTo>
                    <a:pt x="122241" y="44451"/>
                  </a:lnTo>
                  <a:lnTo>
                    <a:pt x="155579" y="44451"/>
                  </a:lnTo>
                  <a:cubicBezTo>
                    <a:pt x="167209" y="44447"/>
                    <a:pt x="176876" y="53411"/>
                    <a:pt x="177748" y="65009"/>
                  </a:cubicBezTo>
                  <a:lnTo>
                    <a:pt x="177804" y="66676"/>
                  </a:lnTo>
                  <a:lnTo>
                    <a:pt x="177804" y="100013"/>
                  </a:lnTo>
                  <a:lnTo>
                    <a:pt x="188916" y="100013"/>
                  </a:lnTo>
                  <a:cubicBezTo>
                    <a:pt x="206959" y="99996"/>
                    <a:pt x="221742" y="114337"/>
                    <a:pt x="222271" y="132373"/>
                  </a:cubicBezTo>
                  <a:cubicBezTo>
                    <a:pt x="222801" y="150408"/>
                    <a:pt x="208885" y="165592"/>
                    <a:pt x="190872" y="166633"/>
                  </a:cubicBezTo>
                  <a:lnTo>
                    <a:pt x="188916" y="166688"/>
                  </a:lnTo>
                  <a:lnTo>
                    <a:pt x="177804" y="166688"/>
                  </a:lnTo>
                  <a:lnTo>
                    <a:pt x="177804" y="200026"/>
                  </a:lnTo>
                  <a:cubicBezTo>
                    <a:pt x="177807" y="211657"/>
                    <a:pt x="168843" y="221323"/>
                    <a:pt x="157246" y="222195"/>
                  </a:cubicBezTo>
                  <a:lnTo>
                    <a:pt x="155579" y="222251"/>
                  </a:lnTo>
                  <a:lnTo>
                    <a:pt x="122241" y="222251"/>
                  </a:lnTo>
                  <a:cubicBezTo>
                    <a:pt x="110611" y="222255"/>
                    <a:pt x="100944" y="213291"/>
                    <a:pt x="100072" y="201693"/>
                  </a:cubicBezTo>
                  <a:lnTo>
                    <a:pt x="100016" y="200026"/>
                  </a:lnTo>
                  <a:lnTo>
                    <a:pt x="100016" y="188913"/>
                  </a:lnTo>
                  <a:cubicBezTo>
                    <a:pt x="100010" y="183034"/>
                    <a:pt x="95424" y="178177"/>
                    <a:pt x="89555" y="177832"/>
                  </a:cubicBezTo>
                  <a:cubicBezTo>
                    <a:pt x="83685" y="177488"/>
                    <a:pt x="78563" y="181775"/>
                    <a:pt x="77869" y="187613"/>
                  </a:cubicBezTo>
                  <a:lnTo>
                    <a:pt x="77791" y="188913"/>
                  </a:lnTo>
                  <a:lnTo>
                    <a:pt x="77791" y="200026"/>
                  </a:lnTo>
                  <a:cubicBezTo>
                    <a:pt x="77795" y="211657"/>
                    <a:pt x="68831" y="221323"/>
                    <a:pt x="57233" y="222195"/>
                  </a:cubicBezTo>
                  <a:lnTo>
                    <a:pt x="55566" y="222251"/>
                  </a:lnTo>
                  <a:lnTo>
                    <a:pt x="22229" y="222251"/>
                  </a:lnTo>
                  <a:cubicBezTo>
                    <a:pt x="10598" y="222255"/>
                    <a:pt x="932" y="213291"/>
                    <a:pt x="59" y="201693"/>
                  </a:cubicBezTo>
                  <a:lnTo>
                    <a:pt x="4" y="200026"/>
                  </a:lnTo>
                  <a:lnTo>
                    <a:pt x="4" y="166688"/>
                  </a:lnTo>
                  <a:cubicBezTo>
                    <a:pt x="0" y="155058"/>
                    <a:pt x="8964" y="145391"/>
                    <a:pt x="20562" y="144519"/>
                  </a:cubicBezTo>
                  <a:lnTo>
                    <a:pt x="22229" y="144463"/>
                  </a:lnTo>
                  <a:lnTo>
                    <a:pt x="33341" y="144463"/>
                  </a:lnTo>
                  <a:cubicBezTo>
                    <a:pt x="39221" y="144457"/>
                    <a:pt x="44078" y="139872"/>
                    <a:pt x="44422" y="134002"/>
                  </a:cubicBezTo>
                  <a:cubicBezTo>
                    <a:pt x="44767" y="128133"/>
                    <a:pt x="40480" y="123011"/>
                    <a:pt x="34641" y="122316"/>
                  </a:cubicBezTo>
                  <a:lnTo>
                    <a:pt x="33341" y="122238"/>
                  </a:lnTo>
                  <a:lnTo>
                    <a:pt x="22229" y="122238"/>
                  </a:lnTo>
                  <a:cubicBezTo>
                    <a:pt x="10598" y="122242"/>
                    <a:pt x="932" y="113278"/>
                    <a:pt x="59" y="101680"/>
                  </a:cubicBezTo>
                  <a:lnTo>
                    <a:pt x="4" y="100013"/>
                  </a:lnTo>
                  <a:lnTo>
                    <a:pt x="4" y="66676"/>
                  </a:lnTo>
                  <a:cubicBezTo>
                    <a:pt x="0" y="55045"/>
                    <a:pt x="8964" y="45379"/>
                    <a:pt x="20562" y="44507"/>
                  </a:cubicBezTo>
                  <a:lnTo>
                    <a:pt x="22229" y="44451"/>
                  </a:lnTo>
                  <a:lnTo>
                    <a:pt x="55566" y="44451"/>
                  </a:lnTo>
                  <a:lnTo>
                    <a:pt x="55566" y="33338"/>
                  </a:lnTo>
                  <a:cubicBezTo>
                    <a:pt x="55566" y="14927"/>
                    <a:pt x="70492" y="1"/>
                    <a:pt x="88904" y="1"/>
                  </a:cubicBezTo>
                  <a:close/>
                </a:path>
              </a:pathLst>
            </a:custGeom>
            <a:solidFill>
              <a:srgbClr val="C4956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681210" y="3118485"/>
              <a:ext cx="10794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4956A"/>
                  </a:solidFill>
                  <a:latin typeface="Arial"/>
                  <a:ea typeface="Microsoft YaHei"/>
                  <a:cs typeface="Arial"/>
                </a:rPr>
                <a:t>④ Skills 技能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322118" y="3390424"/>
              <a:ext cx="14487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按需加载的专业能力包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323070" y="3617595"/>
              <a:ext cx="156076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i="1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ppt-master、代码审查等</a:t>
              </a:r>
            </a:p>
          </p:txBody>
        </p:sp>
        <p:sp>
          <p:nvSpPr>
            <p:cNvPr id="49" name="Line 49"/>
            <p:cNvSpPr/>
            <p:nvPr/>
          </p:nvSpPr>
          <p:spPr>
            <a:xfrm>
              <a:off x="6667500" y="3429000"/>
              <a:ext cx="2476500" cy="9525"/>
            </a:xfrm>
            <a:custGeom>
              <a:avLst/>
              <a:gdLst/>
              <a:ahLst/>
              <a:cxnLst/>
              <a:rect l="l" t="t" r="r" b="b"/>
              <a:pathLst>
                <a:path w="2476500" h="9525">
                  <a:moveTo>
                    <a:pt x="2476500" y="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C4956A">
                  <a:alpha val="40000"/>
                </a:srgbClr>
              </a:solidFill>
              <a:custDash>
                <a:ds d="400000" sp="300000"/>
              </a:custDash>
            </a:ln>
          </p:spPr>
        </p:sp>
      </p:grpSp>
      <p:grpSp>
        <p:nvGrpSpPr>
          <p:cNvPr id="57" name="Group 57"/>
          <p:cNvGrpSpPr/>
          <p:nvPr/>
        </p:nvGrpSpPr>
        <p:grpSpPr>
          <a:xfrm>
            <a:off x="952500" y="3905250"/>
            <a:ext cx="4572000" cy="1905000"/>
            <a:chOff x="952500" y="3905250"/>
            <a:chExt cx="4572000" cy="1905000"/>
          </a:xfrm>
        </p:grpSpPr>
        <p:sp>
          <p:nvSpPr>
            <p:cNvPr id="51" name="Rectangle 51"/>
            <p:cNvSpPr/>
            <p:nvPr/>
          </p:nvSpPr>
          <p:spPr>
            <a:xfrm>
              <a:off x="952500" y="4762500"/>
              <a:ext cx="2476500" cy="1047750"/>
            </a:xfrm>
            <a:prstGeom prst="roundRect">
              <a:avLst>
                <a:gd name="adj" fmla="val 10909"/>
              </a:avLst>
            </a:prstGeom>
            <a:solidFill>
              <a:srgbClr val="FAF7F2"/>
            </a:solidFill>
            <a:ln w="14288">
              <a:solidFill>
                <a:srgbClr val="D4837F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1186947" y="4927600"/>
              <a:ext cx="178806" cy="226373"/>
            </a:xfrm>
            <a:custGeom>
              <a:avLst/>
              <a:gdLst/>
              <a:ahLst/>
              <a:cxnLst/>
              <a:rect l="l" t="t" r="r" b="b"/>
              <a:pathLst>
                <a:path w="178806" h="226373">
                  <a:moveTo>
                    <a:pt x="100516" y="0"/>
                  </a:moveTo>
                  <a:lnTo>
                    <a:pt x="100716" y="11"/>
                  </a:lnTo>
                  <a:lnTo>
                    <a:pt x="100893" y="22"/>
                  </a:lnTo>
                  <a:lnTo>
                    <a:pt x="101816" y="78"/>
                  </a:lnTo>
                  <a:lnTo>
                    <a:pt x="101938" y="100"/>
                  </a:lnTo>
                  <a:lnTo>
                    <a:pt x="102060" y="100"/>
                  </a:lnTo>
                  <a:lnTo>
                    <a:pt x="102483" y="200"/>
                  </a:lnTo>
                  <a:lnTo>
                    <a:pt x="103060" y="289"/>
                  </a:lnTo>
                  <a:lnTo>
                    <a:pt x="103238" y="356"/>
                  </a:lnTo>
                  <a:lnTo>
                    <a:pt x="103360" y="367"/>
                  </a:lnTo>
                  <a:lnTo>
                    <a:pt x="103683" y="489"/>
                  </a:lnTo>
                  <a:lnTo>
                    <a:pt x="104261" y="645"/>
                  </a:lnTo>
                  <a:lnTo>
                    <a:pt x="104472" y="745"/>
                  </a:lnTo>
                  <a:lnTo>
                    <a:pt x="104638" y="789"/>
                  </a:lnTo>
                  <a:lnTo>
                    <a:pt x="104950" y="945"/>
                  </a:lnTo>
                  <a:lnTo>
                    <a:pt x="105394" y="1133"/>
                  </a:lnTo>
                  <a:lnTo>
                    <a:pt x="105627" y="1267"/>
                  </a:lnTo>
                  <a:lnTo>
                    <a:pt x="105872" y="1378"/>
                  </a:lnTo>
                  <a:lnTo>
                    <a:pt x="106127" y="1545"/>
                  </a:lnTo>
                  <a:lnTo>
                    <a:pt x="106472" y="1734"/>
                  </a:lnTo>
                  <a:lnTo>
                    <a:pt x="106850" y="2000"/>
                  </a:lnTo>
                  <a:lnTo>
                    <a:pt x="107050" y="2122"/>
                  </a:lnTo>
                  <a:lnTo>
                    <a:pt x="107194" y="2256"/>
                  </a:lnTo>
                  <a:lnTo>
                    <a:pt x="107461" y="2445"/>
                  </a:lnTo>
                  <a:lnTo>
                    <a:pt x="107883" y="2823"/>
                  </a:lnTo>
                  <a:lnTo>
                    <a:pt x="108128" y="3011"/>
                  </a:lnTo>
                  <a:lnTo>
                    <a:pt x="108217" y="3123"/>
                  </a:lnTo>
                  <a:lnTo>
                    <a:pt x="108372" y="3256"/>
                  </a:lnTo>
                  <a:lnTo>
                    <a:pt x="108772" y="3712"/>
                  </a:lnTo>
                  <a:lnTo>
                    <a:pt x="109061" y="4012"/>
                  </a:lnTo>
                  <a:lnTo>
                    <a:pt x="109128" y="4112"/>
                  </a:lnTo>
                  <a:cubicBezTo>
                    <a:pt x="110461" y="5745"/>
                    <a:pt x="111306" y="7690"/>
                    <a:pt x="111550" y="9812"/>
                  </a:cubicBezTo>
                  <a:lnTo>
                    <a:pt x="111561" y="9946"/>
                  </a:lnTo>
                  <a:lnTo>
                    <a:pt x="111584" y="10401"/>
                  </a:lnTo>
                  <a:lnTo>
                    <a:pt x="111628" y="11112"/>
                  </a:lnTo>
                  <a:lnTo>
                    <a:pt x="111628" y="77787"/>
                  </a:lnTo>
                  <a:lnTo>
                    <a:pt x="167191" y="77787"/>
                  </a:lnTo>
                  <a:cubicBezTo>
                    <a:pt x="171154" y="77787"/>
                    <a:pt x="174819" y="79897"/>
                    <a:pt x="176807" y="83326"/>
                  </a:cubicBezTo>
                  <a:cubicBezTo>
                    <a:pt x="178795" y="86755"/>
                    <a:pt x="178806" y="90983"/>
                    <a:pt x="176836" y="94423"/>
                  </a:cubicBezTo>
                  <a:lnTo>
                    <a:pt x="176170" y="95434"/>
                  </a:lnTo>
                  <a:lnTo>
                    <a:pt x="87270" y="217672"/>
                  </a:lnTo>
                  <a:cubicBezTo>
                    <a:pt x="80958" y="226373"/>
                    <a:pt x="67178" y="221894"/>
                    <a:pt x="67178" y="211137"/>
                  </a:cubicBezTo>
                  <a:lnTo>
                    <a:pt x="67178" y="144462"/>
                  </a:lnTo>
                  <a:lnTo>
                    <a:pt x="11616" y="144462"/>
                  </a:lnTo>
                  <a:cubicBezTo>
                    <a:pt x="7652" y="144463"/>
                    <a:pt x="3988" y="142353"/>
                    <a:pt x="1999" y="138924"/>
                  </a:cubicBezTo>
                  <a:cubicBezTo>
                    <a:pt x="11" y="135495"/>
                    <a:pt x="0" y="131267"/>
                    <a:pt x="1970" y="127827"/>
                  </a:cubicBezTo>
                  <a:lnTo>
                    <a:pt x="2637" y="126816"/>
                  </a:lnTo>
                  <a:lnTo>
                    <a:pt x="91537" y="4578"/>
                  </a:lnTo>
                  <a:lnTo>
                    <a:pt x="91648" y="4434"/>
                  </a:lnTo>
                  <a:lnTo>
                    <a:pt x="91848" y="4167"/>
                  </a:lnTo>
                  <a:lnTo>
                    <a:pt x="92215" y="3745"/>
                  </a:lnTo>
                  <a:lnTo>
                    <a:pt x="92415" y="3500"/>
                  </a:lnTo>
                  <a:lnTo>
                    <a:pt x="92515" y="3412"/>
                  </a:lnTo>
                  <a:lnTo>
                    <a:pt x="92659" y="3256"/>
                  </a:lnTo>
                  <a:lnTo>
                    <a:pt x="93104" y="2856"/>
                  </a:lnTo>
                  <a:lnTo>
                    <a:pt x="93415" y="2567"/>
                  </a:lnTo>
                  <a:lnTo>
                    <a:pt x="93504" y="2500"/>
                  </a:lnTo>
                  <a:cubicBezTo>
                    <a:pt x="94806" y="1434"/>
                    <a:pt x="96334" y="678"/>
                    <a:pt x="97971" y="289"/>
                  </a:cubicBezTo>
                  <a:lnTo>
                    <a:pt x="98093" y="278"/>
                  </a:lnTo>
                  <a:lnTo>
                    <a:pt x="98393" y="222"/>
                  </a:lnTo>
                  <a:lnTo>
                    <a:pt x="99215" y="78"/>
                  </a:lnTo>
                  <a:lnTo>
                    <a:pt x="99338" y="67"/>
                  </a:lnTo>
                  <a:lnTo>
                    <a:pt x="99793" y="44"/>
                  </a:lnTo>
                  <a:close/>
                </a:path>
              </a:pathLst>
            </a:custGeom>
            <a:solidFill>
              <a:srgbClr val="D4837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489710" y="4975860"/>
              <a:ext cx="111621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⑤ Hooks 钩子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30618" y="5247799"/>
              <a:ext cx="159115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工具调用前后的自动检查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31570" y="5474970"/>
              <a:ext cx="13898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i="1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"写入前先跑 lint 检查"</a:t>
              </a:r>
            </a:p>
          </p:txBody>
        </p:sp>
        <p:sp>
          <p:nvSpPr>
            <p:cNvPr id="56" name="Line 56"/>
            <p:cNvSpPr/>
            <p:nvPr/>
          </p:nvSpPr>
          <p:spPr>
            <a:xfrm>
              <a:off x="3429000" y="3905250"/>
              <a:ext cx="2095500" cy="1238250"/>
            </a:xfrm>
            <a:custGeom>
              <a:avLst/>
              <a:gdLst/>
              <a:ahLst/>
              <a:cxnLst/>
              <a:rect l="l" t="t" r="r" b="b"/>
              <a:pathLst>
                <a:path w="2095500" h="1238250">
                  <a:moveTo>
                    <a:pt x="0" y="1238250"/>
                  </a:moveTo>
                  <a:lnTo>
                    <a:pt x="2095500" y="0"/>
                  </a:lnTo>
                </a:path>
              </a:pathLst>
            </a:custGeom>
            <a:noFill/>
            <a:ln w="9525">
              <a:solidFill>
                <a:srgbClr val="D4837F">
                  <a:alpha val="40000"/>
                </a:srgbClr>
              </a:solidFill>
              <a:custDash>
                <a:ds d="400000" sp="300000"/>
              </a:custDash>
            </a:ln>
          </p:spPr>
        </p:sp>
      </p:grpSp>
      <p:grpSp>
        <p:nvGrpSpPr>
          <p:cNvPr id="66" name="Group 66"/>
          <p:cNvGrpSpPr/>
          <p:nvPr/>
        </p:nvGrpSpPr>
        <p:grpSpPr>
          <a:xfrm>
            <a:off x="6667500" y="3905250"/>
            <a:ext cx="4572000" cy="1905000"/>
            <a:chOff x="6667500" y="3905250"/>
            <a:chExt cx="4572000" cy="1905000"/>
          </a:xfrm>
        </p:grpSpPr>
        <p:sp>
          <p:nvSpPr>
            <p:cNvPr id="58" name="Rectangle 58"/>
            <p:cNvSpPr/>
            <p:nvPr/>
          </p:nvSpPr>
          <p:spPr>
            <a:xfrm>
              <a:off x="8763000" y="4762500"/>
              <a:ext cx="2476500" cy="1047750"/>
            </a:xfrm>
            <a:prstGeom prst="roundRect">
              <a:avLst>
                <a:gd name="adj" fmla="val 10909"/>
              </a:avLst>
            </a:prstGeom>
            <a:solidFill>
              <a:srgbClr val="FAF7F2"/>
            </a:solidFill>
            <a:ln w="14288">
              <a:solidFill>
                <a:srgbClr val="8B6F47"/>
              </a:solidFill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9009062" y="4927600"/>
              <a:ext cx="155575" cy="222250"/>
              <a:chOff x="9009062" y="4927600"/>
              <a:chExt cx="155575" cy="222250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9031288" y="4927600"/>
                <a:ext cx="11112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11125">
                    <a:moveTo>
                      <a:pt x="55563" y="0"/>
                    </a:moveTo>
                    <a:cubicBezTo>
                      <a:pt x="86249" y="0"/>
                      <a:pt x="111125" y="24876"/>
                      <a:pt x="111125" y="55562"/>
                    </a:cubicBezTo>
                    <a:cubicBezTo>
                      <a:pt x="111125" y="86249"/>
                      <a:pt x="86249" y="111125"/>
                      <a:pt x="55563" y="111125"/>
                    </a:cubicBezTo>
                    <a:cubicBezTo>
                      <a:pt x="24876" y="111125"/>
                      <a:pt x="0" y="86249"/>
                      <a:pt x="0" y="55562"/>
                    </a:cubicBezTo>
                    <a:lnTo>
                      <a:pt x="56" y="53151"/>
                    </a:lnTo>
                    <a:cubicBezTo>
                      <a:pt x="1347" y="23432"/>
                      <a:pt x="25815" y="2"/>
                      <a:pt x="55563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9009062" y="5060950"/>
                <a:ext cx="15557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88900">
                    <a:moveTo>
                      <a:pt x="100012" y="0"/>
                    </a:moveTo>
                    <a:cubicBezTo>
                      <a:pt x="130699" y="0"/>
                      <a:pt x="155575" y="24876"/>
                      <a:pt x="155575" y="55562"/>
                    </a:cubicBezTo>
                    <a:lnTo>
                      <a:pt x="155575" y="66675"/>
                    </a:lnTo>
                    <a:cubicBezTo>
                      <a:pt x="155575" y="78950"/>
                      <a:pt x="145625" y="88900"/>
                      <a:pt x="133350" y="88900"/>
                    </a:cubicBezTo>
                    <a:lnTo>
                      <a:pt x="22225" y="88900"/>
                    </a:lnTo>
                    <a:cubicBezTo>
                      <a:pt x="9950" y="88900"/>
                      <a:pt x="0" y="78950"/>
                      <a:pt x="0" y="66675"/>
                    </a:cubicBezTo>
                    <a:lnTo>
                      <a:pt x="0" y="55562"/>
                    </a:lnTo>
                    <a:cubicBezTo>
                      <a:pt x="0" y="24876"/>
                      <a:pt x="24876" y="0"/>
                      <a:pt x="55562" y="0"/>
                    </a:cubicBezTo>
                    <a:lnTo>
                      <a:pt x="100012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9300210" y="4975860"/>
              <a:ext cx="18063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⑥ Sub-agents 子代理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941118" y="5247799"/>
              <a:ext cx="159115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拆分任务给专门的子代理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942070" y="5474970"/>
              <a:ext cx="135045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i="1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"让搜索专家去找资料"</a:t>
              </a:r>
            </a:p>
          </p:txBody>
        </p:sp>
        <p:sp>
          <p:nvSpPr>
            <p:cNvPr id="65" name="Line 65"/>
            <p:cNvSpPr/>
            <p:nvPr/>
          </p:nvSpPr>
          <p:spPr>
            <a:xfrm>
              <a:off x="6667500" y="3905250"/>
              <a:ext cx="2095500" cy="1238250"/>
            </a:xfrm>
            <a:custGeom>
              <a:avLst/>
              <a:gdLst/>
              <a:ahLst/>
              <a:cxnLst/>
              <a:rect l="l" t="t" r="r" b="b"/>
              <a:pathLst>
                <a:path w="2095500" h="1238250">
                  <a:moveTo>
                    <a:pt x="2095500" y="123825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8B6F47">
                  <a:alpha val="40000"/>
                </a:srgbClr>
              </a:solidFill>
              <a:custDash>
                <a:ds d="400000" sp="300000"/>
              </a:custDash>
            </a:ln>
          </p:spPr>
        </p:sp>
      </p:grpSp>
      <p:grpSp>
        <p:nvGrpSpPr>
          <p:cNvPr id="78" name="Group 78"/>
          <p:cNvGrpSpPr/>
          <p:nvPr/>
        </p:nvGrpSpPr>
        <p:grpSpPr>
          <a:xfrm>
            <a:off x="571500" y="6048375"/>
            <a:ext cx="11386662" cy="476250"/>
            <a:chOff x="571500" y="6048375"/>
            <a:chExt cx="11386662" cy="476250"/>
          </a:xfrm>
        </p:grpSpPr>
        <p:sp>
          <p:nvSpPr>
            <p:cNvPr id="67" name="Rectangle 67"/>
            <p:cNvSpPr/>
            <p:nvPr/>
          </p:nvSpPr>
          <p:spPr>
            <a:xfrm>
              <a:off x="571500" y="6048375"/>
              <a:ext cx="11049000" cy="476250"/>
            </a:xfrm>
            <a:prstGeom prst="roundRect">
              <a:avLst>
                <a:gd name="adj" fmla="val 20000"/>
              </a:avLst>
            </a:prstGeom>
            <a:solidFill>
              <a:srgbClr val="E8A87C">
                <a:alpha val="10000"/>
              </a:srgbClr>
            </a:solidFill>
            <a:ln w="14288">
              <a:solidFill>
                <a:srgbClr val="E8A87C"/>
              </a:solidFill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828407" y="6181725"/>
              <a:ext cx="191037" cy="190500"/>
              <a:chOff x="828407" y="6181725"/>
              <a:chExt cx="191037" cy="190500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828407" y="6267450"/>
                <a:ext cx="2911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29112" h="19050">
                    <a:moveTo>
                      <a:pt x="19318" y="0"/>
                    </a:moveTo>
                    <a:cubicBezTo>
                      <a:pt x="24358" y="6"/>
                      <a:pt x="28521" y="3936"/>
                      <a:pt x="28816" y="8967"/>
                    </a:cubicBezTo>
                    <a:cubicBezTo>
                      <a:pt x="29112" y="13998"/>
                      <a:pt x="25437" y="18388"/>
                      <a:pt x="20433" y="18983"/>
                    </a:cubicBezTo>
                    <a:lnTo>
                      <a:pt x="19318" y="19050"/>
                    </a:lnTo>
                    <a:lnTo>
                      <a:pt x="9793" y="19050"/>
                    </a:lnTo>
                    <a:cubicBezTo>
                      <a:pt x="4754" y="19044"/>
                      <a:pt x="591" y="15114"/>
                      <a:pt x="295" y="10083"/>
                    </a:cubicBezTo>
                    <a:cubicBezTo>
                      <a:pt x="0" y="5052"/>
                      <a:pt x="3675" y="662"/>
                      <a:pt x="8679" y="67"/>
                    </a:cubicBezTo>
                    <a:lnTo>
                      <a:pt x="9793" y="0"/>
                    </a:lnTo>
                    <a:lnTo>
                      <a:pt x="19318" y="0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914400" y="6181725"/>
                <a:ext cx="19050" cy="28843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28843">
                    <a:moveTo>
                      <a:pt x="9525" y="0"/>
                    </a:moveTo>
                    <a:cubicBezTo>
                      <a:pt x="14354" y="1"/>
                      <a:pt x="18418" y="3615"/>
                      <a:pt x="18983" y="8411"/>
                    </a:cubicBezTo>
                    <a:lnTo>
                      <a:pt x="19050" y="9525"/>
                    </a:lnTo>
                    <a:lnTo>
                      <a:pt x="19050" y="19050"/>
                    </a:lnTo>
                    <a:cubicBezTo>
                      <a:pt x="19044" y="24090"/>
                      <a:pt x="15114" y="28253"/>
                      <a:pt x="10083" y="28548"/>
                    </a:cubicBezTo>
                    <a:cubicBezTo>
                      <a:pt x="5052" y="28843"/>
                      <a:pt x="662" y="25169"/>
                      <a:pt x="67" y="20164"/>
                    </a:cubicBezTo>
                    <a:lnTo>
                      <a:pt x="0" y="19050"/>
                    </a:lnTo>
                    <a:lnTo>
                      <a:pt x="0" y="9525"/>
                    </a:lnTo>
                    <a:cubicBezTo>
                      <a:pt x="0" y="4264"/>
                      <a:pt x="4264" y="0"/>
                      <a:pt x="9525" y="0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990332" y="6267450"/>
                <a:ext cx="2911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29112" h="19050">
                    <a:moveTo>
                      <a:pt x="19318" y="0"/>
                    </a:moveTo>
                    <a:cubicBezTo>
                      <a:pt x="24358" y="6"/>
                      <a:pt x="28521" y="3936"/>
                      <a:pt x="28816" y="8967"/>
                    </a:cubicBezTo>
                    <a:cubicBezTo>
                      <a:pt x="29112" y="13998"/>
                      <a:pt x="25437" y="18388"/>
                      <a:pt x="20433" y="18983"/>
                    </a:cubicBezTo>
                    <a:lnTo>
                      <a:pt x="19318" y="19050"/>
                    </a:lnTo>
                    <a:lnTo>
                      <a:pt x="9793" y="19050"/>
                    </a:lnTo>
                    <a:cubicBezTo>
                      <a:pt x="4754" y="19044"/>
                      <a:pt x="591" y="15114"/>
                      <a:pt x="295" y="10083"/>
                    </a:cubicBezTo>
                    <a:cubicBezTo>
                      <a:pt x="0" y="5052"/>
                      <a:pt x="3675" y="662"/>
                      <a:pt x="8679" y="67"/>
                    </a:cubicBezTo>
                    <a:lnTo>
                      <a:pt x="9793" y="0"/>
                    </a:lnTo>
                    <a:lnTo>
                      <a:pt x="19318" y="0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852512" y="6205549"/>
                <a:ext cx="27574" cy="27730"/>
              </a:xfrm>
              <a:custGeom>
                <a:avLst/>
                <a:gdLst/>
                <a:ahLst/>
                <a:cxnLst/>
                <a:rect l="l" t="t" r="r" b="b"/>
                <a:pathLst>
                  <a:path w="27574" h="27730">
                    <a:moveTo>
                      <a:pt x="3718" y="3732"/>
                    </a:moveTo>
                    <a:cubicBezTo>
                      <a:pt x="7112" y="339"/>
                      <a:pt x="12500" y="0"/>
                      <a:pt x="16291" y="2941"/>
                    </a:cubicBezTo>
                    <a:lnTo>
                      <a:pt x="17187" y="3732"/>
                    </a:lnTo>
                    <a:lnTo>
                      <a:pt x="23854" y="10399"/>
                    </a:lnTo>
                    <a:cubicBezTo>
                      <a:pt x="27400" y="13957"/>
                      <a:pt x="27574" y="19656"/>
                      <a:pt x="24252" y="23423"/>
                    </a:cubicBezTo>
                    <a:cubicBezTo>
                      <a:pt x="20930" y="27190"/>
                      <a:pt x="15254" y="27730"/>
                      <a:pt x="11281" y="24658"/>
                    </a:cubicBezTo>
                    <a:lnTo>
                      <a:pt x="10386" y="23868"/>
                    </a:lnTo>
                    <a:lnTo>
                      <a:pt x="3718" y="17200"/>
                    </a:lnTo>
                    <a:cubicBezTo>
                      <a:pt x="0" y="13481"/>
                      <a:pt x="0" y="7451"/>
                      <a:pt x="3718" y="3732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967621" y="6205561"/>
                <a:ext cx="27861" cy="27575"/>
              </a:xfrm>
              <a:custGeom>
                <a:avLst/>
                <a:gdLst/>
                <a:ahLst/>
                <a:cxnLst/>
                <a:rect l="l" t="t" r="r" b="b"/>
                <a:pathLst>
                  <a:path w="27861" h="27575">
                    <a:moveTo>
                      <a:pt x="10530" y="3719"/>
                    </a:moveTo>
                    <a:cubicBezTo>
                      <a:pt x="14088" y="174"/>
                      <a:pt x="19786" y="0"/>
                      <a:pt x="23554" y="3322"/>
                    </a:cubicBezTo>
                    <a:cubicBezTo>
                      <a:pt x="27321" y="6643"/>
                      <a:pt x="27861" y="12319"/>
                      <a:pt x="24789" y="16292"/>
                    </a:cubicBezTo>
                    <a:lnTo>
                      <a:pt x="23999" y="17188"/>
                    </a:lnTo>
                    <a:lnTo>
                      <a:pt x="17331" y="23855"/>
                    </a:lnTo>
                    <a:cubicBezTo>
                      <a:pt x="13774" y="27400"/>
                      <a:pt x="8075" y="27575"/>
                      <a:pt x="4308" y="24253"/>
                    </a:cubicBezTo>
                    <a:cubicBezTo>
                      <a:pt x="541" y="20931"/>
                      <a:pt x="0" y="15255"/>
                      <a:pt x="3072" y="11282"/>
                    </a:cubicBezTo>
                    <a:lnTo>
                      <a:pt x="3863" y="10387"/>
                    </a:lnTo>
                    <a:lnTo>
                      <a:pt x="10530" y="3719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895350" y="6334125"/>
                <a:ext cx="5715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38100">
                    <a:moveTo>
                      <a:pt x="47625" y="0"/>
                    </a:moveTo>
                    <a:cubicBezTo>
                      <a:pt x="52886" y="0"/>
                      <a:pt x="57150" y="4264"/>
                      <a:pt x="57150" y="9525"/>
                    </a:cubicBezTo>
                    <a:cubicBezTo>
                      <a:pt x="57150" y="25307"/>
                      <a:pt x="44357" y="38100"/>
                      <a:pt x="28575" y="38100"/>
                    </a:cubicBezTo>
                    <a:cubicBezTo>
                      <a:pt x="12793" y="38100"/>
                      <a:pt x="0" y="25307"/>
                      <a:pt x="0" y="9525"/>
                    </a:cubicBezTo>
                    <a:cubicBezTo>
                      <a:pt x="1" y="4696"/>
                      <a:pt x="3615" y="632"/>
                      <a:pt x="8411" y="67"/>
                    </a:cubicBezTo>
                    <a:lnTo>
                      <a:pt x="9525" y="0"/>
                    </a:lnTo>
                    <a:lnTo>
                      <a:pt x="47625" y="0"/>
                    </a:ln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861929" y="6219825"/>
                <a:ext cx="123992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23992" h="104775">
                    <a:moveTo>
                      <a:pt x="61996" y="0"/>
                    </a:moveTo>
                    <a:cubicBezTo>
                      <a:pt x="86595" y="0"/>
                      <a:pt x="108435" y="15741"/>
                      <a:pt x="116213" y="39078"/>
                    </a:cubicBezTo>
                    <a:cubicBezTo>
                      <a:pt x="123992" y="62414"/>
                      <a:pt x="115965" y="88111"/>
                      <a:pt x="96286" y="102870"/>
                    </a:cubicBezTo>
                    <a:cubicBezTo>
                      <a:pt x="94973" y="103856"/>
                      <a:pt x="93428" y="104486"/>
                      <a:pt x="91800" y="104699"/>
                    </a:cubicBezTo>
                    <a:lnTo>
                      <a:pt x="90571" y="104775"/>
                    </a:lnTo>
                    <a:lnTo>
                      <a:pt x="33421" y="104775"/>
                    </a:lnTo>
                    <a:cubicBezTo>
                      <a:pt x="31360" y="104775"/>
                      <a:pt x="29355" y="104107"/>
                      <a:pt x="27706" y="102870"/>
                    </a:cubicBezTo>
                    <a:cubicBezTo>
                      <a:pt x="8027" y="88111"/>
                      <a:pt x="0" y="62414"/>
                      <a:pt x="7779" y="39078"/>
                    </a:cubicBezTo>
                    <a:cubicBezTo>
                      <a:pt x="15558" y="15741"/>
                      <a:pt x="37397" y="0"/>
                      <a:pt x="61996" y="0"/>
                    </a:cubicBezTo>
                    <a:close/>
                  </a:path>
                </a:pathLst>
              </a:custGeom>
              <a:solidFill>
                <a:srgbClr val="E8A87C"/>
              </a:solidFill>
              <a:ln>
                <a:noFill/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1128712" y="6212681"/>
              <a:ext cx="49713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Harness = 把 AI 从"聊天玩具"变成"生产力工具"的整套工程体系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9512618" y="6228874"/>
              <a:ext cx="24455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Claude Code 就是一个完整的 Harness</a:t>
              </a:r>
            </a:p>
          </p:txBody>
        </p:sp>
      </p:grpSp>
      <p:sp>
        <p:nvSpPr>
          <p:cNvPr id="79" name="TextBox 79"/>
          <p:cNvSpPr txBox="1"/>
          <p:nvPr/>
        </p:nvSpPr>
        <p:spPr>
          <a:xfrm>
            <a:off x="11654980" y="6522720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37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1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6" grpId="0"/>
      <p:bldP spid="36" grpId="0"/>
      <p:bldP spid="43" grpId="0"/>
      <p:bldP spid="50" grpId="0"/>
      <p:bldP spid="57" grpId="0"/>
      <p:bldP spid="66" grpId="0"/>
      <p:bldP spid="78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2925" y="376238"/>
            <a:ext cx="11089958" cy="457200"/>
            <a:chOff x="542925" y="376238"/>
            <a:chExt cx="11089958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376238"/>
              <a:ext cx="2179165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AI 进化时间轴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468928" y="466249"/>
              <a:ext cx="11639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从聊天到自主工作</a:t>
              </a:r>
            </a:p>
          </p:txBody>
        </p:sp>
      </p:grpSp>
      <p:sp>
        <p:nvSpPr>
          <p:cNvPr id="7" name="Line 7"/>
          <p:cNvSpPr/>
          <p:nvPr/>
        </p:nvSpPr>
        <p:spPr>
          <a:xfrm>
            <a:off x="952500" y="3238500"/>
            <a:ext cx="10287000" cy="9525"/>
          </a:xfrm>
          <a:custGeom>
            <a:avLst/>
            <a:gdLst/>
            <a:ahLst/>
            <a:cxnLst/>
            <a:rect l="l" t="t" r="r" b="b"/>
            <a:pathLst>
              <a:path w="10287000" h="9525">
                <a:moveTo>
                  <a:pt x="0" y="0"/>
                </a:moveTo>
                <a:lnTo>
                  <a:pt x="10287000" y="0"/>
                </a:lnTo>
              </a:path>
            </a:pathLst>
          </a:custGeom>
          <a:noFill/>
          <a:ln w="28575">
            <a:solidFill>
              <a:srgbClr val="8B6F47"/>
            </a:solidFill>
          </a:ln>
        </p:spPr>
      </p:sp>
      <p:grpSp>
        <p:nvGrpSpPr>
          <p:cNvPr id="17" name="Group 17"/>
          <p:cNvGrpSpPr/>
          <p:nvPr/>
        </p:nvGrpSpPr>
        <p:grpSpPr>
          <a:xfrm>
            <a:off x="952500" y="2758440"/>
            <a:ext cx="1905000" cy="2111216"/>
            <a:chOff x="952500" y="2758440"/>
            <a:chExt cx="1905000" cy="2111216"/>
          </a:xfrm>
        </p:grpSpPr>
        <p:sp>
          <p:nvSpPr>
            <p:cNvPr id="8" name="Ellipse 8"/>
            <p:cNvSpPr/>
            <p:nvPr/>
          </p:nvSpPr>
          <p:spPr>
            <a:xfrm>
              <a:off x="1600200" y="3124200"/>
              <a:ext cx="228600" cy="228600"/>
            </a:xfrm>
            <a:prstGeom prst="ellipse">
              <a:avLst/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388002" y="2758440"/>
              <a:ext cx="65299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8B6F47"/>
                  </a:solidFill>
                  <a:latin typeface="Georgia"/>
                  <a:ea typeface="SimSun"/>
                  <a:cs typeface="Georgia"/>
                </a:rPr>
                <a:t>2023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952500" y="3524250"/>
              <a:ext cx="1905000" cy="1333500"/>
            </a:xfrm>
            <a:prstGeom prst="roundRect">
              <a:avLst>
                <a:gd name="adj" fmla="val 8571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82040" y="3649028"/>
              <a:ext cx="10169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ChatGPT 时代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83945" y="3903345"/>
              <a:ext cx="79181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• 问答式交互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83945" y="4112895"/>
              <a:ext cx="79181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• 纯文本生成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83945" y="4322445"/>
              <a:ext cx="79181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• 无工具调用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83945" y="4531995"/>
              <a:ext cx="9429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能力：聊天对话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84898" y="4702016"/>
              <a:ext cx="110537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局限：一次问一次答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3429000" y="1333500"/>
            <a:ext cx="1905000" cy="2019300"/>
            <a:chOff x="3429000" y="1333500"/>
            <a:chExt cx="1905000" cy="2019300"/>
          </a:xfrm>
        </p:grpSpPr>
        <p:sp>
          <p:nvSpPr>
            <p:cNvPr id="18" name="Ellipse 18"/>
            <p:cNvSpPr/>
            <p:nvPr/>
          </p:nvSpPr>
          <p:spPr>
            <a:xfrm>
              <a:off x="4267200" y="3124200"/>
              <a:ext cx="228600" cy="228600"/>
            </a:xfrm>
            <a:prstGeom prst="ellipse">
              <a:avLst/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055002" y="2758440"/>
              <a:ext cx="65299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E8A87C"/>
                  </a:solidFill>
                  <a:latin typeface="Georgia"/>
                  <a:ea typeface="SimSun"/>
                  <a:cs typeface="Georgia"/>
                </a:rPr>
                <a:t>2024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429000" y="1333500"/>
              <a:ext cx="1905000" cy="1619250"/>
            </a:xfrm>
            <a:prstGeom prst="roundRect">
              <a:avLst>
                <a:gd name="adj" fmla="val 7059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558540" y="1458278"/>
              <a:ext cx="16127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Function Calling 时代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560445" y="1712595"/>
              <a:ext cx="92325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• 学会调用工具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560445" y="1922145"/>
              <a:ext cx="91668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• RAG 检索增强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560445" y="2131695"/>
              <a:ext cx="79181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• 多模态输入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560445" y="2341245"/>
              <a:ext cx="122558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能力：查资料 + 回答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561398" y="2558891"/>
              <a:ext cx="110537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局限：被动执行指令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381500" y="2952750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noFill/>
            <a:ln w="19050">
              <a:solidFill>
                <a:srgbClr val="E8A87C"/>
              </a:solidFill>
            </a:ln>
          </p:spPr>
        </p:sp>
      </p:grpSp>
      <p:grpSp>
        <p:nvGrpSpPr>
          <p:cNvPr id="39" name="Group 39"/>
          <p:cNvGrpSpPr/>
          <p:nvPr/>
        </p:nvGrpSpPr>
        <p:grpSpPr>
          <a:xfrm>
            <a:off x="6096000" y="2758440"/>
            <a:ext cx="1905000" cy="2385060"/>
            <a:chOff x="6096000" y="2758440"/>
            <a:chExt cx="1905000" cy="2385060"/>
          </a:xfrm>
        </p:grpSpPr>
        <p:sp>
          <p:nvSpPr>
            <p:cNvPr id="29" name="Ellipse 29"/>
            <p:cNvSpPr/>
            <p:nvPr/>
          </p:nvSpPr>
          <p:spPr>
            <a:xfrm>
              <a:off x="6934200" y="3124200"/>
              <a:ext cx="228600" cy="228600"/>
            </a:xfrm>
            <a:prstGeom prst="ellipse">
              <a:avLst/>
            </a:prstGeom>
            <a:solidFill>
              <a:srgbClr val="8FBC8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722002" y="2758440"/>
              <a:ext cx="65299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8FBC8F"/>
                  </a:solidFill>
                  <a:latin typeface="Georgia"/>
                  <a:ea typeface="SimSun"/>
                  <a:cs typeface="Georgia"/>
                </a:rPr>
                <a:t>2025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096000" y="3524250"/>
              <a:ext cx="1905000" cy="1619250"/>
            </a:xfrm>
            <a:prstGeom prst="roundRect">
              <a:avLst>
                <a:gd name="adj" fmla="val 7059"/>
              </a:avLst>
            </a:prstGeom>
            <a:solidFill>
              <a:srgbClr val="FAF7F2"/>
            </a:solidFill>
            <a:ln w="9525">
              <a:solidFill>
                <a:srgbClr val="EDE5D5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225540" y="3649028"/>
              <a:ext cx="8398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FBC8F"/>
                  </a:solidFill>
                  <a:latin typeface="Arial"/>
                  <a:ea typeface="Microsoft YaHei"/>
                  <a:cs typeface="Arial"/>
                </a:rPr>
                <a:t>Agent 时代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227445" y="3903345"/>
              <a:ext cx="92325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• 自主规划任务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227445" y="4112895"/>
              <a:ext cx="9429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• MCP 统一接口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227445" y="4322445"/>
              <a:ext cx="106127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• ReAct 循环执行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227445" y="4531995"/>
              <a:ext cx="12058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能力：拆解复杂任务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228398" y="4749641"/>
              <a:ext cx="110537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局限：仍需人类启动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7048500" y="3352800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noFill/>
            <a:ln w="19050">
              <a:solidFill>
                <a:srgbClr val="8FBC8F"/>
              </a:solidFill>
            </a:ln>
          </p:spPr>
        </p:sp>
      </p:grpSp>
      <p:grpSp>
        <p:nvGrpSpPr>
          <p:cNvPr id="51" name="Group 51"/>
          <p:cNvGrpSpPr/>
          <p:nvPr/>
        </p:nvGrpSpPr>
        <p:grpSpPr>
          <a:xfrm>
            <a:off x="8763000" y="1333500"/>
            <a:ext cx="2095500" cy="2019300"/>
            <a:chOff x="8763000" y="1333500"/>
            <a:chExt cx="2095500" cy="2019300"/>
          </a:xfrm>
        </p:grpSpPr>
        <p:sp>
          <p:nvSpPr>
            <p:cNvPr id="40" name="Ellipse 40"/>
            <p:cNvSpPr/>
            <p:nvPr/>
          </p:nvSpPr>
          <p:spPr>
            <a:xfrm>
              <a:off x="9601200" y="3124200"/>
              <a:ext cx="228600" cy="228600"/>
            </a:xfrm>
            <a:prstGeom prst="ellipse">
              <a:avLst/>
            </a:prstGeom>
            <a:solidFill>
              <a:srgbClr val="C4956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389002" y="2758440"/>
              <a:ext cx="65299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C4956A"/>
                  </a:solidFill>
                  <a:latin typeface="Georgia"/>
                  <a:ea typeface="SimSun"/>
                  <a:cs typeface="Georgia"/>
                </a:rPr>
                <a:t>2026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8763000" y="1333500"/>
              <a:ext cx="2095500" cy="1619250"/>
            </a:xfrm>
            <a:prstGeom prst="roundRect">
              <a:avLst>
                <a:gd name="adj" fmla="val 7059"/>
              </a:avLst>
            </a:prstGeom>
            <a:solidFill>
              <a:srgbClr val="FAF7F2"/>
            </a:solidFill>
            <a:ln w="14288">
              <a:solidFill>
                <a:srgbClr val="C4956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8763000" y="1333500"/>
              <a:ext cx="2095500" cy="57150"/>
            </a:xfrm>
            <a:prstGeom prst="roundRect">
              <a:avLst>
                <a:gd name="adj" fmla="val 50000"/>
              </a:avLst>
            </a:prstGeom>
            <a:solidFill>
              <a:srgbClr val="C4956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892540" y="1505902"/>
              <a:ext cx="10169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4956A"/>
                  </a:solidFill>
                  <a:latin typeface="Arial"/>
                  <a:ea typeface="Microsoft YaHei"/>
                  <a:cs typeface="Arial"/>
                </a:rPr>
                <a:t>Harness 时代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894445" y="1760220"/>
              <a:ext cx="83124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• Vibe Coding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894445" y="1969770"/>
              <a:ext cx="9692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• 多 Agent 协作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894445" y="2179320"/>
              <a:ext cx="9626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• Skill 按需加载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894445" y="2388870"/>
              <a:ext cx="14687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能力：独立完成复杂工作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895398" y="2606516"/>
              <a:ext cx="124394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C4956A"/>
                  </a:solidFill>
                  <a:latin typeface="Arial"/>
                  <a:ea typeface="Microsoft YaHei"/>
                  <a:cs typeface="Arial"/>
                </a:rPr>
                <a:t>人类 = 指挥，AI = 执行</a:t>
              </a:r>
            </a:p>
          </p:txBody>
        </p:sp>
        <p:sp>
          <p:nvSpPr>
            <p:cNvPr id="50" name="Line 50"/>
            <p:cNvSpPr/>
            <p:nvPr/>
          </p:nvSpPr>
          <p:spPr>
            <a:xfrm>
              <a:off x="9715500" y="2952750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noFill/>
            <a:ln w="19050">
              <a:solidFill>
                <a:srgbClr val="C4956A"/>
              </a:solidFill>
            </a:ln>
          </p:spPr>
        </p:sp>
      </p:grpSp>
      <p:grpSp>
        <p:nvGrpSpPr>
          <p:cNvPr id="55" name="Group 55"/>
          <p:cNvGrpSpPr/>
          <p:nvPr/>
        </p:nvGrpSpPr>
        <p:grpSpPr>
          <a:xfrm>
            <a:off x="952500" y="5429250"/>
            <a:ext cx="10287000" cy="476250"/>
            <a:chOff x="952500" y="5429250"/>
            <a:chExt cx="10287000" cy="476250"/>
          </a:xfrm>
        </p:grpSpPr>
        <p:sp>
          <p:nvSpPr>
            <p:cNvPr id="52" name="Rectangle 52"/>
            <p:cNvSpPr/>
            <p:nvPr/>
          </p:nvSpPr>
          <p:spPr>
            <a:xfrm>
              <a:off x="952500" y="5429250"/>
              <a:ext cx="10287000" cy="476250"/>
            </a:xfrm>
            <a:prstGeom prst="roundRect">
              <a:avLst>
                <a:gd name="adj" fmla="val 20000"/>
              </a:avLst>
            </a:prstGeom>
            <a:solidFill>
              <a:srgbClr val="8B6F47">
                <a:alpha val="6000"/>
              </a:srgbClr>
            </a:solidFill>
            <a:ln w="9525">
              <a:solidFill>
                <a:srgbClr val="8B6F47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891665" y="5601652"/>
              <a:ext cx="8317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进化方向：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2939415" y="5601652"/>
              <a:ext cx="346943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被动回答 → 工具调用 → 自主任务 → 系统工程化协作</a:t>
              </a:r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11654980" y="6522720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38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3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8" grpId="0"/>
      <p:bldP spid="39" grpId="0"/>
      <p:bldP spid="51" grpId="0"/>
      <p:bldP spid="5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8B6F47"/>
              </a:gs>
              <a:gs pos="100000">
                <a:srgbClr val="6B5535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572500" y="3810000"/>
            <a:ext cx="3810000" cy="3810000"/>
          </a:xfrm>
          <a:prstGeom prst="ellipse">
            <a:avLst/>
          </a:prstGeom>
          <a:solidFill>
            <a:srgbClr val="FAF7F2">
              <a:alpha val="5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571500" y="190500"/>
            <a:ext cx="2286000" cy="2286000"/>
          </a:xfrm>
          <a:prstGeom prst="ellipse">
            <a:avLst/>
          </a:prstGeom>
          <a:solidFill>
            <a:srgbClr val="FAF7F2">
              <a:alpha val="4000"/>
            </a:srgbClr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4362688" y="1504950"/>
            <a:ext cx="3466624" cy="3095625"/>
            <a:chOff x="4362688" y="1504950"/>
            <a:chExt cx="3466624" cy="3095625"/>
          </a:xfrm>
        </p:grpSpPr>
        <p:sp>
          <p:nvSpPr>
            <p:cNvPr id="5" name="TextBox 5"/>
            <p:cNvSpPr txBox="1"/>
            <p:nvPr/>
          </p:nvSpPr>
          <p:spPr>
            <a:xfrm>
              <a:off x="5395127" y="1504950"/>
              <a:ext cx="1401747" cy="1828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0" b="1" dirty="0">
                  <a:solidFill>
                    <a:srgbClr val="FAF7F2">
                      <a:alphaMod val="15000"/>
                    </a:srgbClr>
                  </a:solidFill>
                  <a:latin typeface="Georgia"/>
                  <a:ea typeface="Microsoft YaHei"/>
                  <a:cs typeface="Georgia"/>
                </a:rPr>
                <a:t>12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808125" y="2849880"/>
              <a:ext cx="2575750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FAF7F2"/>
                  </a:solidFill>
                  <a:latin typeface="Georgia"/>
                  <a:ea typeface="Microsoft YaHei"/>
                  <a:cs typeface="Georgia"/>
                </a:rPr>
                <a:t>2026 前沿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4953000" y="3476625"/>
              <a:ext cx="2286000" cy="381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4362688" y="3838575"/>
              <a:ext cx="346662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AF7F2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OpenClaw · Hermes · Vibe Coding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5867400" y="4295808"/>
              <a:ext cx="228600" cy="304767"/>
            </a:xfrm>
            <a:custGeom>
              <a:avLst/>
              <a:gdLst/>
              <a:ahLst/>
              <a:cxnLst/>
              <a:rect l="l" t="t" r="r" b="b"/>
              <a:pathLst>
                <a:path w="228600" h="304767">
                  <a:moveTo>
                    <a:pt x="85725" y="19017"/>
                  </a:moveTo>
                  <a:cubicBezTo>
                    <a:pt x="85725" y="6444"/>
                    <a:pt x="100813" y="0"/>
                    <a:pt x="109899" y="8701"/>
                  </a:cubicBezTo>
                  <a:cubicBezTo>
                    <a:pt x="137874" y="35504"/>
                    <a:pt x="154134" y="94355"/>
                    <a:pt x="134903" y="139003"/>
                  </a:cubicBezTo>
                  <a:lnTo>
                    <a:pt x="133760" y="141489"/>
                  </a:lnTo>
                  <a:lnTo>
                    <a:pt x="133931" y="141532"/>
                  </a:lnTo>
                  <a:cubicBezTo>
                    <a:pt x="142861" y="143432"/>
                    <a:pt x="151119" y="135388"/>
                    <a:pt x="166835" y="110485"/>
                  </a:cubicBezTo>
                  <a:lnTo>
                    <a:pt x="168835" y="107285"/>
                  </a:lnTo>
                  <a:cubicBezTo>
                    <a:pt x="171185" y="103502"/>
                    <a:pt x="175164" y="101032"/>
                    <a:pt x="179596" y="100603"/>
                  </a:cubicBezTo>
                  <a:cubicBezTo>
                    <a:pt x="184029" y="100174"/>
                    <a:pt x="188407" y="101837"/>
                    <a:pt x="191438" y="105099"/>
                  </a:cubicBezTo>
                  <a:cubicBezTo>
                    <a:pt x="210498" y="125601"/>
                    <a:pt x="228600" y="167635"/>
                    <a:pt x="228600" y="194681"/>
                  </a:cubicBezTo>
                  <a:cubicBezTo>
                    <a:pt x="228600" y="255618"/>
                    <a:pt x="177294" y="304767"/>
                    <a:pt x="114300" y="304767"/>
                  </a:cubicBezTo>
                  <a:cubicBezTo>
                    <a:pt x="51306" y="304767"/>
                    <a:pt x="0" y="255618"/>
                    <a:pt x="0" y="194667"/>
                  </a:cubicBezTo>
                  <a:cubicBezTo>
                    <a:pt x="0" y="162492"/>
                    <a:pt x="14602" y="127287"/>
                    <a:pt x="37605" y="104642"/>
                  </a:cubicBezTo>
                  <a:lnTo>
                    <a:pt x="46249" y="96226"/>
                  </a:lnTo>
                  <a:cubicBezTo>
                    <a:pt x="49692" y="92854"/>
                    <a:pt x="52449" y="90083"/>
                    <a:pt x="55078" y="87311"/>
                  </a:cubicBezTo>
                  <a:cubicBezTo>
                    <a:pt x="75509" y="65708"/>
                    <a:pt x="85725" y="45534"/>
                    <a:pt x="85725" y="19017"/>
                  </a:cubicBezTo>
                </a:path>
              </a:pathLst>
            </a:custGeom>
            <a:solidFill>
              <a:srgbClr val="E8A87C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369570" y="6522720"/>
            <a:ext cx="11452859" cy="182880"/>
            <a:chOff x="369570" y="6522720"/>
            <a:chExt cx="11452859" cy="182880"/>
          </a:xfrm>
        </p:grpSpPr>
        <p:sp>
          <p:nvSpPr>
            <p:cNvPr id="11" name="TextBox 11"/>
            <p:cNvSpPr txBox="1"/>
            <p:nvPr/>
          </p:nvSpPr>
          <p:spPr>
            <a:xfrm>
              <a:off x="369570" y="6522720"/>
              <a:ext cx="14687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AI大家学 · 大模型技术篇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654980" y="6522720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2925" y="376238"/>
            <a:ext cx="11089957" cy="457200"/>
            <a:chOff x="542925" y="376238"/>
            <a:chExt cx="11089957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376238"/>
              <a:ext cx="2990017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2026 三大前沿项目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262449" y="466249"/>
              <a:ext cx="13704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正在重塑 AI 开发方式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71500" y="1000125"/>
            <a:ext cx="3429000" cy="3619500"/>
            <a:chOff x="571500" y="1000125"/>
            <a:chExt cx="3429000" cy="3619500"/>
          </a:xfrm>
        </p:grpSpPr>
        <p:sp>
          <p:nvSpPr>
            <p:cNvPr id="7" name="Rectangle 7"/>
            <p:cNvSpPr/>
            <p:nvPr/>
          </p:nvSpPr>
          <p:spPr>
            <a:xfrm>
              <a:off x="571500" y="1000125"/>
              <a:ext cx="3429000" cy="3619500"/>
            </a:xfrm>
            <a:prstGeom prst="roundRect">
              <a:avLst>
                <a:gd name="adj" fmla="val 4444"/>
              </a:avLst>
            </a:prstGeom>
            <a:solidFill>
              <a:srgbClr val="FAF7F2"/>
            </a:solidFill>
            <a:ln w="19050">
              <a:solidFill>
                <a:srgbClr val="8B6F47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000125"/>
              <a:ext cx="3429000" cy="57150"/>
            </a:xfrm>
            <a:prstGeom prst="roundRect">
              <a:avLst>
                <a:gd name="adj" fmla="val 50000"/>
              </a:avLst>
            </a:prstGeom>
            <a:solidFill>
              <a:srgbClr val="8B6F47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881777" y="1263980"/>
              <a:ext cx="255728" cy="253327"/>
              <a:chOff x="881777" y="1263980"/>
              <a:chExt cx="255728" cy="253327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018934" y="1441450"/>
                <a:ext cx="107112" cy="75857"/>
              </a:xfrm>
              <a:custGeom>
                <a:avLst/>
                <a:gdLst/>
                <a:ahLst/>
                <a:cxnLst/>
                <a:rect l="l" t="t" r="r" b="b"/>
                <a:pathLst>
                  <a:path w="107112" h="75857">
                    <a:moveTo>
                      <a:pt x="107112" y="0"/>
                    </a:moveTo>
                    <a:cubicBezTo>
                      <a:pt x="88254" y="43206"/>
                      <a:pt x="47016" y="72411"/>
                      <a:pt x="0" y="75857"/>
                    </a:cubicBezTo>
                    <a:cubicBezTo>
                      <a:pt x="3252" y="75082"/>
                      <a:pt x="6068" y="73056"/>
                      <a:pt x="7836" y="70218"/>
                    </a:cubicBezTo>
                    <a:cubicBezTo>
                      <a:pt x="21335" y="48595"/>
                      <a:pt x="31122" y="24865"/>
                      <a:pt x="36792" y="13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93254" y="1441450"/>
                <a:ext cx="107099" cy="75857"/>
              </a:xfrm>
              <a:custGeom>
                <a:avLst/>
                <a:gdLst/>
                <a:ahLst/>
                <a:cxnLst/>
                <a:rect l="l" t="t" r="r" b="b"/>
                <a:pathLst>
                  <a:path w="107099" h="75857">
                    <a:moveTo>
                      <a:pt x="70320" y="0"/>
                    </a:moveTo>
                    <a:cubicBezTo>
                      <a:pt x="75987" y="24861"/>
                      <a:pt x="85774" y="48599"/>
                      <a:pt x="99276" y="70231"/>
                    </a:cubicBezTo>
                    <a:cubicBezTo>
                      <a:pt x="101043" y="73061"/>
                      <a:pt x="103854" y="75082"/>
                      <a:pt x="107099" y="75857"/>
                    </a:cubicBezTo>
                    <a:cubicBezTo>
                      <a:pt x="60088" y="72406"/>
                      <a:pt x="18856" y="43202"/>
                      <a:pt x="0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989711" y="1441450"/>
                <a:ext cx="39878" cy="49327"/>
              </a:xfrm>
              <a:custGeom>
                <a:avLst/>
                <a:gdLst/>
                <a:ahLst/>
                <a:cxnLst/>
                <a:rect l="l" t="t" r="r" b="b"/>
                <a:pathLst>
                  <a:path w="39878" h="49327">
                    <a:moveTo>
                      <a:pt x="39878" y="0"/>
                    </a:moveTo>
                    <a:cubicBezTo>
                      <a:pt x="35422" y="17245"/>
                      <a:pt x="28718" y="33829"/>
                      <a:pt x="19939" y="49327"/>
                    </a:cubicBezTo>
                    <a:cubicBezTo>
                      <a:pt x="11160" y="33829"/>
                      <a:pt x="4456" y="17245"/>
                      <a:pt x="0" y="0"/>
                    </a:cubicBezTo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881777" y="1365250"/>
                <a:ext cx="77505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7505" h="50800">
                    <a:moveTo>
                      <a:pt x="77505" y="0"/>
                    </a:moveTo>
                    <a:cubicBezTo>
                      <a:pt x="75617" y="16881"/>
                      <a:pt x="75617" y="33919"/>
                      <a:pt x="77505" y="50800"/>
                    </a:cubicBezTo>
                    <a:lnTo>
                      <a:pt x="3438" y="50800"/>
                    </a:lnTo>
                    <a:cubicBezTo>
                      <a:pt x="9" y="34041"/>
                      <a:pt x="0" y="16762"/>
                      <a:pt x="3413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82735" y="1365250"/>
                <a:ext cx="53831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3831" h="50800">
                    <a:moveTo>
                      <a:pt x="51706" y="0"/>
                    </a:moveTo>
                    <a:cubicBezTo>
                      <a:pt x="53831" y="16867"/>
                      <a:pt x="53831" y="33933"/>
                      <a:pt x="51706" y="50800"/>
                    </a:cubicBezTo>
                    <a:lnTo>
                      <a:pt x="2125" y="50800"/>
                    </a:lnTo>
                    <a:cubicBezTo>
                      <a:pt x="0" y="33933"/>
                      <a:pt x="0" y="16867"/>
                      <a:pt x="2125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060018" y="1365250"/>
                <a:ext cx="77487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7487" h="50800">
                    <a:moveTo>
                      <a:pt x="74092" y="0"/>
                    </a:moveTo>
                    <a:cubicBezTo>
                      <a:pt x="77487" y="16764"/>
                      <a:pt x="77479" y="34039"/>
                      <a:pt x="74066" y="50800"/>
                    </a:cubicBezTo>
                    <a:lnTo>
                      <a:pt x="0" y="50800"/>
                    </a:lnTo>
                    <a:cubicBezTo>
                      <a:pt x="1892" y="33922"/>
                      <a:pt x="1892" y="16891"/>
                      <a:pt x="0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93216" y="1263993"/>
                <a:ext cx="107125" cy="75857"/>
              </a:xfrm>
              <a:custGeom>
                <a:avLst/>
                <a:gdLst/>
                <a:ahLst/>
                <a:cxnLst/>
                <a:rect l="l" t="t" r="r" b="b"/>
                <a:pathLst>
                  <a:path w="107125" h="75857">
                    <a:moveTo>
                      <a:pt x="107125" y="0"/>
                    </a:moveTo>
                    <a:cubicBezTo>
                      <a:pt x="103882" y="781"/>
                      <a:pt x="101076" y="2806"/>
                      <a:pt x="99314" y="5639"/>
                    </a:cubicBezTo>
                    <a:cubicBezTo>
                      <a:pt x="85814" y="27266"/>
                      <a:pt x="76027" y="51000"/>
                      <a:pt x="70358" y="75857"/>
                    </a:cubicBezTo>
                    <a:lnTo>
                      <a:pt x="0" y="75857"/>
                    </a:lnTo>
                    <a:cubicBezTo>
                      <a:pt x="18691" y="33080"/>
                      <a:pt x="59323" y="3987"/>
                      <a:pt x="105842" y="76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989711" y="1290523"/>
                <a:ext cx="39878" cy="49340"/>
              </a:xfrm>
              <a:custGeom>
                <a:avLst/>
                <a:gdLst/>
                <a:ahLst/>
                <a:cxnLst/>
                <a:rect l="l" t="t" r="r" b="b"/>
                <a:pathLst>
                  <a:path w="39878" h="49340">
                    <a:moveTo>
                      <a:pt x="19939" y="0"/>
                    </a:moveTo>
                    <a:cubicBezTo>
                      <a:pt x="28719" y="15501"/>
                      <a:pt x="35423" y="32090"/>
                      <a:pt x="39878" y="49340"/>
                    </a:cubicBezTo>
                    <a:lnTo>
                      <a:pt x="0" y="49340"/>
                    </a:lnTo>
                    <a:cubicBezTo>
                      <a:pt x="4318" y="32614"/>
                      <a:pt x="10795" y="16320"/>
                      <a:pt x="19431" y="864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1018959" y="1263980"/>
                <a:ext cx="107124" cy="75870"/>
              </a:xfrm>
              <a:custGeom>
                <a:avLst/>
                <a:gdLst/>
                <a:ahLst/>
                <a:cxnLst/>
                <a:rect l="l" t="t" r="r" b="b"/>
                <a:pathLst>
                  <a:path w="107124" h="75870">
                    <a:moveTo>
                      <a:pt x="0" y="0"/>
                    </a:moveTo>
                    <a:cubicBezTo>
                      <a:pt x="47013" y="3472"/>
                      <a:pt x="88245" y="32674"/>
                      <a:pt x="107124" y="75870"/>
                    </a:cubicBezTo>
                    <a:lnTo>
                      <a:pt x="36766" y="75870"/>
                    </a:lnTo>
                    <a:cubicBezTo>
                      <a:pt x="31099" y="51008"/>
                      <a:pt x="21312" y="27270"/>
                      <a:pt x="7811" y="5639"/>
                    </a:cubicBezTo>
                    <a:cubicBezTo>
                      <a:pt x="6283" y="3191"/>
                      <a:pt x="3967" y="1337"/>
                      <a:pt x="1245" y="381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266825" y="1295400"/>
              <a:ext cx="10847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OpenClaw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62000" y="1619250"/>
              <a:ext cx="3048000" cy="285750"/>
            </a:xfrm>
            <a:prstGeom prst="roundRect">
              <a:avLst>
                <a:gd name="adj" fmla="val 20000"/>
              </a:avLst>
            </a:prstGeom>
            <a:solidFill>
              <a:srgbClr val="8B6F47">
                <a:alpha val="8000"/>
              </a:srgbClr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425099" y="1714024"/>
              <a:ext cx="172180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开源 Agent 基础设施联盟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762000" y="2047875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EDE5D5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44868" y="2180749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是什么：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45820" y="2379345"/>
              <a:ext cx="173164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阿里、腾讯、字节等联合发起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45820" y="2569845"/>
              <a:ext cx="164620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统一 Agent 工具协议和标准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44868" y="2847499"/>
              <a:ext cx="9218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为什么重要：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45820" y="3046095"/>
              <a:ext cx="12058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避免各家各自造轮子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45820" y="3236595"/>
              <a:ext cx="109413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MCP 的中国版扩展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62000" y="3571875"/>
              <a:ext cx="3048000" cy="333375"/>
            </a:xfrm>
            <a:prstGeom prst="roundRect">
              <a:avLst>
                <a:gd name="adj" fmla="val 17143"/>
              </a:avLst>
            </a:prstGeom>
            <a:solidFill>
              <a:srgbClr val="E8A87C">
                <a:alpha val="10000"/>
              </a:srgbClr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361027" y="3693795"/>
              <a:ext cx="184994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类比：Android 统一了手机系统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62000" y="4048125"/>
              <a:ext cx="1143000" cy="285750"/>
            </a:xfrm>
            <a:prstGeom prst="roundRect">
              <a:avLst>
                <a:gd name="adj" fmla="val 20000"/>
              </a:avLst>
            </a:prstGeom>
            <a:solidFill>
              <a:srgbClr val="8B6F47">
                <a:alpha val="10000"/>
              </a:srgbClr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52512" y="4149566"/>
              <a:ext cx="76197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🦞 龙虾 = Claw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62000" y="4381500"/>
              <a:ext cx="3048000" cy="190500"/>
            </a:xfrm>
            <a:prstGeom prst="roundRect">
              <a:avLst>
                <a:gd name="adj" fmla="val 20000"/>
              </a:avLst>
            </a:prstGeom>
            <a:solidFill>
              <a:srgbClr val="8B6F47">
                <a:alpha val="4000"/>
              </a:srgbClr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730300" y="4425791"/>
              <a:ext cx="11114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2026年7月 正式发布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4381500" y="1000125"/>
            <a:ext cx="3429000" cy="3619500"/>
            <a:chOff x="4381500" y="1000125"/>
            <a:chExt cx="3429000" cy="3619500"/>
          </a:xfrm>
        </p:grpSpPr>
        <p:sp>
          <p:nvSpPr>
            <p:cNvPr id="36" name="Rectangle 36"/>
            <p:cNvSpPr/>
            <p:nvPr/>
          </p:nvSpPr>
          <p:spPr>
            <a:xfrm>
              <a:off x="4381500" y="1000125"/>
              <a:ext cx="3429000" cy="3619500"/>
            </a:xfrm>
            <a:prstGeom prst="roundRect">
              <a:avLst>
                <a:gd name="adj" fmla="val 4444"/>
              </a:avLst>
            </a:prstGeom>
            <a:solidFill>
              <a:srgbClr val="FAF7F2"/>
            </a:solidFill>
            <a:ln w="19050">
              <a:solidFill>
                <a:srgbClr val="E8A87C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4381500" y="1000125"/>
              <a:ext cx="3429000" cy="5715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4692650" y="1276350"/>
              <a:ext cx="254000" cy="241894"/>
            </a:xfrm>
            <a:custGeom>
              <a:avLst/>
              <a:gdLst/>
              <a:ahLst/>
              <a:cxnLst/>
              <a:rect l="l" t="t" r="r" b="b"/>
              <a:pathLst>
                <a:path w="254000" h="241894">
                  <a:moveTo>
                    <a:pt x="203200" y="0"/>
                  </a:moveTo>
                  <a:cubicBezTo>
                    <a:pt x="231256" y="0"/>
                    <a:pt x="254000" y="22744"/>
                    <a:pt x="254000" y="50800"/>
                  </a:cubicBezTo>
                  <a:lnTo>
                    <a:pt x="254000" y="152400"/>
                  </a:lnTo>
                  <a:cubicBezTo>
                    <a:pt x="254000" y="180456"/>
                    <a:pt x="231256" y="203200"/>
                    <a:pt x="203200" y="203200"/>
                  </a:cubicBezTo>
                  <a:lnTo>
                    <a:pt x="143205" y="203200"/>
                  </a:lnTo>
                  <a:lnTo>
                    <a:pt x="82728" y="239484"/>
                  </a:lnTo>
                  <a:cubicBezTo>
                    <a:pt x="79027" y="241705"/>
                    <a:pt x="74451" y="241894"/>
                    <a:pt x="70580" y="239987"/>
                  </a:cubicBezTo>
                  <a:cubicBezTo>
                    <a:pt x="66708" y="238079"/>
                    <a:pt x="64070" y="234336"/>
                    <a:pt x="63576" y="230048"/>
                  </a:cubicBezTo>
                  <a:lnTo>
                    <a:pt x="63500" y="228600"/>
                  </a:lnTo>
                  <a:lnTo>
                    <a:pt x="63500" y="203200"/>
                  </a:lnTo>
                  <a:lnTo>
                    <a:pt x="50800" y="203200"/>
                  </a:lnTo>
                  <a:cubicBezTo>
                    <a:pt x="23731" y="203200"/>
                    <a:pt x="1417" y="181975"/>
                    <a:pt x="63" y="154940"/>
                  </a:cubicBezTo>
                  <a:lnTo>
                    <a:pt x="0" y="152400"/>
                  </a:ln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  <a:moveTo>
                    <a:pt x="152400" y="114300"/>
                  </a:moveTo>
                  <a:lnTo>
                    <a:pt x="76200" y="114300"/>
                  </a:lnTo>
                  <a:cubicBezTo>
                    <a:pt x="69186" y="114300"/>
                    <a:pt x="63500" y="119986"/>
                    <a:pt x="63500" y="127000"/>
                  </a:cubicBezTo>
                  <a:cubicBezTo>
                    <a:pt x="63500" y="134014"/>
                    <a:pt x="69186" y="139700"/>
                    <a:pt x="76200" y="139700"/>
                  </a:cubicBezTo>
                  <a:lnTo>
                    <a:pt x="152400" y="139700"/>
                  </a:lnTo>
                  <a:cubicBezTo>
                    <a:pt x="159414" y="139700"/>
                    <a:pt x="165100" y="134014"/>
                    <a:pt x="165100" y="127000"/>
                  </a:cubicBezTo>
                  <a:cubicBezTo>
                    <a:pt x="165100" y="119986"/>
                    <a:pt x="159414" y="114300"/>
                    <a:pt x="152400" y="114300"/>
                  </a:cubicBezTo>
                  <a:moveTo>
                    <a:pt x="177800" y="63500"/>
                  </a:moveTo>
                  <a:lnTo>
                    <a:pt x="76200" y="63500"/>
                  </a:lnTo>
                  <a:cubicBezTo>
                    <a:pt x="69186" y="63500"/>
                    <a:pt x="63500" y="69186"/>
                    <a:pt x="63500" y="76200"/>
                  </a:cubicBezTo>
                  <a:cubicBezTo>
                    <a:pt x="63500" y="83214"/>
                    <a:pt x="69186" y="88900"/>
                    <a:pt x="76200" y="88900"/>
                  </a:cubicBezTo>
                  <a:lnTo>
                    <a:pt x="177800" y="88900"/>
                  </a:lnTo>
                  <a:cubicBezTo>
                    <a:pt x="184814" y="88900"/>
                    <a:pt x="190500" y="83214"/>
                    <a:pt x="190500" y="76200"/>
                  </a:cubicBezTo>
                  <a:cubicBezTo>
                    <a:pt x="190500" y="69186"/>
                    <a:pt x="184814" y="63500"/>
                    <a:pt x="177800" y="63500"/>
                  </a:cubicBezTo>
                </a:path>
              </a:pathLst>
            </a:custGeom>
            <a:solidFill>
              <a:srgbClr val="E8A87C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076825" y="1295400"/>
              <a:ext cx="84320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Hermes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4572000" y="1619250"/>
              <a:ext cx="3048000" cy="285750"/>
            </a:xfrm>
            <a:prstGeom prst="roundRect">
              <a:avLst>
                <a:gd name="adj" fmla="val 20000"/>
              </a:avLst>
            </a:prstGeom>
            <a:solidFill>
              <a:srgbClr val="E8A87C">
                <a:alpha val="8000"/>
              </a:srgbClr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481805" y="1714024"/>
              <a:ext cx="122839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Agent 间通信协议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4572000" y="2047875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EDE5D5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654868" y="2180749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是什么：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655820" y="2379345"/>
              <a:ext cx="138331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让多个 Agent 互相沟通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655820" y="2569845"/>
              <a:ext cx="13373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协作完成更复杂的任务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654868" y="2847499"/>
              <a:ext cx="9218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为什么重要：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655820" y="3046095"/>
              <a:ext cx="125187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单个 Agent 能力有限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655820" y="3236595"/>
              <a:ext cx="138331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多 Agent = AI 团队协作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4572000" y="3571875"/>
              <a:ext cx="3048000" cy="333375"/>
            </a:xfrm>
            <a:prstGeom prst="roundRect">
              <a:avLst>
                <a:gd name="adj" fmla="val 17143"/>
              </a:avLst>
            </a:prstGeom>
            <a:solidFill>
              <a:srgbClr val="E8A87C">
                <a:alpha val="10000"/>
              </a:srgbClr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184172" y="3693795"/>
              <a:ext cx="182365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类比：一个人干活 vs 一个团队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4572000" y="4048125"/>
              <a:ext cx="1143000" cy="285750"/>
            </a:xfrm>
            <a:prstGeom prst="roundRect">
              <a:avLst>
                <a:gd name="adj" fmla="val 20000"/>
              </a:avLst>
            </a:prstGeom>
            <a:solidFill>
              <a:srgbClr val="E8A87C">
                <a:alpha val="10000"/>
              </a:srgbClr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4687205" y="4149566"/>
              <a:ext cx="91259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🏛️ 希腊信使之神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4572000" y="4381500"/>
              <a:ext cx="3048000" cy="190500"/>
            </a:xfrm>
            <a:prstGeom prst="roundRect">
              <a:avLst>
                <a:gd name="adj" fmla="val 20000"/>
              </a:avLst>
            </a:prstGeom>
            <a:solidFill>
              <a:srgbClr val="E8A87C">
                <a:alpha val="4000"/>
              </a:srgbClr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410771" y="4425791"/>
              <a:ext cx="137045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Anthropic 2025年底提出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8191500" y="1000125"/>
            <a:ext cx="3429000" cy="3619500"/>
            <a:chOff x="8191500" y="1000125"/>
            <a:chExt cx="3429000" cy="3619500"/>
          </a:xfrm>
        </p:grpSpPr>
        <p:sp>
          <p:nvSpPr>
            <p:cNvPr id="56" name="Rectangle 56"/>
            <p:cNvSpPr/>
            <p:nvPr/>
          </p:nvSpPr>
          <p:spPr>
            <a:xfrm>
              <a:off x="8191500" y="1000125"/>
              <a:ext cx="3429000" cy="3619500"/>
            </a:xfrm>
            <a:prstGeom prst="roundRect">
              <a:avLst>
                <a:gd name="adj" fmla="val 4444"/>
              </a:avLst>
            </a:prstGeom>
            <a:solidFill>
              <a:srgbClr val="FAF7F2"/>
            </a:solidFill>
            <a:ln w="19050">
              <a:solidFill>
                <a:srgbClr val="8FBC8F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8191500" y="1000125"/>
              <a:ext cx="3429000" cy="57150"/>
            </a:xfrm>
            <a:prstGeom prst="roundRect">
              <a:avLst>
                <a:gd name="adj" fmla="val 50000"/>
              </a:avLst>
            </a:prstGeom>
            <a:solidFill>
              <a:srgbClr val="8FBC8F"/>
            </a:solidFill>
            <a:ln>
              <a:noFill/>
            </a:ln>
          </p:spPr>
        </p:sp>
        <p:sp>
          <p:nvSpPr>
            <p:cNvPr id="58" name="Freeform 58"/>
            <p:cNvSpPr/>
            <p:nvPr/>
          </p:nvSpPr>
          <p:spPr>
            <a:xfrm>
              <a:off x="8502648" y="1257961"/>
              <a:ext cx="267422" cy="268466"/>
            </a:xfrm>
            <a:custGeom>
              <a:avLst/>
              <a:gdLst/>
              <a:ahLst/>
              <a:cxnLst/>
              <a:rect l="l" t="t" r="r" b="b"/>
              <a:pathLst>
                <a:path w="267422" h="268466">
                  <a:moveTo>
                    <a:pt x="190502" y="22707"/>
                  </a:moveTo>
                  <a:cubicBezTo>
                    <a:pt x="243877" y="53523"/>
                    <a:pt x="267422" y="118214"/>
                    <a:pt x="246342" y="176130"/>
                  </a:cubicBezTo>
                  <a:cubicBezTo>
                    <a:pt x="225262" y="234045"/>
                    <a:pt x="165642" y="268466"/>
                    <a:pt x="104946" y="257762"/>
                  </a:cubicBezTo>
                  <a:cubicBezTo>
                    <a:pt x="44250" y="247059"/>
                    <a:pt x="0" y="194322"/>
                    <a:pt x="2" y="132689"/>
                  </a:cubicBezTo>
                  <a:lnTo>
                    <a:pt x="65" y="128574"/>
                  </a:lnTo>
                  <a:cubicBezTo>
                    <a:pt x="1512" y="83959"/>
                    <a:pt x="26276" y="43379"/>
                    <a:pt x="65291" y="21689"/>
                  </a:cubicBezTo>
                  <a:cubicBezTo>
                    <a:pt x="104306" y="0"/>
                    <a:pt x="151844" y="386"/>
                    <a:pt x="190502" y="22707"/>
                  </a:cubicBezTo>
                  <a:moveTo>
                    <a:pt x="110580" y="98310"/>
                  </a:moveTo>
                  <a:cubicBezTo>
                    <a:pt x="105621" y="93352"/>
                    <a:pt x="97582" y="93352"/>
                    <a:pt x="92623" y="98310"/>
                  </a:cubicBezTo>
                  <a:lnTo>
                    <a:pt x="67223" y="123710"/>
                  </a:lnTo>
                  <a:cubicBezTo>
                    <a:pt x="62265" y="128669"/>
                    <a:pt x="62265" y="136708"/>
                    <a:pt x="67223" y="141668"/>
                  </a:cubicBezTo>
                  <a:lnTo>
                    <a:pt x="92623" y="167068"/>
                  </a:lnTo>
                  <a:cubicBezTo>
                    <a:pt x="97582" y="172026"/>
                    <a:pt x="105621" y="172026"/>
                    <a:pt x="110580" y="167068"/>
                  </a:cubicBezTo>
                  <a:lnTo>
                    <a:pt x="111635" y="165874"/>
                  </a:lnTo>
                  <a:cubicBezTo>
                    <a:pt x="115556" y="160818"/>
                    <a:pt x="115105" y="153635"/>
                    <a:pt x="110580" y="149110"/>
                  </a:cubicBezTo>
                  <a:lnTo>
                    <a:pt x="94172" y="132689"/>
                  </a:lnTo>
                  <a:lnTo>
                    <a:pt x="110580" y="116268"/>
                  </a:lnTo>
                  <a:cubicBezTo>
                    <a:pt x="115538" y="111308"/>
                    <a:pt x="115538" y="103269"/>
                    <a:pt x="110580" y="98310"/>
                  </a:cubicBezTo>
                  <a:moveTo>
                    <a:pt x="161380" y="98310"/>
                  </a:moveTo>
                  <a:cubicBezTo>
                    <a:pt x="156421" y="93352"/>
                    <a:pt x="148382" y="93352"/>
                    <a:pt x="143423" y="98310"/>
                  </a:cubicBezTo>
                  <a:lnTo>
                    <a:pt x="142369" y="99504"/>
                  </a:lnTo>
                  <a:cubicBezTo>
                    <a:pt x="138447" y="104559"/>
                    <a:pt x="138898" y="111743"/>
                    <a:pt x="143423" y="116268"/>
                  </a:cubicBezTo>
                  <a:lnTo>
                    <a:pt x="159831" y="132689"/>
                  </a:lnTo>
                  <a:lnTo>
                    <a:pt x="143423" y="149110"/>
                  </a:lnTo>
                  <a:cubicBezTo>
                    <a:pt x="138610" y="154093"/>
                    <a:pt x="138679" y="162014"/>
                    <a:pt x="143577" y="166913"/>
                  </a:cubicBezTo>
                  <a:cubicBezTo>
                    <a:pt x="148476" y="171812"/>
                    <a:pt x="156397" y="171881"/>
                    <a:pt x="161380" y="167068"/>
                  </a:cubicBezTo>
                  <a:lnTo>
                    <a:pt x="186780" y="141668"/>
                  </a:lnTo>
                  <a:cubicBezTo>
                    <a:pt x="191738" y="136708"/>
                    <a:pt x="191738" y="128669"/>
                    <a:pt x="186780" y="123710"/>
                  </a:cubicBezTo>
                  <a:close/>
                </a:path>
              </a:pathLst>
            </a:custGeom>
            <a:solidFill>
              <a:srgbClr val="8FBC8F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886825" y="1295400"/>
              <a:ext cx="12572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Vibe Coding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8382000" y="1619250"/>
              <a:ext cx="3048000" cy="285750"/>
            </a:xfrm>
            <a:prstGeom prst="roundRect">
              <a:avLst>
                <a:gd name="adj" fmla="val 20000"/>
              </a:avLst>
            </a:prstGeom>
            <a:solidFill>
              <a:srgbClr val="8FBC8F">
                <a:alpha val="8000"/>
              </a:srgbClr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9594580" y="1714024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氛围编程</a:t>
              </a:r>
            </a:p>
          </p:txBody>
        </p:sp>
        <p:sp>
          <p:nvSpPr>
            <p:cNvPr id="62" name="Line 62"/>
            <p:cNvSpPr/>
            <p:nvPr/>
          </p:nvSpPr>
          <p:spPr>
            <a:xfrm>
              <a:off x="8382000" y="2047875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EDE5D5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8464868" y="2180749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是什么：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465820" y="2379345"/>
              <a:ext cx="12058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用自然语言描述需求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465820" y="2569845"/>
              <a:ext cx="122558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AI 直接写出完整代码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464868" y="2847499"/>
              <a:ext cx="9218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为什么重要：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465820" y="3046095"/>
              <a:ext cx="12190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非程序员也能"编程"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465820" y="3236595"/>
              <a:ext cx="148847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人负责方向，AI 负责实现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8382000" y="3571875"/>
              <a:ext cx="3048000" cy="333375"/>
            </a:xfrm>
            <a:prstGeom prst="roundRect">
              <a:avLst>
                <a:gd name="adj" fmla="val 17143"/>
              </a:avLst>
            </a:prstGeom>
            <a:solidFill>
              <a:srgbClr val="8FBC8F">
                <a:alpha val="10000"/>
              </a:srgbClr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9237345" y="3693795"/>
              <a:ext cx="13373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类比：打车代替学开车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8382000" y="4048125"/>
              <a:ext cx="1143000" cy="285750"/>
            </a:xfrm>
            <a:prstGeom prst="roundRect">
              <a:avLst>
                <a:gd name="adj" fmla="val 20000"/>
              </a:avLst>
            </a:prstGeom>
            <a:solidFill>
              <a:srgbClr val="8FBC8F">
                <a:alpha val="10000"/>
              </a:srgbClr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8584561" y="4149566"/>
              <a:ext cx="73787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FBC8F"/>
                  </a:solidFill>
                  <a:latin typeface="Arial"/>
                  <a:ea typeface="Microsoft YaHei"/>
                  <a:cs typeface="Arial"/>
                </a:rPr>
                <a:t>✨ Vibe = 感觉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8382000" y="4381500"/>
              <a:ext cx="3048000" cy="190500"/>
            </a:xfrm>
            <a:prstGeom prst="roundRect">
              <a:avLst>
                <a:gd name="adj" fmla="val 20000"/>
              </a:avLst>
            </a:prstGeom>
            <a:solidFill>
              <a:srgbClr val="8FBC8F">
                <a:alpha val="4000"/>
              </a:srgbClr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8946654" y="4425791"/>
              <a:ext cx="191869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Claude Code 就是 Vibe Coding 工具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571500" y="4857750"/>
            <a:ext cx="11049000" cy="523875"/>
            <a:chOff x="571500" y="4857750"/>
            <a:chExt cx="11049000" cy="523875"/>
          </a:xfrm>
        </p:grpSpPr>
        <p:sp>
          <p:nvSpPr>
            <p:cNvPr id="76" name="Rectangle 76"/>
            <p:cNvSpPr/>
            <p:nvPr/>
          </p:nvSpPr>
          <p:spPr>
            <a:xfrm>
              <a:off x="571500" y="4857750"/>
              <a:ext cx="11049000" cy="523875"/>
            </a:xfrm>
            <a:prstGeom prst="roundRect">
              <a:avLst>
                <a:gd name="adj" fmla="val 21818"/>
              </a:avLst>
            </a:prstGeom>
            <a:solidFill>
              <a:srgbClr val="8B6F47">
                <a:alpha val="6000"/>
              </a:srgbClr>
            </a:solidFill>
            <a:ln w="9525">
              <a:solidFill>
                <a:srgbClr val="8B6F47"/>
              </a:solidFill>
            </a:ln>
          </p:spPr>
        </p:sp>
        <p:grpSp>
          <p:nvGrpSpPr>
            <p:cNvPr id="84" name="Group 84"/>
            <p:cNvGrpSpPr/>
            <p:nvPr/>
          </p:nvGrpSpPr>
          <p:grpSpPr>
            <a:xfrm>
              <a:off x="828407" y="4991100"/>
              <a:ext cx="191037" cy="190500"/>
              <a:chOff x="828407" y="4991100"/>
              <a:chExt cx="191037" cy="190500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828407" y="5076825"/>
                <a:ext cx="2911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29112" h="19050">
                    <a:moveTo>
                      <a:pt x="19318" y="0"/>
                    </a:moveTo>
                    <a:cubicBezTo>
                      <a:pt x="24358" y="6"/>
                      <a:pt x="28521" y="3936"/>
                      <a:pt x="28816" y="8967"/>
                    </a:cubicBezTo>
                    <a:cubicBezTo>
                      <a:pt x="29112" y="13998"/>
                      <a:pt x="25437" y="18388"/>
                      <a:pt x="20433" y="18983"/>
                    </a:cubicBezTo>
                    <a:lnTo>
                      <a:pt x="19318" y="19050"/>
                    </a:lnTo>
                    <a:lnTo>
                      <a:pt x="9793" y="19050"/>
                    </a:lnTo>
                    <a:cubicBezTo>
                      <a:pt x="4754" y="19044"/>
                      <a:pt x="591" y="15114"/>
                      <a:pt x="295" y="10083"/>
                    </a:cubicBezTo>
                    <a:cubicBezTo>
                      <a:pt x="0" y="5052"/>
                      <a:pt x="3675" y="662"/>
                      <a:pt x="8679" y="67"/>
                    </a:cubicBezTo>
                    <a:lnTo>
                      <a:pt x="9793" y="0"/>
                    </a:lnTo>
                    <a:lnTo>
                      <a:pt x="1931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914400" y="4991100"/>
                <a:ext cx="19050" cy="28843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28843">
                    <a:moveTo>
                      <a:pt x="9525" y="0"/>
                    </a:moveTo>
                    <a:cubicBezTo>
                      <a:pt x="14354" y="1"/>
                      <a:pt x="18418" y="3615"/>
                      <a:pt x="18983" y="8411"/>
                    </a:cubicBezTo>
                    <a:lnTo>
                      <a:pt x="19050" y="9525"/>
                    </a:lnTo>
                    <a:lnTo>
                      <a:pt x="19050" y="19050"/>
                    </a:lnTo>
                    <a:cubicBezTo>
                      <a:pt x="19044" y="24090"/>
                      <a:pt x="15114" y="28253"/>
                      <a:pt x="10083" y="28548"/>
                    </a:cubicBezTo>
                    <a:cubicBezTo>
                      <a:pt x="5052" y="28843"/>
                      <a:pt x="662" y="25169"/>
                      <a:pt x="67" y="20164"/>
                    </a:cubicBezTo>
                    <a:lnTo>
                      <a:pt x="0" y="19050"/>
                    </a:lnTo>
                    <a:lnTo>
                      <a:pt x="0" y="9525"/>
                    </a:lnTo>
                    <a:cubicBezTo>
                      <a:pt x="0" y="4264"/>
                      <a:pt x="4264" y="0"/>
                      <a:pt x="9525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990332" y="5076825"/>
                <a:ext cx="2911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29112" h="19050">
                    <a:moveTo>
                      <a:pt x="19318" y="0"/>
                    </a:moveTo>
                    <a:cubicBezTo>
                      <a:pt x="24358" y="6"/>
                      <a:pt x="28521" y="3936"/>
                      <a:pt x="28816" y="8967"/>
                    </a:cubicBezTo>
                    <a:cubicBezTo>
                      <a:pt x="29112" y="13998"/>
                      <a:pt x="25437" y="18388"/>
                      <a:pt x="20433" y="18983"/>
                    </a:cubicBezTo>
                    <a:lnTo>
                      <a:pt x="19318" y="19050"/>
                    </a:lnTo>
                    <a:lnTo>
                      <a:pt x="9793" y="19050"/>
                    </a:lnTo>
                    <a:cubicBezTo>
                      <a:pt x="4754" y="19044"/>
                      <a:pt x="591" y="15114"/>
                      <a:pt x="295" y="10083"/>
                    </a:cubicBezTo>
                    <a:cubicBezTo>
                      <a:pt x="0" y="5052"/>
                      <a:pt x="3675" y="662"/>
                      <a:pt x="8679" y="67"/>
                    </a:cubicBezTo>
                    <a:lnTo>
                      <a:pt x="9793" y="0"/>
                    </a:lnTo>
                    <a:lnTo>
                      <a:pt x="19318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852512" y="5014924"/>
                <a:ext cx="27574" cy="27730"/>
              </a:xfrm>
              <a:custGeom>
                <a:avLst/>
                <a:gdLst/>
                <a:ahLst/>
                <a:cxnLst/>
                <a:rect l="l" t="t" r="r" b="b"/>
                <a:pathLst>
                  <a:path w="27574" h="27730">
                    <a:moveTo>
                      <a:pt x="3718" y="3732"/>
                    </a:moveTo>
                    <a:cubicBezTo>
                      <a:pt x="7112" y="339"/>
                      <a:pt x="12500" y="0"/>
                      <a:pt x="16291" y="2941"/>
                    </a:cubicBezTo>
                    <a:lnTo>
                      <a:pt x="17187" y="3732"/>
                    </a:lnTo>
                    <a:lnTo>
                      <a:pt x="23854" y="10399"/>
                    </a:lnTo>
                    <a:cubicBezTo>
                      <a:pt x="27400" y="13957"/>
                      <a:pt x="27574" y="19656"/>
                      <a:pt x="24252" y="23423"/>
                    </a:cubicBezTo>
                    <a:cubicBezTo>
                      <a:pt x="20930" y="27190"/>
                      <a:pt x="15254" y="27730"/>
                      <a:pt x="11281" y="24658"/>
                    </a:cubicBezTo>
                    <a:lnTo>
                      <a:pt x="10386" y="23868"/>
                    </a:lnTo>
                    <a:lnTo>
                      <a:pt x="3718" y="17200"/>
                    </a:lnTo>
                    <a:cubicBezTo>
                      <a:pt x="0" y="13481"/>
                      <a:pt x="0" y="7451"/>
                      <a:pt x="3718" y="3732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967621" y="5014936"/>
                <a:ext cx="27861" cy="27575"/>
              </a:xfrm>
              <a:custGeom>
                <a:avLst/>
                <a:gdLst/>
                <a:ahLst/>
                <a:cxnLst/>
                <a:rect l="l" t="t" r="r" b="b"/>
                <a:pathLst>
                  <a:path w="27861" h="27575">
                    <a:moveTo>
                      <a:pt x="10530" y="3719"/>
                    </a:moveTo>
                    <a:cubicBezTo>
                      <a:pt x="14088" y="174"/>
                      <a:pt x="19786" y="0"/>
                      <a:pt x="23554" y="3322"/>
                    </a:cubicBezTo>
                    <a:cubicBezTo>
                      <a:pt x="27321" y="6643"/>
                      <a:pt x="27861" y="12319"/>
                      <a:pt x="24789" y="16292"/>
                    </a:cubicBezTo>
                    <a:lnTo>
                      <a:pt x="23999" y="17188"/>
                    </a:lnTo>
                    <a:lnTo>
                      <a:pt x="17331" y="23855"/>
                    </a:lnTo>
                    <a:cubicBezTo>
                      <a:pt x="13774" y="27400"/>
                      <a:pt x="8075" y="27575"/>
                      <a:pt x="4308" y="24253"/>
                    </a:cubicBezTo>
                    <a:cubicBezTo>
                      <a:pt x="541" y="20931"/>
                      <a:pt x="0" y="15255"/>
                      <a:pt x="3072" y="11282"/>
                    </a:cubicBezTo>
                    <a:lnTo>
                      <a:pt x="3863" y="10387"/>
                    </a:lnTo>
                    <a:lnTo>
                      <a:pt x="10530" y="3719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895350" y="5143500"/>
                <a:ext cx="5715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38100">
                    <a:moveTo>
                      <a:pt x="47625" y="0"/>
                    </a:moveTo>
                    <a:cubicBezTo>
                      <a:pt x="52886" y="0"/>
                      <a:pt x="57150" y="4264"/>
                      <a:pt x="57150" y="9525"/>
                    </a:cubicBezTo>
                    <a:cubicBezTo>
                      <a:pt x="57150" y="25307"/>
                      <a:pt x="44357" y="38100"/>
                      <a:pt x="28575" y="38100"/>
                    </a:cubicBezTo>
                    <a:cubicBezTo>
                      <a:pt x="12793" y="38100"/>
                      <a:pt x="0" y="25307"/>
                      <a:pt x="0" y="9525"/>
                    </a:cubicBezTo>
                    <a:cubicBezTo>
                      <a:pt x="1" y="4696"/>
                      <a:pt x="3615" y="632"/>
                      <a:pt x="8411" y="67"/>
                    </a:cubicBezTo>
                    <a:lnTo>
                      <a:pt x="9525" y="0"/>
                    </a:lnTo>
                    <a:lnTo>
                      <a:pt x="47625" y="0"/>
                    </a:ln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861929" y="5029200"/>
                <a:ext cx="123992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23992" h="104775">
                    <a:moveTo>
                      <a:pt x="61996" y="0"/>
                    </a:moveTo>
                    <a:cubicBezTo>
                      <a:pt x="86595" y="0"/>
                      <a:pt x="108435" y="15741"/>
                      <a:pt x="116213" y="39078"/>
                    </a:cubicBezTo>
                    <a:cubicBezTo>
                      <a:pt x="123992" y="62414"/>
                      <a:pt x="115965" y="88111"/>
                      <a:pt x="96286" y="102870"/>
                    </a:cubicBezTo>
                    <a:cubicBezTo>
                      <a:pt x="94973" y="103856"/>
                      <a:pt x="93428" y="104486"/>
                      <a:pt x="91800" y="104699"/>
                    </a:cubicBezTo>
                    <a:lnTo>
                      <a:pt x="90571" y="104775"/>
                    </a:lnTo>
                    <a:lnTo>
                      <a:pt x="33421" y="104775"/>
                    </a:lnTo>
                    <a:cubicBezTo>
                      <a:pt x="31360" y="104775"/>
                      <a:pt x="29355" y="104107"/>
                      <a:pt x="27706" y="102870"/>
                    </a:cubicBezTo>
                    <a:cubicBezTo>
                      <a:pt x="8027" y="88111"/>
                      <a:pt x="0" y="62414"/>
                      <a:pt x="7779" y="39078"/>
                    </a:cubicBezTo>
                    <a:cubicBezTo>
                      <a:pt x="15558" y="15741"/>
                      <a:pt x="37397" y="0"/>
                      <a:pt x="61996" y="0"/>
                    </a:cubicBezTo>
                    <a:close/>
                  </a:path>
                </a:pathLst>
              </a:custGeom>
              <a:solidFill>
                <a:srgbClr val="8B6F47"/>
              </a:solidFill>
              <a:ln>
                <a:noFill/>
              </a:ln>
            </p:spPr>
          </p:sp>
        </p:grpSp>
        <p:sp>
          <p:nvSpPr>
            <p:cNvPr id="85" name="TextBox 85"/>
            <p:cNvSpPr txBox="1"/>
            <p:nvPr/>
          </p:nvSpPr>
          <p:spPr>
            <a:xfrm>
              <a:off x="1128712" y="5022056"/>
              <a:ext cx="26767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5D4E37"/>
                  </a:solidFill>
                  <a:latin typeface="Arial"/>
                  <a:ea typeface="Microsoft YaHei"/>
                  <a:cs typeface="Arial"/>
                </a:rPr>
                <a:t>共同趋势：AI 从"工具"变成"同事"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4463415" y="5030152"/>
              <a:ext cx="463491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标准化（OpenClaw）+ 协作化（Hermes）+ 民主化（Vibe Coding）</a:t>
              </a:r>
            </a:p>
          </p:txBody>
        </p:sp>
      </p:grpSp>
      <p:sp>
        <p:nvSpPr>
          <p:cNvPr id="88" name="TextBox 88"/>
          <p:cNvSpPr txBox="1"/>
          <p:nvPr/>
        </p:nvSpPr>
        <p:spPr>
          <a:xfrm>
            <a:off x="11654980" y="6522720"/>
            <a:ext cx="167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40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1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9" dur="4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55" grpId="0"/>
      <p:bldP spid="75" grpId="0"/>
      <p:bldP spid="87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2925" y="376238"/>
            <a:ext cx="11089958" cy="457200"/>
            <a:chOff x="542925" y="376238"/>
            <a:chExt cx="11089958" cy="457200"/>
          </a:xfrm>
        </p:grpSpPr>
        <p:sp>
          <p:nvSpPr>
            <p:cNvPr id="3" name="TextBox 3"/>
            <p:cNvSpPr txBox="1"/>
            <p:nvPr/>
          </p:nvSpPr>
          <p:spPr>
            <a:xfrm>
              <a:off x="542925" y="376238"/>
              <a:ext cx="1782366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8B6F47"/>
                  </a:solidFill>
                  <a:latin typeface="Georgia"/>
                  <a:ea typeface="Microsoft YaHei"/>
                  <a:cs typeface="Georgia"/>
                </a:rPr>
                <a:t>全景概念图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42950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305169" y="466249"/>
              <a:ext cx="13277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13 个概念的完整关系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572125" y="2714625"/>
            <a:ext cx="1047750" cy="1047750"/>
            <a:chOff x="5572125" y="2714625"/>
            <a:chExt cx="1047750" cy="1047750"/>
          </a:xfrm>
        </p:grpSpPr>
        <p:sp>
          <p:nvSpPr>
            <p:cNvPr id="7" name="Ellipse 7"/>
            <p:cNvSpPr/>
            <p:nvPr/>
          </p:nvSpPr>
          <p:spPr>
            <a:xfrm>
              <a:off x="5572125" y="2714625"/>
              <a:ext cx="1047750" cy="1047750"/>
            </a:xfrm>
            <a:prstGeom prst="ellipse">
              <a:avLst/>
            </a:prstGeom>
            <a:solidFill>
              <a:srgbClr val="8B6F47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887356" y="3045142"/>
              <a:ext cx="41728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LLM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784294" y="3292316"/>
              <a:ext cx="62341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AF7F2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大语言模型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667000" y="1238250"/>
            <a:ext cx="6858000" cy="1619250"/>
            <a:chOff x="2667000" y="1238250"/>
            <a:chExt cx="6858000" cy="1619250"/>
          </a:xfrm>
        </p:grpSpPr>
        <p:sp>
          <p:nvSpPr>
            <p:cNvPr id="11" name="Rectangle 11"/>
            <p:cNvSpPr/>
            <p:nvPr/>
          </p:nvSpPr>
          <p:spPr>
            <a:xfrm>
              <a:off x="2667000" y="1524000"/>
              <a:ext cx="1143000" cy="476250"/>
            </a:xfrm>
            <a:prstGeom prst="roundRect">
              <a:avLst>
                <a:gd name="adj" fmla="val 20000"/>
              </a:avLst>
            </a:prstGeom>
            <a:solidFill>
              <a:srgbClr val="FAF7F2"/>
            </a:solidFill>
            <a:ln w="14288">
              <a:solidFill>
                <a:srgbClr val="8B6F47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003762" y="1648778"/>
              <a:ext cx="4694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Token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009900" y="1824038"/>
              <a:ext cx="4572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阅读单位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3619500" y="2000250"/>
              <a:ext cx="2000250" cy="857250"/>
            </a:xfrm>
            <a:custGeom>
              <a:avLst/>
              <a:gdLst/>
              <a:ahLst/>
              <a:cxnLst/>
              <a:rect l="l" t="t" r="r" b="b"/>
              <a:pathLst>
                <a:path w="2000250" h="857250">
                  <a:moveTo>
                    <a:pt x="0" y="0"/>
                  </a:moveTo>
                  <a:lnTo>
                    <a:pt x="2000250" y="857250"/>
                  </a:lnTo>
                </a:path>
              </a:pathLst>
            </a:custGeom>
            <a:noFill/>
            <a:ln w="9525">
              <a:solidFill>
                <a:srgbClr val="8B6F47">
                  <a:alpha val="30000"/>
                </a:srgbClr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0" y="1238250"/>
              <a:ext cx="1524000" cy="476250"/>
            </a:xfrm>
            <a:prstGeom prst="roundRect">
              <a:avLst>
                <a:gd name="adj" fmla="val 20000"/>
              </a:avLst>
            </a:prstGeom>
            <a:solidFill>
              <a:srgbClr val="FAF7F2"/>
            </a:solidFill>
            <a:ln w="14288">
              <a:solidFill>
                <a:srgbClr val="E8A87C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688166" y="1363028"/>
              <a:ext cx="81566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Embedding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867400" y="1538288"/>
              <a:ext cx="4572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语义坐标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6096000" y="1714500"/>
              <a:ext cx="9525" cy="1000125"/>
            </a:xfrm>
            <a:custGeom>
              <a:avLst/>
              <a:gdLst/>
              <a:ahLst/>
              <a:cxnLst/>
              <a:rect l="l" t="t" r="r" b="b"/>
              <a:pathLst>
                <a:path w="9525" h="1000125">
                  <a:moveTo>
                    <a:pt x="0" y="0"/>
                  </a:moveTo>
                  <a:lnTo>
                    <a:pt x="0" y="1000125"/>
                  </a:lnTo>
                </a:path>
              </a:pathLst>
            </a:custGeom>
            <a:noFill/>
            <a:ln w="9525">
              <a:solidFill>
                <a:srgbClr val="E8A87C">
                  <a:alpha val="30000"/>
                </a:srgbClr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8382000" y="1524000"/>
              <a:ext cx="1143000" cy="476250"/>
            </a:xfrm>
            <a:prstGeom prst="roundRect">
              <a:avLst>
                <a:gd name="adj" fmla="val 20000"/>
              </a:avLst>
            </a:prstGeom>
            <a:solidFill>
              <a:srgbClr val="FAF7F2"/>
            </a:solidFill>
            <a:ln w="14288">
              <a:solidFill>
                <a:srgbClr val="8FBC8F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630201" y="1648778"/>
              <a:ext cx="6465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Context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724900" y="1824038"/>
              <a:ext cx="4572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对话记忆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6572250" y="2000250"/>
              <a:ext cx="2000250" cy="857250"/>
            </a:xfrm>
            <a:custGeom>
              <a:avLst/>
              <a:gdLst/>
              <a:ahLst/>
              <a:cxnLst/>
              <a:rect l="l" t="t" r="r" b="b"/>
              <a:pathLst>
                <a:path w="2000250" h="857250">
                  <a:moveTo>
                    <a:pt x="2000250" y="0"/>
                  </a:moveTo>
                  <a:lnTo>
                    <a:pt x="0" y="857250"/>
                  </a:lnTo>
                </a:path>
              </a:pathLst>
            </a:custGeom>
            <a:noFill/>
            <a:ln w="9525">
              <a:solidFill>
                <a:srgbClr val="8FBC8F">
                  <a:alpha val="30000"/>
                </a:srgbClr>
              </a:solidFill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1143000" y="1714500"/>
            <a:ext cx="9906000" cy="2762250"/>
            <a:chOff x="1143000" y="1714500"/>
            <a:chExt cx="9906000" cy="2762250"/>
          </a:xfrm>
        </p:grpSpPr>
        <p:sp>
          <p:nvSpPr>
            <p:cNvPr id="24" name="Rectangle 24"/>
            <p:cNvSpPr/>
            <p:nvPr/>
          </p:nvSpPr>
          <p:spPr>
            <a:xfrm>
              <a:off x="1143000" y="2857500"/>
              <a:ext cx="1428750" cy="476250"/>
            </a:xfrm>
            <a:prstGeom prst="roundRect">
              <a:avLst>
                <a:gd name="adj" fmla="val 20000"/>
              </a:avLst>
            </a:prstGeom>
            <a:solidFill>
              <a:srgbClr val="FAF7F2"/>
            </a:solidFill>
            <a:ln w="14288">
              <a:solidFill>
                <a:srgbClr val="C4956A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562255" y="2982278"/>
              <a:ext cx="5902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4956A"/>
                  </a:solidFill>
                  <a:latin typeface="Arial"/>
                  <a:ea typeface="Microsoft YaHei"/>
                  <a:cs typeface="Arial"/>
                </a:rPr>
                <a:t>Prompt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628775" y="3157538"/>
              <a:ext cx="4572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指令设计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2571750" y="3095625"/>
              <a:ext cx="3000375" cy="142875"/>
            </a:xfrm>
            <a:custGeom>
              <a:avLst/>
              <a:gdLst/>
              <a:ahLst/>
              <a:cxnLst/>
              <a:rect l="l" t="t" r="r" b="b"/>
              <a:pathLst>
                <a:path w="3000375" h="142875">
                  <a:moveTo>
                    <a:pt x="0" y="0"/>
                  </a:moveTo>
                  <a:lnTo>
                    <a:pt x="3000375" y="142875"/>
                  </a:lnTo>
                </a:path>
              </a:pathLst>
            </a:custGeom>
            <a:noFill/>
            <a:ln w="9525">
              <a:solidFill>
                <a:srgbClr val="C4956A">
                  <a:alpha val="30000"/>
                </a:srgbClr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1143000" y="4000500"/>
              <a:ext cx="1619250" cy="476250"/>
            </a:xfrm>
            <a:prstGeom prst="roundRect">
              <a:avLst>
                <a:gd name="adj" fmla="val 20000"/>
              </a:avLst>
            </a:prstGeom>
            <a:solidFill>
              <a:srgbClr val="FAF7F2"/>
            </a:solidFill>
            <a:ln w="14288">
              <a:solidFill>
                <a:srgbClr val="8B6F47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335465" y="4125278"/>
              <a:ext cx="123432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B6F47"/>
                  </a:solidFill>
                  <a:latin typeface="Arial"/>
                  <a:ea typeface="Microsoft YaHei"/>
                  <a:cs typeface="Arial"/>
                </a:rPr>
                <a:t>RAG + Vector DB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614488" y="4300538"/>
              <a:ext cx="676275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检索增强生成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2762250" y="3524250"/>
              <a:ext cx="2857500" cy="666750"/>
            </a:xfrm>
            <a:custGeom>
              <a:avLst/>
              <a:gdLst/>
              <a:ahLst/>
              <a:cxnLst/>
              <a:rect l="l" t="t" r="r" b="b"/>
              <a:pathLst>
                <a:path w="2857500" h="666750">
                  <a:moveTo>
                    <a:pt x="0" y="666750"/>
                  </a:moveTo>
                  <a:lnTo>
                    <a:pt x="2857500" y="0"/>
                  </a:lnTo>
                </a:path>
              </a:pathLst>
            </a:custGeom>
            <a:noFill/>
            <a:ln w="9525">
              <a:solidFill>
                <a:srgbClr val="8B6F47">
                  <a:alpha val="30000"/>
                </a:srgbClr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1952625" y="1714500"/>
              <a:ext cx="3571875" cy="2286000"/>
            </a:xfrm>
            <a:custGeom>
              <a:avLst/>
              <a:gdLst/>
              <a:ahLst/>
              <a:cxnLst/>
              <a:rect l="l" t="t" r="r" b="b"/>
              <a:pathLst>
                <a:path w="3571875" h="2286000">
                  <a:moveTo>
                    <a:pt x="0" y="2286000"/>
                  </a:moveTo>
                  <a:lnTo>
                    <a:pt x="3571875" y="0"/>
                  </a:lnTo>
                </a:path>
              </a:pathLst>
            </a:custGeom>
            <a:noFill/>
            <a:ln w="7620">
              <a:solidFill>
                <a:srgbClr val="E8A87C">
                  <a:alpha val="20000"/>
                </a:srgbClr>
              </a:solidFill>
              <a:custDash>
                <a:ds d="500000" sp="375000"/>
              </a:custDash>
            </a:ln>
          </p:spPr>
        </p:sp>
        <p:sp>
          <p:nvSpPr>
            <p:cNvPr id="33" name="Rectangle 33"/>
            <p:cNvSpPr/>
            <p:nvPr/>
          </p:nvSpPr>
          <p:spPr>
            <a:xfrm>
              <a:off x="9620250" y="2857500"/>
              <a:ext cx="1428750" cy="476250"/>
            </a:xfrm>
            <a:prstGeom prst="roundRect">
              <a:avLst>
                <a:gd name="adj" fmla="val 20000"/>
              </a:avLst>
            </a:prstGeom>
            <a:solidFill>
              <a:srgbClr val="FAF7F2"/>
            </a:solidFill>
            <a:ln w="14288">
              <a:solidFill>
                <a:srgbClr val="E8A87C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0176462" y="2990374"/>
              <a:ext cx="31632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Tool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106025" y="3157538"/>
              <a:ext cx="4572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工具调用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6619875" y="3095625"/>
              <a:ext cx="3000375" cy="142875"/>
            </a:xfrm>
            <a:custGeom>
              <a:avLst/>
              <a:gdLst/>
              <a:ahLst/>
              <a:cxnLst/>
              <a:rect l="l" t="t" r="r" b="b"/>
              <a:pathLst>
                <a:path w="3000375" h="142875">
                  <a:moveTo>
                    <a:pt x="3000375" y="0"/>
                  </a:moveTo>
                  <a:lnTo>
                    <a:pt x="0" y="142875"/>
                  </a:lnTo>
                </a:path>
              </a:pathLst>
            </a:custGeom>
            <a:noFill/>
            <a:ln w="9525">
              <a:solidFill>
                <a:srgbClr val="E8A87C">
                  <a:alpha val="30000"/>
                </a:srgbClr>
              </a:solidFill>
            </a:ln>
          </p:spPr>
        </p:sp>
      </p:grpSp>
      <p:grpSp>
        <p:nvGrpSpPr>
          <p:cNvPr id="56" name="Group 56"/>
          <p:cNvGrpSpPr/>
          <p:nvPr/>
        </p:nvGrpSpPr>
        <p:grpSpPr>
          <a:xfrm>
            <a:off x="4000500" y="3333750"/>
            <a:ext cx="6858000" cy="2428875"/>
            <a:chOff x="4000500" y="3333750"/>
            <a:chExt cx="6858000" cy="2428875"/>
          </a:xfrm>
        </p:grpSpPr>
        <p:sp>
          <p:nvSpPr>
            <p:cNvPr id="38" name="Rectangle 38"/>
            <p:cNvSpPr/>
            <p:nvPr/>
          </p:nvSpPr>
          <p:spPr>
            <a:xfrm>
              <a:off x="9620250" y="4000500"/>
              <a:ext cx="1238250" cy="476250"/>
            </a:xfrm>
            <a:prstGeom prst="roundRect">
              <a:avLst>
                <a:gd name="adj" fmla="val 20000"/>
              </a:avLst>
            </a:prstGeom>
            <a:solidFill>
              <a:srgbClr val="FAF7F2"/>
            </a:solidFill>
            <a:ln w="14288">
              <a:solidFill>
                <a:srgbClr val="8FBC8F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077096" y="4125278"/>
              <a:ext cx="3245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FBC8F"/>
                  </a:solidFill>
                  <a:latin typeface="Arial"/>
                  <a:ea typeface="Microsoft YaHei"/>
                  <a:cs typeface="Arial"/>
                </a:rPr>
                <a:t>MCP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010775" y="4300538"/>
              <a:ext cx="4572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统一接口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6619875" y="3524250"/>
              <a:ext cx="3000375" cy="666750"/>
            </a:xfrm>
            <a:custGeom>
              <a:avLst/>
              <a:gdLst/>
              <a:ahLst/>
              <a:cxnLst/>
              <a:rect l="l" t="t" r="r" b="b"/>
              <a:pathLst>
                <a:path w="3000375" h="666750">
                  <a:moveTo>
                    <a:pt x="3000375" y="66675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8FBC8F">
                  <a:alpha val="30000"/>
                </a:srgbClr>
              </a:solidFill>
            </a:ln>
          </p:spPr>
        </p:sp>
        <p:sp>
          <p:nvSpPr>
            <p:cNvPr id="42" name="Line 42"/>
            <p:cNvSpPr/>
            <p:nvPr/>
          </p:nvSpPr>
          <p:spPr>
            <a:xfrm>
              <a:off x="10239375" y="3333750"/>
              <a:ext cx="95250" cy="666750"/>
            </a:xfrm>
            <a:custGeom>
              <a:avLst/>
              <a:gdLst/>
              <a:ahLst/>
              <a:cxnLst/>
              <a:rect l="l" t="t" r="r" b="b"/>
              <a:pathLst>
                <a:path w="95250" h="666750">
                  <a:moveTo>
                    <a:pt x="0" y="666750"/>
                  </a:moveTo>
                  <a:lnTo>
                    <a:pt x="95250" y="0"/>
                  </a:lnTo>
                </a:path>
              </a:pathLst>
            </a:custGeom>
            <a:noFill/>
            <a:ln w="7620">
              <a:solidFill>
                <a:srgbClr val="8FBC8F">
                  <a:alpha val="30000"/>
                </a:srgbClr>
              </a:solidFill>
              <a:custDash>
                <a:ds d="375000" sp="250000"/>
              </a:custDash>
            </a:ln>
          </p:spPr>
        </p:sp>
        <p:sp>
          <p:nvSpPr>
            <p:cNvPr id="43" name="Rectangle 43"/>
            <p:cNvSpPr/>
            <p:nvPr/>
          </p:nvSpPr>
          <p:spPr>
            <a:xfrm>
              <a:off x="4000500" y="4381500"/>
              <a:ext cx="1238250" cy="476250"/>
            </a:xfrm>
            <a:prstGeom prst="roundRect">
              <a:avLst>
                <a:gd name="adj" fmla="val 20000"/>
              </a:avLst>
            </a:prstGeom>
            <a:solidFill>
              <a:srgbClr val="FAF7F2"/>
            </a:solidFill>
            <a:ln w="19050">
              <a:solidFill>
                <a:srgbClr val="D4837F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4384887" y="4506278"/>
              <a:ext cx="4694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D4837F"/>
                  </a:solidFill>
                  <a:latin typeface="Arial"/>
                  <a:ea typeface="Microsoft YaHei"/>
                  <a:cs typeface="Arial"/>
                </a:rPr>
                <a:t>Agent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445794" y="4681538"/>
              <a:ext cx="34766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智能体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4619625" y="3762375"/>
              <a:ext cx="1190625" cy="619125"/>
            </a:xfrm>
            <a:custGeom>
              <a:avLst/>
              <a:gdLst/>
              <a:ahLst/>
              <a:cxnLst/>
              <a:rect l="l" t="t" r="r" b="b"/>
              <a:pathLst>
                <a:path w="1190625" h="619125">
                  <a:moveTo>
                    <a:pt x="0" y="619125"/>
                  </a:moveTo>
                  <a:lnTo>
                    <a:pt x="1190625" y="0"/>
                  </a:lnTo>
                </a:path>
              </a:pathLst>
            </a:custGeom>
            <a:noFill/>
            <a:ln w="9525">
              <a:solidFill>
                <a:srgbClr val="D4837F">
                  <a:alpha val="30000"/>
                </a:srgbClr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6477000" y="4381500"/>
              <a:ext cx="1238250" cy="476250"/>
            </a:xfrm>
            <a:prstGeom prst="roundRect">
              <a:avLst>
                <a:gd name="adj" fmla="val 20000"/>
              </a:avLst>
            </a:prstGeom>
            <a:solidFill>
              <a:srgbClr val="FAF7F2"/>
            </a:solidFill>
            <a:ln w="14288">
              <a:solidFill>
                <a:srgbClr val="C4956A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921770" y="4506278"/>
              <a:ext cx="3487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4956A"/>
                  </a:solidFill>
                  <a:latin typeface="Arial"/>
                  <a:ea typeface="Microsoft YaHei"/>
                  <a:cs typeface="Arial"/>
                </a:rPr>
                <a:t>Skill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867525" y="4681538"/>
              <a:ext cx="4572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8B7D6B"/>
                  </a:solidFill>
                  <a:latin typeface="Arial"/>
                  <a:ea typeface="Microsoft YaHei"/>
                  <a:cs typeface="Arial"/>
                </a:rPr>
                <a:t>技能系统</a:t>
              </a:r>
            </a:p>
          </p:txBody>
        </p:sp>
        <p:sp>
          <p:nvSpPr>
            <p:cNvPr id="50" name="Line 50"/>
            <p:cNvSpPr/>
            <p:nvPr/>
          </p:nvSpPr>
          <p:spPr>
            <a:xfrm>
              <a:off x="6381750" y="3762375"/>
              <a:ext cx="714375" cy="619125"/>
            </a:xfrm>
            <a:custGeom>
              <a:avLst/>
              <a:gdLst/>
              <a:ahLst/>
              <a:cxnLst/>
              <a:rect l="l" t="t" r="r" b="b"/>
              <a:pathLst>
                <a:path w="714375" h="619125">
                  <a:moveTo>
                    <a:pt x="714375" y="619125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C4956A">
                  <a:alpha val="30000"/>
                </a:srgbClr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4572000" y="5238750"/>
              <a:ext cx="3048000" cy="523875"/>
            </a:xfrm>
            <a:prstGeom prst="roundRect">
              <a:avLst>
                <a:gd name="adj" fmla="val 21818"/>
              </a:avLst>
            </a:prstGeom>
            <a:solidFill>
              <a:srgbClr val="8B6F47"/>
            </a:solidFill>
            <a:ln w="19050">
              <a:solidFill>
                <a:srgbClr val="8B6F47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074780" y="5359718"/>
              <a:ext cx="204244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Harness Engineering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266182" y="5587841"/>
              <a:ext cx="165963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AF7F2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系统工程 · 驾驭 AI 的完整体系</a:t>
              </a:r>
            </a:p>
          </p:txBody>
        </p:sp>
        <p:sp>
          <p:nvSpPr>
            <p:cNvPr id="54" name="Line 54"/>
            <p:cNvSpPr/>
            <p:nvPr/>
          </p:nvSpPr>
          <p:spPr>
            <a:xfrm>
              <a:off x="4619625" y="4857750"/>
              <a:ext cx="523875" cy="381000"/>
            </a:xfrm>
            <a:custGeom>
              <a:avLst/>
              <a:gdLst/>
              <a:ahLst/>
              <a:cxnLst/>
              <a:rect l="l" t="t" r="r" b="b"/>
              <a:pathLst>
                <a:path w="523875" h="381000">
                  <a:moveTo>
                    <a:pt x="523875" y="38100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8B6F47">
                  <a:alpha val="40000"/>
                </a:srgbClr>
              </a:solidFill>
            </a:ln>
          </p:spPr>
        </p:sp>
        <p:sp>
          <p:nvSpPr>
            <p:cNvPr id="55" name="Line 55"/>
            <p:cNvSpPr/>
            <p:nvPr/>
          </p:nvSpPr>
          <p:spPr>
            <a:xfrm>
              <a:off x="7048500" y="4857750"/>
              <a:ext cx="47625" cy="381000"/>
            </a:xfrm>
            <a:custGeom>
              <a:avLst/>
              <a:gdLst/>
              <a:ahLst/>
              <a:cxnLst/>
              <a:rect l="l" t="t" r="r" b="b"/>
              <a:pathLst>
                <a:path w="47625" h="381000">
                  <a:moveTo>
                    <a:pt x="0" y="381000"/>
                  </a:moveTo>
                  <a:lnTo>
                    <a:pt x="47625" y="0"/>
                  </a:lnTo>
                </a:path>
              </a:pathLst>
            </a:custGeom>
            <a:noFill/>
            <a:ln w="9525">
              <a:solidFill>
                <a:srgbClr val="8B6F47">
                  <a:alpha val="40000"/>
                </a:srgbClr>
              </a:solidFill>
            </a:ln>
          </p:spPr>
        </p:sp>
      </p:grpSp>
      <p:sp>
        <p:nvSpPr>
          <p:cNvPr id="57" name="TextBox 57"/>
          <p:cNvSpPr txBox="1"/>
          <p:nvPr/>
        </p:nvSpPr>
        <p:spPr>
          <a:xfrm>
            <a:off x="561022" y="1530191"/>
            <a:ext cx="4005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基础层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561022" y="2958941"/>
            <a:ext cx="4005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能力层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3323272" y="4292441"/>
            <a:ext cx="4005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系统层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4875014" y="5982652"/>
            <a:ext cx="244197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8B6F47"/>
                </a:solidFill>
                <a:latin typeface="Arial"/>
                <a:ea typeface="Microsoft YaHei"/>
                <a:cs typeface="Arial"/>
              </a:rPr>
              <a:t>从底层机制到顶层应用，层层递进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1687842" y="6522720"/>
            <a:ext cx="134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B7D6B"/>
                </a:solidFill>
                <a:latin typeface="Arial"/>
                <a:ea typeface="Microsoft YaHei"/>
                <a:cs typeface="Arial"/>
              </a:rPr>
              <a:t>41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3" grpId="0"/>
      <p:bldP spid="37" grpId="0"/>
      <p:bldP spid="5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8B6F47"/>
              </a:gs>
              <a:gs pos="100000">
                <a:srgbClr val="6B5535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572500" y="3810000"/>
            <a:ext cx="3810000" cy="3810000"/>
          </a:xfrm>
          <a:prstGeom prst="ellipse">
            <a:avLst/>
          </a:prstGeom>
          <a:solidFill>
            <a:srgbClr val="FAF7F2">
              <a:alpha val="5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571500" y="190500"/>
            <a:ext cx="2286000" cy="2286000"/>
          </a:xfrm>
          <a:prstGeom prst="ellipse">
            <a:avLst/>
          </a:prstGeom>
          <a:solidFill>
            <a:srgbClr val="FAF7F2">
              <a:alpha val="4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3238500" y="571500"/>
            <a:ext cx="5715000" cy="5715000"/>
          </a:xfrm>
          <a:prstGeom prst="ellipse">
            <a:avLst/>
          </a:prstGeom>
          <a:solidFill>
            <a:srgbClr val="FAF7F2">
              <a:alpha val="3000"/>
            </a:srgbClr>
          </a:solidFill>
          <a:ln>
            <a:noFill/>
          </a:ln>
        </p:spPr>
      </p:sp>
      <p:grpSp>
        <p:nvGrpSpPr>
          <p:cNvPr id="22" name="Group 22"/>
          <p:cNvGrpSpPr/>
          <p:nvPr/>
        </p:nvGrpSpPr>
        <p:grpSpPr>
          <a:xfrm>
            <a:off x="2667000" y="1755458"/>
            <a:ext cx="6858000" cy="3407092"/>
            <a:chOff x="2667000" y="1755458"/>
            <a:chExt cx="6858000" cy="3407092"/>
          </a:xfrm>
        </p:grpSpPr>
        <p:sp>
          <p:nvSpPr>
            <p:cNvPr id="6" name="TextBox 6"/>
            <p:cNvSpPr txBox="1"/>
            <p:nvPr/>
          </p:nvSpPr>
          <p:spPr>
            <a:xfrm>
              <a:off x="4027141" y="1755458"/>
              <a:ext cx="4137717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rgbClr val="FAF7F2"/>
                  </a:solidFill>
                  <a:latin typeface="Georgia"/>
                  <a:ea typeface="Microsoft YaHei"/>
                  <a:cs typeface="Georgia"/>
                </a:rPr>
                <a:t>从 Token 到 Agent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4572000" y="2286000"/>
              <a:ext cx="3048000" cy="38100"/>
            </a:xfrm>
            <a:prstGeom prst="roundRect">
              <a:avLst>
                <a:gd name="adj" fmla="val 50000"/>
              </a:avLst>
            </a:prstGeom>
            <a:solidFill>
              <a:srgbClr val="E8A87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4574929" y="2488882"/>
              <a:ext cx="304214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AF7F2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你已经掌握了 AI 的全景地图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2667000" y="3048000"/>
              <a:ext cx="6858000" cy="952500"/>
            </a:xfrm>
            <a:prstGeom prst="roundRect">
              <a:avLst>
                <a:gd name="adj" fmla="val 16000"/>
              </a:avLst>
            </a:prstGeom>
            <a:solidFill>
              <a:srgbClr val="FAF7F2">
                <a:alpha val="10000"/>
              </a:srgbClr>
            </a:solidFill>
            <a:ln w="9525">
              <a:solidFill>
                <a:srgbClr val="FAF7F2">
                  <a:alpha val="20000"/>
                </a:srgbClr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653409" y="3251835"/>
              <a:ext cx="488518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LLM 预测下一个词 → Token 是阅读单位 → Embedding 赋予语义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802380" y="3489960"/>
              <a:ext cx="45872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RAG 检索真实信息 → Tool 让 AI 行动 → Agent 自主完成任务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350067" y="3728085"/>
              <a:ext cx="349186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Harness 驾驭一切 → 你就是那个指挥 AI 的人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805416" y="4362450"/>
              <a:ext cx="458116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E8A87C"/>
                  </a:solidFill>
                  <a:latin typeface="Arial"/>
                  <a:ea typeface="Microsoft YaHei"/>
                  <a:cs typeface="Arial"/>
                </a:rPr>
                <a:t>关注 AI大家学，下一期 VibeCoding 实战见！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238500" y="4857750"/>
              <a:ext cx="1047750" cy="304800"/>
            </a:xfrm>
            <a:prstGeom prst="roundRect">
              <a:avLst>
                <a:gd name="adj" fmla="val 50000"/>
              </a:avLst>
            </a:prstGeom>
            <a:solidFill>
              <a:srgbClr val="FAF7F2">
                <a:alpha val="12000"/>
              </a:srgbClr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547074" y="4952524"/>
              <a:ext cx="4306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👍 点赞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572000" y="4857750"/>
              <a:ext cx="1047750" cy="304800"/>
            </a:xfrm>
            <a:prstGeom prst="roundRect">
              <a:avLst>
                <a:gd name="adj" fmla="val 50000"/>
              </a:avLst>
            </a:prstGeom>
            <a:solidFill>
              <a:srgbClr val="FAF7F2">
                <a:alpha val="12000"/>
              </a:srgbClr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880574" y="4952524"/>
              <a:ext cx="4306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⭐ 收藏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905500" y="4857750"/>
              <a:ext cx="1047750" cy="304800"/>
            </a:xfrm>
            <a:prstGeom prst="roundRect">
              <a:avLst>
                <a:gd name="adj" fmla="val 50000"/>
              </a:avLst>
            </a:prstGeom>
            <a:solidFill>
              <a:srgbClr val="FAF7F2">
                <a:alpha val="12000"/>
              </a:srgbClr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14074" y="4952524"/>
              <a:ext cx="4306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🔄 转发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239000" y="4857750"/>
              <a:ext cx="1047750" cy="304800"/>
            </a:xfrm>
            <a:prstGeom prst="roundRect">
              <a:avLst>
                <a:gd name="adj" fmla="val 50000"/>
              </a:avLst>
            </a:prstGeom>
            <a:solidFill>
              <a:srgbClr val="FAF7F2">
                <a:alpha val="12000"/>
              </a:srgbClr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547574" y="4952524"/>
              <a:ext cx="4306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AF7F2"/>
                  </a:solidFill>
                  <a:latin typeface="Arial"/>
                  <a:ea typeface="Microsoft YaHei"/>
                  <a:cs typeface="Arial"/>
                </a:rPr>
                <a:t>💬 评论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369570" y="6522720"/>
            <a:ext cx="11452859" cy="182880"/>
            <a:chOff x="369570" y="6522720"/>
            <a:chExt cx="11452859" cy="182880"/>
          </a:xfrm>
        </p:grpSpPr>
        <p:sp>
          <p:nvSpPr>
            <p:cNvPr id="23" name="TextBox 23"/>
            <p:cNvSpPr txBox="1"/>
            <p:nvPr/>
          </p:nvSpPr>
          <p:spPr>
            <a:xfrm>
              <a:off x="369570" y="6522720"/>
              <a:ext cx="14687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AI大家学 · 大模型技术篇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654980" y="6522720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FAF7F2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